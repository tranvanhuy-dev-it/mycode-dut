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8" roundtripDataSignature="AMtx7mgKDZhFnjzS5DO4L/jaZVNOajH/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15564a875_0_9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815564a875_0_9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15564a875_0_9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815564a875_0_9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15564a875_0_9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815564a875_0_9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1753c969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81753c9695_0_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1753c969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81753c9695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81753c9695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81753c9695_0_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81753c9695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81753c9695_0_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1753c9695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81753c9695_0_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81753c9695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81753c9695_0_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1753c9695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81753c9695_0_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1753c9695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81753c9695_0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type="ctrTitle"/>
          </p:nvPr>
        </p:nvSpPr>
        <p:spPr>
          <a:xfrm>
            <a:off x="493776" y="1239123"/>
            <a:ext cx="4978908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13"/>
          <p:cNvCxnSpPr/>
          <p:nvPr/>
        </p:nvCxnSpPr>
        <p:spPr>
          <a:xfrm>
            <a:off x="276359" y="2216727"/>
            <a:ext cx="0" cy="340215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6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36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subTitle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425196" y="1001018"/>
            <a:ext cx="785012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425196" y="2185417"/>
            <a:ext cx="777011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425196" y="2185416"/>
            <a:ext cx="3792474" cy="394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2" type="body"/>
          </p:nvPr>
        </p:nvSpPr>
        <p:spPr>
          <a:xfrm>
            <a:off x="4389120" y="2185416"/>
            <a:ext cx="3922776" cy="395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25196" y="2185416"/>
            <a:ext cx="3854196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25197" y="2593340"/>
            <a:ext cx="3855386" cy="35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3" type="body"/>
          </p:nvPr>
        </p:nvSpPr>
        <p:spPr>
          <a:xfrm>
            <a:off x="4629150" y="2185416"/>
            <a:ext cx="3854196" cy="37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7"/>
          <p:cNvSpPr txBox="1"/>
          <p:nvPr>
            <p:ph idx="4" type="body"/>
          </p:nvPr>
        </p:nvSpPr>
        <p:spPr>
          <a:xfrm>
            <a:off x="4629150" y="2590800"/>
            <a:ext cx="3854196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25196" y="2185417"/>
            <a:ext cx="7886700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/>
        </p:nvSpPr>
        <p:spPr>
          <a:xfrm>
            <a:off x="5542161" y="217021"/>
            <a:ext cx="2769394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/>
          <p:nvPr/>
        </p:nvSpPr>
        <p:spPr>
          <a:xfrm>
            <a:off x="8311897" y="134971"/>
            <a:ext cx="645414" cy="5958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9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8.xml"/><Relationship Id="rId10" Type="http://schemas.openxmlformats.org/officeDocument/2006/relationships/slide" Target="/ppt/slides/slide8.xml"/><Relationship Id="rId13" Type="http://schemas.openxmlformats.org/officeDocument/2006/relationships/slide" Target="/ppt/slides/slide12.xml"/><Relationship Id="rId12" Type="http://schemas.openxmlformats.org/officeDocument/2006/relationships/slide" Target="/ppt/slides/slide9.xm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slide" Target="/ppt/slides/slide4.xml"/><Relationship Id="rId9" Type="http://schemas.openxmlformats.org/officeDocument/2006/relationships/slide" Target="/ppt/slides/slide8.xml"/><Relationship Id="rId5" Type="http://schemas.openxmlformats.org/officeDocument/2006/relationships/slide" Target="/ppt/slides/slide5.xml"/><Relationship Id="rId6" Type="http://schemas.openxmlformats.org/officeDocument/2006/relationships/slide" Target="/ppt/slides/slide6.xml"/><Relationship Id="rId7" Type="http://schemas.openxmlformats.org/officeDocument/2006/relationships/slide" Target="/ppt/slides/slide7.xml"/><Relationship Id="rId8" Type="http://schemas.openxmlformats.org/officeDocument/2006/relationships/slide" Target="/ppt/slides/slide7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utedu-my.sharepoint.com/:f:/g/personal/nvhieu1_dut_edu_vn/ElD8Bm2oo8lKpwoiSvsNhocBVGUP2QPLneQWQyCZv0m9ag?e=4JzThR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cb.dut.udn.vn/PageLopHPKH.aspx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mailto:nvhieuqt@dut.udn.vn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>
            <p:ph type="ctrTitle"/>
          </p:nvPr>
        </p:nvSpPr>
        <p:spPr>
          <a:xfrm>
            <a:off x="510473" y="1804112"/>
            <a:ext cx="5620003" cy="20204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</a:t>
            </a:r>
            <a:r>
              <a:rPr lang="en-US"/>
              <a:t>OÁN RỜI RẠC</a:t>
            </a: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1309143" y="4828745"/>
            <a:ext cx="4944078" cy="61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437871" y="4735071"/>
            <a:ext cx="797773" cy="79777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4764626"/>
            <a:ext cx="743275" cy="72841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2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/>
              <a:t>TOÁN RỜI RẠC</a:t>
            </a:r>
            <a:endParaRPr/>
          </a:p>
        </p:txBody>
      </p:sp>
      <p:sp>
        <p:nvSpPr>
          <p:cNvPr id="57" name="Google Shape;57;p2"/>
          <p:cNvSpPr txBox="1"/>
          <p:nvPr>
            <p:ph idx="1" type="subTitle"/>
          </p:nvPr>
        </p:nvSpPr>
        <p:spPr>
          <a:xfrm>
            <a:off x="493776" y="3793356"/>
            <a:ext cx="4978908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Bài 1: Giới thiệu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15564a875_0_937"/>
          <p:cNvSpPr txBox="1"/>
          <p:nvPr>
            <p:ph type="title"/>
          </p:nvPr>
        </p:nvSpPr>
        <p:spPr>
          <a:xfrm>
            <a:off x="425196" y="1499616"/>
            <a:ext cx="52136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63" name="Google Shape;63;g815564a875_0_937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2400" u="sng">
                <a:solidFill>
                  <a:schemeClr val="hlink"/>
                </a:solidFill>
                <a:hlinkClick action="ppaction://hlinksldjump" r:id="rId4"/>
              </a:rPr>
              <a:t>Tổng quan môn học 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2400" u="sng">
                <a:solidFill>
                  <a:schemeClr val="hlink"/>
                </a:solidFill>
                <a:hlinkClick action="ppaction://hlinksldjump" r:id="rId5"/>
              </a:rPr>
              <a:t>Mục tiêu môn học 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2400" u="sng">
                <a:solidFill>
                  <a:schemeClr val="hlink"/>
                </a:solidFill>
                <a:hlinkClick action="ppaction://hlinksldjump" r:id="rId6"/>
              </a:rPr>
              <a:t>Tài liệu hỗ trợ học tập 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2400" u="sng">
                <a:solidFill>
                  <a:schemeClr val="hlink"/>
                </a:solidFill>
                <a:hlinkClick action="ppaction://hlinksldjump" r:id="rId7"/>
              </a:rPr>
              <a:t>Đ</a:t>
            </a:r>
            <a:r>
              <a:rPr lang="en-US" sz="2400" u="sng">
                <a:solidFill>
                  <a:schemeClr val="hlink"/>
                </a:solidFill>
                <a:hlinkClick action="ppaction://hlinksldjump" r:id="rId8"/>
              </a:rPr>
              <a:t>ánh giá môn học</a:t>
            </a:r>
            <a:r>
              <a:rPr lang="en-US" sz="2400"/>
              <a:t> 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2400" u="sng">
                <a:solidFill>
                  <a:schemeClr val="hlink"/>
                </a:solidFill>
                <a:hlinkClick action="ppaction://hlinksldjump" r:id="rId9"/>
              </a:rPr>
              <a:t>Nội</a:t>
            </a:r>
            <a:r>
              <a:rPr lang="en-US" sz="2400" u="sng">
                <a:solidFill>
                  <a:schemeClr val="hlink"/>
                </a:solidFill>
                <a:hlinkClick action="ppaction://hlinksldjump" r:id="rId10"/>
              </a:rPr>
              <a:t> dung </a:t>
            </a:r>
            <a:r>
              <a:rPr lang="en-US" sz="2400" u="sng">
                <a:solidFill>
                  <a:schemeClr val="hlink"/>
                </a:solidFill>
                <a:hlinkClick action="ppaction://hlinksldjump" r:id="rId11"/>
              </a:rPr>
              <a:t>chính</a:t>
            </a:r>
            <a:endParaRPr sz="2400"/>
          </a:p>
          <a:p>
            <a:pPr indent="-35814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solidFill>
                  <a:schemeClr val="hlink"/>
                </a:solidFill>
                <a:hlinkClick action="ppaction://hlinksldjump" r:id="rId12"/>
              </a:rPr>
              <a:t>Trao đổi</a:t>
            </a:r>
            <a:endParaRPr sz="2400"/>
          </a:p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2400" u="sng">
                <a:solidFill>
                  <a:schemeClr val="hlink"/>
                </a:solidFill>
                <a:hlinkClick action="ppaction://hlinksldjump" r:id="rId13"/>
              </a:rPr>
              <a:t>Thông tin giảng viên</a:t>
            </a:r>
            <a:endParaRPr sz="2400"/>
          </a:p>
        </p:txBody>
      </p:sp>
      <p:sp>
        <p:nvSpPr>
          <p:cNvPr id="64" name="Google Shape;64;g815564a875_0_937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815564a875_0_923"/>
          <p:cNvSpPr txBox="1"/>
          <p:nvPr>
            <p:ph type="title"/>
          </p:nvPr>
        </p:nvSpPr>
        <p:spPr>
          <a:xfrm>
            <a:off x="425196" y="1499656"/>
            <a:ext cx="7850124" cy="5908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Tổng quan môn </a:t>
            </a:r>
            <a:r>
              <a:rPr lang="en-US"/>
              <a:t>học</a:t>
            </a:r>
            <a:endParaRPr/>
          </a:p>
        </p:txBody>
      </p:sp>
      <p:sp>
        <p:nvSpPr>
          <p:cNvPr id="70" name="Google Shape;70;g815564a875_0_923"/>
          <p:cNvSpPr txBox="1"/>
          <p:nvPr>
            <p:ph idx="1" type="body"/>
          </p:nvPr>
        </p:nvSpPr>
        <p:spPr>
          <a:xfrm>
            <a:off x="425196" y="2185417"/>
            <a:ext cx="777011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Tên môn học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Toán rời rạc/ Toán nâng cao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Số tính chỉ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Lý thuyết: 2TC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Bài </a:t>
            </a:r>
            <a:r>
              <a:rPr lang="en-US">
                <a:solidFill>
                  <a:srgbClr val="333333"/>
                </a:solidFill>
              </a:rPr>
              <a:t>tập</a:t>
            </a:r>
            <a:r>
              <a:rPr lang="en-US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và thực: 1TC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Điều kiện tiên quyết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Kỹ thuật lập trình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Đối tượng 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Sinh viên năm 2 chuyên ngành CNTT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815564a875_0_947"/>
          <p:cNvSpPr txBox="1"/>
          <p:nvPr>
            <p:ph type="title"/>
          </p:nvPr>
        </p:nvSpPr>
        <p:spPr>
          <a:xfrm>
            <a:off x="425196" y="1499656"/>
            <a:ext cx="7850124" cy="5908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Mục tiêu môn </a:t>
            </a:r>
            <a:r>
              <a:rPr lang="en-US"/>
              <a:t>học</a:t>
            </a:r>
            <a:endParaRPr/>
          </a:p>
        </p:txBody>
      </p:sp>
      <p:sp>
        <p:nvSpPr>
          <p:cNvPr id="76" name="Google Shape;76;g815564a875_0_947"/>
          <p:cNvSpPr txBox="1"/>
          <p:nvPr>
            <p:ph idx="1" type="body"/>
          </p:nvPr>
        </p:nvSpPr>
        <p:spPr>
          <a:xfrm>
            <a:off x="425200" y="2185425"/>
            <a:ext cx="5080200" cy="4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Hiểu rõ,  phân biệt được và sử dụng được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-US">
                <a:solidFill>
                  <a:srgbClr val="000000"/>
                </a:solidFill>
              </a:rPr>
              <a:t>K</a:t>
            </a: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ỹ thuật đếm;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-US">
                <a:solidFill>
                  <a:srgbClr val="000000"/>
                </a:solidFill>
              </a:rPr>
              <a:t>K</a:t>
            </a: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ỹ thuật liệt kê</a:t>
            </a:r>
            <a:r>
              <a:rPr lang="en-US"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-US">
                <a:solidFill>
                  <a:srgbClr val="000000"/>
                </a:solidFill>
              </a:rPr>
              <a:t>K</a:t>
            </a: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ỹ thuật tồn tại</a:t>
            </a:r>
            <a:r>
              <a:rPr lang="en-US"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-US">
                <a:solidFill>
                  <a:srgbClr val="000000"/>
                </a:solidFill>
              </a:rPr>
              <a:t>Tối ưu mạch </a:t>
            </a:r>
            <a:r>
              <a:rPr lang="en-US">
                <a:solidFill>
                  <a:srgbClr val="000000"/>
                </a:solidFill>
              </a:rPr>
              <a:t>logic;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-US">
                <a:solidFill>
                  <a:srgbClr val="000000"/>
                </a:solidFill>
              </a:rPr>
              <a:t>L</a:t>
            </a: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ý thuyết đồ thị </a:t>
            </a:r>
            <a:r>
              <a:rPr lang="en-US">
                <a:solidFill>
                  <a:srgbClr val="000000"/>
                </a:solidFill>
              </a:rPr>
              <a:t>và ứng dụng.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Áp dụng các kỹ thuật đã nêu vào việc  giải quyết các bài toán thực tế.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Rèn luyện các kỹ năng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-US">
                <a:solidFill>
                  <a:srgbClr val="000000"/>
                </a:solidFill>
              </a:rPr>
              <a:t>Kỹ năng lập trình;</a:t>
            </a:r>
            <a:endParaRPr>
              <a:solidFill>
                <a:srgbClr val="000000"/>
              </a:solidFill>
            </a:endParaRPr>
          </a:p>
          <a:p>
            <a:pPr indent="-342900" lvl="1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-US">
                <a:solidFill>
                  <a:srgbClr val="000000"/>
                </a:solidFill>
              </a:rPr>
              <a:t>Kỹ năng logic;</a:t>
            </a:r>
            <a:endParaRPr>
              <a:solidFill>
                <a:srgbClr val="000000"/>
              </a:solidFill>
            </a:endParaRPr>
          </a:p>
          <a:p>
            <a:pPr indent="-342900" lvl="1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-US">
                <a:solidFill>
                  <a:srgbClr val="000000"/>
                </a:solidFill>
              </a:rPr>
              <a:t>kỹ năng giải quyết vấn đề</a:t>
            </a:r>
            <a:endParaRPr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1753c9695_0_5"/>
          <p:cNvSpPr txBox="1"/>
          <p:nvPr>
            <p:ph type="title"/>
          </p:nvPr>
        </p:nvSpPr>
        <p:spPr>
          <a:xfrm>
            <a:off x="425196" y="1499656"/>
            <a:ext cx="7850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Tài liệu hỗ trợ </a:t>
            </a:r>
            <a:r>
              <a:rPr lang="en-US"/>
              <a:t>môn học</a:t>
            </a:r>
            <a:endParaRPr/>
          </a:p>
        </p:txBody>
      </p:sp>
      <p:sp>
        <p:nvSpPr>
          <p:cNvPr id="82" name="Google Shape;82;g81753c9695_0_5"/>
          <p:cNvSpPr txBox="1"/>
          <p:nvPr>
            <p:ph idx="1" type="body"/>
          </p:nvPr>
        </p:nvSpPr>
        <p:spPr>
          <a:xfrm>
            <a:off x="425200" y="2185425"/>
            <a:ext cx="8278500" cy="26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1800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Nguyen Van Hieu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bài giảng toán rời rạc/toán ứng dụng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19100" lvl="0" marL="51435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Kenneth H. Rosen.Toán Rời Rạc ứng dụng trong tin học. NXB Khoa Học và Kỹ Thuật, 1998.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19100" lvl="0" marL="514350" rtl="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1800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Kenneth H. Rosen, Mcgraw Hill. Discrete mathematics and its applications, 1999.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83" name="Google Shape;83;g81753c9695_0_5"/>
          <p:cNvSpPr txBox="1"/>
          <p:nvPr/>
        </p:nvSpPr>
        <p:spPr>
          <a:xfrm>
            <a:off x="7749075" y="5196200"/>
            <a:ext cx="7344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81753c9695_0_5"/>
          <p:cNvSpPr txBox="1"/>
          <p:nvPr/>
        </p:nvSpPr>
        <p:spPr>
          <a:xfrm>
            <a:off x="5728300" y="4893200"/>
            <a:ext cx="29754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Nguồn tài liệu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1753c9695_0_12"/>
          <p:cNvSpPr txBox="1"/>
          <p:nvPr>
            <p:ph type="title"/>
          </p:nvPr>
        </p:nvSpPr>
        <p:spPr>
          <a:xfrm>
            <a:off x="425196" y="1499656"/>
            <a:ext cx="7850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Đánh giá môn học</a:t>
            </a:r>
            <a:endParaRPr/>
          </a:p>
        </p:txBody>
      </p:sp>
      <p:sp>
        <p:nvSpPr>
          <p:cNvPr id="90" name="Google Shape;90;g81753c9695_0_12"/>
          <p:cNvSpPr txBox="1"/>
          <p:nvPr>
            <p:ph idx="1" type="body"/>
          </p:nvPr>
        </p:nvSpPr>
        <p:spPr>
          <a:xfrm>
            <a:off x="425200" y="2185425"/>
            <a:ext cx="8278500" cy="3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-US">
                <a:solidFill>
                  <a:srgbClr val="434343"/>
                </a:solidFill>
              </a:rPr>
              <a:t>Đánh giá </a:t>
            </a:r>
            <a:r>
              <a:rPr lang="en-US">
                <a:solidFill>
                  <a:srgbClr val="434343"/>
                </a:solidFill>
              </a:rPr>
              <a:t>quá</a:t>
            </a:r>
            <a:r>
              <a:rPr lang="en-US">
                <a:solidFill>
                  <a:srgbClr val="434343"/>
                </a:solidFill>
              </a:rPr>
              <a:t> trình (10%)</a:t>
            </a:r>
            <a:endParaRPr>
              <a:solidFill>
                <a:srgbClr val="434343"/>
              </a:solidFill>
            </a:endParaRPr>
          </a:p>
          <a:p>
            <a:pPr indent="-36576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60"/>
              <a:buChar char="●"/>
            </a:pPr>
            <a:r>
              <a:rPr lang="en-US">
                <a:solidFill>
                  <a:srgbClr val="434343"/>
                </a:solidFill>
              </a:rPr>
              <a:t>Chuyên cần và thực hiện bài tập ngắn </a:t>
            </a:r>
            <a:endParaRPr>
              <a:solidFill>
                <a:srgbClr val="434343"/>
              </a:solidFill>
            </a:endParaRPr>
          </a:p>
          <a:p>
            <a:pPr indent="-36576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60"/>
              <a:buChar char="●"/>
            </a:pPr>
            <a:r>
              <a:rPr lang="en-US">
                <a:solidFill>
                  <a:srgbClr val="434343"/>
                </a:solidFill>
              </a:rPr>
              <a:t>Bài tập ở nhà cho tầng cá nhân( mã nguồn)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-US">
                <a:solidFill>
                  <a:srgbClr val="434343"/>
                </a:solidFill>
              </a:rPr>
              <a:t>Đánh giá giữa kỳ(30%)</a:t>
            </a:r>
            <a:endParaRPr>
              <a:solidFill>
                <a:srgbClr val="434343"/>
              </a:solidFill>
            </a:endParaRPr>
          </a:p>
          <a:p>
            <a:pPr indent="-365760" lvl="0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60"/>
              <a:buChar char="●"/>
            </a:pPr>
            <a:r>
              <a:rPr lang="en-US">
                <a:solidFill>
                  <a:srgbClr val="434343"/>
                </a:solidFill>
              </a:rPr>
              <a:t>Kiểm tra tự luận ( 3 câu)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-US">
                <a:solidFill>
                  <a:srgbClr val="434343"/>
                </a:solidFill>
              </a:rPr>
              <a:t>Đánh giá cuối kỳ(60 %)</a:t>
            </a:r>
            <a:endParaRPr>
              <a:solidFill>
                <a:srgbClr val="434343"/>
              </a:solidFill>
            </a:endParaRPr>
          </a:p>
          <a:p>
            <a:pPr indent="-365760" lvl="0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60"/>
              <a:buChar char="●"/>
            </a:pPr>
            <a:r>
              <a:rPr lang="en-US">
                <a:solidFill>
                  <a:srgbClr val="434343"/>
                </a:solidFill>
              </a:rPr>
              <a:t>Kiểm tra tự luận ( 5 câu) </a:t>
            </a:r>
            <a:endParaRPr>
              <a:solidFill>
                <a:srgbClr val="434343"/>
              </a:solidFill>
            </a:endParaRPr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r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91" name="Google Shape;91;g81753c9695_0_12"/>
          <p:cNvSpPr txBox="1"/>
          <p:nvPr/>
        </p:nvSpPr>
        <p:spPr>
          <a:xfrm>
            <a:off x="7749075" y="5196200"/>
            <a:ext cx="7344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1753c9695_0_19"/>
          <p:cNvSpPr txBox="1"/>
          <p:nvPr>
            <p:ph type="title"/>
          </p:nvPr>
        </p:nvSpPr>
        <p:spPr>
          <a:xfrm>
            <a:off x="425196" y="1499656"/>
            <a:ext cx="7850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Nội dung chính</a:t>
            </a:r>
            <a:endParaRPr/>
          </a:p>
        </p:txBody>
      </p:sp>
      <p:sp>
        <p:nvSpPr>
          <p:cNvPr id="97" name="Google Shape;97;g81753c9695_0_19"/>
          <p:cNvSpPr txBox="1"/>
          <p:nvPr>
            <p:ph idx="1" type="body"/>
          </p:nvPr>
        </p:nvSpPr>
        <p:spPr>
          <a:xfrm>
            <a:off x="425200" y="2185425"/>
            <a:ext cx="8278500" cy="3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Kỹ thuật đếm cơ bản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Kỹ thuật đếm nâng cao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Phương pháp liệt kê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760" lvl="0" marL="4572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160"/>
              <a:buFont typeface="Arial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Các kỹ thuật xây dựng cây khung bé nhất trên đồ thị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Các kỹ thuật toán tìm đường đi ngắn nhất trên đồ thị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Kỹ thuật tìm luồng cực đại trên mạng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Tối thiểu mạch Boole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98" name="Google Shape;98;g81753c9695_0_19"/>
          <p:cNvSpPr txBox="1"/>
          <p:nvPr/>
        </p:nvSpPr>
        <p:spPr>
          <a:xfrm>
            <a:off x="7749075" y="5196200"/>
            <a:ext cx="7344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1753c9695_0_31"/>
          <p:cNvSpPr txBox="1"/>
          <p:nvPr>
            <p:ph type="title"/>
          </p:nvPr>
        </p:nvSpPr>
        <p:spPr>
          <a:xfrm>
            <a:off x="425196" y="1499656"/>
            <a:ext cx="7850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Trao đổi</a:t>
            </a:r>
            <a:endParaRPr/>
          </a:p>
        </p:txBody>
      </p:sp>
      <p:sp>
        <p:nvSpPr>
          <p:cNvPr id="104" name="Google Shape;104;g81753c9695_0_31"/>
          <p:cNvSpPr txBox="1"/>
          <p:nvPr>
            <p:ph idx="1" type="body"/>
          </p:nvPr>
        </p:nvSpPr>
        <p:spPr>
          <a:xfrm>
            <a:off x="425200" y="2185425"/>
            <a:ext cx="8278500" cy="3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Toán rời rạc là gì ?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760" lvl="0" marL="4572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160"/>
              <a:buFont typeface="Arial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Tại sao phải học toán rời rạc?</a:t>
            </a:r>
            <a:endParaRPr sz="2400"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105" name="Google Shape;105;g81753c9695_0_31"/>
          <p:cNvSpPr txBox="1"/>
          <p:nvPr/>
        </p:nvSpPr>
        <p:spPr>
          <a:xfrm>
            <a:off x="7749075" y="5196200"/>
            <a:ext cx="7344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81753c9695_0_31"/>
          <p:cNvSpPr txBox="1"/>
          <p:nvPr>
            <p:ph idx="1" type="body"/>
          </p:nvPr>
        </p:nvSpPr>
        <p:spPr>
          <a:xfrm>
            <a:off x="425200" y="2618500"/>
            <a:ext cx="82785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30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300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9144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1753c9695_0_37"/>
          <p:cNvSpPr txBox="1"/>
          <p:nvPr>
            <p:ph type="title"/>
          </p:nvPr>
        </p:nvSpPr>
        <p:spPr>
          <a:xfrm>
            <a:off x="425196" y="1499656"/>
            <a:ext cx="7850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Trao đổi</a:t>
            </a:r>
            <a:endParaRPr/>
          </a:p>
        </p:txBody>
      </p:sp>
      <p:sp>
        <p:nvSpPr>
          <p:cNvPr id="112" name="Google Shape;112;g81753c9695_0_37"/>
          <p:cNvSpPr txBox="1"/>
          <p:nvPr>
            <p:ph idx="1" type="body"/>
          </p:nvPr>
        </p:nvSpPr>
        <p:spPr>
          <a:xfrm>
            <a:off x="425200" y="2185425"/>
            <a:ext cx="8278500" cy="3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Char char="●"/>
            </a:pPr>
            <a:r>
              <a:rPr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Toán rời rạc là gì ?</a:t>
            </a:r>
            <a:endParaRPr sz="2400">
              <a:solidFill>
                <a:srgbClr val="0000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●"/>
            </a:pPr>
            <a:r>
              <a:rPr lang="en-US" sz="2000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Discrete mathematics is the study of mathematical structures that are </a:t>
            </a:r>
            <a:r>
              <a:rPr b="1" i="1" lang="en-US" sz="2000">
                <a:solidFill>
                  <a:srgbClr val="7030A0"/>
                </a:solidFill>
                <a:latin typeface="Georgia"/>
                <a:ea typeface="Georgia"/>
                <a:cs typeface="Georgia"/>
                <a:sym typeface="Georgia"/>
              </a:rPr>
              <a:t>fundamentally discrete</a:t>
            </a:r>
            <a:r>
              <a:rPr i="1" lang="en-US" sz="20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000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rather than continuous  (</a:t>
            </a:r>
            <a:r>
              <a:rPr lang="en-US" sz="20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wikipedia.org</a:t>
            </a:r>
            <a:r>
              <a:rPr lang="en-US" sz="2000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2400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5760" lvl="0" marL="45720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60"/>
              <a:buChar char="●"/>
            </a:pPr>
            <a:r>
              <a:rPr lang="en-US" sz="2000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Toán rời rạc là nghiên cứu cấu trúc toán, mà bản chất của cấu trúc toán là rời rạc, chứ không phải là liên tục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sp>
        <p:nvSpPr>
          <p:cNvPr id="113" name="Google Shape;113;g81753c9695_0_37"/>
          <p:cNvSpPr txBox="1"/>
          <p:nvPr/>
        </p:nvSpPr>
        <p:spPr>
          <a:xfrm>
            <a:off x="7749075" y="5196200"/>
            <a:ext cx="7344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81753c9695_0_37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http://cb.dut.udn.vn/PageLopHPKH.aspx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81753c9695_0_47"/>
          <p:cNvSpPr txBox="1"/>
          <p:nvPr>
            <p:ph type="title"/>
          </p:nvPr>
        </p:nvSpPr>
        <p:spPr>
          <a:xfrm>
            <a:off x="425196" y="1499656"/>
            <a:ext cx="7850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Trao đổi</a:t>
            </a:r>
            <a:endParaRPr/>
          </a:p>
        </p:txBody>
      </p:sp>
      <p:sp>
        <p:nvSpPr>
          <p:cNvPr id="120" name="Google Shape;120;g81753c9695_0_47"/>
          <p:cNvSpPr txBox="1"/>
          <p:nvPr>
            <p:ph idx="1" type="body"/>
          </p:nvPr>
        </p:nvSpPr>
        <p:spPr>
          <a:xfrm>
            <a:off x="425200" y="2185425"/>
            <a:ext cx="8278500" cy="3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Char char="●"/>
            </a:pPr>
            <a:r>
              <a:rPr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Tại sao phải học </a:t>
            </a:r>
            <a:r>
              <a:rPr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Toán rời rạc ?</a:t>
            </a:r>
            <a:endParaRPr sz="2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760" lvl="1" marL="9144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160"/>
              <a:buFont typeface="Arial"/>
              <a:buChar char="❖"/>
            </a:pPr>
            <a:r>
              <a:rPr lang="en-US">
                <a:solidFill>
                  <a:srgbClr val="002060"/>
                </a:solidFill>
              </a:rPr>
              <a:t>Cấu trúc rời rạc phổ biến hơn cấu trúc liên tục như đoạn 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đoạn video</a:t>
            </a:r>
            <a:r>
              <a:rPr lang="en-US" sz="1400">
                <a:solidFill>
                  <a:srgbClr val="000000"/>
                </a:solidFill>
              </a:rPr>
              <a:t>, 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âm thanh,… </a:t>
            </a:r>
            <a:endParaRPr sz="1400">
              <a:solidFill>
                <a:srgbClr val="000000"/>
              </a:solidFill>
            </a:endParaRPr>
          </a:p>
          <a:p>
            <a:pPr indent="-365760" lvl="1" marL="9144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160"/>
              <a:buChar char="❖"/>
            </a:pPr>
            <a:r>
              <a:rPr lang="en-US">
                <a:solidFill>
                  <a:srgbClr val="002060"/>
                </a:solidFill>
              </a:rPr>
              <a:t>Định nghĩa về kỹ sử: Engineers use technology, </a:t>
            </a:r>
            <a:r>
              <a:rPr b="1" lang="en-US">
                <a:solidFill>
                  <a:srgbClr val="002060"/>
                </a:solidFill>
              </a:rPr>
              <a:t>mathematics</a:t>
            </a:r>
            <a:r>
              <a:rPr lang="en-US">
                <a:solidFill>
                  <a:srgbClr val="002060"/>
                </a:solidFill>
              </a:rPr>
              <a:t> and scientific knowledge to solve practical problems (</a:t>
            </a:r>
            <a:r>
              <a:rPr lang="en-US">
                <a:solidFill>
                  <a:srgbClr val="FF0000"/>
                </a:solidFill>
              </a:rPr>
              <a:t>wikipedia.org</a:t>
            </a:r>
            <a:r>
              <a:rPr lang="en-US">
                <a:solidFill>
                  <a:srgbClr val="002060"/>
                </a:solidFill>
              </a:rPr>
              <a:t>).</a:t>
            </a:r>
            <a:endParaRPr sz="1400">
              <a:solidFill>
                <a:srgbClr val="000000"/>
              </a:solidFill>
            </a:endParaRPr>
          </a:p>
          <a:p>
            <a:pPr indent="-365760" lvl="1" marL="914400" marR="0" rtl="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160"/>
              <a:buChar char="❖"/>
            </a:pPr>
            <a:r>
              <a:rPr lang="en-US">
                <a:solidFill>
                  <a:srgbClr val="002060"/>
                </a:solidFill>
              </a:rPr>
              <a:t>Dùng nhiều nhiều trong các môn học khác như Cấu trúc dữ liệu, thuật toán, Cơ sở dữ liệu, Mạng máy tính, Thiết kế mạch.</a:t>
            </a:r>
            <a:endParaRPr>
              <a:solidFill>
                <a:srgbClr val="002060"/>
              </a:solidFill>
            </a:endParaRPr>
          </a:p>
          <a:p>
            <a:pPr indent="-381000" lvl="1" marL="9144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❖"/>
            </a:pPr>
            <a:r>
              <a:rPr lang="en-US">
                <a:solidFill>
                  <a:srgbClr val="FF0000"/>
                </a:solidFill>
              </a:rPr>
              <a:t>Học rồi ngẫm nghĩ</a:t>
            </a:r>
            <a:endParaRPr b="1" sz="2400">
              <a:solidFill>
                <a:srgbClr val="FF0000"/>
              </a:solidFill>
            </a:endParaRPr>
          </a:p>
          <a:p>
            <a:pPr indent="0" lvl="0" marL="914400" marR="0" rtl="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21" name="Google Shape;121;g81753c9695_0_47"/>
          <p:cNvSpPr txBox="1"/>
          <p:nvPr/>
        </p:nvSpPr>
        <p:spPr>
          <a:xfrm>
            <a:off x="7749075" y="5196200"/>
            <a:ext cx="7344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g81753c9695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9350" y="5196200"/>
            <a:ext cx="1614525" cy="14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1753c9695_0_55"/>
          <p:cNvSpPr txBox="1"/>
          <p:nvPr>
            <p:ph type="title"/>
          </p:nvPr>
        </p:nvSpPr>
        <p:spPr>
          <a:xfrm>
            <a:off x="425196" y="1499656"/>
            <a:ext cx="7850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T</a:t>
            </a:r>
            <a:r>
              <a:rPr lang="en-US"/>
              <a:t>hông tin giảng viên</a:t>
            </a:r>
            <a:endParaRPr/>
          </a:p>
        </p:txBody>
      </p:sp>
      <p:sp>
        <p:nvSpPr>
          <p:cNvPr id="128" name="Google Shape;128;g81753c9695_0_55"/>
          <p:cNvSpPr txBox="1"/>
          <p:nvPr>
            <p:ph idx="1" type="body"/>
          </p:nvPr>
        </p:nvSpPr>
        <p:spPr>
          <a:xfrm>
            <a:off x="425200" y="2185425"/>
            <a:ext cx="8278500" cy="3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Cá nhân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37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○"/>
            </a:pPr>
            <a:r>
              <a:rPr lang="en-US">
                <a:solidFill>
                  <a:srgbClr val="002060"/>
                </a:solidFill>
              </a:rPr>
              <a:t>Email: </a:t>
            </a:r>
            <a:r>
              <a:rPr lang="en-US" u="sng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nvhieuqt@dut.udn.vn</a:t>
            </a:r>
            <a:r>
              <a:rPr lang="en-US">
                <a:solidFill>
                  <a:srgbClr val="002060"/>
                </a:solidFill>
              </a:rPr>
              <a:t> </a:t>
            </a:r>
            <a:endParaRPr/>
          </a:p>
          <a:p>
            <a:pPr indent="-342900" lvl="1" marL="914400" rtl="0" algn="l">
              <a:spcBef>
                <a:spcPts val="37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○"/>
            </a:pPr>
            <a:r>
              <a:rPr lang="en-US">
                <a:solidFill>
                  <a:srgbClr val="002060"/>
                </a:solidFill>
              </a:rPr>
              <a:t>Skype: nvhieuqt</a:t>
            </a:r>
            <a:endParaRPr>
              <a:solidFill>
                <a:srgbClr val="002060"/>
              </a:solidFill>
            </a:endParaRPr>
          </a:p>
          <a:p>
            <a:pPr indent="-342900" lvl="1" marL="914400" rtl="0" algn="l">
              <a:spcBef>
                <a:spcPts val="37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○"/>
            </a:pPr>
            <a:r>
              <a:rPr lang="en-US">
                <a:solidFill>
                  <a:srgbClr val="002060"/>
                </a:solidFill>
              </a:rPr>
              <a:t>Mobile: 0367997777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29" name="Google Shape;129;g81753c9695_0_55"/>
          <p:cNvSpPr txBox="1"/>
          <p:nvPr/>
        </p:nvSpPr>
        <p:spPr>
          <a:xfrm>
            <a:off x="7749075" y="5196200"/>
            <a:ext cx="7344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81753c9695_0_62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g81753c9695_0_62"/>
          <p:cNvSpPr/>
          <p:nvPr/>
        </p:nvSpPr>
        <p:spPr>
          <a:xfrm>
            <a:off x="1860650" y="2882350"/>
            <a:ext cx="4481876" cy="74763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Cám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2019-04-04T19:20:28Z</dcterms:created>
  <dc:creator>Division of University Communications</dc:creator>
</cp:coreProperties>
</file>