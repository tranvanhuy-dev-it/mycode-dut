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56" roundtripDataSignature="AMtx7mjqNSR8+FYoxyaYsENO93I+ISdf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A938BC-8528-43F0-96C3-5076AFB06AA1}">
  <a:tblStyle styleId="{F5A938BC-8528-43F0-96C3-5076AFB06A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12" Type="http://schemas.openxmlformats.org/officeDocument/2006/relationships/slide" Target="slides/slide5.xml"/><Relationship Id="rId56"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21429f312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121429f3121_0_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21429f3121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121429f3121_0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1429f3121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21429f3121_0_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21429f3121_0_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21429f3121_0_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121429f3121_0_1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1429f3121_0_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1429f3121_0_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121429f3121_0_1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21429f3121_0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21429f3121_0_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121429f3121_0_1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1429f3121_0_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1429f3121_0_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121429f3121_0_14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1429f3121_0_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21429f3121_0_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121429f3121_0_15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21429f3121_0_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21429f3121_0_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342900" rtl="0" algn="l">
              <a:spcBef>
                <a:spcPts val="480"/>
              </a:spcBef>
              <a:spcAft>
                <a:spcPts val="0"/>
              </a:spcAft>
              <a:buNone/>
            </a:pPr>
            <a:r>
              <a:t/>
            </a:r>
            <a:endParaRPr/>
          </a:p>
        </p:txBody>
      </p:sp>
      <p:sp>
        <p:nvSpPr>
          <p:cNvPr id="179" name="Google Shape;179;g121429f3121_0_1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21429f3121_0_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21429f3121_0_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342900" rtl="0" algn="l">
              <a:spcBef>
                <a:spcPts val="480"/>
              </a:spcBef>
              <a:spcAft>
                <a:spcPts val="0"/>
              </a:spcAft>
              <a:buNone/>
            </a:pPr>
            <a:r>
              <a:t/>
            </a:r>
            <a:endParaRPr/>
          </a:p>
        </p:txBody>
      </p:sp>
      <p:sp>
        <p:nvSpPr>
          <p:cNvPr id="186" name="Google Shape;186;g121429f3121_0_1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1429f3121_0_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21429f3121_0_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Chứng minh:</a:t>
            </a:r>
            <a:endParaRPr/>
          </a:p>
          <a:p>
            <a:pPr indent="0" lvl="0" marL="0" rtl="0" algn="l">
              <a:spcBef>
                <a:spcPts val="0"/>
              </a:spcBef>
              <a:spcAft>
                <a:spcPts val="0"/>
              </a:spcAft>
              <a:buClr>
                <a:schemeClr val="dk1"/>
              </a:buClr>
              <a:buFont typeface="Arial"/>
              <a:buNone/>
            </a:pPr>
            <a:r>
              <a:rPr b="1" lang="en-US"/>
              <a:t>6.</a:t>
            </a:r>
            <a:r>
              <a:rPr lang="en-US"/>
              <a:t>	0 = a</a:t>
            </a:r>
            <a:r>
              <a:rPr b="1" lang="en-US"/>
              <a:t>.</a:t>
            </a:r>
            <a:r>
              <a:rPr lang="en-US"/>
              <a:t>a                                  (tiên đề 5a))</a:t>
            </a:r>
            <a:endParaRPr/>
          </a:p>
          <a:p>
            <a:pPr indent="0" lvl="0" marL="0" rtl="0" algn="l">
              <a:spcBef>
                <a:spcPts val="0"/>
              </a:spcBef>
              <a:spcAft>
                <a:spcPts val="0"/>
              </a:spcAft>
              <a:buClr>
                <a:schemeClr val="dk1"/>
              </a:buClr>
              <a:buFont typeface="Arial"/>
              <a:buNone/>
            </a:pPr>
            <a:r>
              <a:rPr lang="en-US"/>
              <a:t>	= a</a:t>
            </a:r>
            <a:r>
              <a:rPr b="1" lang="en-US"/>
              <a:t>.</a:t>
            </a:r>
            <a:r>
              <a:rPr lang="en-US"/>
              <a:t>(a’+0)	(tiên đề 4b))</a:t>
            </a:r>
            <a:endParaRPr/>
          </a:p>
          <a:p>
            <a:pPr indent="0" lvl="0" marL="0" rtl="0" algn="l">
              <a:spcBef>
                <a:spcPts val="0"/>
              </a:spcBef>
              <a:spcAft>
                <a:spcPts val="0"/>
              </a:spcAft>
              <a:buClr>
                <a:schemeClr val="dk1"/>
              </a:buClr>
              <a:buFont typeface="Arial"/>
              <a:buNone/>
            </a:pPr>
            <a:r>
              <a:rPr lang="en-US"/>
              <a:t>	= (a</a:t>
            </a:r>
            <a:r>
              <a:rPr b="1" lang="en-US"/>
              <a:t>.</a:t>
            </a:r>
            <a:r>
              <a:rPr lang="en-US"/>
              <a:t>a’)+(a</a:t>
            </a:r>
            <a:r>
              <a:rPr b="1" lang="en-US"/>
              <a:t>.</a:t>
            </a:r>
            <a:r>
              <a:rPr lang="en-US"/>
              <a:t>0)	(tiên đề 3a))</a:t>
            </a:r>
            <a:endParaRPr/>
          </a:p>
          <a:p>
            <a:pPr indent="0" lvl="0" marL="0" rtl="0" algn="l">
              <a:spcBef>
                <a:spcPts val="0"/>
              </a:spcBef>
              <a:spcAft>
                <a:spcPts val="0"/>
              </a:spcAft>
              <a:buClr>
                <a:schemeClr val="dk1"/>
              </a:buClr>
              <a:buFont typeface="Arial"/>
              <a:buNone/>
            </a:pPr>
            <a:r>
              <a:rPr lang="en-US"/>
              <a:t>	= 0+(a</a:t>
            </a:r>
            <a:r>
              <a:rPr b="1" lang="en-US"/>
              <a:t>.</a:t>
            </a:r>
            <a:r>
              <a:rPr lang="en-US"/>
              <a:t>0)	(tiên đề 5a))</a:t>
            </a:r>
            <a:endParaRPr/>
          </a:p>
          <a:p>
            <a:pPr indent="0" lvl="0" marL="0" rtl="0" algn="l">
              <a:spcBef>
                <a:spcPts val="0"/>
              </a:spcBef>
              <a:spcAft>
                <a:spcPts val="0"/>
              </a:spcAft>
              <a:buClr>
                <a:schemeClr val="dk1"/>
              </a:buClr>
              <a:buFont typeface="Arial"/>
              <a:buNone/>
            </a:pPr>
            <a:r>
              <a:rPr lang="en-US"/>
              <a:t>	= a</a:t>
            </a:r>
            <a:r>
              <a:rPr b="1" lang="en-US"/>
              <a:t>.</a:t>
            </a:r>
            <a:r>
              <a:rPr lang="en-US"/>
              <a:t>0	(tiên đề 4b)).</a:t>
            </a:r>
            <a:endParaRPr/>
          </a:p>
          <a:p>
            <a:pPr indent="0" lvl="0" marL="0" rtl="0" algn="l">
              <a:spcBef>
                <a:spcPts val="0"/>
              </a:spcBef>
              <a:spcAft>
                <a:spcPts val="0"/>
              </a:spcAft>
              <a:buClr>
                <a:schemeClr val="dk1"/>
              </a:buClr>
              <a:buFont typeface="Arial"/>
              <a:buNone/>
            </a:pPr>
            <a:r>
              <a:rPr b="1" lang="en-US"/>
              <a:t>7.        </a:t>
            </a:r>
            <a:r>
              <a:rPr lang="en-US"/>
              <a:t>a</a:t>
            </a:r>
            <a:r>
              <a:rPr b="1" lang="en-US"/>
              <a:t>	</a:t>
            </a:r>
            <a:r>
              <a:rPr lang="en-US"/>
              <a:t>= a</a:t>
            </a:r>
            <a:r>
              <a:rPr b="1" lang="en-US"/>
              <a:t>.</a:t>
            </a:r>
            <a:r>
              <a:rPr lang="en-US"/>
              <a:t>1 	(tiên đề 4a))</a:t>
            </a:r>
            <a:endParaRPr/>
          </a:p>
          <a:p>
            <a:pPr indent="0" lvl="0" marL="0" rtl="0" algn="l">
              <a:spcBef>
                <a:spcPts val="0"/>
              </a:spcBef>
              <a:spcAft>
                <a:spcPts val="0"/>
              </a:spcAft>
              <a:buClr>
                <a:schemeClr val="dk1"/>
              </a:buClr>
              <a:buFont typeface="Arial"/>
              <a:buNone/>
            </a:pPr>
            <a:r>
              <a:rPr lang="en-US"/>
              <a:t>	= a</a:t>
            </a:r>
            <a:r>
              <a:rPr b="1" lang="en-US"/>
              <a:t>.</a:t>
            </a:r>
            <a:r>
              <a:rPr lang="en-US"/>
              <a:t>(a+a’)	(tiên đề 5b))</a:t>
            </a:r>
            <a:endParaRPr/>
          </a:p>
          <a:p>
            <a:pPr indent="0" lvl="0" marL="0" rtl="0" algn="l">
              <a:spcBef>
                <a:spcPts val="0"/>
              </a:spcBef>
              <a:spcAft>
                <a:spcPts val="0"/>
              </a:spcAft>
              <a:buClr>
                <a:schemeClr val="dk1"/>
              </a:buClr>
              <a:buFont typeface="Arial"/>
              <a:buNone/>
            </a:pPr>
            <a:r>
              <a:rPr lang="en-US"/>
              <a:t>	= (a</a:t>
            </a:r>
            <a:r>
              <a:rPr b="1" lang="en-US"/>
              <a:t>.</a:t>
            </a:r>
            <a:r>
              <a:rPr lang="en-US"/>
              <a:t>a)+(a</a:t>
            </a:r>
            <a:r>
              <a:rPr b="1" lang="en-US"/>
              <a:t>.</a:t>
            </a:r>
            <a:r>
              <a:rPr lang="en-US"/>
              <a:t>a’)	(tiên đề 3a))</a:t>
            </a:r>
            <a:endParaRPr/>
          </a:p>
          <a:p>
            <a:pPr indent="0" lvl="0" marL="0" rtl="0" algn="l">
              <a:spcBef>
                <a:spcPts val="0"/>
              </a:spcBef>
              <a:spcAft>
                <a:spcPts val="0"/>
              </a:spcAft>
              <a:buClr>
                <a:schemeClr val="dk1"/>
              </a:buClr>
              <a:buFont typeface="Arial"/>
              <a:buNone/>
            </a:pPr>
            <a:r>
              <a:rPr lang="en-US"/>
              <a:t>	= (a</a:t>
            </a:r>
            <a:r>
              <a:rPr b="1" lang="en-US"/>
              <a:t>.</a:t>
            </a:r>
            <a:r>
              <a:rPr lang="en-US"/>
              <a:t>a)+0	(tiên đề 5a))</a:t>
            </a:r>
            <a:endParaRPr/>
          </a:p>
          <a:p>
            <a:pPr indent="0" lvl="0" marL="0" rtl="0" algn="l">
              <a:spcBef>
                <a:spcPts val="0"/>
              </a:spcBef>
              <a:spcAft>
                <a:spcPts val="0"/>
              </a:spcAft>
              <a:buClr>
                <a:schemeClr val="dk1"/>
              </a:buClr>
              <a:buFont typeface="Arial"/>
              <a:buNone/>
            </a:pPr>
            <a:r>
              <a:rPr lang="en-US"/>
              <a:t>	= a</a:t>
            </a:r>
            <a:r>
              <a:rPr b="1" lang="en-US"/>
              <a:t>.</a:t>
            </a:r>
            <a:r>
              <a:rPr lang="en-US"/>
              <a:t>a	(tiên đề 4b))</a:t>
            </a:r>
            <a:endParaRPr/>
          </a:p>
          <a:p>
            <a:pPr indent="0" lvl="0" marL="0" rtl="0" algn="l">
              <a:spcBef>
                <a:spcPts val="0"/>
              </a:spcBef>
              <a:spcAft>
                <a:spcPts val="0"/>
              </a:spcAft>
              <a:buClr>
                <a:schemeClr val="dk1"/>
              </a:buClr>
              <a:buFont typeface="Arial"/>
              <a:buNone/>
            </a:pPr>
            <a:r>
              <a:rPr b="1" lang="en-US"/>
              <a:t>8.</a:t>
            </a:r>
            <a:r>
              <a:rPr lang="en-US"/>
              <a:t> Ta chứng minh rằng a’+b’ là bù của a</a:t>
            </a:r>
            <a:r>
              <a:rPr b="1" lang="en-US"/>
              <a:t>.</a:t>
            </a:r>
            <a:r>
              <a:rPr lang="en-US"/>
              <a:t>b bằng cách chứng minh rằng:</a:t>
            </a:r>
            <a:endParaRPr/>
          </a:p>
          <a:p>
            <a:pPr indent="0" lvl="0" marL="0" rtl="0" algn="l">
              <a:spcBef>
                <a:spcPts val="0"/>
              </a:spcBef>
              <a:spcAft>
                <a:spcPts val="0"/>
              </a:spcAft>
              <a:buClr>
                <a:schemeClr val="dk1"/>
              </a:buClr>
              <a:buFont typeface="Arial"/>
              <a:buNone/>
            </a:pPr>
            <a:r>
              <a:rPr lang="en-US"/>
              <a:t>	(a</a:t>
            </a:r>
            <a:r>
              <a:rPr b="1" lang="en-US"/>
              <a:t>.</a:t>
            </a:r>
            <a:r>
              <a:rPr lang="en-US"/>
              <a:t>b)</a:t>
            </a:r>
            <a:r>
              <a:rPr b="1" lang="en-US"/>
              <a:t>.</a:t>
            </a:r>
            <a:r>
              <a:rPr lang="en-US"/>
              <a:t>(a’+b’) = 0 (theo 5a)) và (a</a:t>
            </a:r>
            <a:r>
              <a:rPr b="1" lang="en-US"/>
              <a:t>.</a:t>
            </a:r>
            <a:r>
              <a:rPr lang="en-US"/>
              <a:t>b)+(a’+b’) = 1 (theo 5b)).</a:t>
            </a:r>
            <a:endParaRPr/>
          </a:p>
          <a:p>
            <a:pPr indent="0" lvl="0" marL="0" rtl="0" algn="l">
              <a:spcBef>
                <a:spcPts val="0"/>
              </a:spcBef>
              <a:spcAft>
                <a:spcPts val="0"/>
              </a:spcAft>
              <a:buClr>
                <a:schemeClr val="dk1"/>
              </a:buClr>
              <a:buFont typeface="Arial"/>
              <a:buNone/>
            </a:pPr>
            <a:r>
              <a:rPr lang="en-US"/>
              <a:t>Thật vậy, (a</a:t>
            </a:r>
            <a:r>
              <a:rPr b="1" lang="en-US"/>
              <a:t>.</a:t>
            </a:r>
            <a:r>
              <a:rPr lang="en-US"/>
              <a:t>b)</a:t>
            </a:r>
            <a:r>
              <a:rPr b="1" lang="en-US"/>
              <a:t>.</a:t>
            </a:r>
            <a:r>
              <a:rPr lang="en-US"/>
              <a:t>(a’+b’) = (a</a:t>
            </a:r>
            <a:r>
              <a:rPr b="1" lang="en-US"/>
              <a:t>.</a:t>
            </a:r>
            <a:r>
              <a:rPr lang="en-US"/>
              <a:t>b</a:t>
            </a:r>
            <a:r>
              <a:rPr b="1" lang="en-US"/>
              <a:t>.</a:t>
            </a:r>
            <a:r>
              <a:rPr lang="en-US"/>
              <a:t>a’)+(a</a:t>
            </a:r>
            <a:r>
              <a:rPr b="1" lang="en-US"/>
              <a:t>.</a:t>
            </a:r>
            <a:r>
              <a:rPr lang="en-US"/>
              <a:t>b</a:t>
            </a:r>
            <a:r>
              <a:rPr b="1" lang="en-US"/>
              <a:t>.</a:t>
            </a:r>
            <a:r>
              <a:rPr lang="en-US"/>
              <a:t>b’) = (a</a:t>
            </a:r>
            <a:r>
              <a:rPr b="1" lang="en-US"/>
              <a:t>.</a:t>
            </a:r>
            <a:r>
              <a:rPr lang="en-US"/>
              <a:t>a’</a:t>
            </a:r>
            <a:r>
              <a:rPr b="1" lang="en-US"/>
              <a:t>.</a:t>
            </a:r>
            <a:r>
              <a:rPr lang="en-US"/>
              <a:t>b)+(a</a:t>
            </a:r>
            <a:r>
              <a:rPr b="1" lang="en-US"/>
              <a:t>.</a:t>
            </a:r>
            <a:r>
              <a:rPr lang="en-US"/>
              <a:t>b</a:t>
            </a:r>
            <a:r>
              <a:rPr b="1" lang="en-US"/>
              <a:t>.</a:t>
            </a:r>
            <a:r>
              <a:rPr lang="en-US"/>
              <a:t>b’) = (0</a:t>
            </a:r>
            <a:r>
              <a:rPr b="1" lang="en-US"/>
              <a:t>.</a:t>
            </a:r>
            <a:r>
              <a:rPr lang="en-US"/>
              <a:t>b)+(a</a:t>
            </a:r>
            <a:r>
              <a:rPr b="1" lang="en-US"/>
              <a:t>.</a:t>
            </a:r>
            <a:r>
              <a:rPr lang="en-US"/>
              <a:t>0) = 0+0 = 0,</a:t>
            </a:r>
            <a:endParaRPr/>
          </a:p>
          <a:p>
            <a:pPr indent="0" lvl="0" marL="0" rtl="0" algn="l">
              <a:spcBef>
                <a:spcPts val="0"/>
              </a:spcBef>
              <a:spcAft>
                <a:spcPts val="0"/>
              </a:spcAft>
              <a:buClr>
                <a:schemeClr val="dk1"/>
              </a:buClr>
              <a:buFont typeface="Arial"/>
              <a:buNone/>
            </a:pPr>
            <a:r>
              <a:rPr lang="en-US"/>
              <a:t>               (a</a:t>
            </a:r>
            <a:r>
              <a:rPr b="1" lang="en-US"/>
              <a:t>.</a:t>
            </a:r>
            <a:r>
              <a:rPr lang="en-US"/>
              <a:t>b)+(a’+b’) = (a’+b’)+(a</a:t>
            </a:r>
            <a:r>
              <a:rPr b="1" lang="en-US"/>
              <a:t>.</a:t>
            </a:r>
            <a:r>
              <a:rPr lang="en-US"/>
              <a:t>b) = (a’+b’+a)</a:t>
            </a:r>
            <a:r>
              <a:rPr b="1" lang="en-US"/>
              <a:t>.</a:t>
            </a:r>
            <a:r>
              <a:rPr lang="en-US"/>
              <a:t>(a’+b’+b) = (1+b’)</a:t>
            </a:r>
            <a:r>
              <a:rPr b="1" lang="en-US"/>
              <a:t>.</a:t>
            </a:r>
            <a:r>
              <a:rPr lang="en-US"/>
              <a:t>(a’+1) = 1</a:t>
            </a:r>
            <a:r>
              <a:rPr b="1" lang="en-US"/>
              <a:t>.</a:t>
            </a:r>
            <a:r>
              <a:rPr lang="en-US"/>
              <a:t>1 = 1.</a:t>
            </a:r>
            <a:endParaRPr/>
          </a:p>
          <a:p>
            <a:pPr indent="0" lvl="0" marL="0" rtl="0" algn="l">
              <a:spcBef>
                <a:spcPts val="0"/>
              </a:spcBef>
              <a:spcAft>
                <a:spcPts val="0"/>
              </a:spcAft>
              <a:buClr>
                <a:schemeClr val="dk1"/>
              </a:buClr>
              <a:buFont typeface="Arial"/>
              <a:buNone/>
            </a:pPr>
            <a:r>
              <a:rPr lang="en-US"/>
              <a:t>Vì a</a:t>
            </a:r>
            <a:r>
              <a:rPr b="1" lang="en-US"/>
              <a:t>.</a:t>
            </a:r>
            <a:r>
              <a:rPr lang="en-US"/>
              <a:t>b chỉ có một phần tử bù duy nhất nên (a</a:t>
            </a:r>
            <a:r>
              <a:rPr b="1" lang="en-US"/>
              <a:t>.</a:t>
            </a:r>
            <a:r>
              <a:rPr lang="en-US"/>
              <a:t>b)’ = a’+b’.</a:t>
            </a:r>
            <a:endParaRPr/>
          </a:p>
          <a:p>
            <a:pPr indent="0" lvl="0" marL="0" rtl="0" algn="l">
              <a:spcBef>
                <a:spcPts val="0"/>
              </a:spcBef>
              <a:spcAft>
                <a:spcPts val="0"/>
              </a:spcAft>
              <a:buClr>
                <a:schemeClr val="dk1"/>
              </a:buClr>
              <a:buFont typeface="Arial"/>
              <a:buNone/>
            </a:pPr>
            <a:r>
              <a:rPr b="1" lang="en-US"/>
              <a:t>9.</a:t>
            </a:r>
            <a:r>
              <a:rPr lang="en-US"/>
              <a:t> Có ngay từ tiên đề 5.</a:t>
            </a:r>
            <a:endParaRPr/>
          </a:p>
          <a:p>
            <a:pPr indent="0" lvl="0" marL="0" rtl="0" algn="l">
              <a:spcBef>
                <a:spcPts val="0"/>
              </a:spcBef>
              <a:spcAft>
                <a:spcPts val="0"/>
              </a:spcAft>
              <a:buClr>
                <a:schemeClr val="dk1"/>
              </a:buClr>
              <a:buFont typeface="Arial"/>
              <a:buNone/>
            </a:pPr>
            <a:r>
              <a:rPr b="1" lang="en-US"/>
              <a:t>10.</a:t>
            </a:r>
            <a:r>
              <a:rPr lang="en-US"/>
              <a:t> Có từ các hệ thức 1</a:t>
            </a:r>
            <a:r>
              <a:rPr b="1" lang="en-US"/>
              <a:t>.</a:t>
            </a:r>
            <a:r>
              <a:rPr lang="en-US"/>
              <a:t>0 = 0 và 1+0 = 1.</a:t>
            </a:r>
            <a:endParaRPr/>
          </a:p>
          <a:p>
            <a:pPr indent="0" lvl="0" marL="0" rtl="0" algn="l">
              <a:spcBef>
                <a:spcPts val="0"/>
              </a:spcBef>
              <a:spcAft>
                <a:spcPts val="0"/>
              </a:spcAft>
              <a:buClr>
                <a:schemeClr val="dk1"/>
              </a:buClr>
              <a:buFont typeface="Arial"/>
              <a:buNone/>
            </a:pPr>
            <a:r>
              <a:rPr b="1" lang="en-US"/>
              <a:t>11.</a:t>
            </a:r>
            <a:r>
              <a:rPr lang="en-US"/>
              <a:t> a</a:t>
            </a:r>
            <a:r>
              <a:rPr b="1" lang="en-US"/>
              <a:t>.</a:t>
            </a:r>
            <a:r>
              <a:rPr lang="en-US"/>
              <a:t>(a+b) = (a+0)</a:t>
            </a:r>
            <a:r>
              <a:rPr b="1" lang="en-US"/>
              <a:t>.</a:t>
            </a:r>
            <a:r>
              <a:rPr lang="en-US"/>
              <a:t>(a+b) = a+(0</a:t>
            </a:r>
            <a:r>
              <a:rPr b="1" lang="en-US"/>
              <a:t>.</a:t>
            </a:r>
            <a:r>
              <a:rPr lang="en-US"/>
              <a:t>b) = a+0 = a.</a:t>
            </a:r>
            <a:endParaRPr/>
          </a:p>
          <a:p>
            <a:pPr indent="0" lvl="0" marL="0" rtl="0" algn="l">
              <a:spcBef>
                <a:spcPts val="0"/>
              </a:spcBef>
              <a:spcAft>
                <a:spcPts val="0"/>
              </a:spcAft>
              <a:buClr>
                <a:schemeClr val="dk1"/>
              </a:buClr>
              <a:buFont typeface="Arial"/>
              <a:buNone/>
            </a:pPr>
            <a:r>
              <a:t/>
            </a:r>
            <a:endParaRPr/>
          </a:p>
          <a:p>
            <a:pPr indent="0" lvl="0" marL="342900" rtl="0" algn="l">
              <a:spcBef>
                <a:spcPts val="480"/>
              </a:spcBef>
              <a:spcAft>
                <a:spcPts val="0"/>
              </a:spcAft>
              <a:buNone/>
            </a:pPr>
            <a:r>
              <a:t/>
            </a:r>
            <a:endParaRPr/>
          </a:p>
        </p:txBody>
      </p:sp>
      <p:sp>
        <p:nvSpPr>
          <p:cNvPr id="193" name="Google Shape;193;g121429f3121_0_1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1429f3121_0_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1429f3121_0_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121429f3121_0_17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1429f3121_0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1429f3121_0_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121429f3121_0_1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21429f3121_0_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21429f3121_0_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121429f3121_0_18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1429f3121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1429f3121_1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121429f3121_1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1429f3121_1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1429f3121_1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121429f3121_1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1429f3121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1429f3121_1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121429f3121_1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1429f3121_1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1429f3121_1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121429f3121_1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Hai mạch lôgic trong hai hình trên thực hiện cùng một hàm Boole, ta nói đó là hai mạch lôgic tương đương,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nhưng mạch lôgic thứ hai đơn giản hơn.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Vấn đề tìm mạch lôgic đơn giản thực hiện một hàm Boole F cho trước gắn liền với vấn đề tìm biểu thức đơn giản nhất biểu diễn hàm ấy. </a:t>
            </a:r>
            <a:endParaRPr/>
          </a:p>
        </p:txBody>
      </p:sp>
      <p:sp>
        <p:nvSpPr>
          <p:cNvPr id="355" name="Google Shape;35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21429f3121_1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21429f3121_1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121429f3121_1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26" name="Google Shape;42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48" name="Google Shape;44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67" name="Google Shape;46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87" name="Google Shape;487;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507" name="Google Shape;50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5" name="Google Shape;52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2007\Imagebank\JPEGs07-24-06\ch11\jpeg\11_4_05.jpg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3" name="Google Shape;5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2" name="Google Shape;54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21429f3121_1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21429f3121_1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g121429f3121_1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21429f3121_1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21429f3121_1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g121429f3121_1_7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21429f3121_1_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21429f3121_1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121429f3121_1_8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21429f3121_1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21429f3121_1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g121429f3121_1_9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582" name="Google Shape;582;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2" name="Google Shape;60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2007\Imagebank\JPEGs07-24-06\ch11\jpeg\11_4_08.jpg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612" name="Google Shape;61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648" name="Google Shape;648;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0" name="Google Shape;67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2007\Imagebank\JPEGs07-24-06\ch11\jpeg\11_4_09.jpg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8" name="Google Shape;67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7" name="Google Shape;70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46"/>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46"/>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 name="Google Shape;25;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6" name="Google Shape;26;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 name="Google Shape;27;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 name="Google Shape;2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8"/>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49"/>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49"/>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2" name="Shape 42"/>
        <p:cNvGrpSpPr/>
        <p:nvPr/>
      </p:nvGrpSpPr>
      <p:grpSpPr>
        <a:xfrm>
          <a:off x="0" y="0"/>
          <a:ext cx="0" cy="0"/>
          <a:chOff x="0" y="0"/>
          <a:chExt cx="0" cy="0"/>
        </a:xfrm>
      </p:grpSpPr>
      <p:sp>
        <p:nvSpPr>
          <p:cNvPr id="43" name="Google Shape;43;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0"/>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0" name="Google Shape;50;p51"/>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1"/>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2"/>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3"/>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4"/>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55"/>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56"/>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56"/>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6"/>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g121429f3121_0_94"/>
          <p:cNvSpPr txBox="1"/>
          <p:nvPr>
            <p:ph idx="1" type="body"/>
          </p:nvPr>
        </p:nvSpPr>
        <p:spPr>
          <a:xfrm>
            <a:off x="493776" y="3968497"/>
            <a:ext cx="4978800" cy="1650300"/>
          </a:xfrm>
          <a:prstGeom prst="rect">
            <a:avLst/>
          </a:prstGeom>
          <a:noFill/>
          <a:ln>
            <a:noFill/>
          </a:ln>
        </p:spPr>
        <p:txBody>
          <a:bodyPr anchorCtr="0" anchor="t" bIns="45700" lIns="0" spcFirstLastPara="1" rIns="91425" wrap="square" tIns="45700">
            <a:noAutofit/>
          </a:bodyPr>
          <a:lstStyle>
            <a:lvl1pPr indent="-228600" lvl="0" marL="457200" rtl="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5" name="Google Shape;95;g121429f3121_0_94"/>
          <p:cNvSpPr txBox="1"/>
          <p:nvPr>
            <p:ph type="ctrTitle"/>
          </p:nvPr>
        </p:nvSpPr>
        <p:spPr>
          <a:xfrm>
            <a:off x="493776" y="1239123"/>
            <a:ext cx="4978800" cy="2386500"/>
          </a:xfrm>
          <a:prstGeom prst="rect">
            <a:avLst/>
          </a:prstGeom>
          <a:noFill/>
          <a:ln>
            <a:noFill/>
          </a:ln>
        </p:spPr>
        <p:txBody>
          <a:bodyPr anchorCtr="0" anchor="b" bIns="45700" lIns="0" spcFirstLastPara="1" rIns="91425" wrap="square" tIns="45700">
            <a:noAutofit/>
          </a:bodyPr>
          <a:lstStyle>
            <a:lvl1pPr lvl="0" rt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96" name="Google Shape;96;g121429f3121_0_94"/>
          <p:cNvCxnSpPr/>
          <p:nvPr/>
        </p:nvCxnSpPr>
        <p:spPr>
          <a:xfrm>
            <a:off x="276359" y="2216727"/>
            <a:ext cx="0" cy="3402300"/>
          </a:xfrm>
          <a:prstGeom prst="straightConnector1">
            <a:avLst/>
          </a:prstGeom>
          <a:noFill/>
          <a:ln cap="flat" cmpd="sng" w="28575">
            <a:solidFill>
              <a:schemeClr val="lt1"/>
            </a:solidFill>
            <a:prstDash val="dash"/>
            <a:miter lim="800000"/>
            <a:headEnd len="sm" w="sm" type="none"/>
            <a:tailEnd len="sm" w="sm" type="none"/>
          </a:ln>
        </p:spPr>
      </p:cxnSp>
      <p:pic>
        <p:nvPicPr>
          <p:cNvPr id="97" name="Google Shape;97;g121429f3121_0_94"/>
          <p:cNvPicPr preferRelativeResize="0"/>
          <p:nvPr/>
        </p:nvPicPr>
        <p:blipFill rotWithShape="1">
          <a:blip r:embed="rId3">
            <a:alphaModFix/>
          </a:blip>
          <a:srcRect b="0" l="0" r="0" t="0"/>
          <a:stretch/>
        </p:blipFill>
        <p:spPr>
          <a:xfrm>
            <a:off x="137569" y="129505"/>
            <a:ext cx="5210288" cy="110961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g121429f3121_0_99"/>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lvl1pPr lvl="0" rt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0" name="Google Shape;100;g121429f3121_0_99"/>
          <p:cNvSpPr txBox="1"/>
          <p:nvPr>
            <p:ph idx="1" type="subTitle"/>
          </p:nvPr>
        </p:nvSpPr>
        <p:spPr>
          <a:xfrm>
            <a:off x="493776" y="3970337"/>
            <a:ext cx="4978800" cy="2213100"/>
          </a:xfrm>
          <a:prstGeom prst="rect">
            <a:avLst/>
          </a:prstGeom>
          <a:noFill/>
          <a:ln>
            <a:noFill/>
          </a:ln>
        </p:spPr>
        <p:txBody>
          <a:bodyPr anchorCtr="0" anchor="t" bIns="45700" lIns="0" spcFirstLastPara="1" rIns="91425" wrap="square" tIns="45700">
            <a:noAutofit/>
          </a:bodyPr>
          <a:lstStyle>
            <a:lvl1pPr lvl="0" rt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rtl="0" algn="ctr">
              <a:lnSpc>
                <a:spcPct val="130000"/>
              </a:lnSpc>
              <a:spcBef>
                <a:spcPts val="600"/>
              </a:spcBef>
              <a:spcAft>
                <a:spcPts val="0"/>
              </a:spcAft>
              <a:buSzPts val="2400"/>
              <a:buNone/>
              <a:defRPr sz="2000"/>
            </a:lvl2pPr>
            <a:lvl3pPr lvl="2" rtl="0" algn="ctr">
              <a:lnSpc>
                <a:spcPct val="130000"/>
              </a:lnSpc>
              <a:spcBef>
                <a:spcPts val="600"/>
              </a:spcBef>
              <a:spcAft>
                <a:spcPts val="0"/>
              </a:spcAft>
              <a:buSzPts val="2160"/>
              <a:buNone/>
              <a:defRPr sz="1800"/>
            </a:lvl3pPr>
            <a:lvl4pPr lvl="3" rtl="0" algn="ctr">
              <a:lnSpc>
                <a:spcPct val="130000"/>
              </a:lnSpc>
              <a:spcBef>
                <a:spcPts val="600"/>
              </a:spcBef>
              <a:spcAft>
                <a:spcPts val="0"/>
              </a:spcAft>
              <a:buSzPts val="1920"/>
              <a:buNone/>
              <a:defRPr sz="1600"/>
            </a:lvl4pPr>
            <a:lvl5pPr lvl="4" rtl="0" algn="ctr">
              <a:lnSpc>
                <a:spcPct val="130000"/>
              </a:lnSpc>
              <a:spcBef>
                <a:spcPts val="600"/>
              </a:spcBef>
              <a:spcAft>
                <a:spcPts val="0"/>
              </a:spcAft>
              <a:buSzPts val="192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01" name="Shape 101"/>
        <p:cNvGrpSpPr/>
        <p:nvPr/>
      </p:nvGrpSpPr>
      <p:grpSpPr>
        <a:xfrm>
          <a:off x="0" y="0"/>
          <a:ext cx="0" cy="0"/>
          <a:chOff x="0" y="0"/>
          <a:chExt cx="0" cy="0"/>
        </a:xfrm>
      </p:grpSpPr>
      <p:sp>
        <p:nvSpPr>
          <p:cNvPr id="102" name="Google Shape;102;g121429f3121_0_102"/>
          <p:cNvSpPr txBox="1"/>
          <p:nvPr>
            <p:ph type="title"/>
          </p:nvPr>
        </p:nvSpPr>
        <p:spPr>
          <a:xfrm>
            <a:off x="425196" y="1001018"/>
            <a:ext cx="7850100" cy="10896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g121429f3121_0_102"/>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4" name="Google Shape;104;g121429f3121_0_102"/>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5" name="Shape 105"/>
        <p:cNvGrpSpPr/>
        <p:nvPr/>
      </p:nvGrpSpPr>
      <p:grpSpPr>
        <a:xfrm>
          <a:off x="0" y="0"/>
          <a:ext cx="0" cy="0"/>
          <a:chOff x="0" y="0"/>
          <a:chExt cx="0" cy="0"/>
        </a:xfrm>
      </p:grpSpPr>
      <p:sp>
        <p:nvSpPr>
          <p:cNvPr id="106" name="Google Shape;106;g121429f3121_0_106"/>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36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7" name="Google Shape;107;g121429f3121_0_10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g121429f3121_0_109"/>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0" name="Google Shape;110;g121429f3121_0_109"/>
          <p:cNvSpPr txBox="1"/>
          <p:nvPr>
            <p:ph idx="1" type="body"/>
          </p:nvPr>
        </p:nvSpPr>
        <p:spPr>
          <a:xfrm>
            <a:off x="425196" y="2185416"/>
            <a:ext cx="3792600" cy="39486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1" name="Google Shape;111;g121429f3121_0_109"/>
          <p:cNvSpPr txBox="1"/>
          <p:nvPr>
            <p:ph idx="2" type="body"/>
          </p:nvPr>
        </p:nvSpPr>
        <p:spPr>
          <a:xfrm>
            <a:off x="4389120" y="2185416"/>
            <a:ext cx="3922800" cy="3950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2" name="Google Shape;112;g121429f3121_0_109"/>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g121429f3121_0_114"/>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5" name="Google Shape;115;g121429f3121_0_114"/>
          <p:cNvSpPr txBox="1"/>
          <p:nvPr>
            <p:ph idx="1" type="body"/>
          </p:nvPr>
        </p:nvSpPr>
        <p:spPr>
          <a:xfrm>
            <a:off x="425196" y="2185416"/>
            <a:ext cx="3854100" cy="3933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6" name="Google Shape;116;g121429f3121_0_114"/>
          <p:cNvSpPr txBox="1"/>
          <p:nvPr>
            <p:ph idx="2" type="body"/>
          </p:nvPr>
        </p:nvSpPr>
        <p:spPr>
          <a:xfrm>
            <a:off x="425197" y="2593340"/>
            <a:ext cx="3855300" cy="3535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7" name="Google Shape;117;g121429f3121_0_114"/>
          <p:cNvSpPr txBox="1"/>
          <p:nvPr>
            <p:ph idx="3" type="body"/>
          </p:nvPr>
        </p:nvSpPr>
        <p:spPr>
          <a:xfrm>
            <a:off x="4629150" y="2185416"/>
            <a:ext cx="3854100" cy="3792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8" name="Google Shape;118;g121429f3121_0_114"/>
          <p:cNvSpPr txBox="1"/>
          <p:nvPr>
            <p:ph idx="4" type="body"/>
          </p:nvPr>
        </p:nvSpPr>
        <p:spPr>
          <a:xfrm>
            <a:off x="4629150" y="2590800"/>
            <a:ext cx="3854100" cy="3538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9" name="Google Shape;119;g121429f3121_0_114"/>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2.xml"/><Relationship Id="rId1" Type="http://schemas.openxmlformats.org/officeDocument/2006/relationships/image" Target="../media/image6.pn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45"/>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5" name="Shape 85"/>
        <p:cNvGrpSpPr/>
        <p:nvPr/>
      </p:nvGrpSpPr>
      <p:grpSpPr>
        <a:xfrm>
          <a:off x="0" y="0"/>
          <a:ext cx="0" cy="0"/>
          <a:chOff x="0" y="0"/>
          <a:chExt cx="0" cy="0"/>
        </a:xfrm>
      </p:grpSpPr>
      <p:sp>
        <p:nvSpPr>
          <p:cNvPr id="86" name="Google Shape;86;g121429f3121_0_86"/>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g121429f3121_0_86"/>
          <p:cNvSpPr txBox="1"/>
          <p:nvPr>
            <p:ph idx="1" type="body"/>
          </p:nvPr>
        </p:nvSpPr>
        <p:spPr>
          <a:xfrm>
            <a:off x="425196" y="2185417"/>
            <a:ext cx="7886700" cy="3968100"/>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g121429f3121_0_8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g121429f3121_0_86"/>
          <p:cNvSpPr txBox="1"/>
          <p:nvPr/>
        </p:nvSpPr>
        <p:spPr>
          <a:xfrm>
            <a:off x="5542161" y="217021"/>
            <a:ext cx="2769300" cy="48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90" name="Google Shape;90;g121429f3121_0_86"/>
          <p:cNvSpPr/>
          <p:nvPr/>
        </p:nvSpPr>
        <p:spPr>
          <a:xfrm>
            <a:off x="8311897" y="134971"/>
            <a:ext cx="645300" cy="5958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91" name="Google Shape;91;g121429f3121_0_86"/>
          <p:cNvPicPr preferRelativeResize="0"/>
          <p:nvPr/>
        </p:nvPicPr>
        <p:blipFill rotWithShape="1">
          <a:blip r:embed="rId2">
            <a:alphaModFix/>
          </a:blip>
          <a:srcRect b="0" l="0" r="0" t="0"/>
          <a:stretch/>
        </p:blipFill>
        <p:spPr>
          <a:xfrm>
            <a:off x="-102631" y="-33229"/>
            <a:ext cx="4323646" cy="920794"/>
          </a:xfrm>
          <a:prstGeom prst="rect">
            <a:avLst/>
          </a:prstGeom>
          <a:noFill/>
          <a:ln>
            <a:noFill/>
          </a:ln>
        </p:spPr>
      </p:pic>
      <p:pic>
        <p:nvPicPr>
          <p:cNvPr descr="A close up of a sign&#10;&#10;Description automatically generated" id="92" name="Google Shape;92;g121429f3121_0_86"/>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7.png"/><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9.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21429f3121_0_68"/>
          <p:cNvSpPr txBox="1"/>
          <p:nvPr>
            <p:ph type="ctrTitle"/>
          </p:nvPr>
        </p:nvSpPr>
        <p:spPr>
          <a:xfrm>
            <a:off x="510473" y="1804112"/>
            <a:ext cx="5619900" cy="2020500"/>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US"/>
              <a:t>TOÁN RỜI RẠC</a:t>
            </a:r>
            <a:endParaRPr/>
          </a:p>
        </p:txBody>
      </p:sp>
      <p:sp>
        <p:nvSpPr>
          <p:cNvPr id="125" name="Google Shape;125;g121429f3121_0_68"/>
          <p:cNvSpPr txBox="1"/>
          <p:nvPr/>
        </p:nvSpPr>
        <p:spPr>
          <a:xfrm>
            <a:off x="1309143" y="4828745"/>
            <a:ext cx="4944000" cy="61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00"/>
                </a:solidFill>
                <a:latin typeface="Arial"/>
                <a:ea typeface="Arial"/>
                <a:cs typeface="Arial"/>
                <a:sym typeface="Arial"/>
              </a:rPr>
              <a:t>Khoa Công Nghệ Thông Tin</a:t>
            </a:r>
            <a:endParaRPr b="1" i="0" sz="1600" u="none" cap="none" strike="noStrike">
              <a:solidFill>
                <a:srgbClr val="FFFF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TS. Nguyễn Văn Hiệu</a:t>
            </a:r>
            <a:endParaRPr b="0" i="0" sz="1400" u="none" cap="none" strike="noStrike">
              <a:solidFill>
                <a:srgbClr val="000000"/>
              </a:solidFill>
              <a:latin typeface="Arial"/>
              <a:ea typeface="Arial"/>
              <a:cs typeface="Arial"/>
              <a:sym typeface="Arial"/>
            </a:endParaRPr>
          </a:p>
        </p:txBody>
      </p:sp>
      <p:sp>
        <p:nvSpPr>
          <p:cNvPr id="126" name="Google Shape;126;g121429f3121_0_68"/>
          <p:cNvSpPr/>
          <p:nvPr/>
        </p:nvSpPr>
        <p:spPr>
          <a:xfrm>
            <a:off x="437871" y="4735071"/>
            <a:ext cx="797700" cy="7977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127" name="Google Shape;127;g121429f3121_0_68"/>
          <p:cNvPicPr preferRelativeResize="0"/>
          <p:nvPr/>
        </p:nvPicPr>
        <p:blipFill rotWithShape="1">
          <a:blip r:embed="rId3">
            <a:alphaModFix/>
          </a:blip>
          <a:srcRect b="0" l="0" r="0" t="0"/>
          <a:stretch/>
        </p:blipFill>
        <p:spPr>
          <a:xfrm>
            <a:off x="476464" y="4764626"/>
            <a:ext cx="743275" cy="728410"/>
          </a:xfrm>
          <a:prstGeom prst="rect">
            <a:avLst/>
          </a:prstGeom>
          <a:noFill/>
          <a:ln cap="flat" cmpd="sng" w="28575">
            <a:solidFill>
              <a:schemeClr val="accent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21429f3121_0_75"/>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133" name="Google Shape;133;g121429f3121_0_75"/>
          <p:cNvSpPr txBox="1"/>
          <p:nvPr>
            <p:ph idx="1" type="subTitle"/>
          </p:nvPr>
        </p:nvSpPr>
        <p:spPr>
          <a:xfrm>
            <a:off x="493776" y="3793356"/>
            <a:ext cx="4978800" cy="2213100"/>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12: </a:t>
            </a:r>
            <a:r>
              <a:rPr lang="en-US"/>
              <a:t>ĐẠI SỐ BOOLE</a:t>
            </a:r>
            <a:endParaRPr/>
          </a:p>
          <a:p>
            <a:pPr indent="0" lvl="0" marL="0" rtl="0" algn="l">
              <a:lnSpc>
                <a:spcPct val="130000"/>
              </a:lnSpc>
              <a:spcBef>
                <a:spcPts val="0"/>
              </a:spcBef>
              <a:spcAft>
                <a:spcPts val="0"/>
              </a:spcAft>
              <a:buSzPts val="3360"/>
              <a:buNone/>
            </a:pPr>
            <a:r>
              <a:rPr lang="en-US"/>
              <a:t>              (Boolean Algebra)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g121429f3121_0_80"/>
          <p:cNvSpPr txBox="1"/>
          <p:nvPr>
            <p:ph type="title"/>
          </p:nvPr>
        </p:nvSpPr>
        <p:spPr>
          <a:xfrm>
            <a:off x="425196" y="1499616"/>
            <a:ext cx="5213700" cy="591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139" name="Google Shape;139;g121429f3121_0_80"/>
          <p:cNvSpPr txBox="1"/>
          <p:nvPr>
            <p:ph idx="1" type="body"/>
          </p:nvPr>
        </p:nvSpPr>
        <p:spPr>
          <a:xfrm>
            <a:off x="425200" y="2185425"/>
            <a:ext cx="8504400" cy="3968100"/>
          </a:xfrm>
          <a:prstGeom prst="rect">
            <a:avLst/>
          </a:prstGeom>
          <a:noFill/>
          <a:ln>
            <a:noFill/>
          </a:ln>
        </p:spPr>
        <p:txBody>
          <a:bodyPr anchorCtr="0" anchor="t" bIns="45700" lIns="91425" spcFirstLastPara="1" rIns="91425" wrap="square" tIns="45700">
            <a:noAutofit/>
          </a:bodyPr>
          <a:lstStyle/>
          <a:p>
            <a:pPr indent="-342900" lvl="0" marL="342900" rtl="0" algn="l">
              <a:lnSpc>
                <a:spcPct val="130000"/>
              </a:lnSpc>
              <a:spcBef>
                <a:spcPts val="0"/>
              </a:spcBef>
              <a:spcAft>
                <a:spcPts val="0"/>
              </a:spcAft>
              <a:buSzPts val="2160"/>
              <a:buFont typeface="Noto Sans Symbols"/>
              <a:buChar char="▪"/>
            </a:pPr>
            <a:r>
              <a:rPr lang="en-US" sz="2400"/>
              <a:t>ĐẠI SỐ BOOLE</a:t>
            </a:r>
            <a:endParaRPr sz="2400"/>
          </a:p>
          <a:p>
            <a:pPr indent="-342900" lvl="0" marL="342900" rtl="0" algn="l">
              <a:lnSpc>
                <a:spcPct val="130000"/>
              </a:lnSpc>
              <a:spcBef>
                <a:spcPts val="0"/>
              </a:spcBef>
              <a:spcAft>
                <a:spcPts val="0"/>
              </a:spcAft>
              <a:buSzPts val="2160"/>
              <a:buFont typeface="Noto Sans Symbols"/>
              <a:buChar char="▪"/>
            </a:pPr>
            <a:r>
              <a:rPr lang="en-US" sz="2400"/>
              <a:t>HÀM BOOLE</a:t>
            </a:r>
            <a:endParaRPr sz="2400"/>
          </a:p>
          <a:p>
            <a:pPr indent="-342900" lvl="0" marL="342900" rtl="0" algn="l">
              <a:lnSpc>
                <a:spcPct val="130000"/>
              </a:lnSpc>
              <a:spcBef>
                <a:spcPts val="0"/>
              </a:spcBef>
              <a:spcAft>
                <a:spcPts val="0"/>
              </a:spcAft>
              <a:buSzPts val="2160"/>
              <a:buFont typeface="Noto Sans Symbols"/>
              <a:buChar char="▪"/>
            </a:pPr>
            <a:r>
              <a:rPr lang="en-US" sz="2400"/>
              <a:t>MẠCH </a:t>
            </a:r>
            <a:r>
              <a:rPr lang="en-US" sz="2400"/>
              <a:t>LOGIC</a:t>
            </a:r>
            <a:endParaRPr sz="2400"/>
          </a:p>
          <a:p>
            <a:pPr indent="-342900" lvl="0" marL="342900" rtl="0" algn="l">
              <a:lnSpc>
                <a:spcPct val="130000"/>
              </a:lnSpc>
              <a:spcBef>
                <a:spcPts val="0"/>
              </a:spcBef>
              <a:spcAft>
                <a:spcPts val="0"/>
              </a:spcAft>
              <a:buSzPts val="2160"/>
              <a:buFont typeface="Noto Sans Symbols"/>
              <a:buChar char="▪"/>
            </a:pPr>
            <a:r>
              <a:rPr lang="en-US" sz="2400"/>
              <a:t>TỐI GIẢN MẠCH </a:t>
            </a:r>
            <a:r>
              <a:rPr lang="en-US" sz="2400"/>
              <a:t>LOGIC</a:t>
            </a:r>
            <a:endParaRPr sz="2400"/>
          </a:p>
          <a:p>
            <a:pPr indent="-358140" lvl="0" marL="342900" rtl="0" algn="l">
              <a:lnSpc>
                <a:spcPct val="130000"/>
              </a:lnSpc>
              <a:spcBef>
                <a:spcPts val="0"/>
              </a:spcBef>
              <a:spcAft>
                <a:spcPts val="0"/>
              </a:spcAft>
              <a:buSzPts val="2400"/>
              <a:buChar char="▪"/>
            </a:pPr>
            <a:r>
              <a:rPr lang="en-US" sz="2400"/>
              <a:t>BÀI TẬP</a:t>
            </a:r>
            <a:endParaRPr sz="2400"/>
          </a:p>
        </p:txBody>
      </p:sp>
      <p:sp>
        <p:nvSpPr>
          <p:cNvPr id="140" name="Google Shape;140;g121429f3121_0_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21429f3121_0_128"/>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47" name="Google Shape;147;g121429f3121_0_128"/>
          <p:cNvSpPr txBox="1"/>
          <p:nvPr>
            <p:ph idx="1" type="body"/>
          </p:nvPr>
        </p:nvSpPr>
        <p:spPr>
          <a:xfrm>
            <a:off x="465250" y="1909800"/>
            <a:ext cx="84519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sz="2400">
                <a:solidFill>
                  <a:srgbClr val="0000FF"/>
                </a:solidFill>
              </a:rPr>
              <a:t>Tập B, phép toán hai ngôi “Nhân”, “Tổng” và phép toán một ngôi “Phủ định” thỏa mãn các tính </a:t>
            </a:r>
            <a:r>
              <a:rPr lang="en-US" sz="2400">
                <a:solidFill>
                  <a:srgbClr val="0000FF"/>
                </a:solidFill>
              </a:rPr>
              <a:t>chất</a:t>
            </a:r>
            <a:r>
              <a:rPr lang="en-US" sz="2400">
                <a:solidFill>
                  <a:srgbClr val="0000FF"/>
                </a:solidFill>
              </a:rPr>
              <a:t>:</a:t>
            </a:r>
            <a:endParaRPr sz="2400">
              <a:solidFill>
                <a:srgbClr val="0000FF"/>
              </a:solidFill>
            </a:endParaRPr>
          </a:p>
          <a:p>
            <a:pPr indent="-381000" lvl="0" marL="914400" rtl="0" algn="l">
              <a:spcBef>
                <a:spcPts val="600"/>
              </a:spcBef>
              <a:spcAft>
                <a:spcPts val="0"/>
              </a:spcAft>
              <a:buClr>
                <a:srgbClr val="0000FF"/>
              </a:buClr>
              <a:buSzPts val="2400"/>
              <a:buAutoNum type="arabicPeriod"/>
            </a:pPr>
            <a:r>
              <a:rPr b="1" lang="en-US" sz="2400">
                <a:solidFill>
                  <a:srgbClr val="0000FF"/>
                </a:solidFill>
              </a:rPr>
              <a:t>Tính giao hoán ( nhân và tổng);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Tính kết hợp ( nhân  và tổng);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Tính phân phối;</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Tồn tại phần tử trung hòa ( phép nhân và phép cộng);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Tồn tại phần tử bù.</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21429f3121_0_134"/>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54" name="Google Shape;154;g121429f3121_0_134"/>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Tập </a:t>
            </a:r>
            <a:r>
              <a:rPr lang="en-US" sz="2400">
                <a:solidFill>
                  <a:srgbClr val="0000FF"/>
                </a:solidFill>
              </a:rPr>
              <a:t>B; </a:t>
            </a:r>
            <a:r>
              <a:rPr lang="en-US" sz="2400">
                <a:solidFill>
                  <a:srgbClr val="0000FF"/>
                </a:solidFill>
              </a:rPr>
              <a:t>phép nhân: ‘.’ ; phép tổng:  “+ ”; </a:t>
            </a:r>
            <a:r>
              <a:rPr lang="en-US" sz="2400">
                <a:solidFill>
                  <a:srgbClr val="0000FF"/>
                </a:solidFill>
              </a:rPr>
              <a:t>phép </a:t>
            </a:r>
            <a:r>
              <a:rPr lang="en-US" sz="2400">
                <a:solidFill>
                  <a:srgbClr val="0000FF"/>
                </a:solidFill>
              </a:rPr>
              <a:t>phủ định: “~”</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Bộ  </a:t>
            </a:r>
            <a:r>
              <a:rPr b="1" lang="en-US" sz="2400">
                <a:solidFill>
                  <a:srgbClr val="0000FF"/>
                </a:solidFill>
              </a:rPr>
              <a:t>&lt;B, ., + , ~ &gt; </a:t>
            </a:r>
            <a:r>
              <a:rPr lang="en-US" sz="2400">
                <a:solidFill>
                  <a:srgbClr val="0000FF"/>
                </a:solidFill>
              </a:rPr>
              <a:t>đại số boole</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Mọi x, y và x thuộc B:</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 = y.x ;  x+y = y+x</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(x.y).z = x. (y.z); (x+y) +z = x + (y+z)</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x.(y+z) = x.y + x.z; x + (y.z) = (x+y).(x+z)</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 </a:t>
            </a:r>
            <a:r>
              <a:rPr b="1" lang="en-US" sz="2400">
                <a:solidFill>
                  <a:srgbClr val="0000FF"/>
                </a:solidFill>
              </a:rPr>
              <a:t>1</a:t>
            </a:r>
            <a:r>
              <a:rPr lang="en-US" sz="2400">
                <a:solidFill>
                  <a:srgbClr val="0000FF"/>
                </a:solidFill>
              </a:rPr>
              <a:t> = x;   x + </a:t>
            </a:r>
            <a:r>
              <a:rPr b="1" lang="en-US" sz="2400">
                <a:solidFill>
                  <a:srgbClr val="0000FF"/>
                </a:solidFill>
              </a:rPr>
              <a:t>0</a:t>
            </a:r>
            <a:r>
              <a:rPr lang="en-US" sz="2400">
                <a:solidFill>
                  <a:srgbClr val="0000FF"/>
                </a:solidFill>
              </a:rPr>
              <a:t> = x</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 . </a:t>
            </a:r>
            <a:r>
              <a:rPr b="1" lang="en-US" sz="2400">
                <a:solidFill>
                  <a:srgbClr val="0000FF"/>
                </a:solidFill>
              </a:rPr>
              <a:t>~x</a:t>
            </a:r>
            <a:r>
              <a:rPr lang="en-US" sz="2400">
                <a:solidFill>
                  <a:srgbClr val="0000FF"/>
                </a:solidFill>
              </a:rPr>
              <a:t> = 0; x + </a:t>
            </a:r>
            <a:r>
              <a:rPr b="1" lang="en-US" sz="2400">
                <a:solidFill>
                  <a:srgbClr val="0000FF"/>
                </a:solidFill>
              </a:rPr>
              <a:t>~x</a:t>
            </a:r>
            <a:r>
              <a:rPr lang="en-US" sz="2400">
                <a:solidFill>
                  <a:srgbClr val="0000FF"/>
                </a:solidFill>
              </a:rPr>
              <a:t> = 1</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21429f3121_0_140"/>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61" name="Google Shape;161;g121429f3121_0_140"/>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1</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các mệnh đề </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trên mệnh đề: “And”, “OR” ,  “~”, “True”; “False”</a:t>
            </a:r>
            <a:endParaRPr sz="2400">
              <a:solidFill>
                <a:srgbClr val="0000FF"/>
              </a:solidFill>
            </a:endParaRPr>
          </a:p>
          <a:p>
            <a:pPr indent="0" lvl="0" marL="0" rtl="0" algn="l">
              <a:spcBef>
                <a:spcPts val="600"/>
              </a:spcBef>
              <a:spcAft>
                <a:spcPts val="0"/>
              </a:spcAft>
              <a:buNone/>
            </a:pPr>
            <a:r>
              <a:rPr b="1" lang="en-US" sz="2400">
                <a:solidFill>
                  <a:srgbClr val="0000FF"/>
                </a:solidFill>
              </a:rPr>
              <a:t>Đại số </a:t>
            </a:r>
            <a:r>
              <a:rPr b="1" lang="en-US" sz="2400">
                <a:solidFill>
                  <a:srgbClr val="0000FF"/>
                </a:solidFill>
              </a:rPr>
              <a:t>logic có phải đại số boole ?</a:t>
            </a:r>
            <a:r>
              <a:rPr b="1" lang="en-US" sz="2400">
                <a:solidFill>
                  <a:srgbClr val="0000FF"/>
                </a:solidFill>
              </a:rPr>
              <a:t> </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21429f3121_0_146"/>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68" name="Google Shape;168;g121429f3121_0_146"/>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2</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a:t>
            </a:r>
            <a:r>
              <a:rPr lang="en-US" sz="2400">
                <a:solidFill>
                  <a:srgbClr val="0000FF"/>
                </a:solidFill>
              </a:rPr>
              <a:t>tất cả các tập con của tập X</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r>
              <a:rPr lang="en-US" sz="2400">
                <a:solidFill>
                  <a:srgbClr val="0000FF"/>
                </a:solidFill>
              </a:rPr>
              <a:t>Giao</a:t>
            </a:r>
            <a:r>
              <a:rPr lang="en-US" sz="2400">
                <a:solidFill>
                  <a:srgbClr val="0000FF"/>
                </a:solidFill>
              </a:rPr>
              <a:t>”, “</a:t>
            </a:r>
            <a:r>
              <a:rPr lang="en-US" sz="2400">
                <a:solidFill>
                  <a:srgbClr val="0000FF"/>
                </a:solidFill>
              </a:rPr>
              <a:t>Hợp</a:t>
            </a:r>
            <a:r>
              <a:rPr lang="en-US" sz="2400">
                <a:solidFill>
                  <a:srgbClr val="0000FF"/>
                </a:solidFill>
              </a:rPr>
              <a:t>” ,  “</a:t>
            </a:r>
            <a:r>
              <a:rPr lang="en-US" sz="2400">
                <a:solidFill>
                  <a:srgbClr val="0000FF"/>
                </a:solidFill>
              </a:rPr>
              <a:t>Phần bù</a:t>
            </a:r>
            <a:r>
              <a:rPr lang="en-US" sz="2400">
                <a:solidFill>
                  <a:srgbClr val="0000FF"/>
                </a:solidFill>
              </a:rPr>
              <a:t>”,  “</a:t>
            </a:r>
            <a:r>
              <a:rPr lang="en-US" sz="2400">
                <a:solidFill>
                  <a:srgbClr val="0000FF"/>
                </a:solidFill>
              </a:rPr>
              <a:t>Tập X” và “Tập rỗng”</a:t>
            </a:r>
            <a:endParaRPr sz="2400">
              <a:solidFill>
                <a:srgbClr val="0000FF"/>
              </a:solidFill>
            </a:endParaRPr>
          </a:p>
          <a:p>
            <a:pPr indent="0" lvl="0" marL="0" rtl="0" algn="l">
              <a:spcBef>
                <a:spcPts val="600"/>
              </a:spcBef>
              <a:spcAft>
                <a:spcPts val="0"/>
              </a:spcAft>
              <a:buNone/>
            </a:pPr>
            <a:r>
              <a:rPr b="1" lang="en-US" sz="2400">
                <a:solidFill>
                  <a:srgbClr val="0000FF"/>
                </a:solidFill>
              </a:rPr>
              <a:t>Đại số </a:t>
            </a:r>
            <a:r>
              <a:rPr b="1" lang="en-US" sz="2400">
                <a:solidFill>
                  <a:srgbClr val="0000FF"/>
                </a:solidFill>
              </a:rPr>
              <a:t>tập hợp </a:t>
            </a:r>
            <a:r>
              <a:rPr b="1" lang="en-US" sz="2400">
                <a:solidFill>
                  <a:srgbClr val="0000FF"/>
                </a:solidFill>
              </a:rPr>
              <a:t>có phải đại số boole ? </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121429f3121_0_152"/>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75" name="Google Shape;175;g121429f3121_0_152"/>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3</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tất cả các </a:t>
            </a:r>
            <a:r>
              <a:rPr lang="en-US" sz="2400">
                <a:solidFill>
                  <a:srgbClr val="0000FF"/>
                </a:solidFill>
              </a:rPr>
              <a:t>số thực có cận trên p và cận dưới q và tâm đối xứng O.</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endParaRPr sz="2400">
              <a:solidFill>
                <a:srgbClr val="0000FF"/>
              </a:solidFill>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a:t>
            </a:r>
            <a:r>
              <a:rPr b="1" lang="en-US" sz="2000">
                <a:solidFill>
                  <a:srgbClr val="0000FF"/>
                </a:solidFill>
                <a:latin typeface="Times New Roman"/>
                <a:ea typeface="Times New Roman"/>
                <a:cs typeface="Times New Roman"/>
                <a:sym typeface="Times New Roman"/>
              </a:rPr>
              <a:t>.</a:t>
            </a:r>
            <a:r>
              <a:rPr lang="en-US" sz="2000">
                <a:solidFill>
                  <a:srgbClr val="0000FF"/>
                </a:solidFill>
                <a:latin typeface="Times New Roman"/>
                <a:ea typeface="Times New Roman"/>
                <a:cs typeface="Times New Roman"/>
                <a:sym typeface="Times New Roman"/>
              </a:rPr>
              <a:t>b = min(a, b), </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a+b = max(a, b),  </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 là điểm đối xứng của a qua O.</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q, p tương tương ưng 1, 0.</a:t>
            </a:r>
            <a:endParaRPr sz="2400">
              <a:solidFill>
                <a:srgbClr val="0000FF"/>
              </a:solidFill>
            </a:endParaRPr>
          </a:p>
          <a:p>
            <a:pPr indent="0" lvl="0" marL="0" rtl="0" algn="l">
              <a:spcBef>
                <a:spcPts val="600"/>
              </a:spcBef>
              <a:spcAft>
                <a:spcPts val="0"/>
              </a:spcAft>
              <a:buNone/>
            </a:pPr>
            <a:r>
              <a:rPr b="1" lang="en-US" sz="2400">
                <a:solidFill>
                  <a:srgbClr val="0000FF"/>
                </a:solidFill>
              </a:rPr>
              <a:t>Đại số tập hợp </a:t>
            </a:r>
            <a:r>
              <a:rPr b="1" lang="en-US" sz="2400">
                <a:solidFill>
                  <a:srgbClr val="0000FF"/>
                </a:solidFill>
              </a:rPr>
              <a:t>với các phép toán định nghĩa là đại số 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121429f3121_0_158"/>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82" name="Google Shape;182;g121429f3121_0_158"/>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3</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 </a:t>
            </a:r>
            <a:r>
              <a:rPr lang="en-US" sz="2400">
                <a:solidFill>
                  <a:srgbClr val="0000FF"/>
                </a:solidFill>
              </a:rPr>
              <a:t>{1, 0}</a:t>
            </a:r>
            <a:r>
              <a:rPr lang="en-US" sz="2400">
                <a:solidFill>
                  <a:srgbClr val="0000FF"/>
                </a:solidFill>
              </a:rPr>
              <a:t>.</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 +, ~): </a:t>
            </a:r>
            <a:endParaRPr sz="2400">
              <a:solidFill>
                <a:srgbClr val="0000FF"/>
              </a:solidFill>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1.1 = 1,    1+1 = 1,  ~1 = 0,</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1.0 = 0,    1+0 = 1,  ~0 = 1</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0.1 = 0,    0+1 = 1,	</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0.0 = 0,    0+0 = 0,</a:t>
            </a:r>
            <a:endParaRPr b="1" sz="2400">
              <a:solidFill>
                <a:srgbClr val="0000FF"/>
              </a:solidFill>
            </a:endParaRPr>
          </a:p>
          <a:p>
            <a:pPr indent="0" lvl="0" marL="0" rtl="0" algn="l">
              <a:spcBef>
                <a:spcPts val="600"/>
              </a:spcBef>
              <a:spcAft>
                <a:spcPts val="0"/>
              </a:spcAft>
              <a:buNone/>
            </a:pPr>
            <a:r>
              <a:rPr b="1" lang="en-US" sz="2400">
                <a:solidFill>
                  <a:srgbClr val="0000FF"/>
                </a:solidFill>
              </a:rPr>
              <a:t>  B và các phép toán là đại số </a:t>
            </a:r>
            <a:r>
              <a:rPr b="1" lang="en-US" sz="2400">
                <a:solidFill>
                  <a:srgbClr val="0000FF"/>
                </a:solidFill>
              </a:rPr>
              <a:t>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21429f3121_0_164"/>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89" name="Google Shape;189;g121429f3121_0_164"/>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4</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a:t>
            </a:r>
            <a:r>
              <a:rPr baseline="30000" lang="en-US" sz="2400">
                <a:solidFill>
                  <a:srgbClr val="0000FF"/>
                </a:solidFill>
              </a:rPr>
              <a:t>n</a:t>
            </a:r>
            <a:r>
              <a:rPr lang="en-US" sz="2400">
                <a:solidFill>
                  <a:srgbClr val="0000FF"/>
                </a:solidFill>
              </a:rPr>
              <a:t> - </a:t>
            </a:r>
            <a:r>
              <a:rPr lang="en-US" sz="2400">
                <a:solidFill>
                  <a:srgbClr val="0000FF"/>
                </a:solidFill>
              </a:rPr>
              <a:t>tập hợp các chuỗi nhị phân có độ dài bằng n</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r>
              <a:rPr lang="en-US" sz="2400">
                <a:solidFill>
                  <a:srgbClr val="0000FF"/>
                </a:solidFill>
              </a:rPr>
              <a:t>trên bit</a:t>
            </a:r>
            <a:r>
              <a:rPr lang="en-US" sz="2400">
                <a:solidFill>
                  <a:srgbClr val="0000FF"/>
                </a:solidFill>
              </a:rPr>
              <a:t>: “&amp;”, “|”,”~”</a:t>
            </a:r>
            <a:endParaRPr sz="2400">
              <a:solidFill>
                <a:srgbClr val="0000FF"/>
              </a:solidFill>
            </a:endParaRPr>
          </a:p>
          <a:p>
            <a:pPr indent="0" lvl="0" marL="0" marR="0" rtl="0" algn="l">
              <a:lnSpc>
                <a:spcPct val="130000"/>
              </a:lnSpc>
              <a:spcBef>
                <a:spcPts val="600"/>
              </a:spcBef>
              <a:spcAft>
                <a:spcPts val="0"/>
              </a:spcAft>
              <a:buNone/>
            </a:pPr>
            <a:r>
              <a:t/>
            </a:r>
            <a:endParaRPr b="1" sz="2400">
              <a:solidFill>
                <a:srgbClr val="0000FF"/>
              </a:solidFill>
            </a:endParaRPr>
          </a:p>
          <a:p>
            <a:pPr indent="0" lvl="0" marL="0" rtl="0" algn="l">
              <a:spcBef>
                <a:spcPts val="600"/>
              </a:spcBef>
              <a:spcAft>
                <a:spcPts val="0"/>
              </a:spcAft>
              <a:buNone/>
            </a:pPr>
            <a:r>
              <a:rPr b="1" lang="en-US" sz="2400">
                <a:solidFill>
                  <a:srgbClr val="0000FF"/>
                </a:solidFill>
              </a:rPr>
              <a:t>  B</a:t>
            </a:r>
            <a:r>
              <a:rPr b="1" baseline="30000" lang="en-US" sz="2400">
                <a:solidFill>
                  <a:srgbClr val="0000FF"/>
                </a:solidFill>
              </a:rPr>
              <a:t>n</a:t>
            </a:r>
            <a:r>
              <a:rPr b="1" lang="en-US" sz="2400">
                <a:solidFill>
                  <a:srgbClr val="0000FF"/>
                </a:solidFill>
              </a:rPr>
              <a:t> và các phép toán là đại số 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121429f3121_0_170"/>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96" name="Google Shape;196;g121429f3121_0_170"/>
          <p:cNvSpPr txBox="1"/>
          <p:nvPr>
            <p:ph idx="1" type="body"/>
          </p:nvPr>
        </p:nvSpPr>
        <p:spPr>
          <a:xfrm>
            <a:off x="465250" y="1909800"/>
            <a:ext cx="8565600" cy="49482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Ký hiệu: 1 - phần tử trung hòa với phép .; 0- phần tử trung hòa với phép + ; ‘`’ - phép toán phủ định.</a:t>
            </a:r>
            <a:endParaRPr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B- Đại </a:t>
            </a:r>
            <a:r>
              <a:rPr lang="en-US" sz="2400">
                <a:solidFill>
                  <a:srgbClr val="0000FF"/>
                </a:solidFill>
              </a:rPr>
              <a:t>số</a:t>
            </a:r>
            <a:r>
              <a:rPr lang="en-US" sz="2400">
                <a:solidFill>
                  <a:srgbClr val="0000FF"/>
                </a:solidFill>
              </a:rPr>
              <a:t> boole có các tính chất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6. Tính nuốt:</a:t>
            </a:r>
            <a:r>
              <a:rPr lang="en-US" sz="2400">
                <a:solidFill>
                  <a:srgbClr val="0000FF"/>
                </a:solidFill>
              </a:rPr>
              <a:t>    </a:t>
            </a:r>
            <a:r>
              <a:rPr lang="en-US" sz="2400">
                <a:solidFill>
                  <a:srgbClr val="0000FF"/>
                </a:solidFill>
                <a:latin typeface="Times New Roman"/>
                <a:ea typeface="Times New Roman"/>
                <a:cs typeface="Times New Roman"/>
                <a:sym typeface="Times New Roman"/>
              </a:rPr>
              <a:t> </a:t>
            </a:r>
            <a:r>
              <a:rPr lang="en-US" sz="2400">
                <a:solidFill>
                  <a:srgbClr val="0000FF"/>
                </a:solidFill>
              </a:rPr>
              <a:t>x</a:t>
            </a:r>
            <a:r>
              <a:rPr lang="en-US" sz="2400">
                <a:solidFill>
                  <a:srgbClr val="0000FF"/>
                </a:solidFill>
                <a:latin typeface="Times New Roman"/>
                <a:ea typeface="Times New Roman"/>
                <a:cs typeface="Times New Roman"/>
                <a:sym typeface="Times New Roman"/>
              </a:rPr>
              <a:t>.0 = 0</a:t>
            </a:r>
            <a:r>
              <a:rPr lang="en-US" sz="2400">
                <a:solidFill>
                  <a:srgbClr val="0000FF"/>
                </a:solidFill>
              </a:rPr>
              <a:t>;  x</a:t>
            </a:r>
            <a:r>
              <a:rPr lang="en-US" sz="2400">
                <a:solidFill>
                  <a:srgbClr val="0000FF"/>
                </a:solidFill>
                <a:latin typeface="Times New Roman"/>
                <a:ea typeface="Times New Roman"/>
                <a:cs typeface="Times New Roman"/>
                <a:sym typeface="Times New Roman"/>
              </a:rPr>
              <a:t>+1 = 1</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7. Tính lũy đẳng</a:t>
            </a:r>
            <a:r>
              <a:rPr lang="en-US" sz="2400">
                <a:solidFill>
                  <a:srgbClr val="0000FF"/>
                </a:solidFill>
              </a:rPr>
              <a:t>: </a:t>
            </a:r>
            <a:r>
              <a:rPr lang="en-US" sz="2400">
                <a:solidFill>
                  <a:srgbClr val="0000FF"/>
                </a:solidFill>
                <a:latin typeface="Times New Roman"/>
                <a:ea typeface="Times New Roman"/>
                <a:cs typeface="Times New Roman"/>
                <a:sym typeface="Times New Roman"/>
              </a:rPr>
              <a:t>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8. Hệ thức De Morgan</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9. Hệ thức bù kép</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 </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10. </a:t>
            </a:r>
            <a:r>
              <a:rPr lang="en-US" sz="2400">
                <a:solidFill>
                  <a:srgbClr val="0000FF"/>
                </a:solidFill>
              </a:rPr>
              <a:t>  </a:t>
            </a:r>
            <a:r>
              <a:rPr lang="en-US" sz="2400">
                <a:solidFill>
                  <a:srgbClr val="0000FF"/>
                </a:solidFill>
                <a:latin typeface="Times New Roman"/>
                <a:ea typeface="Times New Roman"/>
                <a:cs typeface="Times New Roman"/>
                <a:sym typeface="Times New Roman"/>
              </a:rPr>
              <a:t>1’ = 0</a:t>
            </a:r>
            <a:r>
              <a:rPr lang="en-US" sz="2400">
                <a:solidFill>
                  <a:srgbClr val="0000FF"/>
                </a:solidFill>
              </a:rPr>
              <a:t>;   </a:t>
            </a:r>
            <a:r>
              <a:rPr lang="en-US" sz="2400">
                <a:solidFill>
                  <a:srgbClr val="0000FF"/>
                </a:solidFill>
                <a:latin typeface="Times New Roman"/>
                <a:ea typeface="Times New Roman"/>
                <a:cs typeface="Times New Roman"/>
                <a:sym typeface="Times New Roman"/>
              </a:rPr>
              <a:t>0’ = 1.</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11. Tính hút</a:t>
            </a:r>
            <a:r>
              <a:rPr lang="en-US" sz="2400">
                <a:solidFill>
                  <a:srgbClr val="0000FF"/>
                </a:solidFill>
              </a:rPr>
              <a:t>: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endParaRPr sz="2400">
              <a:solidFill>
                <a:srgbClr val="0000FF"/>
              </a:solidFill>
              <a:latin typeface="Times New Roman"/>
              <a:ea typeface="Times New Roman"/>
              <a:cs typeface="Times New Roman"/>
              <a:sym typeface="Times New Roman"/>
            </a:endParaRPr>
          </a:p>
          <a:p>
            <a:pPr indent="0" lvl="0" marL="0" marR="0" rtl="0" algn="l">
              <a:lnSpc>
                <a:spcPct val="130000"/>
              </a:lnSpc>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21429f3121_0_176"/>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03" name="Google Shape;203;g121429f3121_0_176"/>
          <p:cNvSpPr txBox="1"/>
          <p:nvPr>
            <p:ph idx="1" type="body"/>
          </p:nvPr>
        </p:nvSpPr>
        <p:spPr>
          <a:xfrm>
            <a:off x="425200" y="1751675"/>
            <a:ext cx="85245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B = {0,1}; x thuộc B</a:t>
            </a:r>
            <a:r>
              <a:rPr baseline="30000" lang="en-US" sz="2400">
                <a:solidFill>
                  <a:srgbClr val="0000FF"/>
                </a:solidFill>
              </a:rPr>
              <a:t>n</a:t>
            </a:r>
            <a:r>
              <a:rPr lang="en-US" sz="2400">
                <a:solidFill>
                  <a:srgbClr val="0000FF"/>
                </a:solidFill>
              </a:rPr>
              <a:t>, thì x là </a:t>
            </a:r>
            <a:r>
              <a:rPr b="1" lang="en-US" sz="2400">
                <a:solidFill>
                  <a:srgbClr val="0000FF"/>
                </a:solidFill>
              </a:rPr>
              <a:t>biến Boole</a:t>
            </a:r>
            <a:endParaRPr b="1"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Hàm f:</a:t>
            </a:r>
            <a:r>
              <a:rPr b="1" lang="en-US" sz="2400">
                <a:solidFill>
                  <a:srgbClr val="0000FF"/>
                </a:solidFill>
              </a:rPr>
              <a:t> </a:t>
            </a:r>
            <a:r>
              <a:rPr lang="en-US" sz="2400">
                <a:solidFill>
                  <a:srgbClr val="0000FF"/>
                </a:solidFill>
              </a:rPr>
              <a:t>B</a:t>
            </a:r>
            <a:r>
              <a:rPr baseline="30000" lang="en-US" sz="2400">
                <a:solidFill>
                  <a:srgbClr val="0000FF"/>
                </a:solidFill>
              </a:rPr>
              <a:t>n</a:t>
            </a:r>
            <a:r>
              <a:rPr lang="en-US" sz="2400">
                <a:solidFill>
                  <a:srgbClr val="0000FF"/>
                </a:solidFill>
              </a:rPr>
              <a:t> → B, f - </a:t>
            </a:r>
            <a:r>
              <a:rPr b="1" lang="en-US" sz="2400">
                <a:solidFill>
                  <a:srgbClr val="0000FF"/>
                </a:solidFill>
              </a:rPr>
              <a:t>hàm Boole bậc n</a:t>
            </a:r>
            <a:r>
              <a:rPr lang="en-US" sz="2400">
                <a:solidFill>
                  <a:srgbClr val="0000FF"/>
                </a:solidFill>
              </a:rPr>
              <a:t> nếu:</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f(x) thuộc B;</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 hàm boole, thì hàm phủ định của f cũng là hàm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 và g là các hàm boole, thì f &amp; g và f | g cũng là hàm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Mọi hàm tạo ra từ hữu hạn quy tắc trên đều là hàm boole</a:t>
            </a:r>
            <a:endParaRPr sz="2400">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121429f3121_0_188"/>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10" name="Google Shape;210;g121429f3121_0_188"/>
          <p:cNvSpPr txBox="1"/>
          <p:nvPr>
            <p:ph idx="1" type="body"/>
          </p:nvPr>
        </p:nvSpPr>
        <p:spPr>
          <a:xfrm>
            <a:off x="425200" y="1751675"/>
            <a:ext cx="85245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Biểu thức Boole được định nghĩa:</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x là biến Boole, thì x là biểu thức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0, 1 là biểu thức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E, F là biểu thức Boole, thì hữu hạn các </a:t>
            </a:r>
            <a:r>
              <a:rPr lang="en-US" sz="2400">
                <a:solidFill>
                  <a:srgbClr val="0000FF"/>
                </a:solidFill>
              </a:rPr>
              <a:t>các</a:t>
            </a:r>
            <a:r>
              <a:rPr lang="en-US" sz="2400">
                <a:solidFill>
                  <a:srgbClr val="0000FF"/>
                </a:solidFill>
              </a:rPr>
              <a:t> phép toán toán “.” và ‘+’ cũng là biểu thức Boole</a:t>
            </a:r>
            <a:endParaRPr sz="2400">
              <a:solidFill>
                <a:srgbClr val="0000FF"/>
              </a:solidFill>
            </a:endParaRPr>
          </a:p>
          <a:p>
            <a:pPr indent="-381000" lvl="0" marL="457200" rtl="0" algn="l">
              <a:spcBef>
                <a:spcPts val="0"/>
              </a:spcBef>
              <a:spcAft>
                <a:spcPts val="0"/>
              </a:spcAft>
              <a:buClr>
                <a:srgbClr val="0000FF"/>
              </a:buClr>
              <a:buSzPts val="2400"/>
              <a:buChar char="•"/>
            </a:pPr>
            <a:r>
              <a:rPr b="1" lang="en-US" sz="2400">
                <a:solidFill>
                  <a:srgbClr val="0000FF"/>
                </a:solidFill>
              </a:rPr>
              <a:t>Hàm Boole f </a:t>
            </a:r>
            <a:r>
              <a:rPr lang="en-US" sz="2400">
                <a:solidFill>
                  <a:srgbClr val="0000FF"/>
                </a:solidFill>
              </a:rPr>
              <a:t>có thể được biểu diễn bởi biểu thức </a:t>
            </a:r>
            <a:r>
              <a:rPr b="1" lang="en-US" sz="2400">
                <a:solidFill>
                  <a:srgbClr val="0000FF"/>
                </a:solidFill>
              </a:rPr>
              <a:t>Boole E</a:t>
            </a:r>
            <a:endParaRPr b="1" sz="2400">
              <a:solidFill>
                <a:srgbClr val="0000FF"/>
              </a:solidFill>
            </a:endParaRPr>
          </a:p>
          <a:p>
            <a:pPr indent="0" lvl="0" marL="457200" rtl="0" algn="l">
              <a:spcBef>
                <a:spcPts val="600"/>
              </a:spcBef>
              <a:spcAft>
                <a:spcPts val="0"/>
              </a:spcAft>
              <a:buNone/>
            </a:pPr>
            <a:r>
              <a:t/>
            </a:r>
            <a:endParaRPr sz="2400">
              <a:solidFill>
                <a:srgbClr val="00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21429f3121_0_182"/>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17" name="Google Shape;217;g121429f3121_0_182"/>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sz="2400">
                <a:solidFill>
                  <a:srgbClr val="0000FF"/>
                </a:solidFill>
              </a:rPr>
              <a:t>Các hàm Boole đặc biệt</a:t>
            </a:r>
            <a:endParaRPr sz="2400">
              <a:solidFill>
                <a:srgbClr val="0000FF"/>
              </a:solidFill>
            </a:endParaRPr>
          </a:p>
        </p:txBody>
      </p:sp>
      <p:pic>
        <p:nvPicPr>
          <p:cNvPr id="218" name="Google Shape;218;g121429f3121_0_182"/>
          <p:cNvPicPr preferRelativeResize="0"/>
          <p:nvPr/>
        </p:nvPicPr>
        <p:blipFill rotWithShape="1">
          <a:blip r:embed="rId3">
            <a:alphaModFix/>
          </a:blip>
          <a:srcRect b="0" l="0" r="0" t="0"/>
          <a:stretch/>
        </p:blipFill>
        <p:spPr>
          <a:xfrm>
            <a:off x="768850" y="2384175"/>
            <a:ext cx="7162801" cy="1752600"/>
          </a:xfrm>
          <a:prstGeom prst="rect">
            <a:avLst/>
          </a:prstGeom>
          <a:noFill/>
          <a:ln>
            <a:noFill/>
          </a:ln>
        </p:spPr>
      </p:pic>
      <p:sp>
        <p:nvSpPr>
          <p:cNvPr id="219" name="Google Shape;219;g121429f3121_0_182"/>
          <p:cNvSpPr txBox="1"/>
          <p:nvPr>
            <p:ph idx="4294967295" type="body"/>
          </p:nvPr>
        </p:nvSpPr>
        <p:spPr>
          <a:xfrm>
            <a:off x="1107975" y="4365950"/>
            <a:ext cx="3033300" cy="2059800"/>
          </a:xfrm>
          <a:prstGeom prst="rect">
            <a:avLst/>
          </a:prstGeom>
          <a:blipFill rotWithShape="1">
            <a:blip r:embed="rId4">
              <a:alphaModFix/>
            </a:blip>
            <a:stretch>
              <a:fillRect b="0" l="-1469" r="0" t="-999"/>
            </a:stretch>
          </a:blipFill>
          <a:ln>
            <a:noFill/>
          </a:ln>
        </p:spPr>
        <p:txBody>
          <a:bodyPr anchorCtr="0" anchor="t" bIns="45700" lIns="91425" spcFirstLastPara="1" rIns="91425" wrap="square" tIns="45700">
            <a:noAutofit/>
          </a:bodyPr>
          <a:lstStyle/>
          <a:p>
            <a:pPr indent="-336550" lvl="0" marL="342900" rtl="0" algn="l">
              <a:spcBef>
                <a:spcPts val="0"/>
              </a:spcBef>
              <a:spcAft>
                <a:spcPts val="0"/>
              </a:spcAft>
              <a:buSzPts val="2300"/>
              <a:buChar char="•"/>
            </a:pPr>
            <a:r>
              <a:rPr lang="en-US" sz="1700"/>
              <a:t> </a:t>
            </a:r>
            <a:endParaRPr sz="1700"/>
          </a:p>
        </p:txBody>
      </p:sp>
      <p:sp>
        <p:nvSpPr>
          <p:cNvPr id="220" name="Google Shape;220;g121429f3121_0_182"/>
          <p:cNvSpPr txBox="1"/>
          <p:nvPr>
            <p:ph idx="4294967295" type="body"/>
          </p:nvPr>
        </p:nvSpPr>
        <p:spPr>
          <a:xfrm>
            <a:off x="4774375" y="4474775"/>
            <a:ext cx="2943900" cy="1950900"/>
          </a:xfrm>
          <a:prstGeom prst="rect">
            <a:avLst/>
          </a:prstGeom>
          <a:blipFill rotWithShape="1">
            <a:blip r:embed="rId5">
              <a:alphaModFix/>
            </a:blip>
            <a:stretch>
              <a:fillRect b="0" l="-2309" r="0" t="-799"/>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21429f3121_1_8"/>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27" name="Google Shape;227;g121429f3121_1_8"/>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F hàm Boole bậc n, T</a:t>
            </a:r>
            <a:r>
              <a:rPr baseline="-25000" lang="en-US" sz="2400">
                <a:solidFill>
                  <a:srgbClr val="0000FF"/>
                </a:solidFill>
              </a:rPr>
              <a:t>F</a:t>
            </a:r>
            <a:r>
              <a:rPr lang="en-US" sz="2400">
                <a:solidFill>
                  <a:srgbClr val="0000FF"/>
                </a:solidFill>
              </a:rPr>
              <a:t> = {x thuộc B</a:t>
            </a:r>
            <a:r>
              <a:rPr baseline="30000" lang="en-US" sz="2400">
                <a:solidFill>
                  <a:srgbClr val="0000FF"/>
                </a:solidFill>
              </a:rPr>
              <a:t>n</a:t>
            </a:r>
            <a:r>
              <a:rPr lang="en-US" sz="2400">
                <a:solidFill>
                  <a:srgbClr val="0000FF"/>
                </a:solidFill>
              </a:rPr>
              <a:t>: F(x) = 1}, thì </a:t>
            </a:r>
            <a:r>
              <a:rPr b="1" lang="en-US" sz="2400">
                <a:solidFill>
                  <a:srgbClr val="0000FF"/>
                </a:solidFill>
              </a:rPr>
              <a:t>T</a:t>
            </a:r>
            <a:r>
              <a:rPr b="1" baseline="-25000" lang="en-US" sz="2400">
                <a:solidFill>
                  <a:srgbClr val="0000FF"/>
                </a:solidFill>
              </a:rPr>
              <a:t>F</a:t>
            </a:r>
            <a:r>
              <a:rPr b="1" lang="en-US" sz="2400">
                <a:solidFill>
                  <a:srgbClr val="0000FF"/>
                </a:solidFill>
              </a:rPr>
              <a:t> - tập đặc trưng của hàm F. </a:t>
            </a:r>
            <a:endParaRPr b="1"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x là biến  Boole, x</a:t>
            </a:r>
            <a:r>
              <a:rPr baseline="30000" lang="en-US" sz="2400">
                <a:solidFill>
                  <a:srgbClr val="0000FF"/>
                </a:solidFill>
              </a:rPr>
              <a:t>Belta</a:t>
            </a:r>
            <a:r>
              <a:rPr lang="en-US" sz="2400">
                <a:solidFill>
                  <a:srgbClr val="0000FF"/>
                </a:solidFill>
              </a:rPr>
              <a:t> = x, nếu Belta = 1 hoặc x</a:t>
            </a:r>
            <a:r>
              <a:rPr baseline="30000" lang="en-US" sz="2400">
                <a:solidFill>
                  <a:srgbClr val="0000FF"/>
                </a:solidFill>
              </a:rPr>
              <a:t>Belta</a:t>
            </a:r>
            <a:r>
              <a:rPr lang="en-US" sz="2400">
                <a:solidFill>
                  <a:srgbClr val="0000FF"/>
                </a:solidFill>
              </a:rPr>
              <a:t> = ~x, nếu Belta = 0, thì </a:t>
            </a:r>
            <a:r>
              <a:rPr b="1" lang="en-US" sz="2400">
                <a:solidFill>
                  <a:srgbClr val="0000FF"/>
                </a:solidFill>
              </a:rPr>
              <a:t>x</a:t>
            </a:r>
            <a:r>
              <a:rPr b="1" baseline="30000" lang="en-US" sz="2400">
                <a:solidFill>
                  <a:srgbClr val="0000FF"/>
                </a:solidFill>
              </a:rPr>
              <a:t>Belta  </a:t>
            </a:r>
            <a:r>
              <a:rPr b="1" lang="en-US" sz="2400">
                <a:solidFill>
                  <a:srgbClr val="0000FF"/>
                </a:solidFill>
              </a:rPr>
              <a:t> - tục biến .</a:t>
            </a:r>
            <a:endParaRPr b="1"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Cho x</a:t>
            </a:r>
            <a:r>
              <a:rPr baseline="-25000" lang="en-US" sz="2400">
                <a:solidFill>
                  <a:srgbClr val="0000FF"/>
                </a:solidFill>
              </a:rPr>
              <a:t>1</a:t>
            </a:r>
            <a:r>
              <a:rPr lang="en-US" sz="2400">
                <a:solidFill>
                  <a:srgbClr val="0000FF"/>
                </a:solidFill>
              </a:rPr>
              <a:t>, x</a:t>
            </a:r>
            <a:r>
              <a:rPr baseline="-25000" lang="en-US" sz="2400">
                <a:solidFill>
                  <a:srgbClr val="0000FF"/>
                </a:solidFill>
              </a:rPr>
              <a:t>2</a:t>
            </a:r>
            <a:r>
              <a:rPr lang="en-US" sz="2400">
                <a:solidFill>
                  <a:srgbClr val="0000FF"/>
                </a:solidFill>
              </a:rPr>
              <a:t>,..., x</a:t>
            </a:r>
            <a:r>
              <a:rPr baseline="-25000" lang="en-US" sz="2400">
                <a:solidFill>
                  <a:srgbClr val="0000FF"/>
                </a:solidFill>
              </a:rPr>
              <a:t>n</a:t>
            </a:r>
            <a:r>
              <a:rPr lang="en-US" sz="2400">
                <a:solidFill>
                  <a:srgbClr val="0000FF"/>
                </a:solidFill>
              </a:rPr>
              <a:t>  -  n biến Boole,</a:t>
            </a:r>
            <a:r>
              <a:rPr b="1" lang="en-US" sz="2400">
                <a:solidFill>
                  <a:srgbClr val="0000FF"/>
                </a:solidFill>
              </a:rPr>
              <a:t> </a:t>
            </a:r>
            <a:r>
              <a:rPr lang="en-US" sz="2400">
                <a:solidFill>
                  <a:srgbClr val="0000FF"/>
                </a:solidFill>
              </a:rPr>
              <a:t>thì biểu thức</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x</a:t>
            </a:r>
            <a:r>
              <a:rPr b="1" baseline="30000" lang="en-US" sz="2400">
                <a:solidFill>
                  <a:srgbClr val="0000FF"/>
                </a:solidFill>
              </a:rPr>
              <a:t>B1</a:t>
            </a:r>
            <a:r>
              <a:rPr b="1" baseline="-25000" lang="en-US" sz="2400">
                <a:solidFill>
                  <a:srgbClr val="0000FF"/>
                </a:solidFill>
              </a:rPr>
              <a:t>i1</a:t>
            </a:r>
            <a:r>
              <a:rPr b="1" lang="en-US" sz="2400">
                <a:solidFill>
                  <a:srgbClr val="0000FF"/>
                </a:solidFill>
              </a:rPr>
              <a:t>.x</a:t>
            </a:r>
            <a:r>
              <a:rPr b="1" baseline="30000" lang="en-US" sz="2400">
                <a:solidFill>
                  <a:srgbClr val="0000FF"/>
                </a:solidFill>
              </a:rPr>
              <a:t>B2</a:t>
            </a:r>
            <a:r>
              <a:rPr b="1" baseline="-25000" lang="en-US" sz="2400">
                <a:solidFill>
                  <a:srgbClr val="0000FF"/>
                </a:solidFill>
              </a:rPr>
              <a:t>i2</a:t>
            </a:r>
            <a:r>
              <a:rPr b="1" lang="en-US" sz="2400">
                <a:solidFill>
                  <a:srgbClr val="0000FF"/>
                </a:solidFill>
              </a:rPr>
              <a:t>..... x</a:t>
            </a:r>
            <a:r>
              <a:rPr b="1" baseline="30000" lang="en-US" sz="2400">
                <a:solidFill>
                  <a:srgbClr val="0000FF"/>
                </a:solidFill>
              </a:rPr>
              <a:t>Bk</a:t>
            </a:r>
            <a:r>
              <a:rPr b="1" baseline="-25000" lang="en-US" sz="2400">
                <a:solidFill>
                  <a:srgbClr val="0000FF"/>
                </a:solidFill>
              </a:rPr>
              <a:t>ik </a:t>
            </a:r>
            <a:r>
              <a:rPr baseline="-25000" lang="en-US" sz="2400">
                <a:solidFill>
                  <a:srgbClr val="0000FF"/>
                </a:solidFill>
              </a:rPr>
              <a:t>  </a:t>
            </a:r>
            <a:r>
              <a:rPr lang="en-US" sz="2400">
                <a:solidFill>
                  <a:srgbClr val="0000FF"/>
                </a:solidFill>
              </a:rPr>
              <a:t> với Bi thuộc B, 1&lt;=i1&lt;i2&lt;....&lt;ik&lt;=n,</a:t>
            </a:r>
            <a:r>
              <a:rPr b="1" lang="en-US" sz="2400">
                <a:solidFill>
                  <a:srgbClr val="0000FF"/>
                </a:solidFill>
              </a:rPr>
              <a:t> </a:t>
            </a:r>
            <a:r>
              <a:rPr lang="en-US" sz="2400">
                <a:solidFill>
                  <a:srgbClr val="0000FF"/>
                </a:solidFill>
              </a:rPr>
              <a:t>gọi là</a:t>
            </a:r>
            <a:r>
              <a:rPr b="1" lang="en-US" sz="2400">
                <a:solidFill>
                  <a:srgbClr val="0000FF"/>
                </a:solidFill>
              </a:rPr>
              <a:t> Hội sơ cấp của n biến </a:t>
            </a:r>
            <a:r>
              <a:rPr lang="en-US" sz="2400">
                <a:solidFill>
                  <a:srgbClr val="0000FF"/>
                </a:solidFill>
              </a:rPr>
              <a:t>x</a:t>
            </a:r>
            <a:r>
              <a:rPr baseline="-25000" lang="en-US" sz="2400">
                <a:solidFill>
                  <a:srgbClr val="0000FF"/>
                </a:solidFill>
              </a:rPr>
              <a:t>1</a:t>
            </a:r>
            <a:r>
              <a:rPr lang="en-US" sz="2400">
                <a:solidFill>
                  <a:srgbClr val="0000FF"/>
                </a:solidFill>
              </a:rPr>
              <a:t>, x</a:t>
            </a:r>
            <a:r>
              <a:rPr baseline="-25000" lang="en-US" sz="2400">
                <a:solidFill>
                  <a:srgbClr val="0000FF"/>
                </a:solidFill>
              </a:rPr>
              <a:t>2</a:t>
            </a:r>
            <a:r>
              <a:rPr lang="en-US" sz="2400">
                <a:solidFill>
                  <a:srgbClr val="0000FF"/>
                </a:solidFill>
              </a:rPr>
              <a:t>,..., x</a:t>
            </a:r>
            <a:r>
              <a:rPr baseline="-25000" lang="en-US" sz="2400">
                <a:solidFill>
                  <a:srgbClr val="0000FF"/>
                </a:solidFill>
              </a:rPr>
              <a:t>n</a:t>
            </a:r>
            <a:r>
              <a:rPr lang="en-US" sz="2400">
                <a:solidFill>
                  <a:srgbClr val="0000FF"/>
                </a:solidFill>
              </a:rPr>
              <a:t>.</a:t>
            </a:r>
            <a:endParaRPr sz="2400">
              <a:solidFill>
                <a:srgbClr val="0000FF"/>
              </a:solidFill>
            </a:endParaRPr>
          </a:p>
          <a:p>
            <a:pPr indent="-381000" lvl="0" marL="457200" marR="0" rtl="0" algn="l">
              <a:lnSpc>
                <a:spcPct val="130000"/>
              </a:lnSpc>
              <a:spcBef>
                <a:spcPts val="600"/>
              </a:spcBef>
              <a:spcAft>
                <a:spcPts val="0"/>
              </a:spcAft>
              <a:buClr>
                <a:srgbClr val="0000FF"/>
              </a:buClr>
              <a:buSzPts val="2400"/>
              <a:buChar char="•"/>
            </a:pPr>
            <a:r>
              <a:rPr lang="en-US" sz="2400">
                <a:solidFill>
                  <a:srgbClr val="0000FF"/>
                </a:solidFill>
              </a:rPr>
              <a:t>Số biến xuất hiện trong hội sơ cấp gọi là </a:t>
            </a:r>
            <a:r>
              <a:rPr b="1" lang="en-US" sz="2400">
                <a:solidFill>
                  <a:srgbClr val="0000FF"/>
                </a:solidFill>
              </a:rPr>
              <a:t>hạng của hội sơ cấp</a:t>
            </a:r>
            <a:r>
              <a:rPr lang="en-US" sz="2400">
                <a:solidFill>
                  <a:srgbClr val="0000FF"/>
                </a:solidFill>
              </a:rPr>
              <a:t>.</a:t>
            </a:r>
            <a:endParaRPr sz="2400">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121429f3121_1_17"/>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34" name="Google Shape;234;g121429f3121_1_17"/>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600"/>
              </a:spcBef>
              <a:spcAft>
                <a:spcPts val="0"/>
              </a:spcAft>
              <a:buClr>
                <a:srgbClr val="0000FF"/>
              </a:buClr>
              <a:buSzPts val="2400"/>
              <a:buChar char="•"/>
            </a:pPr>
            <a:r>
              <a:rPr b="1" lang="en-US" sz="2400">
                <a:solidFill>
                  <a:srgbClr val="0000FF"/>
                </a:solidFill>
              </a:rPr>
              <a:t>Dạng tuyển chuẩn tắc</a:t>
            </a:r>
            <a:r>
              <a:rPr lang="en-US" sz="2400">
                <a:solidFill>
                  <a:srgbClr val="0000FF"/>
                </a:solidFill>
              </a:rPr>
              <a:t> của một hàm boole F bậc n là một  biểu diễn biểu thức dưới dạng tổng của một số hội sơ cấp khác nhau của n biến.</a:t>
            </a:r>
            <a:endParaRPr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b="1" lang="en-US" sz="2400">
                <a:solidFill>
                  <a:srgbClr val="0000FF"/>
                </a:solidFill>
              </a:rPr>
              <a:t>Dạng tuyển chuẩn tắc hoàn toàn</a:t>
            </a:r>
            <a:r>
              <a:rPr lang="en-US" sz="2400">
                <a:solidFill>
                  <a:srgbClr val="0000FF"/>
                </a:solidFill>
              </a:rPr>
              <a:t> là dạng chuẩn tắc duy nhất của F mà trong đó các hội sơ cấp đều có hạng n.</a:t>
            </a:r>
            <a:endParaRPr sz="2400">
              <a:solidFill>
                <a:srgbClr val="0000FF"/>
              </a:solidFill>
            </a:endParaRPr>
          </a:p>
          <a:p>
            <a:pPr indent="-381000" lvl="0" marL="457200" rtl="0" algn="l">
              <a:lnSpc>
                <a:spcPct val="100000"/>
              </a:lnSpc>
              <a:spcBef>
                <a:spcPts val="0"/>
              </a:spcBef>
              <a:spcAft>
                <a:spcPts val="0"/>
              </a:spcAft>
              <a:buClr>
                <a:srgbClr val="000000"/>
              </a:buClr>
              <a:buSzPts val="2400"/>
              <a:buChar char="•"/>
            </a:pPr>
            <a:r>
              <a:rPr lang="en-US" sz="2400">
                <a:solidFill>
                  <a:srgbClr val="0000FF"/>
                </a:solidFill>
              </a:rPr>
              <a:t>Minh họa dạng tổng chuẩn tắc hoàn toàn của hàm F</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0" lvl="0" marL="1524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0" lvl="0" marL="0" marR="0" rtl="0" algn="l">
              <a:lnSpc>
                <a:spcPct val="130000"/>
              </a:lnSpc>
              <a:spcBef>
                <a:spcPts val="600"/>
              </a:spcBef>
              <a:spcAft>
                <a:spcPts val="0"/>
              </a:spcAft>
              <a:buNone/>
            </a:pPr>
            <a:r>
              <a:t/>
            </a:r>
            <a:endParaRPr sz="2400">
              <a:solidFill>
                <a:srgbClr val="0000FF"/>
              </a:solidFill>
            </a:endParaRPr>
          </a:p>
        </p:txBody>
      </p:sp>
      <p:pic>
        <p:nvPicPr>
          <p:cNvPr id="235" name="Google Shape;235;g121429f3121_1_17"/>
          <p:cNvPicPr preferRelativeResize="0"/>
          <p:nvPr/>
        </p:nvPicPr>
        <p:blipFill rotWithShape="1">
          <a:blip r:embed="rId3">
            <a:alphaModFix/>
          </a:blip>
          <a:srcRect b="0" l="0" r="0" t="0"/>
          <a:stretch/>
        </p:blipFill>
        <p:spPr>
          <a:xfrm>
            <a:off x="2457450" y="4878250"/>
            <a:ext cx="3581402" cy="38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121429f3121_1_24"/>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42" name="Google Shape;242;g121429f3121_1_24"/>
          <p:cNvSpPr txBox="1"/>
          <p:nvPr>
            <p:ph idx="1" type="body"/>
          </p:nvPr>
        </p:nvSpPr>
        <p:spPr>
          <a:xfrm>
            <a:off x="425200" y="1654425"/>
            <a:ext cx="8216400" cy="4880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0000"/>
              </a:buClr>
              <a:buSzPts val="2400"/>
              <a:buChar char="•"/>
            </a:pPr>
            <a:r>
              <a:rPr b="1" lang="en-US" sz="2400">
                <a:solidFill>
                  <a:srgbClr val="0000FF"/>
                </a:solidFill>
              </a:rPr>
              <a:t>Xây dựng hàm tuyển chuẩn tắc</a:t>
            </a:r>
            <a:endParaRPr sz="2400">
              <a:solidFill>
                <a:srgbClr val="000000"/>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1:  Sử dụng luật De Morgan và luật bù kép để đưa tất cả các phép bù vào trong các cặp ngoặc đơn cho đến khi phép bù chỉ dùng cho các biến. </a:t>
            </a:r>
            <a:endParaRPr>
              <a:solidFill>
                <a:srgbClr val="0000FF"/>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2:  Sử dụng luật phân phối để biến đổi tiếp thành tổng các tích.</a:t>
            </a:r>
            <a:endParaRPr>
              <a:solidFill>
                <a:srgbClr val="0000FF"/>
              </a:solidFill>
            </a:endParaRPr>
          </a:p>
          <a:p>
            <a:pPr indent="-342900" lvl="1" marL="914400" marR="0" rtl="0" algn="l">
              <a:lnSpc>
                <a:spcPct val="130000"/>
              </a:lnSpc>
              <a:spcBef>
                <a:spcPts val="0"/>
              </a:spcBef>
              <a:spcAft>
                <a:spcPts val="0"/>
              </a:spcAft>
              <a:buClr>
                <a:srgbClr val="0000FF"/>
              </a:buClr>
              <a:buSzPts val="1800"/>
              <a:buChar char="-"/>
            </a:pPr>
            <a:r>
              <a:rPr lang="en-US">
                <a:solidFill>
                  <a:srgbClr val="0000FF"/>
                </a:solidFill>
              </a:rPr>
              <a:t>Bước 3:  Sử dụng luật giao hoán, luật lũy đẳng, luật bù để biến đổi mỗi tích thành 0 hoặc hội sơ cấp.</a:t>
            </a:r>
            <a:endParaRPr>
              <a:solidFill>
                <a:srgbClr val="0000FF"/>
              </a:solidFill>
            </a:endParaRPr>
          </a:p>
          <a:p>
            <a:pPr indent="-342900" lvl="1" marL="914400" marR="0" rtl="0" algn="l">
              <a:lnSpc>
                <a:spcPct val="130000"/>
              </a:lnSpc>
              <a:spcBef>
                <a:spcPts val="0"/>
              </a:spcBef>
              <a:spcAft>
                <a:spcPts val="0"/>
              </a:spcAft>
              <a:buClr>
                <a:srgbClr val="0000FF"/>
              </a:buClr>
              <a:buSzPts val="1800"/>
              <a:buChar char="-"/>
            </a:pPr>
            <a:r>
              <a:rPr lang="en-US">
                <a:solidFill>
                  <a:srgbClr val="0000FF"/>
                </a:solidFill>
              </a:rPr>
              <a:t>Bước 4:  Sử dụng luật hấp thụ và luật đồng nhất để biến đổi thành tuyển chuẩn tắc.</a:t>
            </a:r>
            <a:endParaRPr sz="1400">
              <a:solidFill>
                <a:srgbClr val="000000"/>
              </a:solidFill>
            </a:endParaRPr>
          </a:p>
          <a:p>
            <a:pPr indent="-190500" lvl="0" marL="342900" rtl="0" algn="l">
              <a:lnSpc>
                <a:spcPct val="100000"/>
              </a:lnSpc>
              <a:spcBef>
                <a:spcPts val="480"/>
              </a:spcBef>
              <a:spcAft>
                <a:spcPts val="0"/>
              </a:spcAft>
              <a:buNone/>
            </a:pPr>
            <a:r>
              <a:t/>
            </a:r>
            <a:endParaRPr sz="2400">
              <a:solidFill>
                <a:srgbClr val="000000"/>
              </a:solidFill>
            </a:endParaRPr>
          </a:p>
          <a:p>
            <a:pPr indent="0" lvl="0" marL="152400" rtl="0" algn="l">
              <a:lnSpc>
                <a:spcPct val="100000"/>
              </a:lnSpc>
              <a:spcBef>
                <a:spcPts val="480"/>
              </a:spcBef>
              <a:spcAft>
                <a:spcPts val="0"/>
              </a:spcAft>
              <a:buNone/>
            </a:pPr>
            <a:r>
              <a:t/>
            </a:r>
            <a:endParaRPr sz="2400">
              <a:solidFill>
                <a:srgbClr val="000000"/>
              </a:solidFill>
            </a:endParaRPr>
          </a:p>
          <a:p>
            <a:pPr indent="-190500" lvl="0" marL="342900" rtl="0" algn="l">
              <a:lnSpc>
                <a:spcPct val="100000"/>
              </a:lnSpc>
              <a:spcBef>
                <a:spcPts val="480"/>
              </a:spcBef>
              <a:spcAft>
                <a:spcPts val="0"/>
              </a:spcAft>
              <a:buNone/>
            </a:pPr>
            <a:r>
              <a:t/>
            </a:r>
            <a:endParaRPr sz="2400">
              <a:solidFill>
                <a:srgbClr val="000000"/>
              </a:solidFill>
            </a:endParaRPr>
          </a:p>
          <a:p>
            <a:pPr indent="0" lvl="0" marL="0" marR="0" rtl="0" algn="l">
              <a:lnSpc>
                <a:spcPct val="130000"/>
              </a:lnSpc>
              <a:spcBef>
                <a:spcPts val="600"/>
              </a:spcBef>
              <a:spcAft>
                <a:spcPts val="0"/>
              </a:spcAft>
              <a:buNone/>
            </a:pPr>
            <a:r>
              <a:t/>
            </a:r>
            <a:endParaRPr sz="2400">
              <a:solidFill>
                <a:srgbClr val="0000FF"/>
              </a:solidFill>
            </a:endParaRPr>
          </a:p>
        </p:txBody>
      </p:sp>
      <p:pic>
        <p:nvPicPr>
          <p:cNvPr id="243" name="Google Shape;243;g121429f3121_1_24"/>
          <p:cNvPicPr preferRelativeResize="0"/>
          <p:nvPr/>
        </p:nvPicPr>
        <p:blipFill rotWithShape="1">
          <a:blip r:embed="rId3">
            <a:alphaModFix/>
          </a:blip>
          <a:srcRect b="0" l="0" r="0" t="0"/>
          <a:stretch/>
        </p:blipFill>
        <p:spPr>
          <a:xfrm>
            <a:off x="1965250" y="4814375"/>
            <a:ext cx="5354500" cy="1951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21429f3121_1_32"/>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50" name="Google Shape;250;g121429f3121_1_32"/>
          <p:cNvSpPr txBox="1"/>
          <p:nvPr>
            <p:ph idx="1" type="body"/>
          </p:nvPr>
        </p:nvSpPr>
        <p:spPr>
          <a:xfrm>
            <a:off x="425200" y="1654425"/>
            <a:ext cx="8216400" cy="4880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0000"/>
              </a:buClr>
              <a:buSzPts val="2400"/>
              <a:buChar char="•"/>
            </a:pPr>
            <a:r>
              <a:rPr b="1" lang="en-US" sz="2400">
                <a:solidFill>
                  <a:srgbClr val="0000FF"/>
                </a:solidFill>
              </a:rPr>
              <a:t>Xây dựng hàm tuyển chuẩn tắc </a:t>
            </a:r>
            <a:r>
              <a:rPr b="1" lang="en-US" sz="2400">
                <a:solidFill>
                  <a:srgbClr val="0000FF"/>
                </a:solidFill>
              </a:rPr>
              <a:t>hoàn toàn</a:t>
            </a:r>
            <a:endParaRPr sz="2400">
              <a:solidFill>
                <a:srgbClr val="000000"/>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1:  </a:t>
            </a:r>
            <a:r>
              <a:rPr lang="en-US">
                <a:solidFill>
                  <a:srgbClr val="0000FF"/>
                </a:solidFill>
              </a:rPr>
              <a:t>Tìm hội sơ cấp P trong E không chứa biến xi, nhân hội sơ cấp P với x</a:t>
            </a:r>
            <a:r>
              <a:rPr baseline="-25000" lang="en-US">
                <a:solidFill>
                  <a:srgbClr val="0000FF"/>
                </a:solidFill>
              </a:rPr>
              <a:t>i</a:t>
            </a:r>
            <a:r>
              <a:rPr lang="en-US">
                <a:solidFill>
                  <a:srgbClr val="0000FF"/>
                </a:solidFill>
              </a:rPr>
              <a:t> + ‘x</a:t>
            </a:r>
            <a:r>
              <a:rPr baseline="-25000" lang="en-US">
                <a:solidFill>
                  <a:srgbClr val="0000FF"/>
                </a:solidFill>
              </a:rPr>
              <a:t>i</a:t>
            </a:r>
            <a:r>
              <a:rPr lang="en-US">
                <a:solidFill>
                  <a:srgbClr val="0000FF"/>
                </a:solidFill>
              </a:rPr>
              <a:t>, xóa hội sơ cấp lặp.</a:t>
            </a:r>
            <a:endParaRPr>
              <a:solidFill>
                <a:srgbClr val="0000FF"/>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2:  </a:t>
            </a:r>
            <a:r>
              <a:rPr lang="en-US">
                <a:solidFill>
                  <a:srgbClr val="0000FF"/>
                </a:solidFill>
              </a:rPr>
              <a:t>Lặp lại bước 1, cho đến khi các hội sơ cấp P trong E đều có hạng n.</a:t>
            </a:r>
            <a:endParaRPr sz="2500">
              <a:solidFill>
                <a:srgbClr val="000000"/>
              </a:solidFill>
            </a:endParaRPr>
          </a:p>
          <a:p>
            <a:pPr indent="0" lvl="0" marL="152400" rtl="0" algn="l">
              <a:lnSpc>
                <a:spcPct val="100000"/>
              </a:lnSpc>
              <a:spcBef>
                <a:spcPts val="480"/>
              </a:spcBef>
              <a:spcAft>
                <a:spcPts val="0"/>
              </a:spcAft>
              <a:buNone/>
            </a:pPr>
            <a:r>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251" name="Google Shape;251;g121429f3121_1_32"/>
          <p:cNvPicPr preferRelativeResize="0"/>
          <p:nvPr/>
        </p:nvPicPr>
        <p:blipFill rotWithShape="1">
          <a:blip r:embed="rId3">
            <a:alphaModFix/>
          </a:blip>
          <a:srcRect b="0" l="0" r="0" t="0"/>
          <a:stretch/>
        </p:blipFill>
        <p:spPr>
          <a:xfrm>
            <a:off x="2351950" y="3785100"/>
            <a:ext cx="3429000" cy="15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MẠCH LOGIC</a:t>
            </a:r>
            <a:endParaRPr>
              <a:solidFill>
                <a:srgbClr val="0000FF"/>
              </a:solidFill>
            </a:endParaRPr>
          </a:p>
        </p:txBody>
      </p:sp>
      <p:sp>
        <p:nvSpPr>
          <p:cNvPr id="257" name="Google Shape;257;p16"/>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a:t>
            </a:r>
            <a:r>
              <a:rPr lang="en-US"/>
              <a:t>logic</a:t>
            </a:r>
            <a:endParaRPr/>
          </a:p>
        </p:txBody>
      </p:sp>
      <p:sp>
        <p:nvSpPr>
          <p:cNvPr id="258" name="Google Shape;258;p16"/>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342900" lvl="0" marL="342900" rtl="0" algn="l">
              <a:spcBef>
                <a:spcPts val="400"/>
              </a:spcBef>
              <a:spcAft>
                <a:spcPts val="0"/>
              </a:spcAft>
              <a:buClr>
                <a:srgbClr val="0000FF"/>
              </a:buClr>
              <a:buSzPts val="2000"/>
              <a:buFont typeface="Noto Sans Symbols"/>
              <a:buChar char="▪"/>
            </a:pPr>
            <a:r>
              <a:rPr lang="en-US" sz="2000">
                <a:solidFill>
                  <a:srgbClr val="0000FF"/>
                </a:solidFill>
              </a:rPr>
              <a:t>Input:</a:t>
            </a:r>
            <a:endParaRPr>
              <a:solidFill>
                <a:srgbClr val="0000FF"/>
              </a:solidFill>
            </a:endParaRPr>
          </a:p>
          <a:p>
            <a:pPr indent="-285750" lvl="1" marL="742950" rtl="0" algn="l">
              <a:spcBef>
                <a:spcPts val="400"/>
              </a:spcBef>
              <a:spcAft>
                <a:spcPts val="0"/>
              </a:spcAft>
              <a:buClr>
                <a:srgbClr val="0000FF"/>
              </a:buClr>
              <a:buSzPts val="2000"/>
              <a:buFont typeface="Noto Sans Symbols"/>
              <a:buChar char="▪"/>
            </a:pPr>
            <a:r>
              <a:rPr lang="en-US">
                <a:solidFill>
                  <a:srgbClr val="0000FF"/>
                </a:solidFill>
              </a:rPr>
              <a:t>Các tín hiệu vào x­</a:t>
            </a:r>
            <a:r>
              <a:rPr baseline="-25000" lang="en-US">
                <a:solidFill>
                  <a:srgbClr val="0000FF"/>
                </a:solidFill>
              </a:rPr>
              <a:t>1</a:t>
            </a:r>
            <a:r>
              <a:rPr lang="en-US">
                <a:solidFill>
                  <a:srgbClr val="0000FF"/>
                </a:solidFill>
              </a:rPr>
              <a:t>,…, x</a:t>
            </a:r>
            <a:r>
              <a:rPr baseline="-25000" lang="en-US">
                <a:solidFill>
                  <a:srgbClr val="0000FF"/>
                </a:solidFill>
              </a:rPr>
              <a:t>n</a:t>
            </a:r>
            <a:r>
              <a:rPr lang="en-US">
                <a:solidFill>
                  <a:srgbClr val="0000FF"/>
                </a:solidFill>
              </a:rPr>
              <a:t> </a:t>
            </a:r>
            <a:endParaRPr>
              <a:solidFill>
                <a:srgbClr val="0000FF"/>
              </a:solidFill>
            </a:endParaRPr>
          </a:p>
          <a:p>
            <a:pPr indent="-342900" lvl="0" marL="342900" rtl="0" algn="l">
              <a:spcBef>
                <a:spcPts val="400"/>
              </a:spcBef>
              <a:spcAft>
                <a:spcPts val="0"/>
              </a:spcAft>
              <a:buClr>
                <a:srgbClr val="0000FF"/>
              </a:buClr>
              <a:buSzPts val="2000"/>
              <a:buFont typeface="Noto Sans Symbols"/>
              <a:buChar char="▪"/>
            </a:pPr>
            <a:r>
              <a:rPr lang="en-US" sz="2000">
                <a:solidFill>
                  <a:srgbClr val="0000FF"/>
                </a:solidFill>
              </a:rPr>
              <a:t>Output:</a:t>
            </a:r>
            <a:endParaRPr>
              <a:solidFill>
                <a:srgbClr val="0000FF"/>
              </a:solidFill>
            </a:endParaRPr>
          </a:p>
          <a:p>
            <a:pPr indent="-285750" lvl="1" marL="742950" rtl="0" algn="l">
              <a:spcBef>
                <a:spcPts val="400"/>
              </a:spcBef>
              <a:spcAft>
                <a:spcPts val="0"/>
              </a:spcAft>
              <a:buClr>
                <a:srgbClr val="0000FF"/>
              </a:buClr>
              <a:buSzPts val="2000"/>
              <a:buFont typeface="Noto Sans Symbols"/>
              <a:buChar char="▪"/>
            </a:pPr>
            <a:r>
              <a:rPr lang="en-US">
                <a:solidFill>
                  <a:srgbClr val="0000FF"/>
                </a:solidFill>
              </a:rPr>
              <a:t>Tín hiệu ra có hai trạng thái khác nhau kh là 0 và 1)</a:t>
            </a:r>
            <a:endParaRPr>
              <a:solidFill>
                <a:srgbClr val="0000FF"/>
              </a:solidFill>
            </a:endParaRPr>
          </a:p>
          <a:p>
            <a:pPr indent="-190500" lvl="0" marL="342900" rtl="0" algn="l">
              <a:spcBef>
                <a:spcPts val="480"/>
              </a:spcBef>
              <a:spcAft>
                <a:spcPts val="0"/>
              </a:spcAft>
              <a:buClr>
                <a:schemeClr val="dk1"/>
              </a:buClr>
              <a:buSzPts val="2400"/>
              <a:buNone/>
            </a:pPr>
            <a:r>
              <a:t/>
            </a:r>
            <a:endParaRPr/>
          </a:p>
        </p:txBody>
      </p:sp>
      <p:sp>
        <p:nvSpPr>
          <p:cNvPr id="259" name="Google Shape;259;p16"/>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a:t>
            </a:r>
            <a:r>
              <a:rPr lang="en-US"/>
              <a:t>logic</a:t>
            </a:r>
            <a:endParaRPr/>
          </a:p>
        </p:txBody>
      </p:sp>
      <p:sp>
        <p:nvSpPr>
          <p:cNvPr id="260" name="Google Shape;260;p16"/>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Char char="•"/>
            </a:pPr>
            <a:r>
              <a:rPr b="1" lang="en-US">
                <a:solidFill>
                  <a:srgbClr val="0000FF"/>
                </a:solidFill>
              </a:rPr>
              <a:t>Một mạch </a:t>
            </a:r>
            <a:r>
              <a:rPr b="1" lang="en-US">
                <a:solidFill>
                  <a:srgbClr val="0000FF"/>
                </a:solidFill>
              </a:rPr>
              <a:t>logic</a:t>
            </a:r>
            <a:r>
              <a:rPr lang="en-US">
                <a:solidFill>
                  <a:srgbClr val="0000FF"/>
                </a:solidFill>
              </a:rPr>
              <a:t>: một thiết bị với các đầu vào và đầu ra mang giá trị 0, 1.</a:t>
            </a:r>
            <a:endParaRPr>
              <a:solidFill>
                <a:srgbClr val="0000FF"/>
              </a:solidFill>
            </a:endParaRPr>
          </a:p>
          <a:p>
            <a:pPr indent="-342900" lvl="0" marL="342900" rtl="0" algn="l">
              <a:spcBef>
                <a:spcPts val="480"/>
              </a:spcBef>
              <a:spcAft>
                <a:spcPts val="0"/>
              </a:spcAft>
              <a:buClr>
                <a:srgbClr val="0000FF"/>
              </a:buClr>
              <a:buSzPts val="2400"/>
              <a:buChar char="•"/>
            </a:pPr>
            <a:r>
              <a:rPr lang="en-US">
                <a:solidFill>
                  <a:srgbClr val="0000FF"/>
                </a:solidFill>
              </a:rPr>
              <a:t>Đầu ra của một mạch </a:t>
            </a:r>
            <a:r>
              <a:rPr lang="en-US">
                <a:solidFill>
                  <a:srgbClr val="0000FF"/>
                </a:solidFill>
              </a:rPr>
              <a:t>logic</a:t>
            </a:r>
            <a:r>
              <a:rPr lang="en-US">
                <a:solidFill>
                  <a:srgbClr val="0000FF"/>
                </a:solidFill>
              </a:rPr>
              <a:t> là một hàm Boole F của các đầu vào x­</a:t>
            </a:r>
            <a:r>
              <a:rPr baseline="-25000" lang="en-US">
                <a:solidFill>
                  <a:srgbClr val="0000FF"/>
                </a:solidFill>
              </a:rPr>
              <a:t>1</a:t>
            </a:r>
            <a:r>
              <a:rPr lang="en-US">
                <a:solidFill>
                  <a:srgbClr val="0000FF"/>
                </a:solidFill>
              </a:rPr>
              <a:t>, x</a:t>
            </a:r>
            <a:r>
              <a:rPr baseline="-25000" lang="en-US">
                <a:solidFill>
                  <a:srgbClr val="0000FF"/>
                </a:solidFill>
              </a:rPr>
              <a:t>2</a:t>
            </a:r>
            <a:r>
              <a:rPr lang="en-US">
                <a:solidFill>
                  <a:srgbClr val="0000FF"/>
                </a:solidFill>
              </a:rPr>
              <a:t>, …, x</a:t>
            </a:r>
            <a:r>
              <a:rPr baseline="-25000" lang="en-US">
                <a:solidFill>
                  <a:srgbClr val="0000FF"/>
                </a:solidFill>
              </a:rPr>
              <a:t>n</a:t>
            </a:r>
            <a:r>
              <a:rPr lang="en-US">
                <a:solidFill>
                  <a:srgbClr val="0000FF"/>
                </a:solidFill>
              </a:rPr>
              <a:t>. </a:t>
            </a:r>
            <a:endParaRPr>
              <a:solidFill>
                <a:srgbClr val="0000FF"/>
              </a:solidFill>
            </a:endParaRPr>
          </a:p>
          <a:p>
            <a:pPr indent="-342900" lvl="0" marL="342900" rtl="0" algn="l">
              <a:spcBef>
                <a:spcPts val="480"/>
              </a:spcBef>
              <a:spcAft>
                <a:spcPts val="0"/>
              </a:spcAft>
              <a:buClr>
                <a:srgbClr val="0000FF"/>
              </a:buClr>
              <a:buSzPts val="2400"/>
              <a:buChar char="•"/>
            </a:pPr>
            <a:r>
              <a:rPr lang="en-US">
                <a:solidFill>
                  <a:srgbClr val="0000FF"/>
                </a:solidFill>
              </a:rPr>
              <a:t>Các mạch </a:t>
            </a:r>
            <a:r>
              <a:rPr lang="en-US">
                <a:solidFill>
                  <a:srgbClr val="0000FF"/>
                </a:solidFill>
              </a:rPr>
              <a:t>logic</a:t>
            </a:r>
            <a:r>
              <a:rPr lang="en-US">
                <a:solidFill>
                  <a:srgbClr val="0000FF"/>
                </a:solidFill>
              </a:rPr>
              <a:t> được tạo thành từ một số mạch cơ sở (cổng </a:t>
            </a:r>
            <a:r>
              <a:rPr lang="en-US">
                <a:solidFill>
                  <a:srgbClr val="0000FF"/>
                </a:solidFill>
              </a:rPr>
              <a:t>logic</a:t>
            </a:r>
            <a:r>
              <a:rPr lang="en-US">
                <a:solidFill>
                  <a:srgbClr val="0000FF"/>
                </a:solidFill>
              </a:rPr>
              <a:t>) </a:t>
            </a:r>
            <a:endParaRPr>
              <a:solidFill>
                <a:srgbClr val="0000FF"/>
              </a:solidFill>
            </a:endParaRPr>
          </a:p>
        </p:txBody>
      </p:sp>
      <p:sp>
        <p:nvSpPr>
          <p:cNvPr id="261" name="Google Shape;261;p1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pic>
        <p:nvPicPr>
          <p:cNvPr id="262" name="Google Shape;262;p16"/>
          <p:cNvPicPr preferRelativeResize="0"/>
          <p:nvPr/>
        </p:nvPicPr>
        <p:blipFill rotWithShape="1">
          <a:blip r:embed="rId3">
            <a:alphaModFix/>
          </a:blip>
          <a:srcRect b="0" l="0" r="0" t="0"/>
          <a:stretch/>
        </p:blipFill>
        <p:spPr>
          <a:xfrm>
            <a:off x="533400" y="2286000"/>
            <a:ext cx="3962400" cy="1828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268" name="Google Shape;268;p1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Font typeface="Times New Roman"/>
              <a:buNone/>
            </a:pPr>
            <a:r>
              <a:rPr lang="en-US"/>
              <a:t>Cổng cơ bản</a:t>
            </a:r>
            <a:endParaRPr/>
          </a:p>
        </p:txBody>
      </p:sp>
      <p:sp>
        <p:nvSpPr>
          <p:cNvPr id="269" name="Google Shape;269;p17"/>
          <p:cNvSpPr txBox="1"/>
          <p:nvPr>
            <p:ph idx="2" type="body"/>
          </p:nvPr>
        </p:nvSpPr>
        <p:spPr>
          <a:xfrm>
            <a:off x="457200" y="2174875"/>
            <a:ext cx="4040188" cy="3951288"/>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NOT</a:t>
            </a:r>
            <a:r>
              <a:rPr lang="en-US">
                <a:solidFill>
                  <a:srgbClr val="0000FF"/>
                </a:solidFill>
              </a:rPr>
              <a:t> hay bộ đảo: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AND</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OR</a:t>
            </a:r>
            <a:endParaRPr b="1">
              <a:solidFill>
                <a:srgbClr val="0000FF"/>
              </a:solidFill>
            </a:endParaRPr>
          </a:p>
          <a:p>
            <a:pPr indent="-190500" lvl="0" marL="342900" rtl="0" algn="l">
              <a:spcBef>
                <a:spcPts val="480"/>
              </a:spcBef>
              <a:spcAft>
                <a:spcPts val="0"/>
              </a:spcAft>
              <a:buClr>
                <a:schemeClr val="dk1"/>
              </a:buClr>
              <a:buSzPts val="2400"/>
              <a:buNone/>
            </a:pPr>
            <a:r>
              <a:t/>
            </a:r>
            <a:endParaRPr>
              <a:solidFill>
                <a:srgbClr val="0000FF"/>
              </a:solidFill>
            </a:endParaRPr>
          </a:p>
        </p:txBody>
      </p:sp>
      <p:sp>
        <p:nvSpPr>
          <p:cNvPr id="270" name="Google Shape;270;p1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271" name="Google Shape;271;p17"/>
          <p:cNvSpPr txBox="1"/>
          <p:nvPr>
            <p:ph idx="4" type="body"/>
          </p:nvPr>
        </p:nvSpPr>
        <p:spPr>
          <a:xfrm>
            <a:off x="4677380" y="2146512"/>
            <a:ext cx="4041775" cy="3951288"/>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Xâu bit 100101011 qua cổng NOT cho xâu bit 011010100.</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Hai xâu bit 101001101 và 111010110 qua cổng AND cho 101000100</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 Hai xâu bit 101001101 và 111010100 qua cổng OR cho 111011101.</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p:txBody>
      </p:sp>
      <p:sp>
        <p:nvSpPr>
          <p:cNvPr id="272" name="Google Shape;272;p17"/>
          <p:cNvSpPr txBox="1"/>
          <p:nvPr>
            <p:ph idx="12" type="sldNum"/>
          </p:nvPr>
        </p:nvSpPr>
        <p:spPr>
          <a:xfrm>
            <a:off x="7010400" y="6492875"/>
            <a:ext cx="21336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73" name="Google Shape;273;p17"/>
          <p:cNvGrpSpPr/>
          <p:nvPr/>
        </p:nvGrpSpPr>
        <p:grpSpPr>
          <a:xfrm>
            <a:off x="1548660" y="2843140"/>
            <a:ext cx="2260600" cy="457200"/>
            <a:chOff x="2880" y="1280"/>
            <a:chExt cx="1424" cy="288"/>
          </a:xfrm>
        </p:grpSpPr>
        <p:cxnSp>
          <p:nvCxnSpPr>
            <p:cNvPr id="274" name="Google Shape;274;p17"/>
            <p:cNvCxnSpPr/>
            <p:nvPr/>
          </p:nvCxnSpPr>
          <p:spPr>
            <a:xfrm>
              <a:off x="2880" y="1448"/>
              <a:ext cx="528" cy="0"/>
            </a:xfrm>
            <a:prstGeom prst="straightConnector1">
              <a:avLst/>
            </a:prstGeom>
            <a:noFill/>
            <a:ln cap="flat" cmpd="sng" w="9525">
              <a:solidFill>
                <a:schemeClr val="dk1"/>
              </a:solidFill>
              <a:prstDash val="solid"/>
              <a:round/>
              <a:headEnd len="med" w="med" type="none"/>
              <a:tailEnd len="med" w="med" type="triangle"/>
            </a:ln>
          </p:spPr>
        </p:cxnSp>
        <p:cxnSp>
          <p:nvCxnSpPr>
            <p:cNvPr id="275" name="Google Shape;275;p17"/>
            <p:cNvCxnSpPr/>
            <p:nvPr/>
          </p:nvCxnSpPr>
          <p:spPr>
            <a:xfrm>
              <a:off x="3712" y="1456"/>
              <a:ext cx="432" cy="0"/>
            </a:xfrm>
            <a:prstGeom prst="straightConnector1">
              <a:avLst/>
            </a:prstGeom>
            <a:noFill/>
            <a:ln cap="flat" cmpd="sng" w="9525">
              <a:solidFill>
                <a:schemeClr val="dk1"/>
              </a:solidFill>
              <a:prstDash val="solid"/>
              <a:round/>
              <a:headEnd len="med" w="med" type="none"/>
              <a:tailEnd len="med" w="med" type="triangle"/>
            </a:ln>
          </p:spPr>
        </p:cxnSp>
        <p:grpSp>
          <p:nvGrpSpPr>
            <p:cNvPr id="276" name="Google Shape;276;p17"/>
            <p:cNvGrpSpPr/>
            <p:nvPr/>
          </p:nvGrpSpPr>
          <p:grpSpPr>
            <a:xfrm>
              <a:off x="3424" y="1328"/>
              <a:ext cx="288" cy="240"/>
              <a:chOff x="3552" y="1328"/>
              <a:chExt cx="288" cy="240"/>
            </a:xfrm>
          </p:grpSpPr>
          <p:sp>
            <p:nvSpPr>
              <p:cNvPr id="277" name="Google Shape;277;p17"/>
              <p:cNvSpPr/>
              <p:nvPr/>
            </p:nvSpPr>
            <p:spPr>
              <a:xfrm rot="5400000">
                <a:off x="3552" y="1328"/>
                <a:ext cx="240" cy="240"/>
              </a:xfrm>
              <a:prstGeom prst="flowChartExtra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78" name="Google Shape;278;p17"/>
              <p:cNvSpPr/>
              <p:nvPr/>
            </p:nvSpPr>
            <p:spPr>
              <a:xfrm>
                <a:off x="3792" y="1424"/>
                <a:ext cx="48" cy="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cxnSp>
          <p:nvCxnSpPr>
            <p:cNvPr id="279" name="Google Shape;279;p17"/>
            <p:cNvCxnSpPr/>
            <p:nvPr/>
          </p:nvCxnSpPr>
          <p:spPr>
            <a:xfrm>
              <a:off x="4160" y="1280"/>
              <a:ext cx="144" cy="0"/>
            </a:xfrm>
            <a:prstGeom prst="straightConnector1">
              <a:avLst/>
            </a:prstGeom>
            <a:noFill/>
            <a:ln cap="flat" cmpd="sng" w="9525">
              <a:solidFill>
                <a:schemeClr val="dk1"/>
              </a:solidFill>
              <a:prstDash val="solid"/>
              <a:round/>
              <a:headEnd len="med" w="med" type="none"/>
              <a:tailEnd len="med" w="med" type="none"/>
            </a:ln>
          </p:spPr>
        </p:cxnSp>
      </p:grpSp>
      <p:grpSp>
        <p:nvGrpSpPr>
          <p:cNvPr id="280" name="Google Shape;280;p17"/>
          <p:cNvGrpSpPr/>
          <p:nvPr/>
        </p:nvGrpSpPr>
        <p:grpSpPr>
          <a:xfrm>
            <a:off x="1263528" y="4011528"/>
            <a:ext cx="2260600" cy="762000"/>
            <a:chOff x="2784" y="1728"/>
            <a:chExt cx="1424" cy="480"/>
          </a:xfrm>
        </p:grpSpPr>
        <p:grpSp>
          <p:nvGrpSpPr>
            <p:cNvPr id="281" name="Google Shape;281;p17"/>
            <p:cNvGrpSpPr/>
            <p:nvPr/>
          </p:nvGrpSpPr>
          <p:grpSpPr>
            <a:xfrm>
              <a:off x="2976" y="1776"/>
              <a:ext cx="1232" cy="384"/>
              <a:chOff x="2976" y="1776"/>
              <a:chExt cx="1232" cy="384"/>
            </a:xfrm>
          </p:grpSpPr>
          <p:sp>
            <p:nvSpPr>
              <p:cNvPr id="282" name="Google Shape;282;p17"/>
              <p:cNvSpPr/>
              <p:nvPr/>
            </p:nvSpPr>
            <p:spPr>
              <a:xfrm>
                <a:off x="3408" y="1776"/>
                <a:ext cx="384" cy="384"/>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283" name="Google Shape;283;p17"/>
              <p:cNvCxnSpPr/>
              <p:nvPr/>
            </p:nvCxnSpPr>
            <p:spPr>
              <a:xfrm>
                <a:off x="2976" y="1872"/>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284" name="Google Shape;284;p17"/>
              <p:cNvCxnSpPr/>
              <p:nvPr/>
            </p:nvCxnSpPr>
            <p:spPr>
              <a:xfrm>
                <a:off x="2976" y="2080"/>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285" name="Google Shape;285;p17"/>
              <p:cNvCxnSpPr/>
              <p:nvPr/>
            </p:nvCxnSpPr>
            <p:spPr>
              <a:xfrm>
                <a:off x="3776" y="1968"/>
                <a:ext cx="432" cy="0"/>
              </a:xfrm>
              <a:prstGeom prst="straightConnector1">
                <a:avLst/>
              </a:prstGeom>
              <a:noFill/>
              <a:ln cap="flat" cmpd="sng" w="9525">
                <a:solidFill>
                  <a:schemeClr val="dk1"/>
                </a:solidFill>
                <a:prstDash val="solid"/>
                <a:round/>
                <a:headEnd len="med" w="med" type="none"/>
                <a:tailEnd len="med" w="med" type="triangle"/>
              </a:ln>
            </p:spPr>
          </p:cxnSp>
        </p:grpSp>
        <p:sp>
          <p:nvSpPr>
            <p:cNvPr id="286" name="Google Shape;286;p17"/>
            <p:cNvSpPr txBox="1"/>
            <p:nvPr/>
          </p:nvSpPr>
          <p:spPr>
            <a:xfrm>
              <a:off x="2784" y="1920"/>
              <a:ext cx="24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287" name="Google Shape;287;p17"/>
            <p:cNvSpPr txBox="1"/>
            <p:nvPr/>
          </p:nvSpPr>
          <p:spPr>
            <a:xfrm>
              <a:off x="2784" y="1728"/>
              <a:ext cx="19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grpSp>
      <p:sp>
        <p:nvSpPr>
          <p:cNvPr id="288" name="Google Shape;288;p17"/>
          <p:cNvSpPr txBox="1"/>
          <p:nvPr/>
        </p:nvSpPr>
        <p:spPr>
          <a:xfrm>
            <a:off x="3533144" y="4163928"/>
            <a:ext cx="60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xy</a:t>
            </a:r>
            <a:endParaRPr/>
          </a:p>
        </p:txBody>
      </p:sp>
      <p:sp>
        <p:nvSpPr>
          <p:cNvPr id="289" name="Google Shape;289;p17"/>
          <p:cNvSpPr txBox="1"/>
          <p:nvPr/>
        </p:nvSpPr>
        <p:spPr>
          <a:xfrm>
            <a:off x="1115638" y="534630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290" name="Google Shape;290;p17"/>
          <p:cNvSpPr txBox="1"/>
          <p:nvPr/>
        </p:nvSpPr>
        <p:spPr>
          <a:xfrm>
            <a:off x="1115638" y="5716188"/>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291" name="Google Shape;291;p17"/>
          <p:cNvSpPr txBox="1"/>
          <p:nvPr/>
        </p:nvSpPr>
        <p:spPr>
          <a:xfrm>
            <a:off x="3492996" y="5487588"/>
            <a:ext cx="152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a:t>
            </a:r>
            <a:endParaRPr/>
          </a:p>
        </p:txBody>
      </p:sp>
      <p:grpSp>
        <p:nvGrpSpPr>
          <p:cNvPr id="292" name="Google Shape;292;p17"/>
          <p:cNvGrpSpPr/>
          <p:nvPr/>
        </p:nvGrpSpPr>
        <p:grpSpPr>
          <a:xfrm>
            <a:off x="1422896" y="5449488"/>
            <a:ext cx="2019300" cy="609600"/>
            <a:chOff x="2968" y="2448"/>
            <a:chExt cx="1272" cy="384"/>
          </a:xfrm>
        </p:grpSpPr>
        <p:cxnSp>
          <p:nvCxnSpPr>
            <p:cNvPr id="293" name="Google Shape;293;p17"/>
            <p:cNvCxnSpPr/>
            <p:nvPr/>
          </p:nvCxnSpPr>
          <p:spPr>
            <a:xfrm>
              <a:off x="2968" y="2520"/>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294" name="Google Shape;294;p17"/>
            <p:cNvCxnSpPr/>
            <p:nvPr/>
          </p:nvCxnSpPr>
          <p:spPr>
            <a:xfrm>
              <a:off x="2968" y="2760"/>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295" name="Google Shape;295;p17"/>
            <p:cNvCxnSpPr/>
            <p:nvPr/>
          </p:nvCxnSpPr>
          <p:spPr>
            <a:xfrm>
              <a:off x="3856" y="2656"/>
              <a:ext cx="384" cy="0"/>
            </a:xfrm>
            <a:prstGeom prst="straightConnector1">
              <a:avLst/>
            </a:prstGeom>
            <a:noFill/>
            <a:ln cap="flat" cmpd="sng" w="9525">
              <a:solidFill>
                <a:schemeClr val="dk1"/>
              </a:solidFill>
              <a:prstDash val="solid"/>
              <a:round/>
              <a:headEnd len="med" w="med" type="none"/>
              <a:tailEnd len="med" w="med" type="triangle"/>
            </a:ln>
          </p:spPr>
        </p:cxnSp>
        <p:sp>
          <p:nvSpPr>
            <p:cNvPr id="296" name="Google Shape;296;p17"/>
            <p:cNvSpPr/>
            <p:nvPr/>
          </p:nvSpPr>
          <p:spPr>
            <a:xfrm>
              <a:off x="3629" y="2456"/>
              <a:ext cx="211" cy="321"/>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7" name="Google Shape;297;p17"/>
            <p:cNvSpPr/>
            <p:nvPr/>
          </p:nvSpPr>
          <p:spPr>
            <a:xfrm rot="3056401">
              <a:off x="3281" y="2532"/>
              <a:ext cx="281" cy="219"/>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8" name="Google Shape;298;p17"/>
            <p:cNvSpPr/>
            <p:nvPr/>
          </p:nvSpPr>
          <p:spPr>
            <a:xfrm flipH="1" rot="10800000">
              <a:off x="3629" y="2510"/>
              <a:ext cx="211" cy="322"/>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299" name="Google Shape;299;p17"/>
            <p:cNvCxnSpPr/>
            <p:nvPr/>
          </p:nvCxnSpPr>
          <p:spPr>
            <a:xfrm>
              <a:off x="3447" y="2448"/>
              <a:ext cx="182" cy="0"/>
            </a:xfrm>
            <a:prstGeom prst="straightConnector1">
              <a:avLst/>
            </a:prstGeom>
            <a:noFill/>
            <a:ln cap="flat" cmpd="sng" w="9525">
              <a:solidFill>
                <a:schemeClr val="dk1"/>
              </a:solidFill>
              <a:prstDash val="solid"/>
              <a:round/>
              <a:headEnd len="med" w="med" type="none"/>
              <a:tailEnd len="med" w="med" type="none"/>
            </a:ln>
          </p:spPr>
        </p:cxnSp>
        <p:cxnSp>
          <p:nvCxnSpPr>
            <p:cNvPr id="300" name="Google Shape;300;p17"/>
            <p:cNvCxnSpPr/>
            <p:nvPr/>
          </p:nvCxnSpPr>
          <p:spPr>
            <a:xfrm>
              <a:off x="3413" y="2832"/>
              <a:ext cx="212" cy="0"/>
            </a:xfrm>
            <a:prstGeom prst="straightConnector1">
              <a:avLst/>
            </a:prstGeom>
            <a:noFill/>
            <a:ln cap="flat" cmpd="sng" w="9525">
              <a:solidFill>
                <a:schemeClr val="dk1"/>
              </a:solidFill>
              <a:prstDash val="solid"/>
              <a:round/>
              <a:headEnd len="med" w="med" type="none"/>
              <a:tailEnd len="med" w="med" type="none"/>
            </a:ln>
          </p:spPr>
        </p:cxnSp>
      </p:grpSp>
      <p:sp>
        <p:nvSpPr>
          <p:cNvPr id="301" name="Google Shape;301;p17"/>
          <p:cNvSpPr txBox="1"/>
          <p:nvPr/>
        </p:nvSpPr>
        <p:spPr>
          <a:xfrm>
            <a:off x="1243860" y="284314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302" name="Google Shape;302;p17"/>
          <p:cNvSpPr txBox="1"/>
          <p:nvPr/>
        </p:nvSpPr>
        <p:spPr>
          <a:xfrm>
            <a:off x="3580660" y="284314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p>
        </p:txBody>
      </p:sp>
      <p:sp>
        <p:nvSpPr>
          <p:cNvPr id="309" name="Google Shape;309;p1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l</a:t>
            </a:r>
            <a:r>
              <a:rPr lang="en-US"/>
              <a:t>ogic</a:t>
            </a:r>
            <a:endParaRPr/>
          </a:p>
        </p:txBody>
      </p:sp>
      <p:sp>
        <p:nvSpPr>
          <p:cNvPr id="310" name="Google Shape;310;p18"/>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Cổng có n đầu vào</a:t>
            </a:r>
            <a:endParaRPr>
              <a:solidFill>
                <a:srgbClr val="0000FF"/>
              </a:solidFill>
            </a:endParaRPr>
          </a:p>
        </p:txBody>
      </p:sp>
      <p:sp>
        <p:nvSpPr>
          <p:cNvPr id="311" name="Google Shape;311;p18"/>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t>
            </a:r>
            <a:r>
              <a:rPr lang="en-US">
                <a:solidFill>
                  <a:srgbClr val="0000FF"/>
                </a:solidFill>
              </a:rPr>
              <a:t>Các cổng </a:t>
            </a:r>
            <a:r>
              <a:rPr lang="en-US">
                <a:solidFill>
                  <a:srgbClr val="0000FF"/>
                </a:solidFill>
              </a:rPr>
              <a:t>logic</a:t>
            </a:r>
            <a:r>
              <a:rPr lang="en-US">
                <a:solidFill>
                  <a:srgbClr val="0000FF"/>
                </a:solidFill>
              </a:rPr>
              <a:t> được lắp ghép để được một mạch </a:t>
            </a:r>
            <a:r>
              <a:rPr lang="en-US">
                <a:solidFill>
                  <a:srgbClr val="0000FF"/>
                </a:solidFill>
              </a:rPr>
              <a:t>logic</a:t>
            </a:r>
            <a:r>
              <a:rPr lang="en-US">
                <a:solidFill>
                  <a:srgbClr val="0000FF"/>
                </a:solidFill>
              </a:rPr>
              <a:t> thực hiện một hàm Boole phức tạp bất kỳ</a:t>
            </a:r>
            <a:endParaRPr>
              <a:solidFill>
                <a:srgbClr val="0000FF"/>
              </a:solidFill>
            </a:endParaRPr>
          </a:p>
        </p:txBody>
      </p:sp>
      <p:sp>
        <p:nvSpPr>
          <p:cNvPr id="312" name="Google Shape;312;p18"/>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grpSp>
        <p:nvGrpSpPr>
          <p:cNvPr id="313" name="Google Shape;313;p18"/>
          <p:cNvGrpSpPr/>
          <p:nvPr/>
        </p:nvGrpSpPr>
        <p:grpSpPr>
          <a:xfrm>
            <a:off x="609600" y="2642412"/>
            <a:ext cx="4737100" cy="1092200"/>
            <a:chOff x="1296" y="1240"/>
            <a:chExt cx="2984" cy="688"/>
          </a:xfrm>
        </p:grpSpPr>
        <p:sp>
          <p:nvSpPr>
            <p:cNvPr id="314" name="Google Shape;314;p18"/>
            <p:cNvSpPr txBox="1"/>
            <p:nvPr/>
          </p:nvSpPr>
          <p:spPr>
            <a:xfrm>
              <a:off x="2840" y="1488"/>
              <a:ext cx="144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r>
                <a:rPr lang="en-US" sz="1800">
                  <a:solidFill>
                    <a:schemeClr val="dk1"/>
                  </a:solidFill>
                  <a:latin typeface="Times New Roman"/>
                  <a:ea typeface="Times New Roman"/>
                  <a:cs typeface="Times New Roman"/>
                  <a:sym typeface="Times New Roman"/>
                </a:rPr>
                <a:t> x</a:t>
              </a:r>
              <a:r>
                <a:rPr baseline="-25000" lang="en-US" sz="1800">
                  <a:solidFill>
                    <a:schemeClr val="dk1"/>
                  </a:solidFill>
                  <a:latin typeface="Times New Roman"/>
                  <a:ea typeface="Times New Roman"/>
                  <a:cs typeface="Times New Roman"/>
                  <a:sym typeface="Times New Roman"/>
                </a:rPr>
                <a:t>2</a:t>
              </a:r>
              <a:r>
                <a:rPr lang="en-US" sz="1800">
                  <a:solidFill>
                    <a:schemeClr val="dk1"/>
                  </a:solidFill>
                  <a:latin typeface="Times New Roman"/>
                  <a:ea typeface="Times New Roman"/>
                  <a:cs typeface="Times New Roman"/>
                  <a:sym typeface="Times New Roman"/>
                </a:rPr>
                <a:t>… 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sp>
          <p:nvSpPr>
            <p:cNvPr id="315" name="Google Shape;315;p18"/>
            <p:cNvSpPr/>
            <p:nvPr/>
          </p:nvSpPr>
          <p:spPr>
            <a:xfrm>
              <a:off x="2016" y="1440"/>
              <a:ext cx="336" cy="432"/>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16" name="Google Shape;316;p18"/>
            <p:cNvCxnSpPr/>
            <p:nvPr/>
          </p:nvCxnSpPr>
          <p:spPr>
            <a:xfrm>
              <a:off x="2352" y="1656"/>
              <a:ext cx="480" cy="0"/>
            </a:xfrm>
            <a:prstGeom prst="straightConnector1">
              <a:avLst/>
            </a:prstGeom>
            <a:noFill/>
            <a:ln cap="flat" cmpd="sng" w="9525">
              <a:solidFill>
                <a:schemeClr val="dk1"/>
              </a:solidFill>
              <a:prstDash val="solid"/>
              <a:round/>
              <a:headEnd len="med" w="med" type="none"/>
              <a:tailEnd len="med" w="med" type="triangle"/>
            </a:ln>
          </p:spPr>
        </p:cxnSp>
        <p:grpSp>
          <p:nvGrpSpPr>
            <p:cNvPr id="317" name="Google Shape;317;p18"/>
            <p:cNvGrpSpPr/>
            <p:nvPr/>
          </p:nvGrpSpPr>
          <p:grpSpPr>
            <a:xfrm>
              <a:off x="1296" y="1240"/>
              <a:ext cx="720" cy="688"/>
              <a:chOff x="1296" y="1240"/>
              <a:chExt cx="720" cy="688"/>
            </a:xfrm>
          </p:grpSpPr>
          <p:sp>
            <p:nvSpPr>
              <p:cNvPr id="318" name="Google Shape;318;p18"/>
              <p:cNvSpPr txBox="1"/>
              <p:nvPr/>
            </p:nvSpPr>
            <p:spPr>
              <a:xfrm>
                <a:off x="1296" y="1240"/>
                <a:ext cx="3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p:txBody>
          </p:sp>
          <p:cxnSp>
            <p:nvCxnSpPr>
              <p:cNvPr id="319" name="Google Shape;319;p18"/>
              <p:cNvCxnSpPr/>
              <p:nvPr/>
            </p:nvCxnSpPr>
            <p:spPr>
              <a:xfrm>
                <a:off x="1536" y="1488"/>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20" name="Google Shape;320;p18"/>
              <p:cNvCxnSpPr/>
              <p:nvPr/>
            </p:nvCxnSpPr>
            <p:spPr>
              <a:xfrm>
                <a:off x="1536" y="15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21" name="Google Shape;321;p18"/>
              <p:cNvCxnSpPr/>
              <p:nvPr/>
            </p:nvCxnSpPr>
            <p:spPr>
              <a:xfrm>
                <a:off x="1536" y="1824"/>
                <a:ext cx="480" cy="0"/>
              </a:xfrm>
              <a:prstGeom prst="straightConnector1">
                <a:avLst/>
              </a:prstGeom>
              <a:noFill/>
              <a:ln cap="flat" cmpd="sng" w="9525">
                <a:solidFill>
                  <a:schemeClr val="dk1"/>
                </a:solidFill>
                <a:prstDash val="solid"/>
                <a:round/>
                <a:headEnd len="med" w="med" type="none"/>
                <a:tailEnd len="med" w="med" type="triangle"/>
              </a:ln>
            </p:spPr>
          </p:cxnSp>
          <p:sp>
            <p:nvSpPr>
              <p:cNvPr id="322" name="Google Shape;322;p18"/>
              <p:cNvSpPr txBox="1"/>
              <p:nvPr/>
            </p:nvSpPr>
            <p:spPr>
              <a:xfrm>
                <a:off x="1296" y="140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p:txBody>
          </p:sp>
          <p:sp>
            <p:nvSpPr>
              <p:cNvPr id="323" name="Google Shape;323;p18"/>
              <p:cNvSpPr txBox="1"/>
              <p:nvPr/>
            </p:nvSpPr>
            <p:spPr>
              <a:xfrm>
                <a:off x="1296" y="164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grpSp>
      <p:sp>
        <p:nvSpPr>
          <p:cNvPr id="324" name="Google Shape;324;p18"/>
          <p:cNvSpPr txBox="1"/>
          <p:nvPr/>
        </p:nvSpPr>
        <p:spPr>
          <a:xfrm>
            <a:off x="2981676" y="4712488"/>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r>
              <a:rPr lang="en-US" sz="1800">
                <a:solidFill>
                  <a:schemeClr val="dk1"/>
                </a:solidFill>
                <a:latin typeface="Times New Roman"/>
                <a:ea typeface="Times New Roman"/>
                <a:cs typeface="Times New Roman"/>
                <a:sym typeface="Times New Roman"/>
              </a:rPr>
              <a:t> + x</a:t>
            </a:r>
            <a:r>
              <a:rPr baseline="-25000" lang="en-US" sz="1800">
                <a:solidFill>
                  <a:schemeClr val="dk1"/>
                </a:solidFill>
                <a:latin typeface="Times New Roman"/>
                <a:ea typeface="Times New Roman"/>
                <a:cs typeface="Times New Roman"/>
                <a:sym typeface="Times New Roman"/>
              </a:rPr>
              <a:t>2</a:t>
            </a:r>
            <a:r>
              <a:rPr lang="en-US" sz="1800">
                <a:solidFill>
                  <a:schemeClr val="dk1"/>
                </a:solidFill>
                <a:latin typeface="Times New Roman"/>
                <a:ea typeface="Times New Roman"/>
                <a:cs typeface="Times New Roman"/>
                <a:sym typeface="Times New Roman"/>
              </a:rPr>
              <a:t> +…+ 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nvGrpSpPr>
          <p:cNvPr id="325" name="Google Shape;325;p18"/>
          <p:cNvGrpSpPr/>
          <p:nvPr/>
        </p:nvGrpSpPr>
        <p:grpSpPr>
          <a:xfrm>
            <a:off x="1121729" y="4552151"/>
            <a:ext cx="1132872" cy="833437"/>
            <a:chOff x="1756" y="2115"/>
            <a:chExt cx="714" cy="525"/>
          </a:xfrm>
        </p:grpSpPr>
        <p:sp>
          <p:nvSpPr>
            <p:cNvPr id="326" name="Google Shape;326;p18"/>
            <p:cNvSpPr/>
            <p:nvPr/>
          </p:nvSpPr>
          <p:spPr>
            <a:xfrm>
              <a:off x="2214" y="2115"/>
              <a:ext cx="256" cy="453"/>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27" name="Google Shape;327;p18"/>
            <p:cNvSpPr/>
            <p:nvPr/>
          </p:nvSpPr>
          <p:spPr>
            <a:xfrm flipH="1" rot="10800000">
              <a:off x="2214" y="2187"/>
              <a:ext cx="256" cy="453"/>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28" name="Google Shape;328;p18"/>
            <p:cNvSpPr/>
            <p:nvPr/>
          </p:nvSpPr>
          <p:spPr>
            <a:xfrm rot="2657873">
              <a:off x="1824" y="2209"/>
              <a:ext cx="362" cy="341"/>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29" name="Google Shape;329;p18"/>
            <p:cNvCxnSpPr/>
            <p:nvPr/>
          </p:nvCxnSpPr>
          <p:spPr>
            <a:xfrm>
              <a:off x="2022" y="2640"/>
              <a:ext cx="240" cy="0"/>
            </a:xfrm>
            <a:prstGeom prst="straightConnector1">
              <a:avLst/>
            </a:prstGeom>
            <a:noFill/>
            <a:ln cap="flat" cmpd="sng" w="9525">
              <a:solidFill>
                <a:schemeClr val="dk1"/>
              </a:solidFill>
              <a:prstDash val="solid"/>
              <a:round/>
              <a:headEnd len="med" w="med" type="none"/>
              <a:tailEnd len="med" w="med" type="none"/>
            </a:ln>
          </p:spPr>
        </p:cxnSp>
        <p:cxnSp>
          <p:nvCxnSpPr>
            <p:cNvPr id="330" name="Google Shape;330;p18"/>
            <p:cNvCxnSpPr/>
            <p:nvPr/>
          </p:nvCxnSpPr>
          <p:spPr>
            <a:xfrm>
              <a:off x="1998" y="2120"/>
              <a:ext cx="240" cy="0"/>
            </a:xfrm>
            <a:prstGeom prst="straightConnector1">
              <a:avLst/>
            </a:prstGeom>
            <a:noFill/>
            <a:ln cap="flat" cmpd="sng" w="9525">
              <a:solidFill>
                <a:schemeClr val="dk1"/>
              </a:solidFill>
              <a:prstDash val="solid"/>
              <a:round/>
              <a:headEnd len="med" w="med" type="none"/>
              <a:tailEnd len="med" w="med" type="none"/>
            </a:ln>
          </p:spPr>
        </p:cxnSp>
      </p:grpSp>
      <p:grpSp>
        <p:nvGrpSpPr>
          <p:cNvPr id="331" name="Google Shape;331;p18"/>
          <p:cNvGrpSpPr/>
          <p:nvPr/>
        </p:nvGrpSpPr>
        <p:grpSpPr>
          <a:xfrm>
            <a:off x="467076" y="4318788"/>
            <a:ext cx="1143000" cy="1092200"/>
            <a:chOff x="1296" y="1240"/>
            <a:chExt cx="720" cy="688"/>
          </a:xfrm>
        </p:grpSpPr>
        <p:sp>
          <p:nvSpPr>
            <p:cNvPr id="332" name="Google Shape;332;p18"/>
            <p:cNvSpPr txBox="1"/>
            <p:nvPr/>
          </p:nvSpPr>
          <p:spPr>
            <a:xfrm>
              <a:off x="1296" y="1240"/>
              <a:ext cx="3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p:txBody>
        </p:sp>
        <p:cxnSp>
          <p:nvCxnSpPr>
            <p:cNvPr id="333" name="Google Shape;333;p18"/>
            <p:cNvCxnSpPr/>
            <p:nvPr/>
          </p:nvCxnSpPr>
          <p:spPr>
            <a:xfrm>
              <a:off x="1536" y="1488"/>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34" name="Google Shape;334;p18"/>
            <p:cNvCxnSpPr/>
            <p:nvPr/>
          </p:nvCxnSpPr>
          <p:spPr>
            <a:xfrm>
              <a:off x="1536" y="15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35" name="Google Shape;335;p18"/>
            <p:cNvCxnSpPr/>
            <p:nvPr/>
          </p:nvCxnSpPr>
          <p:spPr>
            <a:xfrm>
              <a:off x="1536" y="1824"/>
              <a:ext cx="480" cy="0"/>
            </a:xfrm>
            <a:prstGeom prst="straightConnector1">
              <a:avLst/>
            </a:prstGeom>
            <a:noFill/>
            <a:ln cap="flat" cmpd="sng" w="9525">
              <a:solidFill>
                <a:schemeClr val="dk1"/>
              </a:solidFill>
              <a:prstDash val="solid"/>
              <a:round/>
              <a:headEnd len="med" w="med" type="none"/>
              <a:tailEnd len="med" w="med" type="triangle"/>
            </a:ln>
          </p:spPr>
        </p:cxnSp>
        <p:sp>
          <p:nvSpPr>
            <p:cNvPr id="336" name="Google Shape;336;p18"/>
            <p:cNvSpPr txBox="1"/>
            <p:nvPr/>
          </p:nvSpPr>
          <p:spPr>
            <a:xfrm>
              <a:off x="1296" y="140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p:txBody>
        </p:sp>
        <p:sp>
          <p:nvSpPr>
            <p:cNvPr id="337" name="Google Shape;337;p18"/>
            <p:cNvSpPr txBox="1"/>
            <p:nvPr/>
          </p:nvSpPr>
          <p:spPr>
            <a:xfrm>
              <a:off x="1296" y="164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cxnSp>
        <p:nvCxnSpPr>
          <p:cNvPr id="338" name="Google Shape;338;p18"/>
          <p:cNvCxnSpPr/>
          <p:nvPr/>
        </p:nvCxnSpPr>
        <p:spPr>
          <a:xfrm>
            <a:off x="2219676" y="4966488"/>
            <a:ext cx="762000" cy="0"/>
          </a:xfrm>
          <a:prstGeom prst="straightConnector1">
            <a:avLst/>
          </a:prstGeom>
          <a:noFill/>
          <a:ln cap="flat" cmpd="sng" w="9525">
            <a:solidFill>
              <a:schemeClr val="dk1"/>
            </a:solidFill>
            <a:prstDash val="solid"/>
            <a:round/>
            <a:headEnd len="med" w="med" type="none"/>
            <a:tailEnd len="med" w="med" type="triangle"/>
          </a:ln>
        </p:spPr>
      </p:cxnSp>
      <p:sp>
        <p:nvSpPr>
          <p:cNvPr id="339" name="Google Shape;339;p1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MẠCH LOGIC</a:t>
            </a:r>
            <a:endParaRPr b="1" sz="3600"/>
          </a:p>
        </p:txBody>
      </p:sp>
      <p:sp>
        <p:nvSpPr>
          <p:cNvPr id="345" name="Google Shape;345;p19"/>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46" name="Google Shape;346;p19"/>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 Xây hàm boole cho bởi bảng</a:t>
            </a:r>
            <a:endParaRPr>
              <a:solidFill>
                <a:srgbClr val="0000FF"/>
              </a:solidFill>
            </a:endParaRPr>
          </a:p>
        </p:txBody>
      </p:sp>
      <p:sp>
        <p:nvSpPr>
          <p:cNvPr id="347" name="Google Shape;347;p19"/>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48" name="Google Shape;348;p19"/>
          <p:cNvSpPr txBox="1"/>
          <p:nvPr>
            <p:ph idx="4" type="body"/>
          </p:nvPr>
        </p:nvSpPr>
        <p:spPr>
          <a:xfrm>
            <a:off x="4645025" y="2174875"/>
            <a:ext cx="4041900" cy="3951300"/>
          </a:xfrm>
          <a:prstGeom prst="rect">
            <a:avLst/>
          </a:prstGeom>
          <a:blipFill rotWithShape="1">
            <a:blip r:embed="rId3">
              <a:alphaModFix/>
            </a:blip>
            <a:stretch>
              <a:fillRect b="0" l="-211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pic>
        <p:nvPicPr>
          <p:cNvPr id="349" name="Google Shape;349;p19"/>
          <p:cNvPicPr preferRelativeResize="0"/>
          <p:nvPr/>
        </p:nvPicPr>
        <p:blipFill rotWithShape="1">
          <a:blip r:embed="rId4">
            <a:alphaModFix/>
          </a:blip>
          <a:srcRect b="0" l="0" r="0" t="0"/>
          <a:stretch/>
        </p:blipFill>
        <p:spPr>
          <a:xfrm>
            <a:off x="990600" y="3276600"/>
            <a:ext cx="3200400" cy="2362200"/>
          </a:xfrm>
          <a:prstGeom prst="rect">
            <a:avLst/>
          </a:prstGeom>
          <a:noFill/>
          <a:ln>
            <a:noFill/>
          </a:ln>
        </p:spPr>
      </p:pic>
      <p:graphicFrame>
        <p:nvGraphicFramePr>
          <p:cNvPr id="350" name="Google Shape;350;p19"/>
          <p:cNvGraphicFramePr/>
          <p:nvPr/>
        </p:nvGraphicFramePr>
        <p:xfrm>
          <a:off x="3352800" y="3733800"/>
          <a:ext cx="3000000" cy="3000000"/>
        </p:xfrm>
        <a:graphic>
          <a:graphicData uri="http://schemas.openxmlformats.org/drawingml/2006/table">
            <a:tbl>
              <a:tblPr>
                <a:noFill/>
                <a:tableStyleId>{F5A938BC-8528-43F0-96C3-5076AFB06AA1}</a:tableStyleId>
              </a:tblPr>
              <a:tblGrid>
                <a:gridCol w="349050"/>
              </a:tblGrid>
              <a:tr h="0">
                <a:tc>
                  <a:txBody>
                    <a:bodyPr/>
                    <a:lstStyle/>
                    <a:p>
                      <a:pPr indent="0" lvl="0" marL="0" marR="0" rtl="0" algn="l">
                        <a:spcBef>
                          <a:spcPts val="0"/>
                        </a:spcBef>
                        <a:spcAft>
                          <a:spcPts val="0"/>
                        </a:spcAft>
                        <a:buNone/>
                      </a:pPr>
                      <a:r>
                        <a:t/>
                      </a:r>
                      <a:endParaRPr sz="1800"/>
                    </a:p>
                  </a:txBody>
                  <a:tcPr marT="45725" marB="45725" marR="91450" marL="91450">
                    <a:lnL cap="flat" cmpd="sng" w="12700">
                      <a:solidFill>
                        <a:srgbClr val="FF0000"/>
                      </a:solidFill>
                      <a:prstDash val="solid"/>
                      <a:round/>
                      <a:headEnd len="sm" w="sm" type="none"/>
                      <a:tailEnd len="sm" w="sm" type="none"/>
                    </a:lnL>
                    <a:lnR cap="flat" cmpd="sng" w="12700">
                      <a:solidFill>
                        <a:srgbClr val="FF0000"/>
                      </a:solidFill>
                      <a:prstDash val="solid"/>
                      <a:round/>
                      <a:headEnd len="sm" w="sm" type="none"/>
                      <a:tailEnd len="sm" w="sm" type="none"/>
                    </a:lnR>
                    <a:lnT cap="flat" cmpd="sng" w="12700">
                      <a:solidFill>
                        <a:srgbClr val="FF0000"/>
                      </a:solidFill>
                      <a:prstDash val="solid"/>
                      <a:round/>
                      <a:headEnd len="sm" w="sm" type="none"/>
                      <a:tailEnd len="sm" w="sm" type="none"/>
                    </a:lnT>
                    <a:lnB cap="flat" cmpd="sng" w="12700">
                      <a:solidFill>
                        <a:srgbClr val="FF0000"/>
                      </a:solidFill>
                      <a:prstDash val="solid"/>
                      <a:round/>
                      <a:headEnd len="sm" w="sm" type="none"/>
                      <a:tailEnd len="sm" w="sm" type="none"/>
                    </a:lnB>
                  </a:tcPr>
                </a:tc>
              </a:tr>
            </a:tbl>
          </a:graphicData>
        </a:graphic>
      </p:graphicFrame>
      <p:graphicFrame>
        <p:nvGraphicFramePr>
          <p:cNvPr id="351" name="Google Shape;351;p19"/>
          <p:cNvGraphicFramePr/>
          <p:nvPr/>
        </p:nvGraphicFramePr>
        <p:xfrm>
          <a:off x="3352800" y="5105400"/>
          <a:ext cx="3000000" cy="3000000"/>
        </p:xfrm>
        <a:graphic>
          <a:graphicData uri="http://schemas.openxmlformats.org/drawingml/2006/table">
            <a:tbl>
              <a:tblPr>
                <a:noFill/>
                <a:tableStyleId>{F5A938BC-8528-43F0-96C3-5076AFB06AA1}</a:tableStyleId>
              </a:tblPr>
              <a:tblGrid>
                <a:gridCol w="454075"/>
              </a:tblGrid>
              <a:tr h="533400">
                <a:tc>
                  <a:txBody>
                    <a:bodyPr/>
                    <a:lstStyle/>
                    <a:p>
                      <a:pPr indent="0" lvl="0" marL="0" marR="0" rtl="0" algn="l">
                        <a:spcBef>
                          <a:spcPts val="0"/>
                        </a:spcBef>
                        <a:spcAft>
                          <a:spcPts val="0"/>
                        </a:spcAft>
                        <a:buNone/>
                      </a:pPr>
                      <a:r>
                        <a:t/>
                      </a:r>
                      <a:endParaRPr sz="1800"/>
                    </a:p>
                  </a:txBody>
                  <a:tcPr marT="45725" marB="45725" marR="91450" marL="91450">
                    <a:lnL cap="flat" cmpd="sng" w="12700">
                      <a:solidFill>
                        <a:srgbClr val="FF0000"/>
                      </a:solidFill>
                      <a:prstDash val="solid"/>
                      <a:round/>
                      <a:headEnd len="sm" w="sm" type="none"/>
                      <a:tailEnd len="sm" w="sm" type="none"/>
                    </a:lnL>
                    <a:lnR cap="flat" cmpd="sng" w="12700">
                      <a:solidFill>
                        <a:srgbClr val="FF0000"/>
                      </a:solidFill>
                      <a:prstDash val="solid"/>
                      <a:round/>
                      <a:headEnd len="sm" w="sm" type="none"/>
                      <a:tailEnd len="sm" w="sm" type="none"/>
                    </a:lnR>
                    <a:lnT cap="flat" cmpd="sng" w="12700">
                      <a:solidFill>
                        <a:srgbClr val="FF0000"/>
                      </a:solidFill>
                      <a:prstDash val="solid"/>
                      <a:round/>
                      <a:headEnd len="sm" w="sm" type="none"/>
                      <a:tailEnd len="sm" w="sm" type="none"/>
                    </a:lnT>
                    <a:lnB cap="flat" cmpd="sng" w="12700">
                      <a:solidFill>
                        <a:srgbClr val="FF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0"/>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358" name="Google Shape;358;p20"/>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59" name="Google Shape;359;p20"/>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60" name="Google Shape;360;p20"/>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61" name="Google Shape;361;p20"/>
          <p:cNvSpPr txBox="1"/>
          <p:nvPr>
            <p:ph idx="4" type="body"/>
          </p:nvPr>
        </p:nvSpPr>
        <p:spPr>
          <a:xfrm>
            <a:off x="4645025" y="2174875"/>
            <a:ext cx="4041775" cy="3951288"/>
          </a:xfrm>
          <a:prstGeom prst="rect">
            <a:avLst/>
          </a:prstGeom>
          <a:blipFill rotWithShape="1">
            <a:blip r:embed="rId4">
              <a:alphaModFix/>
            </a:blip>
            <a:stretch>
              <a:fillRect b="0" l="-211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62" name="Google Shape;362;p20"/>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pic>
        <p:nvPicPr>
          <p:cNvPr id="363" name="Google Shape;363;p20"/>
          <p:cNvPicPr preferRelativeResize="0"/>
          <p:nvPr/>
        </p:nvPicPr>
        <p:blipFill rotWithShape="1">
          <a:blip r:embed="rId5">
            <a:alphaModFix/>
          </a:blip>
          <a:srcRect b="0" l="0" r="0" t="0"/>
          <a:stretch/>
        </p:blipFill>
        <p:spPr>
          <a:xfrm>
            <a:off x="457200" y="4038600"/>
            <a:ext cx="3962399" cy="2143125"/>
          </a:xfrm>
          <a:prstGeom prst="rect">
            <a:avLst/>
          </a:prstGeom>
          <a:noFill/>
          <a:ln>
            <a:noFill/>
          </a:ln>
        </p:spPr>
      </p:pic>
      <p:pic>
        <p:nvPicPr>
          <p:cNvPr id="364" name="Google Shape;364;p20"/>
          <p:cNvPicPr preferRelativeResize="0"/>
          <p:nvPr/>
        </p:nvPicPr>
        <p:blipFill rotWithShape="1">
          <a:blip r:embed="rId6">
            <a:alphaModFix/>
          </a:blip>
          <a:srcRect b="0" l="0" r="0" t="0"/>
          <a:stretch/>
        </p:blipFill>
        <p:spPr>
          <a:xfrm>
            <a:off x="4724400" y="4009103"/>
            <a:ext cx="3962400" cy="20868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370" name="Google Shape;370;p21"/>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371" name="Google Shape;371;p21"/>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72" name="Google Shape;372;p21"/>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373" name="Google Shape;373;p21"/>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342900" lvl="0" marL="342900" rtl="0" algn="l">
              <a:spcBef>
                <a:spcPts val="480"/>
              </a:spcBef>
              <a:spcAft>
                <a:spcPts val="0"/>
              </a:spcAft>
              <a:buClr>
                <a:srgbClr val="C00000"/>
              </a:buClr>
              <a:buSzPts val="2400"/>
              <a:buFont typeface="Noto Sans Symbols"/>
              <a:buChar char="▪"/>
            </a:pPr>
            <a:r>
              <a:rPr lang="en-US">
                <a:solidFill>
                  <a:srgbClr val="C00000"/>
                </a:solidFill>
              </a:rPr>
              <a:t>b) ???? </a:t>
            </a:r>
            <a:endParaRPr/>
          </a:p>
        </p:txBody>
      </p:sp>
      <p:sp>
        <p:nvSpPr>
          <p:cNvPr id="374" name="Google Shape;374;p21"/>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grpSp>
        <p:nvGrpSpPr>
          <p:cNvPr id="375" name="Google Shape;375;p21"/>
          <p:cNvGrpSpPr/>
          <p:nvPr/>
        </p:nvGrpSpPr>
        <p:grpSpPr>
          <a:xfrm>
            <a:off x="4965204" y="2740764"/>
            <a:ext cx="3640138" cy="1981200"/>
            <a:chOff x="576" y="2112"/>
            <a:chExt cx="2293" cy="1248"/>
          </a:xfrm>
        </p:grpSpPr>
        <p:cxnSp>
          <p:nvCxnSpPr>
            <p:cNvPr id="376" name="Google Shape;376;p21"/>
            <p:cNvCxnSpPr/>
            <p:nvPr/>
          </p:nvCxnSpPr>
          <p:spPr>
            <a:xfrm>
              <a:off x="624" y="21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77" name="Google Shape;377;p21"/>
            <p:cNvCxnSpPr/>
            <p:nvPr/>
          </p:nvCxnSpPr>
          <p:spPr>
            <a:xfrm>
              <a:off x="624" y="2424"/>
              <a:ext cx="480" cy="0"/>
            </a:xfrm>
            <a:prstGeom prst="straightConnector1">
              <a:avLst/>
            </a:prstGeom>
            <a:noFill/>
            <a:ln cap="flat" cmpd="sng" w="9525">
              <a:solidFill>
                <a:schemeClr val="dk1"/>
              </a:solidFill>
              <a:prstDash val="solid"/>
              <a:round/>
              <a:headEnd len="med" w="med" type="none"/>
              <a:tailEnd len="med" w="med" type="triangle"/>
            </a:ln>
          </p:spPr>
        </p:cxnSp>
        <p:sp>
          <p:nvSpPr>
            <p:cNvPr id="378" name="Google Shape;378;p21"/>
            <p:cNvSpPr/>
            <p:nvPr/>
          </p:nvSpPr>
          <p:spPr>
            <a:xfrm>
              <a:off x="1285" y="2120"/>
              <a:ext cx="211" cy="321"/>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79" name="Google Shape;379;p21"/>
            <p:cNvSpPr/>
            <p:nvPr/>
          </p:nvSpPr>
          <p:spPr>
            <a:xfrm rot="3056401">
              <a:off x="937" y="2196"/>
              <a:ext cx="281" cy="219"/>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0" name="Google Shape;380;p21"/>
            <p:cNvSpPr/>
            <p:nvPr/>
          </p:nvSpPr>
          <p:spPr>
            <a:xfrm flipH="1" rot="10800000">
              <a:off x="1285" y="2174"/>
              <a:ext cx="211" cy="322"/>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81" name="Google Shape;381;p21"/>
            <p:cNvCxnSpPr/>
            <p:nvPr/>
          </p:nvCxnSpPr>
          <p:spPr>
            <a:xfrm>
              <a:off x="1103" y="2112"/>
              <a:ext cx="182" cy="0"/>
            </a:xfrm>
            <a:prstGeom prst="straightConnector1">
              <a:avLst/>
            </a:prstGeom>
            <a:noFill/>
            <a:ln cap="flat" cmpd="sng" w="9525">
              <a:solidFill>
                <a:schemeClr val="dk1"/>
              </a:solidFill>
              <a:prstDash val="solid"/>
              <a:round/>
              <a:headEnd len="med" w="med" type="none"/>
              <a:tailEnd len="med" w="med" type="none"/>
            </a:ln>
          </p:spPr>
        </p:cxnSp>
        <p:cxnSp>
          <p:nvCxnSpPr>
            <p:cNvPr id="382" name="Google Shape;382;p21"/>
            <p:cNvCxnSpPr/>
            <p:nvPr/>
          </p:nvCxnSpPr>
          <p:spPr>
            <a:xfrm>
              <a:off x="1069" y="2496"/>
              <a:ext cx="212" cy="0"/>
            </a:xfrm>
            <a:prstGeom prst="straightConnector1">
              <a:avLst/>
            </a:prstGeom>
            <a:noFill/>
            <a:ln cap="flat" cmpd="sng" w="9525">
              <a:solidFill>
                <a:schemeClr val="dk1"/>
              </a:solidFill>
              <a:prstDash val="solid"/>
              <a:round/>
              <a:headEnd len="med" w="med" type="none"/>
              <a:tailEnd len="med" w="med" type="none"/>
            </a:ln>
          </p:spPr>
        </p:cxnSp>
        <p:sp>
          <p:nvSpPr>
            <p:cNvPr id="383" name="Google Shape;383;p21"/>
            <p:cNvSpPr/>
            <p:nvPr/>
          </p:nvSpPr>
          <p:spPr>
            <a:xfrm>
              <a:off x="2017" y="2224"/>
              <a:ext cx="384" cy="384"/>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84" name="Google Shape;384;p21"/>
            <p:cNvCxnSpPr/>
            <p:nvPr/>
          </p:nvCxnSpPr>
          <p:spPr>
            <a:xfrm>
              <a:off x="2437" y="2400"/>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385" name="Google Shape;385;p21"/>
            <p:cNvCxnSpPr/>
            <p:nvPr/>
          </p:nvCxnSpPr>
          <p:spPr>
            <a:xfrm>
              <a:off x="576" y="3240"/>
              <a:ext cx="528" cy="0"/>
            </a:xfrm>
            <a:prstGeom prst="straightConnector1">
              <a:avLst/>
            </a:prstGeom>
            <a:noFill/>
            <a:ln cap="flat" cmpd="sng" w="9525">
              <a:solidFill>
                <a:schemeClr val="dk1"/>
              </a:solidFill>
              <a:prstDash val="solid"/>
              <a:round/>
              <a:headEnd len="med" w="med" type="none"/>
              <a:tailEnd len="med" w="med" type="triangle"/>
            </a:ln>
          </p:spPr>
        </p:cxnSp>
        <p:grpSp>
          <p:nvGrpSpPr>
            <p:cNvPr id="386" name="Google Shape;386;p21"/>
            <p:cNvGrpSpPr/>
            <p:nvPr/>
          </p:nvGrpSpPr>
          <p:grpSpPr>
            <a:xfrm>
              <a:off x="1120" y="3120"/>
              <a:ext cx="288" cy="240"/>
              <a:chOff x="3552" y="1328"/>
              <a:chExt cx="288" cy="240"/>
            </a:xfrm>
          </p:grpSpPr>
          <p:sp>
            <p:nvSpPr>
              <p:cNvPr id="387" name="Google Shape;387;p21"/>
              <p:cNvSpPr/>
              <p:nvPr/>
            </p:nvSpPr>
            <p:spPr>
              <a:xfrm rot="5400000">
                <a:off x="3552" y="1328"/>
                <a:ext cx="240" cy="240"/>
              </a:xfrm>
              <a:prstGeom prst="flowChartExtra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8" name="Google Shape;388;p21"/>
              <p:cNvSpPr/>
              <p:nvPr/>
            </p:nvSpPr>
            <p:spPr>
              <a:xfrm>
                <a:off x="3792" y="1424"/>
                <a:ext cx="48" cy="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cxnSp>
          <p:nvCxnSpPr>
            <p:cNvPr id="389" name="Google Shape;389;p21"/>
            <p:cNvCxnSpPr/>
            <p:nvPr/>
          </p:nvCxnSpPr>
          <p:spPr>
            <a:xfrm>
              <a:off x="1408" y="3240"/>
              <a:ext cx="272" cy="0"/>
            </a:xfrm>
            <a:prstGeom prst="straightConnector1">
              <a:avLst/>
            </a:prstGeom>
            <a:noFill/>
            <a:ln cap="flat" cmpd="sng" w="9525">
              <a:solidFill>
                <a:schemeClr val="dk1"/>
              </a:solidFill>
              <a:prstDash val="solid"/>
              <a:round/>
              <a:headEnd len="med" w="med" type="none"/>
              <a:tailEnd len="med" w="med" type="none"/>
            </a:ln>
          </p:spPr>
        </p:cxnSp>
        <p:cxnSp>
          <p:nvCxnSpPr>
            <p:cNvPr id="390" name="Google Shape;390;p21"/>
            <p:cNvCxnSpPr/>
            <p:nvPr/>
          </p:nvCxnSpPr>
          <p:spPr>
            <a:xfrm rot="10800000">
              <a:off x="1680" y="2544"/>
              <a:ext cx="0" cy="696"/>
            </a:xfrm>
            <a:prstGeom prst="straightConnector1">
              <a:avLst/>
            </a:prstGeom>
            <a:noFill/>
            <a:ln cap="flat" cmpd="sng" w="9525">
              <a:solidFill>
                <a:schemeClr val="dk1"/>
              </a:solidFill>
              <a:prstDash val="solid"/>
              <a:round/>
              <a:headEnd len="med" w="med" type="none"/>
              <a:tailEnd len="med" w="med" type="none"/>
            </a:ln>
          </p:spPr>
        </p:cxnSp>
        <p:cxnSp>
          <p:nvCxnSpPr>
            <p:cNvPr id="391" name="Google Shape;391;p21"/>
            <p:cNvCxnSpPr/>
            <p:nvPr/>
          </p:nvCxnSpPr>
          <p:spPr>
            <a:xfrm>
              <a:off x="1680" y="2544"/>
              <a:ext cx="328" cy="0"/>
            </a:xfrm>
            <a:prstGeom prst="straightConnector1">
              <a:avLst/>
            </a:prstGeom>
            <a:noFill/>
            <a:ln cap="flat" cmpd="sng" w="9525">
              <a:solidFill>
                <a:schemeClr val="dk1"/>
              </a:solidFill>
              <a:prstDash val="solid"/>
              <a:round/>
              <a:headEnd len="med" w="med" type="none"/>
              <a:tailEnd len="med" w="med" type="triangle"/>
            </a:ln>
          </p:spPr>
        </p:cxnSp>
        <p:cxnSp>
          <p:nvCxnSpPr>
            <p:cNvPr id="392" name="Google Shape;392;p21"/>
            <p:cNvCxnSpPr/>
            <p:nvPr/>
          </p:nvCxnSpPr>
          <p:spPr>
            <a:xfrm>
              <a:off x="1488" y="2304"/>
              <a:ext cx="520" cy="1"/>
            </a:xfrm>
            <a:prstGeom prst="straightConnector1">
              <a:avLst/>
            </a:prstGeom>
            <a:noFill/>
            <a:ln cap="flat" cmpd="sng" w="9525">
              <a:solidFill>
                <a:schemeClr val="dk1"/>
              </a:solidFill>
              <a:prstDash val="solid"/>
              <a:round/>
              <a:headEnd len="med" w="med" type="none"/>
              <a:tailEnd len="med" w="med" type="triangle"/>
            </a:ln>
          </p:spPr>
        </p:cxnSp>
      </p:grpSp>
      <p:sp>
        <p:nvSpPr>
          <p:cNvPr id="393" name="Google Shape;393;p21"/>
          <p:cNvSpPr txBox="1"/>
          <p:nvPr/>
        </p:nvSpPr>
        <p:spPr>
          <a:xfrm>
            <a:off x="4584204" y="2588364"/>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394" name="Google Shape;394;p21"/>
          <p:cNvSpPr txBox="1"/>
          <p:nvPr/>
        </p:nvSpPr>
        <p:spPr>
          <a:xfrm>
            <a:off x="4584204" y="2969364"/>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395" name="Google Shape;395;p21"/>
          <p:cNvSpPr txBox="1"/>
          <p:nvPr/>
        </p:nvSpPr>
        <p:spPr>
          <a:xfrm>
            <a:off x="4660404" y="4264764"/>
            <a:ext cx="381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z</a:t>
            </a:r>
            <a:endParaRPr/>
          </a:p>
        </p:txBody>
      </p:sp>
      <p:sp>
        <p:nvSpPr>
          <p:cNvPr id="396" name="Google Shape;396;p21"/>
          <p:cNvSpPr txBox="1"/>
          <p:nvPr/>
        </p:nvSpPr>
        <p:spPr>
          <a:xfrm>
            <a:off x="6390795" y="2630224"/>
            <a:ext cx="99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a:t>
            </a:r>
            <a:endParaRPr/>
          </a:p>
        </p:txBody>
      </p:sp>
      <p:sp>
        <p:nvSpPr>
          <p:cNvPr id="397" name="Google Shape;397;p21"/>
          <p:cNvSpPr txBox="1"/>
          <p:nvPr/>
        </p:nvSpPr>
        <p:spPr>
          <a:xfrm>
            <a:off x="6184404" y="4099664"/>
            <a:ext cx="533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z</a:t>
            </a:r>
            <a:endParaRPr/>
          </a:p>
        </p:txBody>
      </p:sp>
      <p:cxnSp>
        <p:nvCxnSpPr>
          <p:cNvPr id="398" name="Google Shape;398;p21"/>
          <p:cNvCxnSpPr/>
          <p:nvPr/>
        </p:nvCxnSpPr>
        <p:spPr>
          <a:xfrm>
            <a:off x="6222504" y="4239364"/>
            <a:ext cx="228600" cy="0"/>
          </a:xfrm>
          <a:prstGeom prst="straightConnector1">
            <a:avLst/>
          </a:prstGeom>
          <a:noFill/>
          <a:ln cap="flat" cmpd="sng" w="9525">
            <a:solidFill>
              <a:schemeClr val="dk1"/>
            </a:solidFill>
            <a:prstDash val="solid"/>
            <a:round/>
            <a:headEnd len="med" w="med" type="none"/>
            <a:tailEnd len="med" w="med" type="none"/>
          </a:ln>
        </p:spPr>
      </p:cxnSp>
      <p:sp>
        <p:nvSpPr>
          <p:cNvPr id="399" name="Google Shape;399;p21"/>
          <p:cNvSpPr txBox="1"/>
          <p:nvPr/>
        </p:nvSpPr>
        <p:spPr>
          <a:xfrm>
            <a:off x="7772400" y="2831068"/>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y)z</a:t>
            </a:r>
            <a:endParaRPr/>
          </a:p>
        </p:txBody>
      </p:sp>
      <p:cxnSp>
        <p:nvCxnSpPr>
          <p:cNvPr id="400" name="Google Shape;400;p21"/>
          <p:cNvCxnSpPr/>
          <p:nvPr/>
        </p:nvCxnSpPr>
        <p:spPr>
          <a:xfrm rot="10800000">
            <a:off x="8458200" y="2839188"/>
            <a:ext cx="147142" cy="28575"/>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TỐI GIẢN MẠCH LOGIC</a:t>
            </a:r>
            <a:r>
              <a:rPr b="1" lang="en-US" sz="3600">
                <a:solidFill>
                  <a:srgbClr val="00B0F0"/>
                </a:solidFill>
              </a:rPr>
              <a:t> </a:t>
            </a:r>
            <a:endParaRPr b="1" sz="3600">
              <a:solidFill>
                <a:srgbClr val="00B0F0"/>
              </a:solidFill>
            </a:endParaRPr>
          </a:p>
        </p:txBody>
      </p:sp>
      <p:sp>
        <p:nvSpPr>
          <p:cNvPr id="406" name="Google Shape;406;p22"/>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 </a:t>
            </a:r>
            <a:endParaRPr/>
          </a:p>
        </p:txBody>
      </p:sp>
      <p:sp>
        <p:nvSpPr>
          <p:cNvPr id="407" name="Google Shape;407;p22"/>
          <p:cNvSpPr txBox="1"/>
          <p:nvPr>
            <p:ph idx="2" type="body"/>
          </p:nvPr>
        </p:nvSpPr>
        <p:spPr>
          <a:xfrm>
            <a:off x="457200" y="2174875"/>
            <a:ext cx="4040188" cy="3951288"/>
          </a:xfrm>
          <a:prstGeom prst="rect">
            <a:avLst/>
          </a:prstGeom>
          <a:blipFill rotWithShape="1">
            <a:blip r:embed="rId3">
              <a:alphaModFix/>
            </a:blip>
            <a:stretch>
              <a:fillRect b="0" l="-1959" r="-30765"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08" name="Google Shape;408;p22"/>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09" name="Google Shape;409;p22"/>
          <p:cNvSpPr txBox="1"/>
          <p:nvPr>
            <p:ph idx="4" type="body"/>
          </p:nvPr>
        </p:nvSpPr>
        <p:spPr>
          <a:xfrm>
            <a:off x="4645025" y="2174875"/>
            <a:ext cx="4041775" cy="3951288"/>
          </a:xfrm>
          <a:prstGeom prst="rect">
            <a:avLst/>
          </a:prstGeom>
          <a:blipFill rotWithShape="1">
            <a:blip r:embed="rId4">
              <a:alphaModFix/>
            </a:blip>
            <a:stretch>
              <a:fillRect b="0" l="-2111" r="-10555" t="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10" name="Google Shape;410;p2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cxnSp>
        <p:nvCxnSpPr>
          <p:cNvPr id="411" name="Google Shape;411;p22"/>
          <p:cNvCxnSpPr/>
          <p:nvPr/>
        </p:nvCxnSpPr>
        <p:spPr>
          <a:xfrm>
            <a:off x="8246806" y="2590800"/>
            <a:ext cx="0" cy="0"/>
          </a:xfrm>
          <a:prstGeom prst="straightConnector1">
            <a:avLst/>
          </a:prstGeom>
          <a:noFill/>
          <a:ln cap="flat" cmpd="sng" w="9525">
            <a:solidFill>
              <a:srgbClr val="D7D7D7"/>
            </a:solidFill>
            <a:prstDash val="solid"/>
            <a:round/>
            <a:headEnd len="sm" w="sm" type="none"/>
            <a:tailEnd len="med" w="med" type="stealth"/>
          </a:ln>
        </p:spPr>
      </p:cxnSp>
      <p:cxnSp>
        <p:nvCxnSpPr>
          <p:cNvPr id="412" name="Google Shape;412;p22"/>
          <p:cNvCxnSpPr/>
          <p:nvPr/>
        </p:nvCxnSpPr>
        <p:spPr>
          <a:xfrm>
            <a:off x="8153400" y="2590800"/>
            <a:ext cx="93406" cy="0"/>
          </a:xfrm>
          <a:prstGeom prst="straightConnector1">
            <a:avLst/>
          </a:prstGeom>
          <a:noFill/>
          <a:ln cap="flat" cmpd="sng" w="9525">
            <a:solidFill>
              <a:srgbClr val="D7D7D7"/>
            </a:solidFill>
            <a:prstDash val="solid"/>
            <a:round/>
            <a:headEnd len="sm" w="sm" type="none"/>
            <a:tailEnd len="med" w="med" type="stealth"/>
          </a:ln>
        </p:spPr>
      </p:cxnSp>
      <p:pic>
        <p:nvPicPr>
          <p:cNvPr id="413" name="Google Shape;413;p22"/>
          <p:cNvPicPr preferRelativeResize="0"/>
          <p:nvPr/>
        </p:nvPicPr>
        <p:blipFill rotWithShape="1">
          <a:blip r:embed="rId5">
            <a:alphaModFix/>
          </a:blip>
          <a:srcRect b="0" l="0" r="0" t="0"/>
          <a:stretch/>
        </p:blipFill>
        <p:spPr>
          <a:xfrm>
            <a:off x="4724400" y="2209800"/>
            <a:ext cx="3886200" cy="1828800"/>
          </a:xfrm>
          <a:prstGeom prst="rect">
            <a:avLst/>
          </a:prstGeom>
          <a:noFill/>
          <a:ln>
            <a:noFill/>
          </a:ln>
        </p:spPr>
      </p:pic>
      <p:pic>
        <p:nvPicPr>
          <p:cNvPr id="414" name="Google Shape;414;p22"/>
          <p:cNvPicPr preferRelativeResize="0"/>
          <p:nvPr/>
        </p:nvPicPr>
        <p:blipFill rotWithShape="1">
          <a:blip r:embed="rId6">
            <a:alphaModFix/>
          </a:blip>
          <a:srcRect b="0" l="0" r="0" t="0"/>
          <a:stretch/>
        </p:blipFill>
        <p:spPr>
          <a:xfrm>
            <a:off x="4984034" y="5334000"/>
            <a:ext cx="3216070" cy="66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21429f3121_1_49"/>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TỐI GIẢN MẠCH LOGIC</a:t>
            </a:r>
            <a:r>
              <a:rPr b="1" lang="en-US">
                <a:solidFill>
                  <a:srgbClr val="00B0F0"/>
                </a:solidFill>
                <a:latin typeface="Times New Roman"/>
                <a:ea typeface="Times New Roman"/>
                <a:cs typeface="Times New Roman"/>
                <a:sym typeface="Times New Roman"/>
              </a:rPr>
              <a:t> </a:t>
            </a:r>
            <a:endParaRPr/>
          </a:p>
        </p:txBody>
      </p:sp>
      <p:sp>
        <p:nvSpPr>
          <p:cNvPr id="421" name="Google Shape;421;g121429f3121_1_49"/>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Tối giản mạch </a:t>
            </a:r>
            <a:r>
              <a:rPr b="1" lang="en-US" sz="2400">
                <a:solidFill>
                  <a:srgbClr val="0000FF"/>
                </a:solidFill>
              </a:rPr>
              <a:t>logic là việc làm cần thiết</a:t>
            </a:r>
            <a:endParaRPr b="1" sz="2400">
              <a:solidFill>
                <a:srgbClr val="0000FF"/>
              </a:solidFill>
            </a:endParaRPr>
          </a:p>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Giải pháp:</a:t>
            </a:r>
            <a:endParaRPr b="1" sz="2400">
              <a:solidFill>
                <a:srgbClr val="0000FF"/>
              </a:solidFill>
            </a:endParaRPr>
          </a:p>
          <a:p>
            <a:pPr indent="-381000" lvl="1" marL="914400" marR="0" rtl="0" algn="l">
              <a:lnSpc>
                <a:spcPct val="150000"/>
              </a:lnSpc>
              <a:spcBef>
                <a:spcPts val="0"/>
              </a:spcBef>
              <a:spcAft>
                <a:spcPts val="0"/>
              </a:spcAft>
              <a:buClr>
                <a:srgbClr val="000000"/>
              </a:buClr>
              <a:buSzPts val="2400"/>
              <a:buChar char="-"/>
            </a:pPr>
            <a:r>
              <a:rPr b="1" lang="en-US" sz="2400">
                <a:solidFill>
                  <a:srgbClr val="0000FF"/>
                </a:solidFill>
                <a:latin typeface="Times New Roman"/>
                <a:ea typeface="Times New Roman"/>
                <a:cs typeface="Times New Roman"/>
                <a:sym typeface="Times New Roman"/>
              </a:rPr>
              <a:t>Sử dụng 11 tính chất của đại số Boole </a:t>
            </a:r>
            <a:endParaRPr b="1" sz="2400">
              <a:solidFill>
                <a:srgbClr val="0000FF"/>
              </a:solidFill>
              <a:latin typeface="Times New Roman"/>
              <a:ea typeface="Times New Roman"/>
              <a:cs typeface="Times New Roman"/>
              <a:sym typeface="Times New Roman"/>
            </a:endParaRPr>
          </a:p>
          <a:p>
            <a:pPr indent="-381000" lvl="1" marL="914400" marR="0" rtl="0" algn="l">
              <a:lnSpc>
                <a:spcPct val="150000"/>
              </a:lnSpc>
              <a:spcBef>
                <a:spcPts val="0"/>
              </a:spcBef>
              <a:spcAft>
                <a:spcPts val="0"/>
              </a:spcAft>
              <a:buClr>
                <a:srgbClr val="000000"/>
              </a:buClr>
              <a:buSzPts val="2400"/>
              <a:buChar char="-"/>
            </a:pPr>
            <a:r>
              <a:rPr b="1" lang="en-US" sz="2400">
                <a:solidFill>
                  <a:srgbClr val="0000FF"/>
                </a:solidFill>
                <a:latin typeface="Times New Roman"/>
                <a:ea typeface="Times New Roman"/>
                <a:cs typeface="Times New Roman"/>
                <a:sym typeface="Times New Roman"/>
              </a:rPr>
              <a:t>Sử dụng bản đồ Karnaugh</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422" name="Google Shape;422;g121429f3121_1_49"/>
          <p:cNvPicPr preferRelativeResize="0"/>
          <p:nvPr/>
        </p:nvPicPr>
        <p:blipFill>
          <a:blip r:embed="rId3">
            <a:alphaModFix/>
          </a:blip>
          <a:stretch>
            <a:fillRect/>
          </a:stretch>
        </p:blipFill>
        <p:spPr>
          <a:xfrm>
            <a:off x="1938700" y="4419850"/>
            <a:ext cx="4343400" cy="2114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Bản đồ </a:t>
            </a:r>
            <a:r>
              <a:rPr b="1" lang="en-US" sz="3600">
                <a:solidFill>
                  <a:srgbClr val="0000FF"/>
                </a:solidFill>
              </a:rPr>
              <a:t>Karnaugh</a:t>
            </a:r>
            <a:endParaRPr b="1" sz="3600">
              <a:solidFill>
                <a:srgbClr val="0000FF"/>
              </a:solidFill>
            </a:endParaRPr>
          </a:p>
        </p:txBody>
      </p:sp>
      <p:sp>
        <p:nvSpPr>
          <p:cNvPr id="429" name="Google Shape;429;p24"/>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a:t>
            </a:r>
            <a:r>
              <a:rPr lang="en-US"/>
              <a:t>Boole bậc 2</a:t>
            </a:r>
            <a:endParaRPr/>
          </a:p>
        </p:txBody>
      </p:sp>
      <p:sp>
        <p:nvSpPr>
          <p:cNvPr id="430" name="Google Shape;430;p24"/>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Phương pháp trực quan để rút gọn khai triển tổng các tích.</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Bản đồ Karnaugh hai biến:</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431" name="Google Shape;431;p24"/>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32" name="Google Shape;432;p24"/>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68300" lvl="0" marL="342900" rtl="0" algn="l">
              <a:spcBef>
                <a:spcPts val="0"/>
              </a:spcBef>
              <a:spcAft>
                <a:spcPts val="0"/>
              </a:spcAft>
              <a:buClr>
                <a:srgbClr val="0000FF"/>
              </a:buClr>
              <a:buSzPts val="2400"/>
              <a:buFont typeface="Noto Sans Symbols"/>
              <a:buChar char="▪"/>
            </a:pPr>
            <a:r>
              <a:rPr lang="en-US">
                <a:solidFill>
                  <a:srgbClr val="0000FF"/>
                </a:solidFill>
              </a:rPr>
              <a:t>Hội sơ cấp có mặt trong khai triển được ghi số </a:t>
            </a:r>
            <a:r>
              <a:rPr b="1" lang="en-US">
                <a:solidFill>
                  <a:srgbClr val="0000FF"/>
                </a:solidFill>
              </a:rPr>
              <a:t>1</a:t>
            </a:r>
            <a:r>
              <a:rPr lang="en-US">
                <a:solidFill>
                  <a:srgbClr val="0000FF"/>
                </a:solidFill>
              </a:rPr>
              <a:t>, </a:t>
            </a:r>
            <a:r>
              <a:rPr lang="en-US">
                <a:solidFill>
                  <a:srgbClr val="0000FF"/>
                </a:solidFill>
              </a:rPr>
              <a:t>ngược lại ghi số </a:t>
            </a:r>
            <a:r>
              <a:rPr b="1" lang="en-US">
                <a:solidFill>
                  <a:srgbClr val="0000FF"/>
                </a:solidFill>
              </a:rPr>
              <a:t>0</a:t>
            </a:r>
            <a:r>
              <a:rPr lang="en-US">
                <a:solidFill>
                  <a:srgbClr val="0000FF"/>
                </a:solidFill>
              </a:rPr>
              <a:t>.</a:t>
            </a:r>
            <a:endParaRPr>
              <a:solidFill>
                <a:srgbClr val="0000FF"/>
              </a:solidFill>
            </a:endParaRPr>
          </a:p>
          <a:p>
            <a:pPr indent="-368300" lvl="0" marL="342900" rtl="0" algn="l">
              <a:spcBef>
                <a:spcPts val="400"/>
              </a:spcBef>
              <a:spcAft>
                <a:spcPts val="0"/>
              </a:spcAft>
              <a:buClr>
                <a:srgbClr val="0000FF"/>
              </a:buClr>
              <a:buSzPts val="2400"/>
              <a:buFont typeface="Noto Sans Symbols"/>
              <a:buChar char="▪"/>
            </a:pPr>
            <a:r>
              <a:rPr lang="en-US">
                <a:solidFill>
                  <a:srgbClr val="0000FF"/>
                </a:solidFill>
              </a:rPr>
              <a:t>Các hình </a:t>
            </a:r>
            <a:r>
              <a:rPr lang="en-US">
                <a:solidFill>
                  <a:srgbClr val="0000FF"/>
                </a:solidFill>
              </a:rPr>
              <a:t>được gọi là kề nhau nếu các hội sơ cấp mà chúng biểu diễn chỉ khác nhau một biến.</a:t>
            </a:r>
            <a:endParaRPr>
              <a:solidFill>
                <a:srgbClr val="0000FF"/>
              </a:solidFill>
            </a:endParaRPr>
          </a:p>
        </p:txBody>
      </p:sp>
      <p:graphicFrame>
        <p:nvGraphicFramePr>
          <p:cNvPr id="433" name="Google Shape;433;p24"/>
          <p:cNvGraphicFramePr/>
          <p:nvPr/>
        </p:nvGraphicFramePr>
        <p:xfrm>
          <a:off x="1755084" y="4537524"/>
          <a:ext cx="3000000" cy="3000000"/>
        </p:xfrm>
        <a:graphic>
          <a:graphicData uri="http://schemas.openxmlformats.org/drawingml/2006/table">
            <a:tbl>
              <a:tblPr>
                <a:noFill/>
                <a:tableStyleId>{F5A938BC-8528-43F0-96C3-5076AFB06AA1}</a:tableStyleId>
              </a:tblPr>
              <a:tblGrid>
                <a:gridCol w="1028700"/>
                <a:gridCol w="1028700"/>
              </a:tblGrid>
              <a:tr h="457200">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b="0" i="0" sz="2400" u="none" cap="none" strike="noStrike">
                        <a:solidFill>
                          <a:srgbClr val="0000FF"/>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a:solidFill>
                          <a:srgbClr val="0000FF"/>
                        </a:solidFil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3400">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a:solidFill>
                          <a:srgbClr val="0000FF"/>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b="0" i="0" sz="2400" u="none" cap="none" strike="noStrike">
                        <a:solidFill>
                          <a:srgbClr val="0000FF"/>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434" name="Google Shape;434;p24"/>
          <p:cNvCxnSpPr/>
          <p:nvPr/>
        </p:nvCxnSpPr>
        <p:spPr>
          <a:xfrm>
            <a:off x="3050484" y="5147124"/>
            <a:ext cx="228600" cy="0"/>
          </a:xfrm>
          <a:prstGeom prst="straightConnector1">
            <a:avLst/>
          </a:prstGeom>
          <a:noFill/>
          <a:ln cap="flat" cmpd="sng" w="9525">
            <a:solidFill>
              <a:schemeClr val="dk1"/>
            </a:solidFill>
            <a:prstDash val="solid"/>
            <a:round/>
            <a:headEnd len="med" w="med" type="none"/>
            <a:tailEnd len="med" w="med" type="none"/>
          </a:ln>
        </p:spPr>
      </p:cxnSp>
      <p:cxnSp>
        <p:nvCxnSpPr>
          <p:cNvPr id="435" name="Google Shape;435;p24"/>
          <p:cNvCxnSpPr/>
          <p:nvPr/>
        </p:nvCxnSpPr>
        <p:spPr>
          <a:xfrm>
            <a:off x="3329884" y="5147124"/>
            <a:ext cx="1524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24"/>
          <p:cNvCxnSpPr/>
          <p:nvPr/>
        </p:nvCxnSpPr>
        <p:spPr>
          <a:xfrm>
            <a:off x="3279084" y="4689924"/>
            <a:ext cx="152400" cy="0"/>
          </a:xfrm>
          <a:prstGeom prst="straightConnector1">
            <a:avLst/>
          </a:prstGeom>
          <a:noFill/>
          <a:ln cap="flat" cmpd="sng" w="9525">
            <a:solidFill>
              <a:schemeClr val="dk1"/>
            </a:solidFill>
            <a:prstDash val="solid"/>
            <a:round/>
            <a:headEnd len="med" w="med" type="none"/>
            <a:tailEnd len="med" w="med" type="none"/>
          </a:ln>
        </p:spPr>
      </p:cxnSp>
      <p:cxnSp>
        <p:nvCxnSpPr>
          <p:cNvPr id="437" name="Google Shape;437;p24"/>
          <p:cNvCxnSpPr/>
          <p:nvPr/>
        </p:nvCxnSpPr>
        <p:spPr>
          <a:xfrm>
            <a:off x="2072584" y="5147124"/>
            <a:ext cx="152400" cy="0"/>
          </a:xfrm>
          <a:prstGeom prst="straightConnector1">
            <a:avLst/>
          </a:prstGeom>
          <a:noFill/>
          <a:ln cap="flat" cmpd="sng" w="9525">
            <a:solidFill>
              <a:schemeClr val="dk1"/>
            </a:solidFill>
            <a:prstDash val="solid"/>
            <a:round/>
            <a:headEnd len="med" w="med" type="none"/>
            <a:tailEnd len="med" w="med" type="none"/>
          </a:ln>
        </p:spPr>
      </p:cxnSp>
      <p:grpSp>
        <p:nvGrpSpPr>
          <p:cNvPr id="438" name="Google Shape;438;p24"/>
          <p:cNvGrpSpPr/>
          <p:nvPr/>
        </p:nvGrpSpPr>
        <p:grpSpPr>
          <a:xfrm>
            <a:off x="1348684" y="4080323"/>
            <a:ext cx="2286000" cy="1381125"/>
            <a:chOff x="1440" y="1056"/>
            <a:chExt cx="1440" cy="870"/>
          </a:xfrm>
        </p:grpSpPr>
        <p:grpSp>
          <p:nvGrpSpPr>
            <p:cNvPr id="439" name="Google Shape;439;p24"/>
            <p:cNvGrpSpPr/>
            <p:nvPr/>
          </p:nvGrpSpPr>
          <p:grpSpPr>
            <a:xfrm>
              <a:off x="1440" y="1344"/>
              <a:ext cx="288" cy="582"/>
              <a:chOff x="1440" y="1344"/>
              <a:chExt cx="288" cy="582"/>
            </a:xfrm>
          </p:grpSpPr>
          <p:sp>
            <p:nvSpPr>
              <p:cNvPr id="440" name="Google Shape;440;p24"/>
              <p:cNvSpPr txBox="1"/>
              <p:nvPr/>
            </p:nvSpPr>
            <p:spPr>
              <a:xfrm>
                <a:off x="1440" y="1344"/>
                <a:ext cx="288" cy="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x</a:t>
                </a:r>
                <a:endParaRPr/>
              </a:p>
              <a:p>
                <a:pPr indent="0" lvl="0" marL="0" marR="0" rtl="0" algn="l">
                  <a:spcBef>
                    <a:spcPts val="0"/>
                  </a:spcBef>
                  <a:spcAft>
                    <a:spcPts val="0"/>
                  </a:spcAft>
                  <a:buNone/>
                </a:pPr>
                <a:r>
                  <a:t/>
                </a:r>
                <a:endParaRPr b="1"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x</a:t>
                </a:r>
                <a:endParaRPr/>
              </a:p>
            </p:txBody>
          </p:sp>
          <p:cxnSp>
            <p:nvCxnSpPr>
              <p:cNvPr id="441" name="Google Shape;441;p24"/>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42" name="Google Shape;442;p24"/>
            <p:cNvGrpSpPr/>
            <p:nvPr/>
          </p:nvGrpSpPr>
          <p:grpSpPr>
            <a:xfrm>
              <a:off x="1968" y="1056"/>
              <a:ext cx="912" cy="233"/>
              <a:chOff x="1968" y="1056"/>
              <a:chExt cx="912" cy="233"/>
            </a:xfrm>
          </p:grpSpPr>
          <p:sp>
            <p:nvSpPr>
              <p:cNvPr id="443" name="Google Shape;443;p24"/>
              <p:cNvSpPr txBox="1"/>
              <p:nvPr/>
            </p:nvSpPr>
            <p:spPr>
              <a:xfrm>
                <a:off x="1968" y="1056"/>
                <a:ext cx="91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y               y</a:t>
                </a:r>
                <a:endParaRPr b="1" sz="1800">
                  <a:solidFill>
                    <a:srgbClr val="002060"/>
                  </a:solidFill>
                  <a:latin typeface="Times New Roman"/>
                  <a:ea typeface="Times New Roman"/>
                  <a:cs typeface="Times New Roman"/>
                  <a:sym typeface="Times New Roman"/>
                </a:endParaRPr>
              </a:p>
            </p:txBody>
          </p:sp>
          <p:cxnSp>
            <p:nvCxnSpPr>
              <p:cNvPr id="444" name="Google Shape;444;p24"/>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5"/>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51" name="Google Shape;451;p25"/>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52" name="Google Shape;452;p25"/>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53" name="Google Shape;453;p25"/>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54" name="Google Shape;454;p25"/>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a:t>a)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285750" lvl="1" marL="742950" rtl="0" algn="l">
              <a:spcBef>
                <a:spcPts val="400"/>
              </a:spcBef>
              <a:spcAft>
                <a:spcPts val="0"/>
              </a:spcAft>
              <a:buClr>
                <a:schemeClr val="dk1"/>
              </a:buClr>
              <a:buSzPts val="2000"/>
              <a:buFont typeface="Noto Sans Symbols"/>
              <a:buChar char="▪"/>
            </a:pPr>
            <a:r>
              <a:rPr lang="en-US"/>
              <a:t>X được gọi  nguyên nhân nguyên tố của E</a:t>
            </a:r>
            <a:endParaRPr/>
          </a:p>
          <a:p>
            <a:pPr indent="-285750" lvl="1" marL="742950" rtl="0" algn="l">
              <a:spcBef>
                <a:spcPts val="400"/>
              </a:spcBef>
              <a:spcAft>
                <a:spcPts val="0"/>
              </a:spcAft>
              <a:buClr>
                <a:schemeClr val="dk1"/>
              </a:buClr>
              <a:buSzPts val="2000"/>
              <a:buFont typeface="Noto Sans Symbols"/>
              <a:buChar char="▪"/>
            </a:pPr>
            <a:r>
              <a:rPr lang="en-US"/>
              <a:t>E   = </a:t>
            </a:r>
            <a:r>
              <a:rPr b="1" lang="en-US"/>
              <a:t>x</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455" name="Google Shape;455;p25"/>
          <p:cNvGraphicFramePr/>
          <p:nvPr/>
        </p:nvGraphicFramePr>
        <p:xfrm>
          <a:off x="5397500" y="2908300"/>
          <a:ext cx="3000000" cy="3000000"/>
        </p:xfrm>
        <a:graphic>
          <a:graphicData uri="http://schemas.openxmlformats.org/drawingml/2006/table">
            <a:tbl>
              <a:tblPr>
                <a:noFill/>
                <a:tableStyleId>{F5A938BC-8528-43F0-96C3-5076AFB06AA1}</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56" name="Google Shape;456;p25"/>
          <p:cNvSpPr/>
          <p:nvPr/>
        </p:nvSpPr>
        <p:spPr>
          <a:xfrm>
            <a:off x="5664200" y="2984500"/>
            <a:ext cx="1524000" cy="304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57" name="Google Shape;457;p25"/>
          <p:cNvGrpSpPr/>
          <p:nvPr/>
        </p:nvGrpSpPr>
        <p:grpSpPr>
          <a:xfrm>
            <a:off x="5029200" y="2438400"/>
            <a:ext cx="2286000" cy="1535113"/>
            <a:chOff x="1440" y="1056"/>
            <a:chExt cx="1440" cy="967"/>
          </a:xfrm>
        </p:grpSpPr>
        <p:grpSp>
          <p:nvGrpSpPr>
            <p:cNvPr id="458" name="Google Shape;458;p25"/>
            <p:cNvGrpSpPr/>
            <p:nvPr/>
          </p:nvGrpSpPr>
          <p:grpSpPr>
            <a:xfrm>
              <a:off x="1440" y="1344"/>
              <a:ext cx="288" cy="679"/>
              <a:chOff x="1440" y="1344"/>
              <a:chExt cx="288" cy="679"/>
            </a:xfrm>
          </p:grpSpPr>
          <p:sp>
            <p:nvSpPr>
              <p:cNvPr id="459" name="Google Shape;459;p25"/>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60" name="Google Shape;460;p25"/>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61" name="Google Shape;461;p25"/>
            <p:cNvGrpSpPr/>
            <p:nvPr/>
          </p:nvGrpSpPr>
          <p:grpSpPr>
            <a:xfrm>
              <a:off x="1968" y="1056"/>
              <a:ext cx="912" cy="291"/>
              <a:chOff x="1968" y="1056"/>
              <a:chExt cx="912" cy="291"/>
            </a:xfrm>
          </p:grpSpPr>
          <p:sp>
            <p:nvSpPr>
              <p:cNvPr id="462" name="Google Shape;462;p25"/>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463" name="Google Shape;463;p25"/>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6"/>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70" name="Google Shape;470;p26"/>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71" name="Google Shape;471;p26"/>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72" name="Google Shape;472;p26"/>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73" name="Google Shape;473;p26"/>
          <p:cNvSpPr txBox="1"/>
          <p:nvPr>
            <p:ph idx="4" type="body"/>
          </p:nvPr>
        </p:nvSpPr>
        <p:spPr>
          <a:xfrm>
            <a:off x="4645025" y="2174875"/>
            <a:ext cx="4041775" cy="3951288"/>
          </a:xfrm>
          <a:prstGeom prst="rect">
            <a:avLst/>
          </a:prstGeom>
          <a:blipFill rotWithShape="1">
            <a:blip r:embed="rId4">
              <a:alphaModFix/>
            </a:blip>
            <a:stretch>
              <a:fillRect b="0" l="-2412"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graphicFrame>
        <p:nvGraphicFramePr>
          <p:cNvPr id="474" name="Google Shape;474;p26"/>
          <p:cNvGraphicFramePr/>
          <p:nvPr/>
        </p:nvGraphicFramePr>
        <p:xfrm>
          <a:off x="5397500" y="2908300"/>
          <a:ext cx="3000000" cy="3000000"/>
        </p:xfrm>
        <a:graphic>
          <a:graphicData uri="http://schemas.openxmlformats.org/drawingml/2006/table">
            <a:tbl>
              <a:tblPr>
                <a:noFill/>
                <a:tableStyleId>{F5A938BC-8528-43F0-96C3-5076AFB06AA1}</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75" name="Google Shape;475;p26"/>
          <p:cNvSpPr/>
          <p:nvPr/>
        </p:nvSpPr>
        <p:spPr>
          <a:xfrm>
            <a:off x="6667500" y="2971800"/>
            <a:ext cx="571500" cy="3810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76" name="Google Shape;476;p26"/>
          <p:cNvGrpSpPr/>
          <p:nvPr/>
        </p:nvGrpSpPr>
        <p:grpSpPr>
          <a:xfrm>
            <a:off x="5029200" y="2438400"/>
            <a:ext cx="2286000" cy="1535113"/>
            <a:chOff x="1440" y="1056"/>
            <a:chExt cx="1440" cy="967"/>
          </a:xfrm>
        </p:grpSpPr>
        <p:grpSp>
          <p:nvGrpSpPr>
            <p:cNvPr id="477" name="Google Shape;477;p26"/>
            <p:cNvGrpSpPr/>
            <p:nvPr/>
          </p:nvGrpSpPr>
          <p:grpSpPr>
            <a:xfrm>
              <a:off x="1440" y="1344"/>
              <a:ext cx="288" cy="679"/>
              <a:chOff x="1440" y="1344"/>
              <a:chExt cx="288" cy="679"/>
            </a:xfrm>
          </p:grpSpPr>
          <p:sp>
            <p:nvSpPr>
              <p:cNvPr id="478" name="Google Shape;478;p26"/>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79" name="Google Shape;479;p26"/>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80" name="Google Shape;480;p26"/>
            <p:cNvGrpSpPr/>
            <p:nvPr/>
          </p:nvGrpSpPr>
          <p:grpSpPr>
            <a:xfrm>
              <a:off x="1968" y="1056"/>
              <a:ext cx="912" cy="291"/>
              <a:chOff x="1968" y="1056"/>
              <a:chExt cx="912" cy="291"/>
            </a:xfrm>
          </p:grpSpPr>
          <p:sp>
            <p:nvSpPr>
              <p:cNvPr id="481" name="Google Shape;481;p26"/>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482" name="Google Shape;482;p26"/>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
        <p:nvSpPr>
          <p:cNvPr id="483" name="Google Shape;483;p26"/>
          <p:cNvSpPr/>
          <p:nvPr/>
        </p:nvSpPr>
        <p:spPr>
          <a:xfrm>
            <a:off x="5581650" y="3434556"/>
            <a:ext cx="571500" cy="373062"/>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90" name="Google Shape;490;p2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91" name="Google Shape;491;p27"/>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92" name="Google Shape;492;p2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93" name="Google Shape;493;p27"/>
          <p:cNvSpPr txBox="1"/>
          <p:nvPr>
            <p:ph idx="4" type="body"/>
          </p:nvPr>
        </p:nvSpPr>
        <p:spPr>
          <a:xfrm>
            <a:off x="4645025" y="2174875"/>
            <a:ext cx="4041775" cy="3951288"/>
          </a:xfrm>
          <a:prstGeom prst="rect">
            <a:avLst/>
          </a:prstGeom>
          <a:blipFill rotWithShape="1">
            <a:blip r:embed="rId4">
              <a:alphaModFix/>
            </a:blip>
            <a:stretch>
              <a:fillRect b="0" l="-2412"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graphicFrame>
        <p:nvGraphicFramePr>
          <p:cNvPr id="494" name="Google Shape;494;p27"/>
          <p:cNvGraphicFramePr/>
          <p:nvPr/>
        </p:nvGraphicFramePr>
        <p:xfrm>
          <a:off x="5397500" y="2908300"/>
          <a:ext cx="3000000" cy="3000000"/>
        </p:xfrm>
        <a:graphic>
          <a:graphicData uri="http://schemas.openxmlformats.org/drawingml/2006/table">
            <a:tbl>
              <a:tblPr>
                <a:noFill/>
                <a:tableStyleId>{F5A938BC-8528-43F0-96C3-5076AFB06AA1}</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r>
            </a:tbl>
          </a:graphicData>
        </a:graphic>
      </p:graphicFrame>
      <p:sp>
        <p:nvSpPr>
          <p:cNvPr id="495" name="Google Shape;495;p27"/>
          <p:cNvSpPr/>
          <p:nvPr/>
        </p:nvSpPr>
        <p:spPr>
          <a:xfrm>
            <a:off x="6667500" y="2971800"/>
            <a:ext cx="495300" cy="835818"/>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96" name="Google Shape;496;p27"/>
          <p:cNvGrpSpPr/>
          <p:nvPr/>
        </p:nvGrpSpPr>
        <p:grpSpPr>
          <a:xfrm>
            <a:off x="5029200" y="2438400"/>
            <a:ext cx="2286000" cy="1535113"/>
            <a:chOff x="1440" y="1056"/>
            <a:chExt cx="1440" cy="967"/>
          </a:xfrm>
        </p:grpSpPr>
        <p:grpSp>
          <p:nvGrpSpPr>
            <p:cNvPr id="497" name="Google Shape;497;p27"/>
            <p:cNvGrpSpPr/>
            <p:nvPr/>
          </p:nvGrpSpPr>
          <p:grpSpPr>
            <a:xfrm>
              <a:off x="1440" y="1344"/>
              <a:ext cx="288" cy="679"/>
              <a:chOff x="1440" y="1344"/>
              <a:chExt cx="288" cy="679"/>
            </a:xfrm>
          </p:grpSpPr>
          <p:sp>
            <p:nvSpPr>
              <p:cNvPr id="498" name="Google Shape;498;p27"/>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99" name="Google Shape;499;p27"/>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500" name="Google Shape;500;p27"/>
            <p:cNvGrpSpPr/>
            <p:nvPr/>
          </p:nvGrpSpPr>
          <p:grpSpPr>
            <a:xfrm>
              <a:off x="1968" y="1056"/>
              <a:ext cx="912" cy="291"/>
              <a:chOff x="1968" y="1056"/>
              <a:chExt cx="912" cy="291"/>
            </a:xfrm>
          </p:grpSpPr>
          <p:sp>
            <p:nvSpPr>
              <p:cNvPr id="501" name="Google Shape;501;p27"/>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502" name="Google Shape;502;p27"/>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
        <p:nvSpPr>
          <p:cNvPr id="503" name="Google Shape;503;p27"/>
          <p:cNvSpPr/>
          <p:nvPr/>
        </p:nvSpPr>
        <p:spPr>
          <a:xfrm>
            <a:off x="5581650" y="3434556"/>
            <a:ext cx="1466850" cy="373062"/>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8"/>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510" name="Google Shape;510;p2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a:t>
            </a:r>
            <a:r>
              <a:rPr lang="en-US"/>
              <a:t>Boole bậc ba</a:t>
            </a:r>
            <a:endParaRPr/>
          </a:p>
        </p:txBody>
      </p:sp>
      <p:sp>
        <p:nvSpPr>
          <p:cNvPr id="511" name="Google Shape;511;p28"/>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Bản đồ Karnaugh ba biến:</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512" name="Google Shape;512;p2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13" name="Google Shape;513;p28"/>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solidFill>
                  <a:srgbClr val="0000FF"/>
                </a:solidFill>
              </a:rPr>
              <a:t>Hội sơ cấp có mặt trong khai triển được ghi số </a:t>
            </a:r>
            <a:r>
              <a:rPr b="1" lang="en-US">
                <a:solidFill>
                  <a:srgbClr val="0000FF"/>
                </a:solidFill>
              </a:rPr>
              <a:t>1</a:t>
            </a:r>
            <a:r>
              <a:rPr lang="en-US">
                <a:solidFill>
                  <a:srgbClr val="0000FF"/>
                </a:solidFill>
              </a:rPr>
              <a:t>, ngược lại ghi số </a:t>
            </a:r>
            <a:r>
              <a:rPr b="1" lang="en-US">
                <a:solidFill>
                  <a:srgbClr val="0000FF"/>
                </a:solidFill>
              </a:rPr>
              <a:t>0</a:t>
            </a:r>
            <a:r>
              <a:rPr lang="en-US">
                <a:solidFill>
                  <a:srgbClr val="0000FF"/>
                </a:solidFill>
              </a:rPr>
              <a:t>.</a:t>
            </a:r>
            <a:endParaRPr>
              <a:solidFill>
                <a:srgbClr val="0000FF"/>
              </a:solidFill>
            </a:endParaRPr>
          </a:p>
          <a:p>
            <a:pPr indent="-342900" lvl="0" marL="342900" rtl="0" algn="l">
              <a:spcBef>
                <a:spcPts val="0"/>
              </a:spcBef>
              <a:spcAft>
                <a:spcPts val="0"/>
              </a:spcAft>
              <a:buClr>
                <a:srgbClr val="0000FF"/>
              </a:buClr>
              <a:buSzPts val="2400"/>
              <a:buChar char="▪"/>
            </a:pPr>
            <a:r>
              <a:rPr lang="en-US">
                <a:solidFill>
                  <a:srgbClr val="0000FF"/>
                </a:solidFill>
              </a:rPr>
              <a:t>Các khối </a:t>
            </a:r>
            <a:r>
              <a:rPr lang="en-US">
                <a:solidFill>
                  <a:srgbClr val="0000FF"/>
                </a:solidFill>
              </a:rPr>
              <a:t>có thể rút gọn: </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(2 x 2)</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(4 x 1) </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(2 </a:t>
            </a:r>
            <a:r>
              <a:rPr lang="en-US">
                <a:solidFill>
                  <a:srgbClr val="0000FF"/>
                </a:solidFill>
              </a:rPr>
              <a:t>x 4).</a:t>
            </a:r>
            <a:endParaRPr>
              <a:solidFill>
                <a:srgbClr val="0000FF"/>
              </a:solidFill>
            </a:endParaRPr>
          </a:p>
          <a:p>
            <a:pPr indent="0" lvl="0" marL="0" rtl="0" algn="l">
              <a:spcBef>
                <a:spcPts val="480"/>
              </a:spcBef>
              <a:spcAft>
                <a:spcPts val="0"/>
              </a:spcAft>
              <a:buNone/>
            </a:pPr>
            <a:r>
              <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514" name="Google Shape;514;p28"/>
          <p:cNvGraphicFramePr/>
          <p:nvPr/>
        </p:nvGraphicFramePr>
        <p:xfrm>
          <a:off x="985704" y="3561708"/>
          <a:ext cx="3000000" cy="3000000"/>
        </p:xfrm>
        <a:graphic>
          <a:graphicData uri="http://schemas.openxmlformats.org/drawingml/2006/table">
            <a:tbl>
              <a:tblPr>
                <a:noFill/>
                <a:tableStyleId>{F5A938BC-8528-43F0-96C3-5076AFB06AA1}</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515" name="Google Shape;515;p28"/>
          <p:cNvGrpSpPr/>
          <p:nvPr/>
        </p:nvGrpSpPr>
        <p:grpSpPr>
          <a:xfrm>
            <a:off x="528504" y="2954570"/>
            <a:ext cx="3822700" cy="1974850"/>
            <a:chOff x="808" y="1248"/>
            <a:chExt cx="2408" cy="1244"/>
          </a:xfrm>
        </p:grpSpPr>
        <p:sp>
          <p:nvSpPr>
            <p:cNvPr id="516" name="Google Shape;516;p28"/>
            <p:cNvSpPr txBox="1"/>
            <p:nvPr/>
          </p:nvSpPr>
          <p:spPr>
            <a:xfrm>
              <a:off x="808" y="1620"/>
              <a:ext cx="384"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x</a:t>
              </a:r>
              <a:endParaRPr/>
            </a:p>
          </p:txBody>
        </p:sp>
        <p:sp>
          <p:nvSpPr>
            <p:cNvPr id="517" name="Google Shape;517;p28"/>
            <p:cNvSpPr txBox="1"/>
            <p:nvPr/>
          </p:nvSpPr>
          <p:spPr>
            <a:xfrm>
              <a:off x="1248" y="1248"/>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518" name="Google Shape;518;p28"/>
          <p:cNvCxnSpPr/>
          <p:nvPr/>
        </p:nvCxnSpPr>
        <p:spPr>
          <a:xfrm>
            <a:off x="23573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28"/>
          <p:cNvCxnSpPr/>
          <p:nvPr/>
        </p:nvCxnSpPr>
        <p:spPr>
          <a:xfrm>
            <a:off x="29923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28"/>
          <p:cNvCxnSpPr/>
          <p:nvPr/>
        </p:nvCxnSpPr>
        <p:spPr>
          <a:xfrm>
            <a:off x="31955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1" name="Google Shape;521;p28"/>
          <p:cNvCxnSpPr/>
          <p:nvPr/>
        </p:nvCxnSpPr>
        <p:spPr>
          <a:xfrm>
            <a:off x="3817804" y="3106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2" name="Google Shape;522;p28"/>
          <p:cNvCxnSpPr/>
          <p:nvPr/>
        </p:nvCxnSpPr>
        <p:spPr>
          <a:xfrm>
            <a:off x="636660" y="4557264"/>
            <a:ext cx="152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descr="11_4_05" id="528" name="Google Shape;528;p29"/>
          <p:cNvPicPr preferRelativeResize="0"/>
          <p:nvPr/>
        </p:nvPicPr>
        <p:blipFill rotWithShape="1">
          <a:blip r:embed="rId3">
            <a:alphaModFix/>
          </a:blip>
          <a:srcRect b="0" l="0" r="0" t="0"/>
          <a:stretch/>
        </p:blipFill>
        <p:spPr>
          <a:xfrm>
            <a:off x="647700" y="1663438"/>
            <a:ext cx="7848600" cy="3422575"/>
          </a:xfrm>
          <a:prstGeom prst="rect">
            <a:avLst/>
          </a:prstGeom>
          <a:noFill/>
          <a:ln>
            <a:noFill/>
          </a:ln>
        </p:spPr>
      </p:pic>
      <p:sp>
        <p:nvSpPr>
          <p:cNvPr id="529" name="Google Shape;529;p29"/>
          <p:cNvSpPr txBox="1"/>
          <p:nvPr/>
        </p:nvSpPr>
        <p:spPr>
          <a:xfrm>
            <a:off x="609600" y="541020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K-maps in Three Variables. </a:t>
            </a:r>
            <a:endParaRPr/>
          </a:p>
        </p:txBody>
      </p:sp>
      <p:sp>
        <p:nvSpPr>
          <p:cNvPr id="530" name="Google Shape;530;p29"/>
          <p:cNvSpPr txBox="1"/>
          <p:nvPr>
            <p:ph type="title"/>
          </p:nvPr>
        </p:nvSpPr>
        <p:spPr>
          <a:xfrm>
            <a:off x="461750" y="228600"/>
            <a:ext cx="8339400" cy="899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descr="11_4_06" id="536" name="Google Shape;536;p30"/>
          <p:cNvPicPr preferRelativeResize="0"/>
          <p:nvPr/>
        </p:nvPicPr>
        <p:blipFill rotWithShape="1">
          <a:blip r:embed="rId3">
            <a:alphaModFix/>
          </a:blip>
          <a:srcRect b="0" l="0" r="0" t="0"/>
          <a:stretch/>
        </p:blipFill>
        <p:spPr>
          <a:xfrm>
            <a:off x="658538" y="1174350"/>
            <a:ext cx="7826924" cy="4953975"/>
          </a:xfrm>
          <a:prstGeom prst="rect">
            <a:avLst/>
          </a:prstGeom>
          <a:noFill/>
          <a:ln>
            <a:noFill/>
          </a:ln>
        </p:spPr>
      </p:pic>
      <p:sp>
        <p:nvSpPr>
          <p:cNvPr id="537" name="Google Shape;537;p30"/>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770</a:t>
            </a:r>
            <a:endParaRPr/>
          </a:p>
        </p:txBody>
      </p:sp>
      <p:sp>
        <p:nvSpPr>
          <p:cNvPr id="538" name="Google Shape;538;p30"/>
          <p:cNvSpPr txBox="1"/>
          <p:nvPr/>
        </p:nvSpPr>
        <p:spPr>
          <a:xfrm>
            <a:off x="594852" y="599645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Blocks in K-maps in Three Variables. </a:t>
            </a:r>
            <a:endParaRPr/>
          </a:p>
        </p:txBody>
      </p:sp>
      <p:sp>
        <p:nvSpPr>
          <p:cNvPr id="539" name="Google Shape;539;p30"/>
          <p:cNvSpPr txBox="1"/>
          <p:nvPr/>
        </p:nvSpPr>
        <p:spPr>
          <a:xfrm>
            <a:off x="474800" y="342900"/>
            <a:ext cx="474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rgbClr val="0000FF"/>
                </a:solidFill>
                <a:latin typeface="Times New Roman"/>
                <a:ea typeface="Times New Roman"/>
                <a:cs typeface="Times New Roman"/>
                <a:sym typeface="Times New Roman"/>
              </a:rPr>
              <a:t>Bản đồ Karnaugh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descr="11_4_07" id="545" name="Google Shape;545;p31"/>
          <p:cNvPicPr preferRelativeResize="0"/>
          <p:nvPr/>
        </p:nvPicPr>
        <p:blipFill rotWithShape="1">
          <a:blip r:embed="rId3">
            <a:alphaModFix/>
          </a:blip>
          <a:srcRect b="0" l="0" r="0" t="0"/>
          <a:stretch/>
        </p:blipFill>
        <p:spPr>
          <a:xfrm>
            <a:off x="605225" y="1279850"/>
            <a:ext cx="7927875" cy="4816151"/>
          </a:xfrm>
          <a:prstGeom prst="rect">
            <a:avLst/>
          </a:prstGeom>
          <a:noFill/>
          <a:ln>
            <a:noFill/>
          </a:ln>
        </p:spPr>
      </p:pic>
      <p:sp>
        <p:nvSpPr>
          <p:cNvPr id="546" name="Google Shape;546;p31"/>
          <p:cNvSpPr txBox="1"/>
          <p:nvPr/>
        </p:nvSpPr>
        <p:spPr>
          <a:xfrm>
            <a:off x="381000" y="356100"/>
            <a:ext cx="448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rgbClr val="0000FF"/>
                </a:solidFill>
                <a:latin typeface="Times New Roman"/>
                <a:ea typeface="Times New Roman"/>
                <a:cs typeface="Times New Roman"/>
                <a:sym typeface="Times New Roman"/>
              </a:rPr>
              <a:t>Bản đồ Karnaugh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121429f3121_1_71"/>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53" name="Google Shape;553;g121429f3121_1_71"/>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54" name="Google Shape;554;g121429f3121_1_71"/>
          <p:cNvPicPr preferRelativeResize="0"/>
          <p:nvPr/>
        </p:nvPicPr>
        <p:blipFill>
          <a:blip r:embed="rId3">
            <a:alphaModFix/>
          </a:blip>
          <a:stretch>
            <a:fillRect/>
          </a:stretch>
        </p:blipFill>
        <p:spPr>
          <a:xfrm>
            <a:off x="955350" y="2605775"/>
            <a:ext cx="7233300" cy="2380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121429f3121_1_79"/>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61" name="Google Shape;561;g121429f3121_1_79"/>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62" name="Google Shape;562;g121429f3121_1_79"/>
          <p:cNvPicPr preferRelativeResize="0"/>
          <p:nvPr/>
        </p:nvPicPr>
        <p:blipFill>
          <a:blip r:embed="rId3">
            <a:alphaModFix/>
          </a:blip>
          <a:stretch>
            <a:fillRect/>
          </a:stretch>
        </p:blipFill>
        <p:spPr>
          <a:xfrm>
            <a:off x="1894975" y="2788300"/>
            <a:ext cx="5276850" cy="2857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121429f3121_1_86"/>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69" name="Google Shape;569;g121429f3121_1_86"/>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70" name="Google Shape;570;g121429f3121_1_86"/>
          <p:cNvPicPr preferRelativeResize="0"/>
          <p:nvPr/>
        </p:nvPicPr>
        <p:blipFill>
          <a:blip r:embed="rId3">
            <a:alphaModFix/>
          </a:blip>
          <a:stretch>
            <a:fillRect/>
          </a:stretch>
        </p:blipFill>
        <p:spPr>
          <a:xfrm>
            <a:off x="1933575" y="2835925"/>
            <a:ext cx="5276850" cy="2762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121429f3121_1_95"/>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77" name="Google Shape;577;g121429f3121_1_95"/>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78" name="Google Shape;578;g121429f3121_1_95"/>
          <p:cNvPicPr preferRelativeResize="0"/>
          <p:nvPr/>
        </p:nvPicPr>
        <p:blipFill>
          <a:blip r:embed="rId3">
            <a:alphaModFix/>
          </a:blip>
          <a:stretch>
            <a:fillRect/>
          </a:stretch>
        </p:blipFill>
        <p:spPr>
          <a:xfrm>
            <a:off x="1980700" y="3001850"/>
            <a:ext cx="5105400" cy="2990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585" name="Google Shape;585;p35"/>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Bản đồ Karnaugh:</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586" name="Google Shape;586;p35"/>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87" name="Google Shape;587;p35"/>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Các khối gồm 2, 4, 8 hoặc 16 ô biểu diễn các hội sơ cấp có thể tổ hợp lại được.</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588" name="Google Shape;588;p35"/>
          <p:cNvGraphicFramePr/>
          <p:nvPr/>
        </p:nvGraphicFramePr>
        <p:xfrm>
          <a:off x="985704" y="3148764"/>
          <a:ext cx="3000000" cy="3000000"/>
        </p:xfrm>
        <a:graphic>
          <a:graphicData uri="http://schemas.openxmlformats.org/drawingml/2006/table">
            <a:tbl>
              <a:tblPr>
                <a:noFill/>
                <a:tableStyleId>{F5A938BC-8528-43F0-96C3-5076AFB06AA1}</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589" name="Google Shape;589;p35"/>
          <p:cNvGrpSpPr/>
          <p:nvPr/>
        </p:nvGrpSpPr>
        <p:grpSpPr>
          <a:xfrm>
            <a:off x="380867" y="2600159"/>
            <a:ext cx="3970338" cy="3268664"/>
            <a:chOff x="715" y="1257"/>
            <a:chExt cx="2501" cy="2059"/>
          </a:xfrm>
        </p:grpSpPr>
        <p:sp>
          <p:nvSpPr>
            <p:cNvPr id="590" name="Google Shape;590;p35"/>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p:txBody>
        </p:sp>
        <p:sp>
          <p:nvSpPr>
            <p:cNvPr id="591" name="Google Shape;591;p35"/>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592" name="Google Shape;592;p35"/>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35"/>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4" name="Google Shape;594;p35"/>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5" name="Google Shape;595;p35"/>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6" name="Google Shape;596;p35"/>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7" name="Google Shape;597;p35"/>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598" name="Google Shape;598;p35"/>
          <p:cNvCxnSpPr/>
          <p:nvPr/>
        </p:nvCxnSpPr>
        <p:spPr>
          <a:xfrm>
            <a:off x="597336" y="5432316"/>
            <a:ext cx="152400" cy="0"/>
          </a:xfrm>
          <a:prstGeom prst="straightConnector1">
            <a:avLst/>
          </a:prstGeom>
          <a:noFill/>
          <a:ln cap="flat" cmpd="sng" w="9525">
            <a:solidFill>
              <a:schemeClr val="dk1"/>
            </a:solidFill>
            <a:prstDash val="solid"/>
            <a:round/>
            <a:headEnd len="med" w="med" type="none"/>
            <a:tailEnd len="med" w="med" type="none"/>
          </a:ln>
        </p:spPr>
      </p:cxnSp>
      <p:sp>
        <p:nvSpPr>
          <p:cNvPr id="599" name="Google Shape;599;p35"/>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pic>
        <p:nvPicPr>
          <p:cNvPr descr="11_4_08" id="605" name="Google Shape;605;p36"/>
          <p:cNvPicPr preferRelativeResize="0"/>
          <p:nvPr/>
        </p:nvPicPr>
        <p:blipFill rotWithShape="1">
          <a:blip r:embed="rId3">
            <a:alphaModFix/>
          </a:blip>
          <a:srcRect b="0" l="0" r="0" t="0"/>
          <a:stretch/>
        </p:blipFill>
        <p:spPr>
          <a:xfrm>
            <a:off x="738725" y="1385350"/>
            <a:ext cx="7643275" cy="4374101"/>
          </a:xfrm>
          <a:prstGeom prst="rect">
            <a:avLst/>
          </a:prstGeom>
          <a:noFill/>
          <a:ln>
            <a:noFill/>
          </a:ln>
        </p:spPr>
      </p:pic>
      <p:sp>
        <p:nvSpPr>
          <p:cNvPr id="606" name="Google Shape;606;p36"/>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771</a:t>
            </a:r>
            <a:endParaRPr/>
          </a:p>
        </p:txBody>
      </p:sp>
      <p:sp>
        <p:nvSpPr>
          <p:cNvPr id="607" name="Google Shape;607;p36"/>
          <p:cNvSpPr txBox="1"/>
          <p:nvPr/>
        </p:nvSpPr>
        <p:spPr>
          <a:xfrm>
            <a:off x="1752600" y="5943600"/>
            <a:ext cx="6629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K-maps in Four Variables. </a:t>
            </a:r>
            <a:endParaRPr/>
          </a:p>
        </p:txBody>
      </p:sp>
      <p:sp>
        <p:nvSpPr>
          <p:cNvPr id="608" name="Google Shape;608;p36"/>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615" name="Google Shape;615;p37"/>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616" name="Google Shape;616;p3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617" name="Google Shape;617;p37"/>
          <p:cNvSpPr txBox="1"/>
          <p:nvPr>
            <p:ph idx="4" type="body"/>
          </p:nvPr>
        </p:nvSpPr>
        <p:spPr>
          <a:xfrm>
            <a:off x="4645025" y="2600159"/>
            <a:ext cx="4041775" cy="3526004"/>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t>
            </a:r>
            <a:endParaRPr/>
          </a:p>
        </p:txBody>
      </p:sp>
      <p:graphicFrame>
        <p:nvGraphicFramePr>
          <p:cNvPr id="618" name="Google Shape;618;p37"/>
          <p:cNvGraphicFramePr/>
          <p:nvPr/>
        </p:nvGraphicFramePr>
        <p:xfrm>
          <a:off x="985704" y="3148764"/>
          <a:ext cx="3000000" cy="3000000"/>
        </p:xfrm>
        <a:graphic>
          <a:graphicData uri="http://schemas.openxmlformats.org/drawingml/2006/table">
            <a:tbl>
              <a:tblPr>
                <a:noFill/>
                <a:tableStyleId>{F5A938BC-8528-43F0-96C3-5076AFB06AA1}</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19" name="Google Shape;619;p37"/>
          <p:cNvGrpSpPr/>
          <p:nvPr/>
        </p:nvGrpSpPr>
        <p:grpSpPr>
          <a:xfrm>
            <a:off x="380867" y="2600159"/>
            <a:ext cx="3970338" cy="3268664"/>
            <a:chOff x="715" y="1257"/>
            <a:chExt cx="2501" cy="2059"/>
          </a:xfrm>
        </p:grpSpPr>
        <p:sp>
          <p:nvSpPr>
            <p:cNvPr id="620" name="Google Shape;620;p37"/>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21" name="Google Shape;621;p37"/>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22" name="Google Shape;622;p37"/>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3" name="Google Shape;623;p37"/>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4" name="Google Shape;624;p37"/>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5" name="Google Shape;625;p37"/>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6" name="Google Shape;626;p37"/>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7" name="Google Shape;627;p37"/>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628" name="Google Shape;628;p37"/>
          <p:cNvCxnSpPr/>
          <p:nvPr/>
        </p:nvCxnSpPr>
        <p:spPr>
          <a:xfrm>
            <a:off x="479352" y="5432316"/>
            <a:ext cx="135192" cy="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37"/>
          <p:cNvSpPr/>
          <p:nvPr/>
        </p:nvSpPr>
        <p:spPr>
          <a:xfrm>
            <a:off x="2992305" y="4055832"/>
            <a:ext cx="1122496" cy="4572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630" name="Google Shape;630;p37"/>
          <p:cNvSpPr txBox="1"/>
          <p:nvPr/>
        </p:nvSpPr>
        <p:spPr>
          <a:xfrm>
            <a:off x="4753788" y="23272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xy</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graphicFrame>
        <p:nvGraphicFramePr>
          <p:cNvPr id="631" name="Google Shape;631;p37"/>
          <p:cNvGraphicFramePr/>
          <p:nvPr/>
        </p:nvGraphicFramePr>
        <p:xfrm>
          <a:off x="5282292" y="3301164"/>
          <a:ext cx="3000000" cy="3000000"/>
        </p:xfrm>
        <a:graphic>
          <a:graphicData uri="http://schemas.openxmlformats.org/drawingml/2006/table">
            <a:tbl>
              <a:tblPr>
                <a:noFill/>
                <a:tableStyleId>{F5A938BC-8528-43F0-96C3-5076AFB06AA1}</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32" name="Google Shape;632;p37"/>
          <p:cNvGrpSpPr/>
          <p:nvPr/>
        </p:nvGrpSpPr>
        <p:grpSpPr>
          <a:xfrm>
            <a:off x="4677455" y="2752559"/>
            <a:ext cx="3970338" cy="3268664"/>
            <a:chOff x="715" y="1257"/>
            <a:chExt cx="2501" cy="2059"/>
          </a:xfrm>
        </p:grpSpPr>
        <p:sp>
          <p:nvSpPr>
            <p:cNvPr id="633" name="Google Shape;633;p37"/>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34" name="Google Shape;634;p37"/>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35" name="Google Shape;635;p37"/>
          <p:cNvCxnSpPr/>
          <p:nvPr/>
        </p:nvCxnSpPr>
        <p:spPr>
          <a:xfrm>
            <a:off x="66538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6" name="Google Shape;636;p37"/>
          <p:cNvCxnSpPr/>
          <p:nvPr/>
        </p:nvCxnSpPr>
        <p:spPr>
          <a:xfrm>
            <a:off x="72888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7" name="Google Shape;637;p37"/>
          <p:cNvCxnSpPr/>
          <p:nvPr/>
        </p:nvCxnSpPr>
        <p:spPr>
          <a:xfrm>
            <a:off x="74920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8" name="Google Shape;638;p37"/>
          <p:cNvCxnSpPr/>
          <p:nvPr/>
        </p:nvCxnSpPr>
        <p:spPr>
          <a:xfrm>
            <a:off x="8114392" y="28906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9" name="Google Shape;639;p37"/>
          <p:cNvCxnSpPr/>
          <p:nvPr/>
        </p:nvCxnSpPr>
        <p:spPr>
          <a:xfrm>
            <a:off x="4933248" y="42082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37"/>
          <p:cNvCxnSpPr/>
          <p:nvPr/>
        </p:nvCxnSpPr>
        <p:spPr>
          <a:xfrm>
            <a:off x="4775940" y="4876812"/>
            <a:ext cx="309708" cy="0"/>
          </a:xfrm>
          <a:prstGeom prst="straightConnector1">
            <a:avLst/>
          </a:prstGeom>
          <a:noFill/>
          <a:ln cap="flat" cmpd="sng" w="9525">
            <a:solidFill>
              <a:schemeClr val="dk1"/>
            </a:solidFill>
            <a:prstDash val="solid"/>
            <a:round/>
            <a:headEnd len="med" w="med" type="none"/>
            <a:tailEnd len="med" w="med" type="none"/>
          </a:ln>
        </p:spPr>
      </p:cxnSp>
      <p:sp>
        <p:nvSpPr>
          <p:cNvPr id="641" name="Google Shape;641;p37"/>
          <p:cNvSpPr/>
          <p:nvPr/>
        </p:nvSpPr>
        <p:spPr>
          <a:xfrm>
            <a:off x="5434693" y="3190709"/>
            <a:ext cx="1371599" cy="619291"/>
          </a:xfrm>
          <a:prstGeom prst="flowChartExtract">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642" name="Google Shape;642;p37"/>
          <p:cNvSpPr/>
          <p:nvPr/>
        </p:nvSpPr>
        <p:spPr>
          <a:xfrm>
            <a:off x="5523593" y="5868823"/>
            <a:ext cx="1282699" cy="531977"/>
          </a:xfrm>
          <a:prstGeom prst="flowChartManualOperation">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cxnSp>
        <p:nvCxnSpPr>
          <p:cNvPr id="643" name="Google Shape;643;p37"/>
          <p:cNvCxnSpPr/>
          <p:nvPr/>
        </p:nvCxnSpPr>
        <p:spPr>
          <a:xfrm rot="10800000">
            <a:off x="4753788" y="5584716"/>
            <a:ext cx="179460" cy="0"/>
          </a:xfrm>
          <a:prstGeom prst="straightConnector1">
            <a:avLst/>
          </a:prstGeom>
          <a:noFill/>
          <a:ln cap="flat" cmpd="sng" w="9525">
            <a:solidFill>
              <a:schemeClr val="dk1"/>
            </a:solidFill>
            <a:prstDash val="solid"/>
            <a:round/>
            <a:headEnd len="med" w="med" type="none"/>
            <a:tailEnd len="med" w="med" type="none"/>
          </a:ln>
        </p:spPr>
      </p:cxnSp>
      <p:sp>
        <p:nvSpPr>
          <p:cNvPr id="644" name="Google Shape;644;p37"/>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651" name="Google Shape;651;p38"/>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z</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652" name="Google Shape;652;p3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graphicFrame>
        <p:nvGraphicFramePr>
          <p:cNvPr id="653" name="Google Shape;653;p38"/>
          <p:cNvGraphicFramePr/>
          <p:nvPr/>
        </p:nvGraphicFramePr>
        <p:xfrm>
          <a:off x="985704" y="3148764"/>
          <a:ext cx="3000000" cy="3000000"/>
        </p:xfrm>
        <a:graphic>
          <a:graphicData uri="http://schemas.openxmlformats.org/drawingml/2006/table">
            <a:tbl>
              <a:tblPr>
                <a:noFill/>
                <a:tableStyleId>{F5A938BC-8528-43F0-96C3-5076AFB06AA1}</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54" name="Google Shape;654;p38"/>
          <p:cNvGrpSpPr/>
          <p:nvPr/>
        </p:nvGrpSpPr>
        <p:grpSpPr>
          <a:xfrm>
            <a:off x="380867" y="2600159"/>
            <a:ext cx="3970338" cy="3268664"/>
            <a:chOff x="715" y="1257"/>
            <a:chExt cx="2501" cy="2059"/>
          </a:xfrm>
        </p:grpSpPr>
        <p:sp>
          <p:nvSpPr>
            <p:cNvPr id="655" name="Google Shape;655;p38"/>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56" name="Google Shape;656;p38"/>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57" name="Google Shape;657;p38"/>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58" name="Google Shape;658;p38"/>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59" name="Google Shape;659;p38"/>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0" name="Google Shape;660;p38"/>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1" name="Google Shape;661;p38"/>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2" name="Google Shape;662;p38"/>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663" name="Google Shape;663;p38"/>
          <p:cNvCxnSpPr/>
          <p:nvPr/>
        </p:nvCxnSpPr>
        <p:spPr>
          <a:xfrm>
            <a:off x="479352" y="5432316"/>
            <a:ext cx="135192" cy="0"/>
          </a:xfrm>
          <a:prstGeom prst="straightConnector1">
            <a:avLst/>
          </a:prstGeom>
          <a:noFill/>
          <a:ln cap="flat" cmpd="sng" w="9525">
            <a:solidFill>
              <a:schemeClr val="dk1"/>
            </a:solidFill>
            <a:prstDash val="solid"/>
            <a:round/>
            <a:headEnd len="med" w="med" type="none"/>
            <a:tailEnd len="med" w="med" type="none"/>
          </a:ln>
        </p:spPr>
      </p:cxnSp>
      <p:sp>
        <p:nvSpPr>
          <p:cNvPr id="664" name="Google Shape;664;p38"/>
          <p:cNvSpPr/>
          <p:nvPr/>
        </p:nvSpPr>
        <p:spPr>
          <a:xfrm>
            <a:off x="1227005" y="3214522"/>
            <a:ext cx="373195" cy="2806701"/>
          </a:xfrm>
          <a:prstGeom prst="homePlate">
            <a:avLst>
              <a:gd fmla="val 50000" name="adj"/>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665" name="Google Shape;665;p38"/>
          <p:cNvSpPr/>
          <p:nvPr/>
        </p:nvSpPr>
        <p:spPr>
          <a:xfrm rot="10800000">
            <a:off x="3795681" y="3214522"/>
            <a:ext cx="373195" cy="2806701"/>
          </a:xfrm>
          <a:prstGeom prst="homePlate">
            <a:avLst>
              <a:gd fmla="val 50000" name="adj"/>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666" name="Google Shape;666;p38"/>
          <p:cNvPicPr preferRelativeResize="0"/>
          <p:nvPr/>
        </p:nvPicPr>
        <p:blipFill rotWithShape="1">
          <a:blip r:embed="rId3">
            <a:alphaModFix/>
          </a:blip>
          <a:srcRect b="0" l="0" r="0" t="0"/>
          <a:stretch/>
        </p:blipFill>
        <p:spPr>
          <a:xfrm>
            <a:off x="4648201" y="2221566"/>
            <a:ext cx="4038600" cy="4026834"/>
          </a:xfrm>
          <a:prstGeom prst="rect">
            <a:avLst/>
          </a:prstGeom>
          <a:noFill/>
          <a:ln>
            <a:noFill/>
          </a:ln>
        </p:spPr>
      </p:pic>
      <p:sp>
        <p:nvSpPr>
          <p:cNvPr id="667" name="Google Shape;667;p38"/>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11_4_09" id="673" name="Google Shape;673;p39"/>
          <p:cNvPicPr preferRelativeResize="0"/>
          <p:nvPr/>
        </p:nvPicPr>
        <p:blipFill rotWithShape="1">
          <a:blip r:embed="rId3">
            <a:alphaModFix/>
          </a:blip>
          <a:srcRect b="0" l="0" r="0" t="0"/>
          <a:stretch/>
        </p:blipFill>
        <p:spPr>
          <a:xfrm>
            <a:off x="381000" y="1332600"/>
            <a:ext cx="8229600" cy="4992000"/>
          </a:xfrm>
          <a:prstGeom prst="rect">
            <a:avLst/>
          </a:prstGeom>
          <a:noFill/>
          <a:ln>
            <a:noFill/>
          </a:ln>
        </p:spPr>
      </p:pic>
      <p:sp>
        <p:nvSpPr>
          <p:cNvPr id="674" name="Google Shape;674;p39"/>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772</a:t>
            </a:r>
            <a:endParaRPr/>
          </a:p>
        </p:txBody>
      </p:sp>
      <p:sp>
        <p:nvSpPr>
          <p:cNvPr id="675" name="Google Shape;675;p39"/>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descr="11_4_10" id="681" name="Google Shape;681;p40"/>
          <p:cNvPicPr preferRelativeResize="0"/>
          <p:nvPr/>
        </p:nvPicPr>
        <p:blipFill rotWithShape="1">
          <a:blip r:embed="rId3">
            <a:alphaModFix/>
          </a:blip>
          <a:srcRect b="0" l="0" r="0" t="0"/>
          <a:stretch/>
        </p:blipFill>
        <p:spPr>
          <a:xfrm>
            <a:off x="457200" y="1490875"/>
            <a:ext cx="8229600" cy="4376525"/>
          </a:xfrm>
          <a:prstGeom prst="rect">
            <a:avLst/>
          </a:prstGeom>
          <a:noFill/>
          <a:ln>
            <a:noFill/>
          </a:ln>
        </p:spPr>
      </p:pic>
      <p:sp>
        <p:nvSpPr>
          <p:cNvPr id="682" name="Google Shape;682;p40"/>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772</a:t>
            </a:r>
            <a:endParaRPr/>
          </a:p>
        </p:txBody>
      </p:sp>
      <p:sp>
        <p:nvSpPr>
          <p:cNvPr id="683" name="Google Shape;683;p40"/>
          <p:cNvSpPr txBox="1"/>
          <p:nvPr/>
        </p:nvSpPr>
        <p:spPr>
          <a:xfrm>
            <a:off x="609601" y="586740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Using K-maps in Four Variables. </a:t>
            </a:r>
            <a:endParaRPr/>
          </a:p>
        </p:txBody>
      </p:sp>
      <p:sp>
        <p:nvSpPr>
          <p:cNvPr id="684" name="Google Shape;684;p40"/>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1"/>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BÀI TẬP</a:t>
            </a:r>
            <a:endParaRPr b="1" sz="3600">
              <a:solidFill>
                <a:srgbClr val="0000FF"/>
              </a:solidFill>
            </a:endParaRPr>
          </a:p>
        </p:txBody>
      </p:sp>
      <p:sp>
        <p:nvSpPr>
          <p:cNvPr id="690" name="Google Shape;690;p41"/>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solidFill>
                  <a:srgbClr val="0000FF"/>
                </a:solidFill>
              </a:rPr>
              <a:t>Bài 1</a:t>
            </a:r>
            <a:endParaRPr>
              <a:solidFill>
                <a:srgbClr val="0000FF"/>
              </a:solidFill>
            </a:endParaRPr>
          </a:p>
        </p:txBody>
      </p:sp>
      <p:sp>
        <p:nvSpPr>
          <p:cNvPr id="691" name="Google Shape;691;p41"/>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Tìm</a:t>
            </a:r>
            <a:r>
              <a:rPr lang="en-US">
                <a:solidFill>
                  <a:srgbClr val="0000FF"/>
                </a:solidFill>
              </a:rPr>
              <a:t> dạng tổng chuẩn tắc tối thiểu của các hàm Boole ba biến sau:</a:t>
            </a:r>
            <a:endParaRPr>
              <a:solidFill>
                <a:srgbClr val="0000FF"/>
              </a:solidFill>
            </a:endParaRPr>
          </a:p>
          <a:p>
            <a:pPr indent="-190500" lvl="0" marL="342900" rtl="0" algn="l">
              <a:spcBef>
                <a:spcPts val="480"/>
              </a:spcBef>
              <a:spcAft>
                <a:spcPts val="0"/>
              </a:spcAft>
              <a:buClr>
                <a:schemeClr val="dk1"/>
              </a:buClr>
              <a:buSzPts val="2400"/>
              <a:buNone/>
            </a:pPr>
            <a:r>
              <a:t/>
            </a:r>
            <a:endParaRPr/>
          </a:p>
        </p:txBody>
      </p:sp>
      <p:sp>
        <p:nvSpPr>
          <p:cNvPr id="692" name="Google Shape;692;p41"/>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solidFill>
                  <a:srgbClr val="0000FF"/>
                </a:solidFill>
              </a:rPr>
              <a:t>Bài 2</a:t>
            </a:r>
            <a:endParaRPr>
              <a:solidFill>
                <a:srgbClr val="0000FF"/>
              </a:solidFill>
            </a:endParaRPr>
          </a:p>
        </p:txBody>
      </p:sp>
      <p:sp>
        <p:nvSpPr>
          <p:cNvPr id="693" name="Google Shape;693;p41"/>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solidFill>
                  <a:srgbClr val="0000FF"/>
                </a:solidFill>
              </a:rPr>
              <a:t>Cho các hàm Boole</a:t>
            </a:r>
            <a:r>
              <a:rPr lang="en-US"/>
              <a:t> </a:t>
            </a:r>
            <a:r>
              <a:rPr i="1" lang="en-US"/>
              <a:t>F</a:t>
            </a:r>
            <a:r>
              <a:rPr baseline="-25000" lang="en-US"/>
              <a:t>1</a:t>
            </a:r>
            <a:r>
              <a:rPr lang="en-US"/>
              <a:t>, </a:t>
            </a:r>
            <a:r>
              <a:rPr i="1" lang="en-US"/>
              <a:t>F</a:t>
            </a:r>
            <a:r>
              <a:rPr baseline="-25000" lang="en-US"/>
              <a:t>2</a:t>
            </a:r>
            <a:r>
              <a:rPr lang="en-US"/>
              <a:t>, </a:t>
            </a:r>
            <a:r>
              <a:rPr i="1" lang="en-US"/>
              <a:t>F</a:t>
            </a:r>
            <a:r>
              <a:rPr baseline="-25000" lang="en-US"/>
              <a:t>3</a:t>
            </a:r>
            <a:r>
              <a:rPr lang="en-US"/>
              <a:t> </a:t>
            </a:r>
            <a:r>
              <a:rPr lang="en-US">
                <a:solidFill>
                  <a:srgbClr val="0000FF"/>
                </a:solidFill>
              </a:rPr>
              <a:t>xác định bởi bảng sau, Hãy vẽ mạch thực hiện các hàm Boole.</a:t>
            </a:r>
            <a:endParaRPr>
              <a:solidFill>
                <a:srgbClr val="0000FF"/>
              </a:solidFill>
            </a:endParaRPr>
          </a:p>
        </p:txBody>
      </p:sp>
      <p:pic>
        <p:nvPicPr>
          <p:cNvPr id="694" name="Google Shape;694;p41"/>
          <p:cNvPicPr preferRelativeResize="0"/>
          <p:nvPr/>
        </p:nvPicPr>
        <p:blipFill rotWithShape="1">
          <a:blip r:embed="rId3">
            <a:alphaModFix/>
          </a:blip>
          <a:srcRect b="0" l="0" r="0" t="0"/>
          <a:stretch/>
        </p:blipFill>
        <p:spPr>
          <a:xfrm>
            <a:off x="763600" y="3521875"/>
            <a:ext cx="3733800" cy="2039250"/>
          </a:xfrm>
          <a:prstGeom prst="rect">
            <a:avLst/>
          </a:prstGeom>
          <a:noFill/>
          <a:ln>
            <a:noFill/>
          </a:ln>
        </p:spPr>
      </p:pic>
      <p:pic>
        <p:nvPicPr>
          <p:cNvPr id="695" name="Google Shape;695;p41"/>
          <p:cNvPicPr preferRelativeResize="0"/>
          <p:nvPr/>
        </p:nvPicPr>
        <p:blipFill rotWithShape="1">
          <a:blip r:embed="rId4">
            <a:alphaModFix/>
          </a:blip>
          <a:srcRect b="0" l="0" r="0" t="0"/>
          <a:stretch/>
        </p:blipFill>
        <p:spPr>
          <a:xfrm>
            <a:off x="4876800" y="3747319"/>
            <a:ext cx="3657600" cy="2171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rgbClr val="0000FF"/>
                </a:solidFill>
              </a:rPr>
              <a:t>BÀI TẬP</a:t>
            </a:r>
            <a:endParaRPr b="1" sz="3600"/>
          </a:p>
        </p:txBody>
      </p:sp>
      <p:sp>
        <p:nvSpPr>
          <p:cNvPr id="701" name="Google Shape;701;p42"/>
          <p:cNvSpPr txBox="1"/>
          <p:nvPr>
            <p:ph idx="1" type="body"/>
          </p:nvPr>
        </p:nvSpPr>
        <p:spPr>
          <a:xfrm>
            <a:off x="685800" y="1981200"/>
            <a:ext cx="7620000" cy="4144963"/>
          </a:xfrm>
          <a:prstGeom prst="rect">
            <a:avLst/>
          </a:prstGeom>
          <a:solidFill>
            <a:srgbClr val="E5E5E5"/>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800">
                <a:solidFill>
                  <a:srgbClr val="0000FF"/>
                </a:solidFill>
              </a:rPr>
              <a:t>T</a:t>
            </a:r>
            <a:r>
              <a:rPr lang="en-US" sz="2800">
                <a:solidFill>
                  <a:srgbClr val="0000FF"/>
                </a:solidFill>
              </a:rPr>
              <a:t>ìm dạng tổng chuẩn tắc tối thiểu của các hàm Boole</a:t>
            </a:r>
            <a:r>
              <a:rPr lang="en-US">
                <a:solidFill>
                  <a:srgbClr val="0000FF"/>
                </a:solidFill>
              </a:rPr>
              <a:t>:</a:t>
            </a:r>
            <a:endParaRPr>
              <a:solidFill>
                <a:srgbClr val="0000FF"/>
              </a:solidFill>
            </a:endParaRPr>
          </a:p>
        </p:txBody>
      </p:sp>
      <p:sp>
        <p:nvSpPr>
          <p:cNvPr id="702" name="Google Shape;702;p42"/>
          <p:cNvSpPr txBox="1"/>
          <p:nvPr>
            <p:ph idx="4294967295" type="body"/>
          </p:nvPr>
        </p:nvSpPr>
        <p:spPr>
          <a:xfrm>
            <a:off x="762000" y="1143000"/>
            <a:ext cx="7533966" cy="762000"/>
          </a:xfrm>
          <a:prstGeom prst="rect">
            <a:avLst/>
          </a:prstGeom>
          <a:solidFill>
            <a:srgbClr val="00B050"/>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None/>
            </a:pPr>
            <a:r>
              <a:rPr lang="en-US">
                <a:solidFill>
                  <a:srgbClr val="0000FF"/>
                </a:solidFill>
              </a:rPr>
              <a:t>Bài 3</a:t>
            </a:r>
            <a:endParaRPr>
              <a:solidFill>
                <a:srgbClr val="0000FF"/>
              </a:solidFill>
            </a:endParaRPr>
          </a:p>
        </p:txBody>
      </p:sp>
      <p:pic>
        <p:nvPicPr>
          <p:cNvPr id="703" name="Google Shape;703;p42"/>
          <p:cNvPicPr preferRelativeResize="0"/>
          <p:nvPr/>
        </p:nvPicPr>
        <p:blipFill rotWithShape="1">
          <a:blip r:embed="rId3">
            <a:alphaModFix/>
          </a:blip>
          <a:srcRect b="0" l="0" r="0" t="0"/>
          <a:stretch/>
        </p:blipFill>
        <p:spPr>
          <a:xfrm>
            <a:off x="871379" y="3105150"/>
            <a:ext cx="7315200" cy="20812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43"/>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710" name="Google Shape;710;p43"/>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711" name="Google Shape;711;p43"/>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
        <p:nvSpPr>
          <p:cNvPr id="712" name="Google Shape;712;p43"/>
          <p:cNvSpPr/>
          <p:nvPr/>
        </p:nvSpPr>
        <p:spPr>
          <a:xfrm>
            <a:off x="1371600" y="5181600"/>
            <a:ext cx="6172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What NEXT?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4"/>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44"/>
          <p:cNvSpPr txBox="1"/>
          <p:nvPr>
            <p:ph idx="1" type="body"/>
          </p:nvPr>
        </p:nvSpPr>
        <p:spPr>
          <a:xfrm>
            <a:off x="457200" y="1600200"/>
            <a:ext cx="8229600" cy="4526100"/>
          </a:xfrm>
          <a:prstGeom prst="rect">
            <a:avLst/>
          </a:prstGeom>
          <a:blipFill rotWithShape="1">
            <a:blip r:embed="rId3">
              <a:alphaModFix/>
            </a:blip>
            <a:stretch>
              <a:fillRect b="0" l="-1849" r="0" t="-1889"/>
            </a:stretch>
          </a:blip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719" name="Google Shape;719;p44"/>
          <p:cNvPicPr preferRelativeResize="0"/>
          <p:nvPr/>
        </p:nvPicPr>
        <p:blipFill rotWithShape="1">
          <a:blip r:embed="rId4">
            <a:alphaModFix/>
          </a:blip>
          <a:srcRect b="0" l="0" r="0" t="0"/>
          <a:stretch/>
        </p:blipFill>
        <p:spPr>
          <a:xfrm>
            <a:off x="5791200" y="2209800"/>
            <a:ext cx="2781300" cy="4162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2012-10-08T14:55:01Z</dcterms:created>
  <dc:creator>mc</dc:creator>
</cp:coreProperties>
</file>