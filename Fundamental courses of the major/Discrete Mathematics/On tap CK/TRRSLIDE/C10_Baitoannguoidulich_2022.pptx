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6858000" cy="9144000"/>
  <p:embeddedFontLst>
    <p:embeddedFont>
      <p:font typeface="Book Antiqua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4+ZZZNY2SX/HzAaIyJwJPbCR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A520B-0F4B-461D-AC2B-58CC2170E417}">
  <a:tblStyle styleId="{565A520B-0F4B-461D-AC2B-58CC2170E4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ookAntiqua-regular.fntdata"/><Relationship Id="rId20" Type="http://schemas.openxmlformats.org/officeDocument/2006/relationships/slide" Target="slides/slide14.xml"/><Relationship Id="rId42" Type="http://schemas.openxmlformats.org/officeDocument/2006/relationships/font" Target="fonts/BookAntiqua-italic.fntdata"/><Relationship Id="rId41" Type="http://schemas.openxmlformats.org/officeDocument/2006/relationships/font" Target="fonts/BookAntiqua-bold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BookAntiqua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Quá trình phân nhánh cho phép rút ngắn đáng kể quá trình tìm kiếm</a:t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án Rời Rạc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0" type="dt"/>
          </p:nvPr>
        </p:nvSpPr>
        <p:spPr>
          <a:xfrm>
            <a:off x="3810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1" type="ftr"/>
          </p:nvPr>
        </p:nvSpPr>
        <p:spPr>
          <a:xfrm>
            <a:off x="3124200" y="66294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5" name="Google Shape;25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1" type="ftr"/>
          </p:nvPr>
        </p:nvSpPr>
        <p:spPr>
          <a:xfrm>
            <a:off x="30480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5" name="Google Shape;3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1" type="ftr"/>
          </p:nvPr>
        </p:nvSpPr>
        <p:spPr>
          <a:xfrm>
            <a:off x="3048000" y="6492875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i="0" sz="1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" type="subTitle"/>
          </p:nvPr>
        </p:nvSpPr>
        <p:spPr>
          <a:xfrm>
            <a:off x="1371600" y="3962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38"/>
          <p:cNvSpPr txBox="1"/>
          <p:nvPr>
            <p:ph idx="11" type="ftr"/>
          </p:nvPr>
        </p:nvSpPr>
        <p:spPr>
          <a:xfrm>
            <a:off x="2514600" y="6536938"/>
            <a:ext cx="3429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11" type="ftr"/>
          </p:nvPr>
        </p:nvSpPr>
        <p:spPr>
          <a:xfrm>
            <a:off x="2971800" y="6492875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40"/>
          <p:cNvSpPr txBox="1"/>
          <p:nvPr>
            <p:ph idx="10" type="dt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1" type="ftr"/>
          </p:nvPr>
        </p:nvSpPr>
        <p:spPr>
          <a:xfrm>
            <a:off x="27432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0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1" type="ftr"/>
          </p:nvPr>
        </p:nvSpPr>
        <p:spPr>
          <a:xfrm>
            <a:off x="2667000" y="6477000"/>
            <a:ext cx="335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1" type="ftr"/>
          </p:nvPr>
        </p:nvSpPr>
        <p:spPr>
          <a:xfrm>
            <a:off x="2895600" y="65532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3"/>
          <p:cNvSpPr txBox="1"/>
          <p:nvPr>
            <p:ph idx="11" type="ftr"/>
          </p:nvPr>
        </p:nvSpPr>
        <p:spPr>
          <a:xfrm>
            <a:off x="2819400" y="6492875"/>
            <a:ext cx="3429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2895600" y="6613525"/>
            <a:ext cx="3429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>
  <p:cSld name="Title, Text, and 2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idx="1" type="body"/>
          </p:nvPr>
        </p:nvSpPr>
        <p:spPr>
          <a:xfrm>
            <a:off x="304800" y="381000"/>
            <a:ext cx="3962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2" type="body"/>
          </p:nvPr>
        </p:nvSpPr>
        <p:spPr>
          <a:xfrm>
            <a:off x="4419600" y="3810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3" type="body"/>
          </p:nvPr>
        </p:nvSpPr>
        <p:spPr>
          <a:xfrm>
            <a:off x="4419600" y="3390900"/>
            <a:ext cx="39624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1" type="ftr"/>
          </p:nvPr>
        </p:nvSpPr>
        <p:spPr>
          <a:xfrm>
            <a:off x="2743200" y="6492875"/>
            <a:ext cx="396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2" type="sldNum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icture1.png" id="15" name="Google Shape;15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75" y="0"/>
            <a:ext cx="913765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vhieuqt@dut.udn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</a:t>
            </a:r>
            <a:r>
              <a:rPr b="1" lang="en-US" sz="4800"/>
              <a:t>	BÀI TOÁN NGƯỜI DU LỊCH</a:t>
            </a:r>
            <a:endParaRPr b="1"/>
          </a:p>
        </p:txBody>
      </p:sp>
      <p:sp>
        <p:nvSpPr>
          <p:cNvPr id="91" name="Google Shape;91;p1"/>
          <p:cNvSpPr/>
          <p:nvPr/>
        </p:nvSpPr>
        <p:spPr>
          <a:xfrm>
            <a:off x="4267200" y="5105400"/>
            <a:ext cx="4572000" cy="9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Giáo viên: TS. </a:t>
            </a:r>
            <a:r>
              <a:rPr b="1" i="0" lang="en-US" sz="1800" u="none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Nguyễn Văn Hiệu</a:t>
            </a:r>
            <a:endParaRPr b="1" i="0" sz="2400" u="none" cap="none" strike="noStrike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</a:rPr>
              <a:t>Email: </a:t>
            </a:r>
            <a:r>
              <a:rPr b="0" i="0" lang="en-US" sz="2400" u="sng" cap="none" strike="noStrike">
                <a:solidFill>
                  <a:srgbClr val="002060"/>
                </a:solidFill>
                <a:latin typeface="Book Antiqua"/>
                <a:ea typeface="Book Antiqua"/>
                <a:cs typeface="Book Antiqua"/>
                <a:sym typeface="Book Antiqu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nvhieuqt@dut.udn.vn</a:t>
            </a:r>
            <a:endParaRPr b="0" i="0" sz="2400" u="none" cap="none" strike="noStrike">
              <a:solidFill>
                <a:srgbClr val="002060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Nội dung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914400" y="1600200"/>
            <a:ext cx="7162800" cy="4495799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Phát biểu bài toán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Phân tích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Ý tưởng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Thuật giải của bài toán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Thủ tục rút gọn để tính cận dưới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Thủ tục phân nhánh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Thủ tục chọn cận phân nhánh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Thủ tục chọn hai cạnh cuối cùng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Bài toán</a:t>
            </a:r>
            <a:endParaRPr b="1" sz="2800">
              <a:solidFill>
                <a:srgbClr val="00B0F0"/>
              </a:solidFill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Có n thành phố ký hiệu:     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         T</a:t>
            </a:r>
            <a:r>
              <a:rPr baseline="-25000" lang="en-US" sz="2400"/>
              <a:t>1</a:t>
            </a:r>
            <a:r>
              <a:rPr lang="en-US" sz="2400"/>
              <a:t>, T</a:t>
            </a:r>
            <a:r>
              <a:rPr baseline="-25000" lang="en-US" sz="2400"/>
              <a:t>2</a:t>
            </a:r>
            <a:r>
              <a:rPr lang="en-US" sz="2400"/>
              <a:t>,…, T</a:t>
            </a:r>
            <a:r>
              <a:rPr baseline="-25000" lang="en-US" sz="2400"/>
              <a:t>n</a:t>
            </a:r>
            <a:endParaRPr baseline="-25000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C</a:t>
            </a:r>
            <a:r>
              <a:rPr baseline="-25000" lang="en-US" sz="2400"/>
              <a:t>ij</a:t>
            </a:r>
            <a:r>
              <a:rPr lang="en-US" sz="2400"/>
              <a:t> là </a:t>
            </a:r>
            <a:r>
              <a:rPr lang="en-US" sz="2400">
                <a:solidFill>
                  <a:srgbClr val="FF0000"/>
                </a:solidFill>
              </a:rPr>
              <a:t>chi phí </a:t>
            </a:r>
            <a:r>
              <a:rPr lang="en-US" sz="2400"/>
              <a:t>từ thành phố T</a:t>
            </a:r>
            <a:r>
              <a:rPr baseline="-25000" lang="en-US" sz="2400"/>
              <a:t>i </a:t>
            </a:r>
            <a:r>
              <a:rPr lang="en-US" sz="2400"/>
              <a:t>đến T</a:t>
            </a:r>
            <a:r>
              <a:rPr baseline="-25000" lang="en-US" sz="2400"/>
              <a:t>j</a:t>
            </a:r>
            <a:r>
              <a:rPr lang="en-US" sz="2400"/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Xuất phát từ một thành phố nào đó </a:t>
            </a:r>
            <a:r>
              <a:rPr lang="en-US" sz="2400">
                <a:solidFill>
                  <a:srgbClr val="FF0000"/>
                </a:solidFill>
              </a:rPr>
              <a:t>đi qua tất cả các thành phố mỗi thành phố đúng một lần</a:t>
            </a:r>
            <a:r>
              <a:rPr lang="en-US" sz="2400"/>
              <a:t>, rồi quay trở lại thành phố xuất phát.</a:t>
            </a:r>
            <a:endParaRPr/>
          </a:p>
        </p:txBody>
      </p:sp>
      <p:sp>
        <p:nvSpPr>
          <p:cNvPr id="104" name="Google Shape;104;p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Hãy tìm </a:t>
            </a:r>
            <a:r>
              <a:rPr b="1" lang="en-US"/>
              <a:t>hành trình </a:t>
            </a:r>
            <a:r>
              <a:rPr lang="en-US"/>
              <a:t>(chu trình) với chi phí nhỏ nhất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Phân tích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Xét đồ thị có trọng: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G = (V, E)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Mỗi thành phố là một đỉnh của đồ thị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Mỗi đường đi giữa các thành phố là một cạnh nối  giữa các đỉnh của đồ thị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11" name="Google Shape;111;p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59" r="0" t="-13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Phân tích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Xét đồ thị có trọng: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G = (V, E)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Mỗi thành phố là một đỉnh của đồ thị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Mỗi đường đi giữa các thành phố là một cạnh nối  giữa các đỉnh của đồ thị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18" name="Google Shape;118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Đường đi tìm được: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      x</a:t>
            </a:r>
            <a:r>
              <a:rPr b="1" baseline="-25000" lang="en-US"/>
              <a:t>1</a:t>
            </a:r>
            <a:r>
              <a:rPr b="1" lang="en-US"/>
              <a:t>, x</a:t>
            </a:r>
            <a:r>
              <a:rPr b="1" baseline="-25000" lang="en-US"/>
              <a:t>2</a:t>
            </a:r>
            <a:r>
              <a:rPr b="1" lang="en-US"/>
              <a:t>, …, x</a:t>
            </a:r>
            <a:r>
              <a:rPr b="1" baseline="-25000" lang="en-US"/>
              <a:t>n</a:t>
            </a:r>
            <a:r>
              <a:rPr b="1" lang="en-US"/>
              <a:t>, x</a:t>
            </a:r>
            <a:r>
              <a:rPr b="1" baseline="-25000" lang="en-US"/>
              <a:t>1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aseline="-25000" lang="en-US"/>
              <a:t>  </a:t>
            </a:r>
            <a:r>
              <a:rPr lang="en-US"/>
              <a:t> với x</a:t>
            </a:r>
            <a:r>
              <a:rPr baseline="-25000" lang="en-US"/>
              <a:t>i</a:t>
            </a:r>
            <a:r>
              <a:rPr lang="en-US"/>
              <a:t> là đỉnh,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(x</a:t>
            </a:r>
            <a:r>
              <a:rPr baseline="-25000" lang="en-US"/>
              <a:t>i</a:t>
            </a:r>
            <a:r>
              <a:rPr lang="en-US"/>
              <a:t>, x</a:t>
            </a:r>
            <a:r>
              <a:rPr baseline="-25000" lang="en-US"/>
              <a:t>i+1</a:t>
            </a:r>
            <a:r>
              <a:rPr lang="en-US"/>
              <a:t>) là cạnh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Bài toán người du lịch: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None/>
            </a:pPr>
            <a:r>
              <a:rPr b="1" lang="en-US" sz="2200">
                <a:solidFill>
                  <a:srgbClr val="FF0000"/>
                </a:solidFill>
              </a:rPr>
              <a:t>f(x</a:t>
            </a:r>
            <a:r>
              <a:rPr b="1" baseline="-25000" lang="en-US" sz="2200">
                <a:solidFill>
                  <a:srgbClr val="FF0000"/>
                </a:solidFill>
              </a:rPr>
              <a:t>1</a:t>
            </a:r>
            <a:r>
              <a:rPr b="1" lang="en-US" sz="2200">
                <a:solidFill>
                  <a:srgbClr val="FF0000"/>
                </a:solidFill>
              </a:rPr>
              <a:t>…x</a:t>
            </a:r>
            <a:r>
              <a:rPr b="1" baseline="-25000" lang="en-US" sz="2200">
                <a:solidFill>
                  <a:srgbClr val="FF0000"/>
                </a:solidFill>
              </a:rPr>
              <a:t>n</a:t>
            </a:r>
            <a:r>
              <a:rPr b="1" lang="en-US" sz="2200">
                <a:solidFill>
                  <a:srgbClr val="FF0000"/>
                </a:solidFill>
              </a:rPr>
              <a:t>)=c[x</a:t>
            </a:r>
            <a:r>
              <a:rPr b="1" baseline="-25000" lang="en-US" sz="2200">
                <a:solidFill>
                  <a:srgbClr val="FF0000"/>
                </a:solidFill>
              </a:rPr>
              <a:t>1</a:t>
            </a:r>
            <a:r>
              <a:rPr b="1" lang="en-US" sz="2200">
                <a:solidFill>
                  <a:srgbClr val="FF0000"/>
                </a:solidFill>
              </a:rPr>
              <a:t>,x</a:t>
            </a:r>
            <a:r>
              <a:rPr b="1" baseline="-25000" lang="en-US" sz="2200">
                <a:solidFill>
                  <a:srgbClr val="FF0000"/>
                </a:solidFill>
              </a:rPr>
              <a:t>2</a:t>
            </a:r>
            <a:r>
              <a:rPr b="1" lang="en-US" sz="2200">
                <a:solidFill>
                  <a:srgbClr val="FF0000"/>
                </a:solidFill>
              </a:rPr>
              <a:t>]+…+c[x</a:t>
            </a:r>
            <a:r>
              <a:rPr b="1" baseline="-25000" lang="en-US" sz="2200">
                <a:solidFill>
                  <a:srgbClr val="FF0000"/>
                </a:solidFill>
              </a:rPr>
              <a:t>n</a:t>
            </a:r>
            <a:r>
              <a:rPr b="1" lang="en-US" sz="2200">
                <a:solidFill>
                  <a:srgbClr val="FF0000"/>
                </a:solidFill>
              </a:rPr>
              <a:t>, x</a:t>
            </a:r>
            <a:r>
              <a:rPr b="1" baseline="-25000" lang="en-US" sz="2200">
                <a:solidFill>
                  <a:srgbClr val="FF0000"/>
                </a:solidFill>
              </a:rPr>
              <a:t>1</a:t>
            </a:r>
            <a:r>
              <a:rPr b="1" lang="en-US" sz="2200">
                <a:solidFill>
                  <a:srgbClr val="FF0000"/>
                </a:solidFill>
              </a:rPr>
              <a:t>]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None/>
            </a:pPr>
            <a:r>
              <a:rPr lang="en-US" sz="2200">
                <a:solidFill>
                  <a:srgbClr val="FF0000"/>
                </a:solidFill>
              </a:rPr>
              <a:t>                🡪 min</a:t>
            </a:r>
            <a:endParaRPr sz="2200">
              <a:solidFill>
                <a:srgbClr val="FF0000"/>
              </a:solidFill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Ý tưởng</a:t>
            </a:r>
            <a:endParaRPr b="1" sz="3600">
              <a:solidFill>
                <a:srgbClr val="00B0F0"/>
              </a:solidFill>
            </a:endParaRPr>
          </a:p>
        </p:txBody>
      </p:sp>
      <p:grpSp>
        <p:nvGrpSpPr>
          <p:cNvPr id="125" name="Google Shape;125;p6"/>
          <p:cNvGrpSpPr/>
          <p:nvPr/>
        </p:nvGrpSpPr>
        <p:grpSpPr>
          <a:xfrm>
            <a:off x="103924" y="1712617"/>
            <a:ext cx="5104152" cy="3548357"/>
            <a:chOff x="-220532" y="188617"/>
            <a:chExt cx="5104152" cy="3548357"/>
          </a:xfrm>
        </p:grpSpPr>
        <p:sp>
          <p:nvSpPr>
            <p:cNvPr id="126" name="Google Shape;126;p6"/>
            <p:cNvSpPr/>
            <p:nvPr/>
          </p:nvSpPr>
          <p:spPr>
            <a:xfrm>
              <a:off x="1543115" y="1249136"/>
              <a:ext cx="2003703" cy="86787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91980"/>
                  </a:lnTo>
                  <a:lnTo>
                    <a:pt x="120000" y="9198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7" name="Google Shape;127;p6"/>
            <p:cNvSpPr/>
            <p:nvPr/>
          </p:nvSpPr>
          <p:spPr>
            <a:xfrm>
              <a:off x="873214" y="1249136"/>
              <a:ext cx="669900" cy="867877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91980"/>
                  </a:lnTo>
                  <a:lnTo>
                    <a:pt x="0" y="91980"/>
                  </a:lnTo>
                  <a:lnTo>
                    <a:pt x="0" y="120000"/>
                  </a:lnTo>
                </a:path>
              </a:pathLst>
            </a:cu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28" name="Google Shape;128;p6"/>
            <p:cNvSpPr/>
            <p:nvPr/>
          </p:nvSpPr>
          <p:spPr>
            <a:xfrm>
              <a:off x="449368" y="188617"/>
              <a:ext cx="2187494" cy="1060518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92423" y="419519"/>
              <a:ext cx="2187494" cy="1060518"/>
            </a:xfrm>
            <a:prstGeom prst="roundRect">
              <a:avLst>
                <a:gd fmla="val 10000" name="adj"/>
              </a:avLst>
            </a:prstGeom>
            <a:solidFill>
              <a:srgbClr val="CACACA">
                <a:alpha val="89803"/>
              </a:srgbClr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723485" y="450581"/>
              <a:ext cx="2125370" cy="998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Tập tất cả các hành trình</a:t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-220532" y="2117013"/>
              <a:ext cx="2187494" cy="1389058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22522" y="2347916"/>
              <a:ext cx="2187494" cy="1389058"/>
            </a:xfrm>
            <a:prstGeom prst="roundRect">
              <a:avLst>
                <a:gd fmla="val 10000" name="adj"/>
              </a:avLst>
            </a:prstGeom>
            <a:solidFill>
              <a:srgbClr val="CACACA">
                <a:alpha val="89803"/>
              </a:srgbClr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63206" y="2388600"/>
              <a:ext cx="2106126" cy="130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Tập hành trình chứ (i,j)</a:t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2453071" y="2117013"/>
              <a:ext cx="2187494" cy="1389058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696126" y="2347916"/>
              <a:ext cx="2187494" cy="1389058"/>
            </a:xfrm>
            <a:prstGeom prst="roundRect">
              <a:avLst>
                <a:gd fmla="val 10000" name="adj"/>
              </a:avLst>
            </a:prstGeom>
            <a:solidFill>
              <a:srgbClr val="CACACA">
                <a:alpha val="89803"/>
              </a:srgbClr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2736810" y="2388600"/>
              <a:ext cx="2106126" cy="1307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Tập hành trình không chứa (i,j)</a:t>
              </a:r>
              <a:endParaRPr/>
            </a:p>
          </p:txBody>
        </p:sp>
      </p:grpSp>
      <p:sp>
        <p:nvSpPr>
          <p:cNvPr id="137" name="Google Shape;137;p6"/>
          <p:cNvSpPr txBox="1"/>
          <p:nvPr/>
        </p:nvSpPr>
        <p:spPr>
          <a:xfrm>
            <a:off x="5562600" y="1143000"/>
            <a:ext cx="3048000" cy="4893647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Thực hiện quá trình phân nhánh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Tính giá trị cận dưới trên mỗi tập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cứ tiếp tục cho đến lúc nhận được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hành trình đầy đủ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838200" y="1600201"/>
            <a:ext cx="7010400" cy="37338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Thủ tục rút gọn để tính cận dưới</a:t>
            </a:r>
            <a:endParaRPr b="1"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cạnh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hai cạnh cuối cùng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Cơ sở lý luận</a:t>
            </a:r>
            <a:endParaRPr/>
          </a:p>
        </p:txBody>
      </p:sp>
      <p:sp>
        <p:nvSpPr>
          <p:cNvPr id="150" name="Google Shape;150;p8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/>
              <a:t>Hành trình của người du lịch: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Chứa đúng một phần tử của mỗi dòng của ma trận chi phí.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Chứa đúng một phần tử của mỗi cột của ma trận chi phí.</a:t>
            </a:r>
            <a:endParaRPr/>
          </a:p>
        </p:txBody>
      </p:sp>
      <p:sp>
        <p:nvSpPr>
          <p:cNvPr id="151" name="Google Shape;151;p8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Cơ sở lý luận</a:t>
            </a:r>
            <a:endParaRPr/>
          </a:p>
        </p:txBody>
      </p:sp>
      <p:sp>
        <p:nvSpPr>
          <p:cNvPr id="152" name="Google Shape;152;p8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</a:pPr>
            <a:r>
              <a:rPr lang="en-US" sz="2200"/>
              <a:t>Độ dài của tất cả các hành trình sẽ giảm đi a đơn vị</a:t>
            </a:r>
            <a:endParaRPr sz="22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Hoặc nếu bớt mỗi phần tử của một dòng đi cùng một số a.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Hoặc nếu bớt mỗi phần tử của một cột đi cùng một số a</a:t>
            </a:r>
            <a:endParaRPr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1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752600" y="5105400"/>
            <a:ext cx="5715000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b="0" i="0" sz="24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400050" marR="0" rtl="0" algn="ctr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Hành trình tối ưu sẽ </a:t>
            </a:r>
            <a:r>
              <a:rPr b="1" i="0" lang="en-US" sz="2200" u="sng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 bị thay đổi</a:t>
            </a:r>
            <a:endParaRPr b="1" i="0" sz="2200" u="sng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161" name="Google Shape;161;p9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Ma trận rút gọn</a:t>
            </a:r>
            <a:endParaRPr b="1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Các phần tử </a:t>
            </a:r>
            <a:r>
              <a:rPr i="1" lang="en-US"/>
              <a:t>của ma trận không âm</a:t>
            </a:r>
            <a:r>
              <a:rPr lang="en-US"/>
              <a:t>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Mỗi hàng </a:t>
            </a:r>
            <a:r>
              <a:rPr i="1" lang="en-US"/>
              <a:t>chứa ít nhất một phần tử 0;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Mỗi cột </a:t>
            </a:r>
            <a:r>
              <a:rPr i="1" lang="en-US"/>
              <a:t>chứa ít nhất một phần tử 0;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Ma trận chi phí về ma trận rút gọn: giảm các phần tử của mỗi dòng và của mỗi cột đi một hằng số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162" name="Google Shape;162;p9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Khái niệm</a:t>
            </a:r>
            <a:endParaRPr/>
          </a:p>
        </p:txBody>
      </p:sp>
      <p:sp>
        <p:nvSpPr>
          <p:cNvPr id="163" name="Google Shape;163;p9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Thủ tục chuyển từ ma trận chi phí về ma trận rút gọn gọi là </a:t>
            </a:r>
            <a:r>
              <a:rPr i="1" lang="en-US">
                <a:solidFill>
                  <a:srgbClr val="FF0000"/>
                </a:solidFill>
              </a:rPr>
              <a:t>thủ tục rút gọn;</a:t>
            </a:r>
            <a:endParaRPr i="1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Hàng số trừ ở mỗi dòng hoặc </a:t>
            </a:r>
            <a:r>
              <a:rPr lang="en-US"/>
              <a:t>ở </a:t>
            </a:r>
            <a:r>
              <a:rPr lang="en-US"/>
              <a:t>mỗi cột gọi là </a:t>
            </a:r>
            <a:r>
              <a:rPr i="1" lang="en-US">
                <a:solidFill>
                  <a:srgbClr val="FF0000"/>
                </a:solidFill>
              </a:rPr>
              <a:t>hằng số rút gọn;</a:t>
            </a:r>
            <a:endParaRPr i="1">
              <a:solidFill>
                <a:srgbClr val="FF000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Nhận xét</a:t>
            </a:r>
            <a:endParaRPr/>
          </a:p>
        </p:txBody>
      </p:sp>
      <p:sp>
        <p:nvSpPr>
          <p:cNvPr id="171" name="Google Shape;171;p10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Ma trận rút gọn: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/>
              <a:t>Các phần tử </a:t>
            </a:r>
            <a:r>
              <a:rPr i="1" lang="en-US"/>
              <a:t>của ma trận không âm</a:t>
            </a:r>
            <a:r>
              <a:rPr lang="en-US"/>
              <a:t>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/>
              <a:t>Mỗi hàng </a:t>
            </a:r>
            <a:r>
              <a:rPr i="1" lang="en-US"/>
              <a:t>chứa ít nhất một phần tử 0;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lang="en-US"/>
              <a:t>Mỗi cột</a:t>
            </a:r>
            <a:r>
              <a:rPr lang="en-US"/>
              <a:t> </a:t>
            </a:r>
            <a:r>
              <a:rPr i="1" lang="en-US"/>
              <a:t>chứa ít nhất một phần tử 0;</a:t>
            </a:r>
            <a:endParaRPr i="1" sz="3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172" name="Google Shape;172;p10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173" name="Google Shape;173;p10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27000" lvl="3" marL="1600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181" name="Google Shape;181;p11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182" name="Google Shape;182;p11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Rút gọn dòng</a:t>
            </a:r>
            <a:endParaRPr/>
          </a:p>
        </p:txBody>
      </p:sp>
      <p:sp>
        <p:nvSpPr>
          <p:cNvPr id="183" name="Google Shape;183;p11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Khởi tạo: Sum = 0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Ứng với mỗi dòng: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i="1" lang="en-US"/>
              <a:t>Tìm phần tử nhỏ nhất </a:t>
            </a:r>
            <a:r>
              <a:rPr lang="en-US"/>
              <a:t>của dòng: ví dụ là </a:t>
            </a:r>
            <a:r>
              <a:rPr b="1" lang="en-US"/>
              <a:t>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Trừ tất cả các phần tử trên dòng bởi phần tử r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Sum = Sum + r</a:t>
            </a:r>
            <a:endParaRPr/>
          </a:p>
          <a:p>
            <a:pPr indent="-127000" lvl="3" marL="1600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191" name="Google Shape;191;p12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192" name="Google Shape;192;p12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Rút gọn trên dòng</a:t>
            </a:r>
            <a:endParaRPr/>
          </a:p>
        </p:txBody>
      </p:sp>
      <p:sp>
        <p:nvSpPr>
          <p:cNvPr id="193" name="Google Shape;193;p12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8153400" y="2645499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8180440" y="3175197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8153400" y="3777734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8180440" y="4311134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8180440" y="4758813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/>
          </a:p>
        </p:txBody>
      </p:sp>
      <p:pic>
        <p:nvPicPr>
          <p:cNvPr id="200" name="Google Shape;2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8495" y="2619891"/>
            <a:ext cx="3519487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8180440" y="5201885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07" name="Google Shape;207;p13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08" name="Google Shape;208;p13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09" name="Google Shape;209;p13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Rút gọn trên dòng</a:t>
            </a:r>
            <a:endParaRPr/>
          </a:p>
        </p:txBody>
      </p:sp>
      <p:sp>
        <p:nvSpPr>
          <p:cNvPr id="210" name="Google Shape;210;p13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8153400" y="2645499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8180440" y="3175197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14" name="Google Shape;214;p13"/>
          <p:cNvSpPr txBox="1"/>
          <p:nvPr/>
        </p:nvSpPr>
        <p:spPr>
          <a:xfrm>
            <a:off x="8153400" y="3777734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sp>
        <p:nvSpPr>
          <p:cNvPr id="215" name="Google Shape;215;p13"/>
          <p:cNvSpPr txBox="1"/>
          <p:nvPr/>
        </p:nvSpPr>
        <p:spPr>
          <a:xfrm>
            <a:off x="8180440" y="4311134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8180440" y="4758813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7315200" y="5809617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  58</a:t>
            </a:r>
            <a:endParaRPr/>
          </a:p>
        </p:txBody>
      </p:sp>
      <p:pic>
        <p:nvPicPr>
          <p:cNvPr id="218" name="Google Shape;2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938" y="2619375"/>
            <a:ext cx="3421062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3"/>
          <p:cNvSpPr txBox="1"/>
          <p:nvPr/>
        </p:nvSpPr>
        <p:spPr>
          <a:xfrm>
            <a:off x="8180440" y="5201885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25" name="Google Shape;225;p14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26" name="Google Shape;226;p14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27" name="Google Shape;227;p14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b. Rút gọn trên cột</a:t>
            </a:r>
            <a:endParaRPr/>
          </a:p>
        </p:txBody>
      </p:sp>
      <p:sp>
        <p:nvSpPr>
          <p:cNvPr id="228" name="Google Shape;228;p14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4724400" y="25146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  58</a:t>
            </a:r>
            <a:endParaRPr/>
          </a:p>
        </p:txBody>
      </p:sp>
      <p:pic>
        <p:nvPicPr>
          <p:cNvPr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2939933"/>
            <a:ext cx="3421062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/>
        </p:nvSpPr>
        <p:spPr>
          <a:xfrm>
            <a:off x="5919019" y="5965411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6622025" y="5945747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39" name="Google Shape;239;p15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40" name="Google Shape;240;p15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41" name="Google Shape;241;p15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b. Rút gọn trên cột</a:t>
            </a:r>
            <a:endParaRPr/>
          </a:p>
        </p:txBody>
      </p:sp>
      <p:sp>
        <p:nvSpPr>
          <p:cNvPr id="242" name="Google Shape;242;p15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4724400" y="25146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  58</a:t>
            </a:r>
            <a:endParaRPr/>
          </a:p>
        </p:txBody>
      </p:sp>
      <p:pic>
        <p:nvPicPr>
          <p:cNvPr id="245" name="Google Shape;2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2939933"/>
            <a:ext cx="3421062" cy="305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5"/>
          <p:cNvSpPr txBox="1"/>
          <p:nvPr/>
        </p:nvSpPr>
        <p:spPr>
          <a:xfrm>
            <a:off x="5919019" y="5965411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6622025" y="5945747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7391400" y="6007198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  81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54" name="Google Shape;254;p16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55" name="Google Shape;255;p16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        </a:t>
            </a:r>
            <a:r>
              <a:rPr lang="en-US"/>
              <a:t>Ma trận chi phí C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 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ma trận rút gọn;</a:t>
            </a:r>
            <a:endParaRPr/>
          </a:p>
          <a:p>
            <a:pPr indent="-34290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/>
              <a:t>tổng hằng số rút gọn.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56" name="Google Shape;256;p16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b. Rút gọn cột</a:t>
            </a:r>
            <a:endParaRPr/>
          </a:p>
        </p:txBody>
      </p:sp>
      <p:sp>
        <p:nvSpPr>
          <p:cNvPr id="257" name="Google Shape;257;p16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Khởi tạo: Sum =  Sum (</a:t>
            </a:r>
            <a:r>
              <a:rPr lang="en-US" sz="2000"/>
              <a:t>từ thủ tục rút gọn hàng</a:t>
            </a:r>
            <a:r>
              <a:rPr lang="en-US"/>
              <a:t>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Ứng với mỗi  cột: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Tìm phần tử nhỏ nhất của cột: ví dụ  c;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Trừ tất cả các phần tử trên  cột bởi phần tử c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/>
              <a:t>Sum = Sum + c</a:t>
            </a:r>
            <a:endParaRPr/>
          </a:p>
          <a:p>
            <a:pPr indent="-127000" lvl="3" marL="1600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rút gọn để tính cận dưới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64" name="Google Shape;264;p17"/>
          <p:cNvSpPr txBox="1"/>
          <p:nvPr>
            <p:ph idx="1" type="body"/>
          </p:nvPr>
        </p:nvSpPr>
        <p:spPr>
          <a:xfrm>
            <a:off x="838200" y="1600200"/>
            <a:ext cx="70104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rút gọn để tính cận dưới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Thủ tục chọn cạnh phân nhánh</a:t>
            </a:r>
            <a:endParaRPr b="1"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hai cạnh cuối cùng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70" name="Google Shape;270;p18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Ý tưởng</a:t>
            </a:r>
            <a:endParaRPr/>
          </a:p>
        </p:txBody>
      </p:sp>
      <p:sp>
        <p:nvSpPr>
          <p:cNvPr id="271" name="Google Shape;271;p18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Chọn (r,s) sao cho </a:t>
            </a:r>
            <a:r>
              <a:rPr b="1" lang="en-US"/>
              <a:t>cận dưới </a:t>
            </a:r>
            <a:r>
              <a:rPr lang="en-US"/>
              <a:t>của tập phân nhánh không chứ (r,s) tăng lớn nhất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72" name="Google Shape;272;p18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73" name="Google Shape;273;p18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</a:t>
            </a:r>
            <a:r>
              <a:rPr lang="en-US"/>
              <a:t>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Ma trận rút gọn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Cạnh phân nhánh </a:t>
            </a:r>
            <a:r>
              <a:rPr b="1" lang="en-US">
                <a:solidFill>
                  <a:srgbClr val="FF0000"/>
                </a:solidFill>
              </a:rPr>
              <a:t>(r,s)</a:t>
            </a:r>
            <a:endParaRPr/>
          </a:p>
          <a:p>
            <a:pPr indent="-127000" lvl="3" marL="1600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2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chọn cạnh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80" name="Google Shape;280;p19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81" name="Google Shape;281;p19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    Ma trận rút gọn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    Cạnh </a:t>
            </a:r>
            <a:r>
              <a:rPr b="1" lang="en-US">
                <a:solidFill>
                  <a:srgbClr val="FF0000"/>
                </a:solidFill>
              </a:rPr>
              <a:t>(r,s)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82" name="Google Shape;282;p19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83" name="Google Shape;283;p19"/>
          <p:cNvSpPr txBox="1"/>
          <p:nvPr>
            <p:ph idx="4" type="body"/>
          </p:nvPr>
        </p:nvSpPr>
        <p:spPr>
          <a:xfrm>
            <a:off x="4714650" y="2440339"/>
            <a:ext cx="4041900" cy="395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58" r="0" t="-9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2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chọn cạnh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290" name="Google Shape;290;p20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91" name="Google Shape;291;p20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Input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    Ma trận rút gọn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Output</a:t>
            </a:r>
            <a:r>
              <a:rPr lang="en-US"/>
              <a:t>: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              Cạnh  </a:t>
            </a:r>
            <a:r>
              <a:rPr b="1" lang="en-US">
                <a:solidFill>
                  <a:srgbClr val="FF0000"/>
                </a:solidFill>
              </a:rPr>
              <a:t>(r,s)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292" name="Google Shape;292;p20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293" name="Google Shape;293;p20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3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4800600" y="25146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6, s = 3</a:t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2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chọn cạnh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6" name="Google Shape;296;p20"/>
          <p:cNvGraphicFramePr/>
          <p:nvPr/>
        </p:nvGraphicFramePr>
        <p:xfrm>
          <a:off x="6019800" y="5518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{565A520B-0F4B-461D-AC2B-58CC2170E417}</a:tableStyleId>
              </a:tblPr>
              <a:tblGrid>
                <a:gridCol w="533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20"/>
          <p:cNvSpPr txBox="1"/>
          <p:nvPr/>
        </p:nvSpPr>
        <p:spPr>
          <a:xfrm>
            <a:off x="7239000" y="5899977"/>
            <a:ext cx="1295400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666" l="0" r="0" t="-8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pic>
        <p:nvPicPr>
          <p:cNvPr id="298" name="Google Shape;2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3172" y="2917704"/>
            <a:ext cx="3421063" cy="30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04" name="Google Shape;304;p21"/>
          <p:cNvSpPr txBox="1"/>
          <p:nvPr>
            <p:ph idx="1" type="body"/>
          </p:nvPr>
        </p:nvSpPr>
        <p:spPr>
          <a:xfrm>
            <a:off x="838200" y="1600200"/>
            <a:ext cx="70104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rút gọn để tính cận dưới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cạnh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Thủ tục phân nhánh</a:t>
            </a:r>
            <a:endParaRPr b="1"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hai cạnh cuối cùng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10" name="Google Shape;310;p22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311" name="Google Shape;311;p22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Giả sử ở bước 2 đã  chọn cạnh (r,s) để phân nhánh thì đặt: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200">
                <a:solidFill>
                  <a:srgbClr val="FF0000"/>
                </a:solidFill>
              </a:rPr>
              <a:t>P</a:t>
            </a:r>
            <a:r>
              <a:rPr b="1" baseline="-25000" lang="en-US" sz="2200">
                <a:solidFill>
                  <a:srgbClr val="FF0000"/>
                </a:solidFill>
              </a:rPr>
              <a:t>1</a:t>
            </a:r>
            <a:r>
              <a:rPr b="1" lang="en-US" sz="2200">
                <a:solidFill>
                  <a:srgbClr val="FF0000"/>
                </a:solidFill>
              </a:rPr>
              <a:t> -hành trình đi qua (r,s)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FF0000"/>
                </a:solidFill>
              </a:rPr>
              <a:t>P</a:t>
            </a:r>
            <a:r>
              <a:rPr baseline="-25000" lang="en-US" sz="2200">
                <a:solidFill>
                  <a:srgbClr val="FF0000"/>
                </a:solidFill>
              </a:rPr>
              <a:t>2</a:t>
            </a:r>
            <a:r>
              <a:rPr lang="en-US" sz="2200">
                <a:solidFill>
                  <a:srgbClr val="FF0000"/>
                </a:solidFill>
              </a:rPr>
              <a:t>  không đi qua (r,s)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312" name="Google Shape;312;p22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8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5532984" y="3079908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316" name="Google Shape;316;p22"/>
          <p:cNvSpPr/>
          <p:nvPr/>
        </p:nvSpPr>
        <p:spPr>
          <a:xfrm>
            <a:off x="4847184" y="4146708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7285584" y="3232308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(81)P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8" name="Google Shape;318;p22"/>
          <p:cNvCxnSpPr>
            <a:stCxn id="315" idx="3"/>
            <a:endCxn id="317" idx="1"/>
          </p:cNvCxnSpPr>
          <p:nvPr/>
        </p:nvCxnSpPr>
        <p:spPr>
          <a:xfrm>
            <a:off x="6599784" y="3346608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9" name="Google Shape;319;p22"/>
          <p:cNvCxnSpPr>
            <a:stCxn id="315" idx="2"/>
            <a:endCxn id="316" idx="0"/>
          </p:cNvCxnSpPr>
          <p:nvPr/>
        </p:nvCxnSpPr>
        <p:spPr>
          <a:xfrm flipH="1">
            <a:off x="5380584" y="3613308"/>
            <a:ext cx="68580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0" name="Google Shape;320;p22"/>
          <p:cNvSpPr txBox="1"/>
          <p:nvPr/>
        </p:nvSpPr>
        <p:spPr>
          <a:xfrm>
            <a:off x="6142584" y="3613308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(6,3)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4675236" y="2514600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= 6, s = 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Thuật giải</a:t>
            </a:r>
            <a:endParaRPr b="1" sz="3600"/>
          </a:p>
        </p:txBody>
      </p:sp>
      <p:sp>
        <p:nvSpPr>
          <p:cNvPr id="327" name="Google Shape;327;p23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Thủ tục trên P</a:t>
            </a:r>
            <a:r>
              <a:rPr baseline="-25000" lang="en-US"/>
              <a:t>1</a:t>
            </a:r>
            <a:r>
              <a:rPr lang="en-US"/>
              <a:t> </a:t>
            </a:r>
            <a:endParaRPr/>
          </a:p>
        </p:txBody>
      </p:sp>
      <p:sp>
        <p:nvSpPr>
          <p:cNvPr id="328" name="Google Shape;328;p23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856" l="-1356" r="0" t="-7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29" name="Google Shape;329;p23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Thủ tục trên  P</a:t>
            </a:r>
            <a:r>
              <a:rPr baseline="-25000" lang="en-US"/>
              <a:t>1</a:t>
            </a:r>
            <a:r>
              <a:rPr lang="en-US"/>
              <a:t> </a:t>
            </a:r>
            <a:endParaRPr/>
          </a:p>
        </p:txBody>
      </p:sp>
      <p:sp>
        <p:nvSpPr>
          <p:cNvPr id="330" name="Google Shape;330;p23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Rút gọn ma trận chi phí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/>
              <a:t>Và tính cận dưới: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      sum +=  tổng hằng số rút gọn</a:t>
            </a:r>
            <a:endParaRPr sz="2000"/>
          </a:p>
          <a:p>
            <a:pPr indent="0" lvl="1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=&gt; Tiếp tục thực hiện thủ tục phân nhánh theo nhánh này</a:t>
            </a:r>
            <a:endParaRPr b="1"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37" name="Google Shape;337;p24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a. Thủ tục trên P</a:t>
            </a:r>
            <a:r>
              <a:rPr baseline="-25000" lang="en-US"/>
              <a:t>1</a:t>
            </a:r>
            <a:r>
              <a:rPr lang="en-US"/>
              <a:t> </a:t>
            </a:r>
            <a:endParaRPr/>
          </a:p>
        </p:txBody>
      </p:sp>
      <p:sp>
        <p:nvSpPr>
          <p:cNvPr id="338" name="Google Shape;338;p24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339" name="Google Shape;339;p24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2" name="Google Shape;342;p24"/>
          <p:cNvGraphicFramePr/>
          <p:nvPr/>
        </p:nvGraphicFramePr>
        <p:xfrm>
          <a:off x="5810865" y="53389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{565A520B-0F4B-461D-AC2B-58CC2170E417}</a:tableStyleId>
              </a:tblPr>
              <a:tblGrid>
                <a:gridCol w="368700"/>
              </a:tblGrid>
              <a:tr h="4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3" name="Google Shape;343;p24"/>
          <p:cNvCxnSpPr/>
          <p:nvPr/>
        </p:nvCxnSpPr>
        <p:spPr>
          <a:xfrm flipH="1">
            <a:off x="6019800" y="2819400"/>
            <a:ext cx="76200" cy="320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4" name="Google Shape;344;p24"/>
          <p:cNvCxnSpPr/>
          <p:nvPr/>
        </p:nvCxnSpPr>
        <p:spPr>
          <a:xfrm>
            <a:off x="4724400" y="5486400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45" name="Google Shape;345;p24"/>
          <p:cNvGraphicFramePr/>
          <p:nvPr/>
        </p:nvGraphicFramePr>
        <p:xfrm>
          <a:off x="7543800" y="388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{565A520B-0F4B-461D-AC2B-58CC2170E417}</a:tableStyleId>
              </a:tblPr>
              <a:tblGrid>
                <a:gridCol w="368700"/>
              </a:tblGrid>
              <a:tr h="4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46" name="Google Shape;3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957" y="2774441"/>
            <a:ext cx="3421063" cy="30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52" name="Google Shape;352;p25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353" name="Google Shape;353;p25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Giả sử ở bước 2 đã  chọn cạnh (r,s) để phân nhánh thì đặt: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200">
                <a:solidFill>
                  <a:srgbClr val="FF0000"/>
                </a:solidFill>
              </a:rPr>
              <a:t>P</a:t>
            </a:r>
            <a:r>
              <a:rPr baseline="-25000" lang="en-US" sz="2200">
                <a:solidFill>
                  <a:srgbClr val="FF0000"/>
                </a:solidFill>
              </a:rPr>
              <a:t>1</a:t>
            </a:r>
            <a:r>
              <a:rPr lang="en-US" sz="2200">
                <a:solidFill>
                  <a:srgbClr val="FF0000"/>
                </a:solidFill>
              </a:rPr>
              <a:t> chứa  (r,s)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200">
                <a:solidFill>
                  <a:srgbClr val="FF0000"/>
                </a:solidFill>
              </a:rPr>
              <a:t>P</a:t>
            </a:r>
            <a:r>
              <a:rPr b="1" baseline="-25000" lang="en-US" sz="2200">
                <a:solidFill>
                  <a:srgbClr val="FF0000"/>
                </a:solidFill>
              </a:rPr>
              <a:t>2</a:t>
            </a:r>
            <a:r>
              <a:rPr b="1" lang="en-US" sz="2200">
                <a:solidFill>
                  <a:srgbClr val="FF0000"/>
                </a:solidFill>
              </a:rPr>
              <a:t>  không chứa (r,s</a:t>
            </a:r>
            <a:r>
              <a:rPr lang="en-US" sz="2200">
                <a:solidFill>
                  <a:srgbClr val="FF0000"/>
                </a:solidFill>
              </a:rPr>
              <a:t>)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354" name="Google Shape;354;p25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b. Thủ tục trên P</a:t>
            </a:r>
            <a:r>
              <a:rPr baseline="-25000" lang="en-US"/>
              <a:t>2</a:t>
            </a:r>
            <a:r>
              <a:rPr lang="en-US"/>
              <a:t> </a:t>
            </a:r>
            <a:endParaRPr/>
          </a:p>
        </p:txBody>
      </p:sp>
      <p:sp>
        <p:nvSpPr>
          <p:cNvPr id="355" name="Google Shape;355;p25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59" r="-150" t="-92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Thuật giải</a:t>
            </a:r>
            <a:endParaRPr b="1" sz="3600"/>
          </a:p>
        </p:txBody>
      </p:sp>
      <p:sp>
        <p:nvSpPr>
          <p:cNvPr id="362" name="Google Shape;362;p26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b. Thủ tục trên P</a:t>
            </a:r>
            <a:r>
              <a:rPr baseline="-25000" lang="en-US"/>
              <a:t>2</a:t>
            </a:r>
            <a:r>
              <a:rPr lang="en-US"/>
              <a:t> </a:t>
            </a:r>
            <a:endParaRPr/>
          </a:p>
        </p:txBody>
      </p:sp>
      <p:sp>
        <p:nvSpPr>
          <p:cNvPr id="363" name="Google Shape;363;p26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364" name="Google Shape;364;p26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 txBox="1"/>
          <p:nvPr>
            <p:ph idx="4" type="body"/>
          </p:nvPr>
        </p:nvSpPr>
        <p:spPr>
          <a:xfrm>
            <a:off x="4645025" y="2440339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phân nhánh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7" name="Google Shape;367;p26"/>
          <p:cNvGraphicFramePr/>
          <p:nvPr/>
        </p:nvGraphicFramePr>
        <p:xfrm>
          <a:off x="6096000" y="53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{565A520B-0F4B-461D-AC2B-58CC2170E417}</a:tableStyleId>
              </a:tblPr>
              <a:tblGrid>
                <a:gridCol w="368700"/>
              </a:tblGrid>
              <a:tr h="4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68" name="Google Shape;3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743200"/>
            <a:ext cx="3421063" cy="30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74" name="Google Shape;374;p27"/>
          <p:cNvSpPr txBox="1"/>
          <p:nvPr>
            <p:ph idx="1" type="body"/>
          </p:nvPr>
        </p:nvSpPr>
        <p:spPr>
          <a:xfrm>
            <a:off x="838200" y="1600200"/>
            <a:ext cx="7010400" cy="45259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rút gọn để tính cận dưới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chọn cạnh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lang="en-US"/>
              <a:t>Thủ tục phân nhánh</a:t>
            </a:r>
            <a:endParaRPr/>
          </a:p>
          <a:p>
            <a:pPr indent="-514350" lvl="0" marL="514350" rtl="0" algn="l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AutoNum type="arabicPeriod"/>
            </a:pPr>
            <a:r>
              <a:rPr b="1" lang="en-US"/>
              <a:t>Thủ tục chọn hai cạnh cuối cùng</a:t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B0F0"/>
                </a:solidFill>
              </a:rPr>
              <a:t>Thuật giải</a:t>
            </a:r>
            <a:endParaRPr b="1" sz="3600">
              <a:solidFill>
                <a:srgbClr val="00B0F0"/>
              </a:solidFill>
            </a:endParaRPr>
          </a:p>
        </p:txBody>
      </p:sp>
      <p:sp>
        <p:nvSpPr>
          <p:cNvPr id="380" name="Google Shape;380;p28"/>
          <p:cNvSpPr txBox="1"/>
          <p:nvPr>
            <p:ph idx="1" type="body"/>
          </p:nvPr>
        </p:nvSpPr>
        <p:spPr>
          <a:xfrm>
            <a:off x="457200" y="1800577"/>
            <a:ext cx="4040188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</a:t>
            </a:r>
            <a:endParaRPr/>
          </a:p>
        </p:txBody>
      </p:sp>
      <p:sp>
        <p:nvSpPr>
          <p:cNvPr id="381" name="Google Shape;381;p28"/>
          <p:cNvSpPr txBox="1"/>
          <p:nvPr>
            <p:ph idx="2" type="body"/>
          </p:nvPr>
        </p:nvSpPr>
        <p:spPr>
          <a:xfrm>
            <a:off x="457200" y="2440339"/>
            <a:ext cx="4040188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Sau khi đã chọn n-2 cạnh, chúng ta phải chọn tiếp hai cạnh còn lại.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Lúc này ma trận rút gọn bậc hai có 1 trong hai dạng: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       </a:t>
            </a:r>
            <a:endParaRPr/>
          </a:p>
        </p:txBody>
      </p:sp>
      <p:sp>
        <p:nvSpPr>
          <p:cNvPr id="382" name="Google Shape;382;p28"/>
          <p:cNvSpPr txBox="1"/>
          <p:nvPr>
            <p:ph idx="3" type="body"/>
          </p:nvPr>
        </p:nvSpPr>
        <p:spPr>
          <a:xfrm>
            <a:off x="4645025" y="1800577"/>
            <a:ext cx="4041775" cy="6397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Thủ tục </a:t>
            </a:r>
            <a:endParaRPr/>
          </a:p>
        </p:txBody>
      </p:sp>
      <p:sp>
        <p:nvSpPr>
          <p:cNvPr id="383" name="Google Shape;383;p28"/>
          <p:cNvSpPr txBox="1"/>
          <p:nvPr>
            <p:ph idx="4" type="body"/>
          </p:nvPr>
        </p:nvSpPr>
        <p:spPr>
          <a:xfrm>
            <a:off x="4608512" y="2514600"/>
            <a:ext cx="4041775" cy="395128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8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457200" y="1066800"/>
            <a:ext cx="7924800" cy="57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4"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Thủ tục chọn hai cạnh cuối cùng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5" name="Google Shape;3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743200"/>
            <a:ext cx="17907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2743200"/>
            <a:ext cx="1790700" cy="114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7" name="Google Shape;387;p28"/>
          <p:cNvCxnSpPr/>
          <p:nvPr/>
        </p:nvCxnSpPr>
        <p:spPr>
          <a:xfrm>
            <a:off x="5105400" y="3106992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8"/>
          <p:cNvCxnSpPr/>
          <p:nvPr/>
        </p:nvCxnSpPr>
        <p:spPr>
          <a:xfrm>
            <a:off x="5257800" y="2895600"/>
            <a:ext cx="0" cy="114300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28"/>
          <p:cNvCxnSpPr/>
          <p:nvPr/>
        </p:nvCxnSpPr>
        <p:spPr>
          <a:xfrm>
            <a:off x="7315200" y="2895600"/>
            <a:ext cx="0" cy="990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28"/>
          <p:cNvCxnSpPr/>
          <p:nvPr/>
        </p:nvCxnSpPr>
        <p:spPr>
          <a:xfrm>
            <a:off x="7086600" y="3092244"/>
            <a:ext cx="1447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Ví dụ minh họa</a:t>
            </a:r>
            <a:endParaRPr>
              <a:solidFill>
                <a:srgbClr val="00B0F0"/>
              </a:solidFill>
            </a:endParaRPr>
          </a:p>
        </p:txBody>
      </p:sp>
      <p:pic>
        <p:nvPicPr>
          <p:cNvPr id="396" name="Google Shape;3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75" y="1830388"/>
            <a:ext cx="4945063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ĐS</a:t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990600" y="12954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403" name="Google Shape;403;p30"/>
          <p:cNvSpPr/>
          <p:nvPr/>
        </p:nvSpPr>
        <p:spPr>
          <a:xfrm>
            <a:off x="304800" y="23622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(129) 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2743200" y="14478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(81)P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2286000" y="25908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(113)P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4343400" y="18288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(81)P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962400" y="28956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(101)P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5867400" y="2286000"/>
            <a:ext cx="10668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(84)P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7543800" y="3048000"/>
            <a:ext cx="12954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(104)P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0" name="Google Shape;410;p30"/>
          <p:cNvCxnSpPr>
            <a:stCxn id="402" idx="3"/>
            <a:endCxn id="404" idx="1"/>
          </p:cNvCxnSpPr>
          <p:nvPr/>
        </p:nvCxnSpPr>
        <p:spPr>
          <a:xfrm>
            <a:off x="2057400" y="1562100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1" name="Google Shape;411;p30"/>
          <p:cNvCxnSpPr>
            <a:stCxn id="404" idx="3"/>
            <a:endCxn id="406" idx="1"/>
          </p:cNvCxnSpPr>
          <p:nvPr/>
        </p:nvCxnSpPr>
        <p:spPr>
          <a:xfrm>
            <a:off x="3810000" y="1714500"/>
            <a:ext cx="533400" cy="381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2" name="Google Shape;412;p30"/>
          <p:cNvCxnSpPr>
            <a:stCxn id="406" idx="3"/>
          </p:cNvCxnSpPr>
          <p:nvPr/>
        </p:nvCxnSpPr>
        <p:spPr>
          <a:xfrm>
            <a:off x="5410200" y="2095500"/>
            <a:ext cx="457200" cy="49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3" name="Google Shape;413;p30"/>
          <p:cNvCxnSpPr>
            <a:stCxn id="408" idx="3"/>
          </p:cNvCxnSpPr>
          <p:nvPr/>
        </p:nvCxnSpPr>
        <p:spPr>
          <a:xfrm>
            <a:off x="6934200" y="2552700"/>
            <a:ext cx="685800" cy="41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4" name="Google Shape;414;p30"/>
          <p:cNvCxnSpPr>
            <a:stCxn id="406" idx="2"/>
            <a:endCxn id="407" idx="0"/>
          </p:cNvCxnSpPr>
          <p:nvPr/>
        </p:nvCxnSpPr>
        <p:spPr>
          <a:xfrm flipH="1">
            <a:off x="4495800" y="2362200"/>
            <a:ext cx="38100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5" name="Google Shape;415;p30"/>
          <p:cNvSpPr/>
          <p:nvPr/>
        </p:nvSpPr>
        <p:spPr>
          <a:xfrm>
            <a:off x="5943600" y="3276600"/>
            <a:ext cx="11430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(112)P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6" name="Google Shape;416;p30"/>
          <p:cNvCxnSpPr>
            <a:stCxn id="408" idx="2"/>
            <a:endCxn id="415" idx="0"/>
          </p:cNvCxnSpPr>
          <p:nvPr/>
        </p:nvCxnSpPr>
        <p:spPr>
          <a:xfrm>
            <a:off x="6400800" y="2819400"/>
            <a:ext cx="114300" cy="45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7" name="Google Shape;417;p30"/>
          <p:cNvSpPr/>
          <p:nvPr/>
        </p:nvSpPr>
        <p:spPr>
          <a:xfrm>
            <a:off x="2743200" y="3733800"/>
            <a:ext cx="12954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(127)P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4495800" y="3810000"/>
            <a:ext cx="12192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(103)P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9" name="Google Shape;419;p30"/>
          <p:cNvCxnSpPr>
            <a:stCxn id="407" idx="2"/>
            <a:endCxn id="417" idx="0"/>
          </p:cNvCxnSpPr>
          <p:nvPr/>
        </p:nvCxnSpPr>
        <p:spPr>
          <a:xfrm flipH="1">
            <a:off x="3390900" y="3429000"/>
            <a:ext cx="1104900" cy="30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0" name="Google Shape;420;p30"/>
          <p:cNvCxnSpPr>
            <a:stCxn id="407" idx="2"/>
            <a:endCxn id="418" idx="0"/>
          </p:cNvCxnSpPr>
          <p:nvPr/>
        </p:nvCxnSpPr>
        <p:spPr>
          <a:xfrm>
            <a:off x="4495800" y="3429000"/>
            <a:ext cx="609600" cy="381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1" name="Google Shape;421;p30"/>
          <p:cNvSpPr/>
          <p:nvPr/>
        </p:nvSpPr>
        <p:spPr>
          <a:xfrm>
            <a:off x="5715000" y="5029200"/>
            <a:ext cx="13716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(104)P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11211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3733800" y="5029200"/>
            <a:ext cx="1295400" cy="533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(114)P</a:t>
            </a:r>
            <a:r>
              <a:rPr baseline="-2500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11212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3" name="Google Shape;423;p30"/>
          <p:cNvCxnSpPr>
            <a:stCxn id="418" idx="2"/>
          </p:cNvCxnSpPr>
          <p:nvPr/>
        </p:nvCxnSpPr>
        <p:spPr>
          <a:xfrm flipH="1">
            <a:off x="4343400" y="4343400"/>
            <a:ext cx="762000" cy="60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4" name="Google Shape;424;p30"/>
          <p:cNvCxnSpPr>
            <a:stCxn id="418" idx="2"/>
          </p:cNvCxnSpPr>
          <p:nvPr/>
        </p:nvCxnSpPr>
        <p:spPr>
          <a:xfrm>
            <a:off x="5105400" y="4343400"/>
            <a:ext cx="990600" cy="6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5" name="Google Shape;425;p30"/>
          <p:cNvCxnSpPr>
            <a:stCxn id="402" idx="2"/>
            <a:endCxn id="403" idx="0"/>
          </p:cNvCxnSpPr>
          <p:nvPr/>
        </p:nvCxnSpPr>
        <p:spPr>
          <a:xfrm flipH="1">
            <a:off x="838200" y="18288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6" name="Google Shape;426;p30"/>
          <p:cNvCxnSpPr>
            <a:stCxn id="404" idx="2"/>
            <a:endCxn id="405" idx="0"/>
          </p:cNvCxnSpPr>
          <p:nvPr/>
        </p:nvCxnSpPr>
        <p:spPr>
          <a:xfrm flipH="1">
            <a:off x="2819400" y="19812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7" name="Google Shape;427;p30"/>
          <p:cNvSpPr txBox="1"/>
          <p:nvPr/>
        </p:nvSpPr>
        <p:spPr>
          <a:xfrm>
            <a:off x="1600200" y="18288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(6,3)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3352800" y="19812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(4,6)</a:t>
            </a:r>
            <a:endParaRPr/>
          </a:p>
        </p:txBody>
      </p:sp>
      <p:sp>
        <p:nvSpPr>
          <p:cNvPr id="429" name="Google Shape;429;p30"/>
          <p:cNvSpPr txBox="1"/>
          <p:nvPr/>
        </p:nvSpPr>
        <p:spPr>
          <a:xfrm>
            <a:off x="5029200" y="24384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(2,1)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6781800" y="28194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(1,4)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4191000" y="34290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(5,1)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4876800" y="4572000"/>
            <a:ext cx="627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(1,4)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Bài tập 1</a:t>
            </a:r>
            <a:endParaRPr/>
          </a:p>
        </p:txBody>
      </p:sp>
      <p:pic>
        <p:nvPicPr>
          <p:cNvPr id="438" name="Google Shape;4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752600"/>
            <a:ext cx="4945063" cy="40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6096000"/>
            <a:ext cx="79248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F0"/>
                </a:solidFill>
              </a:rPr>
              <a:t>Bài tập</a:t>
            </a:r>
            <a:endParaRPr>
              <a:solidFill>
                <a:srgbClr val="00B0F0"/>
              </a:solidFill>
            </a:endParaRPr>
          </a:p>
        </p:txBody>
      </p:sp>
      <p:pic>
        <p:nvPicPr>
          <p:cNvPr id="445" name="Google Shape;4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524000"/>
            <a:ext cx="541019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"/>
          <p:cNvSpPr txBox="1"/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1" name="Google Shape;451;p33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219200"/>
            <a:ext cx="6858000" cy="3581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2" name="Google Shape;452;p33"/>
          <p:cNvSpPr txBox="1"/>
          <p:nvPr/>
        </p:nvSpPr>
        <p:spPr>
          <a:xfrm>
            <a:off x="2057400" y="4191000"/>
            <a:ext cx="4876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THAT’S ALL; THANK YOU</a:t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1371600" y="5181600"/>
            <a:ext cx="617220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NEXT? 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Bài toán luồng cực đại trên mạng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1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2012-10-08T14:55:01Z</dcterms:created>
  <dc:creator>mc</dc:creator>
</cp:coreProperties>
</file>