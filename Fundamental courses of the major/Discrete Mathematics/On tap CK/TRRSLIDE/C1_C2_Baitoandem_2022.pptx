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glLt/q2YrBS0nOp4kY1trllEu4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E26986-E62C-44F7-9768-0979396F1786}">
  <a:tblStyle styleId="{5EE26986-E62C-44F7-9768-0979396F178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3B4A211-EC04-4F1B-AD00-7C9035FD32D0}" styleName="Table_1">
    <a:wholeTbl>
      <a:tcTxStyle b="off" i="off">
        <a:font>
          <a:latin typeface="Times New Roman"/>
          <a:ea typeface="Times New Roman"/>
          <a:cs typeface="Times New Roman"/>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customschemas.google.com/relationships/presentationmetadata" Target="metadata"/><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815564a875_0_9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g815564a875_0_9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8177f934de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8177f934de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8177f934de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8177f934de_0_6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87" name="Google Shape;87;g8177f934de_0_6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8177f934de_0_6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8177f934de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8177f934de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177f934de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8177f934de_0_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177f934de_0_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8177f934de_0_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8177f934de_0_69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8177f934de_0_6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8177f934de_0_69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8177f934de_0_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8177f934de_0_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a:t>Mỗi cách đi từ Hà nội đến Sài gòn qua Đà Nẵng được xem gồm 2 chặng</a:t>
            </a:r>
            <a:endParaRPr/>
          </a:p>
          <a:p>
            <a:pPr indent="0" lvl="0" marL="0" rtl="0" algn="l">
              <a:spcBef>
                <a:spcPts val="0"/>
              </a:spcBef>
              <a:spcAft>
                <a:spcPts val="0"/>
              </a:spcAft>
              <a:buNone/>
            </a:pPr>
            <a:r>
              <a:rPr b="0" lang="en-US"/>
              <a:t>        Hà Nội – Đà Nẵng</a:t>
            </a:r>
            <a:endParaRPr/>
          </a:p>
          <a:p>
            <a:pPr indent="0" lvl="0" marL="0" rtl="0" algn="l">
              <a:spcBef>
                <a:spcPts val="0"/>
              </a:spcBef>
              <a:spcAft>
                <a:spcPts val="0"/>
              </a:spcAft>
              <a:buNone/>
            </a:pPr>
            <a:r>
              <a:rPr b="0" lang="en-US"/>
              <a:t>        Đà Nẵng  - Sài Gòn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8177f934de_0_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8177f934de_0_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8177f934de_0_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8177f934de_0_1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a:t> </a:t>
            </a:r>
            <a:endParaRPr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8177f934de_0_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8177f934de_0_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a:p>
            <a:pPr indent="0" lvl="0" marL="0" marR="0" rtl="0" algn="l">
              <a:lnSpc>
                <a:spcPct val="100000"/>
              </a:lnSpc>
              <a:spcBef>
                <a:spcPts val="360"/>
              </a:spcBef>
              <a:spcAft>
                <a:spcPts val="0"/>
              </a:spcAft>
              <a:buClr>
                <a:schemeClr val="dk1"/>
              </a:buClr>
              <a:buSzPts val="1200"/>
              <a:buFont typeface="Calibri"/>
              <a:buNone/>
            </a:pPr>
            <a:r>
              <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a:t> </a:t>
            </a:r>
            <a:endParaRPr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8177f934de_0_7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8177f934de_0_7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8177f934de_0_7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8177f934de_0_2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8177f934de_0_2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8177f934de_0_2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8177f934de_0_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Vi dụ 3: Giả sử tập X có n phần tử là {x1,x2,…,xn}, </a:t>
            </a:r>
            <a:endParaRPr/>
          </a:p>
          <a:p>
            <a:pPr indent="0" lvl="0" marL="0" rtl="0" algn="l">
              <a:spcBef>
                <a:spcPts val="0"/>
              </a:spcBef>
              <a:spcAft>
                <a:spcPts val="0"/>
              </a:spcAft>
              <a:buNone/>
            </a:pPr>
            <a:r>
              <a:rPr b="1" lang="en-US"/>
              <a:t>              Biểu diền một tập con A thuộc X  bằng một dãy nhị phân độ dài n : b =(b1,b2,…,bn)</a:t>
            </a:r>
            <a:endParaRPr/>
          </a:p>
          <a:p>
            <a:pPr indent="0" lvl="0" marL="0" rtl="0" algn="l">
              <a:spcBef>
                <a:spcPts val="0"/>
              </a:spcBef>
              <a:spcAft>
                <a:spcPts val="0"/>
              </a:spcAft>
              <a:buNone/>
            </a:pPr>
            <a:r>
              <a:rPr b="1" lang="en-US"/>
              <a:t>              bi =0 nếu xi không thuộc A</a:t>
            </a:r>
            <a:endParaRPr/>
          </a:p>
          <a:p>
            <a:pPr indent="0" lvl="0" marL="0" rtl="0" algn="l">
              <a:spcBef>
                <a:spcPts val="0"/>
              </a:spcBef>
              <a:spcAft>
                <a:spcPts val="0"/>
              </a:spcAft>
              <a:buNone/>
            </a:pPr>
            <a:r>
              <a:rPr b="1" lang="en-US"/>
              <a:t>              bi =1 nếu xi thuộc A</a:t>
            </a:r>
            <a:endParaRPr/>
          </a:p>
          <a:p>
            <a:pPr indent="0" lvl="0" marL="0" rtl="0" algn="l">
              <a:spcBef>
                <a:spcPts val="0"/>
              </a:spcBef>
              <a:spcAft>
                <a:spcPts val="0"/>
              </a:spcAft>
              <a:buNone/>
            </a:pPr>
            <a:r>
              <a:rPr b="1" lang="en-US"/>
              <a:t>           Từ đó có số tập nhận được là 2 mũ n</a:t>
            </a:r>
            <a:endParaRPr/>
          </a:p>
          <a:p>
            <a:pPr indent="0" lvl="0" marL="0" rtl="0" algn="l">
              <a:spcBef>
                <a:spcPts val="0"/>
              </a:spcBef>
              <a:spcAft>
                <a:spcPts val="0"/>
              </a:spcAft>
              <a:buNone/>
            </a:pPr>
            <a:r>
              <a:rPr b="1" lang="en-US"/>
              <a:t>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8177f934de_0_7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8177f934de_0_7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8177f934de_0_7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8177f934de_0_7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8177f934de_0_7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8177f934de_0_7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8177f934de_0_7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8177f934de_0_7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8177f934de_0_7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8177f934de_0_3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8177f934de_0_3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Mỗi dòng ứn với n  = 0,1,…,n</a:t>
            </a:r>
            <a:endParaRPr/>
          </a:p>
          <a:p>
            <a:pPr indent="0" lvl="0" marL="0" rtl="0" algn="l">
              <a:spcBef>
                <a:spcPts val="0"/>
              </a:spcBef>
              <a:spcAft>
                <a:spcPts val="0"/>
              </a:spcAft>
              <a:buNone/>
            </a:pPr>
            <a:r>
              <a:rPr lang="en-US"/>
              <a:t>Trên mỗi dòng k chạy từ 0,…n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8177f934de_0_3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8177f934de_0_3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Gọi S = S1S2...Sn là một hoán vị của n phần tử trên,</a:t>
            </a:r>
            <a:endParaRPr/>
          </a:p>
          <a:p>
            <a:pPr indent="0" lvl="0" marL="0" rtl="0" algn="l">
              <a:spcBef>
                <a:spcPts val="0"/>
              </a:spcBef>
              <a:spcAft>
                <a:spcPts val="0"/>
              </a:spcAft>
              <a:buNone/>
            </a:pPr>
            <a:r>
              <a:rPr lang="en-US"/>
              <a:t>Có C(n,n1) cách chọn n1 vị trí để đặt các phần tử loại 1</a:t>
            </a:r>
            <a:endParaRPr/>
          </a:p>
          <a:p>
            <a:pPr indent="0" lvl="0" marL="0" rtl="0" algn="l">
              <a:spcBef>
                <a:spcPts val="0"/>
              </a:spcBef>
              <a:spcAft>
                <a:spcPts val="0"/>
              </a:spcAft>
              <a:buNone/>
            </a:pPr>
            <a:r>
              <a:rPr lang="en-US"/>
              <a:t> Sau khi đặt các phần tử loại 1, có C(n-n1,n2) cách chọn n2 vị trí để đặt các phần tử loại 2.</a:t>
            </a:r>
            <a:endParaRPr/>
          </a:p>
          <a:p>
            <a:pPr indent="0" lvl="0" marL="0" rtl="0" algn="l">
              <a:spcBef>
                <a:spcPts val="0"/>
              </a:spcBef>
              <a:spcAft>
                <a:spcPts val="0"/>
              </a:spcAft>
              <a:buNone/>
            </a:pPr>
            <a:r>
              <a:rPr lang="en-US"/>
              <a:t>.............................sau khi đã đặt xong phần tử loại 1, loại 2,...., loại k-1 , Có C(n-n1-...-nk-1,nk) cách chọn vị trị để đặt các phần tử loại k.</a:t>
            </a:r>
            <a:endParaRPr/>
          </a:p>
          <a:p>
            <a:pPr indent="0" lvl="0" marL="0" rtl="0" algn="l">
              <a:spcBef>
                <a:spcPts val="0"/>
              </a:spcBef>
              <a:spcAft>
                <a:spcPts val="0"/>
              </a:spcAft>
              <a:buNone/>
            </a:pPr>
            <a:r>
              <a:rPr lang="en-US"/>
              <a:t>Áp dụng nguyên lý nhân. Số hoán vị lặp trên là</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8177f934de_0_3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8177f934de_0_3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1855f20a0c_1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1855f20a0c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11855f20a0c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8177f934de_0_7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8177f934de_0_7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8177f934de_0_7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8177f934de_0_3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8177f934de_0_3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b="1"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8177f934de_0_7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8177f934de_0_7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8177f934de_0_7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8177f934de_0_7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8177f934de_0_7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8177f934de_0_7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8177f934de_0_3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8177f934de_0_3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g8177f934de_0_3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8177f934de_0_8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8177f934de_0_8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8177f934de_0_8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8177f934de_0_5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8177f934de_0_5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1200">
                <a:solidFill>
                  <a:srgbClr val="002060"/>
                </a:solidFill>
              </a:rPr>
              <a:t>Mỗi nghiệm của phương trình ứng với một cách chọn 15 phần tử của 3 loại:</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8177f934de_0_8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8177f934de_0_8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8177f934de_0_8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8177f934de_0_6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g8177f934de_0_6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14005b7e15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14005b7e1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114005b7e1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14005b7e15_0_39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14005b7e15_0_3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114005b7e15_0_3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14005b7e15_0_4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14005b7e15_0_4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g114005b7e15_0_4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14005b7e15_0_4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14005b7e15_0_4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g114005b7e15_0_4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14005b7e15_0_4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14005b7e15_0_4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g114005b7e15_0_4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14005b7e15_0_4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114005b7e15_0_4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g114005b7e15_0_4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14005b7e15_0_7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14005b7e15_0_7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g114005b7e15_0_7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14005b7e15_0_9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14005b7e15_0_9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g114005b7e15_0_9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14005b7e15_0_10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14005b7e15_0_10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g114005b7e15_0_10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14005b7e15_0_10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14005b7e15_0_10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g114005b7e15_0_10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14005b7e15_0_10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14005b7e15_0_10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g114005b7e15_0_10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14005b7e15_0_10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14005b7e15_0_10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g114005b7e15_0_10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14005b7e15_0_10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114005b7e15_0_10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g114005b7e15_0_10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14005b7e15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14005b7e15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g114005b7e15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81753c9695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81753c9695_0_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3"/>
          <p:cNvSpPr txBox="1"/>
          <p:nvPr>
            <p:ph idx="1" type="body"/>
          </p:nvPr>
        </p:nvSpPr>
        <p:spPr>
          <a:xfrm>
            <a:off x="493776" y="3968497"/>
            <a:ext cx="4978908" cy="1650381"/>
          </a:xfrm>
          <a:prstGeom prst="rect">
            <a:avLst/>
          </a:prstGeom>
          <a:noFill/>
          <a:ln>
            <a:noFill/>
          </a:ln>
        </p:spPr>
        <p:txBody>
          <a:bodyPr anchorCtr="0" anchor="t" bIns="45700" lIns="0" spcFirstLastPara="1" rIns="91425" wrap="square" tIns="45700">
            <a:noAutofit/>
          </a:bodyPr>
          <a:lstStyle>
            <a:lvl1pPr indent="-228600" lvl="0" marL="457200" algn="l">
              <a:lnSpc>
                <a:spcPct val="130000"/>
              </a:lnSpc>
              <a:spcBef>
                <a:spcPts val="600"/>
              </a:spcBef>
              <a:spcAft>
                <a:spcPts val="0"/>
              </a:spcAft>
              <a:buSzPts val="3360"/>
              <a:buNone/>
              <a:defRPr b="0" i="0" sz="2800">
                <a:solidFill>
                  <a:schemeClr val="lt1"/>
                </a:solidFill>
                <a:latin typeface="Georgia"/>
                <a:ea typeface="Georgia"/>
                <a:cs typeface="Georgia"/>
                <a:sym typeface="Georgia"/>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3"/>
          <p:cNvSpPr txBox="1"/>
          <p:nvPr>
            <p:ph type="ctrTitle"/>
          </p:nvPr>
        </p:nvSpPr>
        <p:spPr>
          <a:xfrm>
            <a:off x="493776" y="1239123"/>
            <a:ext cx="4978908" cy="2386584"/>
          </a:xfrm>
          <a:prstGeom prst="rect">
            <a:avLst/>
          </a:prstGeom>
          <a:noFill/>
          <a:ln>
            <a:noFill/>
          </a:ln>
        </p:spPr>
        <p:txBody>
          <a:bodyPr anchorCtr="0" anchor="b" bIns="45700" lIns="0" spcFirstLastPara="1" rIns="91425" wrap="square" tIns="45700">
            <a:noAutofit/>
          </a:bodyPr>
          <a:lstStyle>
            <a:lvl1pPr lvl="0" algn="l">
              <a:lnSpc>
                <a:spcPct val="161111"/>
              </a:lnSpc>
              <a:spcBef>
                <a:spcPts val="0"/>
              </a:spcBef>
              <a:spcAft>
                <a:spcPts val="0"/>
              </a:spcAft>
              <a:buClr>
                <a:schemeClr val="lt1"/>
              </a:buClr>
              <a:buSzPts val="3600"/>
              <a:buFont typeface="Arial"/>
              <a:buNone/>
              <a:defRPr b="1" i="0" sz="3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0" name="Google Shape;20;p13"/>
          <p:cNvCxnSpPr/>
          <p:nvPr/>
        </p:nvCxnSpPr>
        <p:spPr>
          <a:xfrm>
            <a:off x="276359" y="2216727"/>
            <a:ext cx="0" cy="3402150"/>
          </a:xfrm>
          <a:prstGeom prst="straightConnector1">
            <a:avLst/>
          </a:prstGeom>
          <a:noFill/>
          <a:ln cap="flat" cmpd="sng" w="28575">
            <a:solidFill>
              <a:schemeClr val="lt1"/>
            </a:solidFill>
            <a:prstDash val="dash"/>
            <a:miter lim="800000"/>
            <a:headEnd len="sm" w="sm" type="none"/>
            <a:tailEnd len="sm" w="sm" type="none"/>
          </a:ln>
        </p:spPr>
      </p:cxnSp>
      <p:pic>
        <p:nvPicPr>
          <p:cNvPr id="21" name="Google Shape;21;p13"/>
          <p:cNvPicPr preferRelativeResize="0"/>
          <p:nvPr/>
        </p:nvPicPr>
        <p:blipFill rotWithShape="1">
          <a:blip r:embed="rId3">
            <a:alphaModFix/>
          </a:blip>
          <a:srcRect b="0" l="0" r="0" t="0"/>
          <a:stretch/>
        </p:blipFill>
        <p:spPr>
          <a:xfrm>
            <a:off x="137569" y="129505"/>
            <a:ext cx="5210286" cy="11096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4"/>
          <p:cNvSpPr txBox="1"/>
          <p:nvPr>
            <p:ph type="ctrTitle"/>
          </p:nvPr>
        </p:nvSpPr>
        <p:spPr>
          <a:xfrm>
            <a:off x="493776" y="1490663"/>
            <a:ext cx="4978908" cy="2387600"/>
          </a:xfrm>
          <a:prstGeom prst="rect">
            <a:avLst/>
          </a:prstGeom>
          <a:noFill/>
          <a:ln>
            <a:noFill/>
          </a:ln>
        </p:spPr>
        <p:txBody>
          <a:bodyPr anchorCtr="0" anchor="b" bIns="45700" lIns="0" spcFirstLastPara="1" rIns="91425" wrap="square" tIns="45700">
            <a:noAutofit/>
          </a:bodyPr>
          <a:lstStyle>
            <a:lvl1pPr lv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 type="subTitle"/>
          </p:nvPr>
        </p:nvSpPr>
        <p:spPr>
          <a:xfrm>
            <a:off x="493776" y="3970337"/>
            <a:ext cx="4978908" cy="2212976"/>
          </a:xfrm>
          <a:prstGeom prst="rect">
            <a:avLst/>
          </a:prstGeom>
          <a:noFill/>
          <a:ln>
            <a:noFill/>
          </a:ln>
        </p:spPr>
        <p:txBody>
          <a:bodyPr anchorCtr="0" anchor="t" bIns="45700" lIns="0" spcFirstLastPara="1" rIns="91425" wrap="square" tIns="45700">
            <a:noAutofit/>
          </a:bodyPr>
          <a:lstStyle>
            <a:lvl1pPr lv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algn="ctr">
              <a:lnSpc>
                <a:spcPct val="130000"/>
              </a:lnSpc>
              <a:spcBef>
                <a:spcPts val="600"/>
              </a:spcBef>
              <a:spcAft>
                <a:spcPts val="0"/>
              </a:spcAft>
              <a:buSzPts val="2400"/>
              <a:buNone/>
              <a:defRPr sz="2000"/>
            </a:lvl2pPr>
            <a:lvl3pPr lvl="2" algn="ctr">
              <a:lnSpc>
                <a:spcPct val="130000"/>
              </a:lnSpc>
              <a:spcBef>
                <a:spcPts val="600"/>
              </a:spcBef>
              <a:spcAft>
                <a:spcPts val="0"/>
              </a:spcAft>
              <a:buSzPts val="2160"/>
              <a:buNone/>
              <a:defRPr sz="1800"/>
            </a:lvl3pPr>
            <a:lvl4pPr lvl="3" algn="ctr">
              <a:lnSpc>
                <a:spcPct val="130000"/>
              </a:lnSpc>
              <a:spcBef>
                <a:spcPts val="600"/>
              </a:spcBef>
              <a:spcAft>
                <a:spcPts val="0"/>
              </a:spcAft>
              <a:buSzPts val="1920"/>
              <a:buNone/>
              <a:defRPr sz="1600"/>
            </a:lvl4pPr>
            <a:lvl5pPr lvl="4" algn="ctr">
              <a:lnSpc>
                <a:spcPct val="130000"/>
              </a:lnSpc>
              <a:spcBef>
                <a:spcPts val="600"/>
              </a:spcBef>
              <a:spcAft>
                <a:spcPts val="0"/>
              </a:spcAft>
              <a:buSzPts val="192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15"/>
          <p:cNvSpPr txBox="1"/>
          <p:nvPr>
            <p:ph type="title"/>
          </p:nvPr>
        </p:nvSpPr>
        <p:spPr>
          <a:xfrm>
            <a:off x="425196" y="1001018"/>
            <a:ext cx="7850124" cy="1089529"/>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body"/>
          </p:nvPr>
        </p:nvSpPr>
        <p:spPr>
          <a:xfrm>
            <a:off x="425196" y="2185417"/>
            <a:ext cx="7770114" cy="3968249"/>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SzPts val="2160"/>
              <a:buChar char="•"/>
              <a:defRPr>
                <a:solidFill>
                  <a:srgbClr val="333333"/>
                </a:solidFill>
                <a:latin typeface="Times New Roman"/>
                <a:ea typeface="Times New Roman"/>
                <a:cs typeface="Times New Roman"/>
                <a:sym typeface="Times New Roman"/>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5"/>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9" name="Shape 29"/>
        <p:cNvGrpSpPr/>
        <p:nvPr/>
      </p:nvGrpSpPr>
      <p:grpSpPr>
        <a:xfrm>
          <a:off x="0" y="0"/>
          <a:ext cx="0" cy="0"/>
          <a:chOff x="0" y="0"/>
          <a:chExt cx="0" cy="0"/>
        </a:xfrm>
      </p:grpSpPr>
      <p:sp>
        <p:nvSpPr>
          <p:cNvPr id="30" name="Google Shape;30;p18"/>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16"/>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 type="body"/>
          </p:nvPr>
        </p:nvSpPr>
        <p:spPr>
          <a:xfrm>
            <a:off x="425196" y="2185416"/>
            <a:ext cx="3792474" cy="3948684"/>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SzPts val="2160"/>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6"/>
          <p:cNvSpPr txBox="1"/>
          <p:nvPr>
            <p:ph idx="2" type="body"/>
          </p:nvPr>
        </p:nvSpPr>
        <p:spPr>
          <a:xfrm>
            <a:off x="4389120" y="2185416"/>
            <a:ext cx="3922776" cy="3950208"/>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SzPts val="2160"/>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17"/>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 type="body"/>
          </p:nvPr>
        </p:nvSpPr>
        <p:spPr>
          <a:xfrm>
            <a:off x="425196" y="2185416"/>
            <a:ext cx="3854196" cy="393192"/>
          </a:xfrm>
          <a:prstGeom prst="rect">
            <a:avLst/>
          </a:prstGeom>
          <a:noFill/>
          <a:ln>
            <a:noFill/>
          </a:ln>
        </p:spPr>
        <p:txBody>
          <a:bodyPr anchorCtr="0" anchor="t" bIns="45700" lIns="91425" spcFirstLastPara="1" rIns="91425" wrap="square" tIns="45700">
            <a:spAutoFit/>
          </a:bodyPr>
          <a:lstStyle>
            <a:lvl1pPr indent="-228600" lvl="0" marL="457200" algn="l">
              <a:lnSpc>
                <a:spcPct val="130000"/>
              </a:lnSpc>
              <a:spcBef>
                <a:spcPts val="600"/>
              </a:spcBef>
              <a:spcAft>
                <a:spcPts val="0"/>
              </a:spcAft>
              <a:buSzPts val="1920"/>
              <a:buNone/>
              <a:defRPr b="1" sz="1600" cap="none">
                <a:solidFill>
                  <a:schemeClr val="dk2"/>
                </a:solidFill>
              </a:defRPr>
            </a:lvl1pPr>
            <a:lvl2pPr indent="-228600" lvl="1" marL="914400" algn="l">
              <a:lnSpc>
                <a:spcPct val="130000"/>
              </a:lnSpc>
              <a:spcBef>
                <a:spcPts val="600"/>
              </a:spcBef>
              <a:spcAft>
                <a:spcPts val="0"/>
              </a:spcAft>
              <a:buSzPts val="2400"/>
              <a:buNone/>
              <a:defRPr b="1" sz="2000"/>
            </a:lvl2pPr>
            <a:lvl3pPr indent="-228600" lvl="2" marL="1371600" algn="l">
              <a:lnSpc>
                <a:spcPct val="130000"/>
              </a:lnSpc>
              <a:spcBef>
                <a:spcPts val="600"/>
              </a:spcBef>
              <a:spcAft>
                <a:spcPts val="0"/>
              </a:spcAft>
              <a:buSzPts val="2160"/>
              <a:buNone/>
              <a:defRPr b="1" sz="1800"/>
            </a:lvl3pPr>
            <a:lvl4pPr indent="-228600" lvl="3" marL="1828800" algn="l">
              <a:lnSpc>
                <a:spcPct val="130000"/>
              </a:lnSpc>
              <a:spcBef>
                <a:spcPts val="600"/>
              </a:spcBef>
              <a:spcAft>
                <a:spcPts val="0"/>
              </a:spcAft>
              <a:buSzPts val="1920"/>
              <a:buNone/>
              <a:defRPr b="1" sz="1600"/>
            </a:lvl4pPr>
            <a:lvl5pPr indent="-228600" lvl="4" marL="2286000" algn="l">
              <a:lnSpc>
                <a:spcPct val="130000"/>
              </a:lnSpc>
              <a:spcBef>
                <a:spcPts val="600"/>
              </a:spcBef>
              <a:spcAft>
                <a:spcPts val="0"/>
              </a:spcAft>
              <a:buSzPts val="192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17"/>
          <p:cNvSpPr txBox="1"/>
          <p:nvPr>
            <p:ph idx="2" type="body"/>
          </p:nvPr>
        </p:nvSpPr>
        <p:spPr>
          <a:xfrm>
            <a:off x="425197" y="2593340"/>
            <a:ext cx="3855386" cy="3535744"/>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7"/>
          <p:cNvSpPr txBox="1"/>
          <p:nvPr>
            <p:ph idx="3" type="body"/>
          </p:nvPr>
        </p:nvSpPr>
        <p:spPr>
          <a:xfrm>
            <a:off x="4629150" y="2185416"/>
            <a:ext cx="3854196" cy="379078"/>
          </a:xfrm>
          <a:prstGeom prst="rect">
            <a:avLst/>
          </a:prstGeom>
          <a:noFill/>
          <a:ln>
            <a:noFill/>
          </a:ln>
        </p:spPr>
        <p:txBody>
          <a:bodyPr anchorCtr="0" anchor="t" bIns="45700" lIns="91425" spcFirstLastPara="1" rIns="91425" wrap="square" tIns="45700">
            <a:spAutoFit/>
          </a:bodyPr>
          <a:lstStyle>
            <a:lvl1pPr indent="-228600" lvl="0" marL="457200" algn="l">
              <a:lnSpc>
                <a:spcPct val="130000"/>
              </a:lnSpc>
              <a:spcBef>
                <a:spcPts val="600"/>
              </a:spcBef>
              <a:spcAft>
                <a:spcPts val="0"/>
              </a:spcAft>
              <a:buSzPts val="1920"/>
              <a:buNone/>
              <a:defRPr b="1" sz="1600" cap="none">
                <a:solidFill>
                  <a:schemeClr val="dk2"/>
                </a:solidFill>
              </a:defRPr>
            </a:lvl1pPr>
            <a:lvl2pPr indent="-228600" lvl="1" marL="914400" algn="l">
              <a:lnSpc>
                <a:spcPct val="130000"/>
              </a:lnSpc>
              <a:spcBef>
                <a:spcPts val="600"/>
              </a:spcBef>
              <a:spcAft>
                <a:spcPts val="0"/>
              </a:spcAft>
              <a:buSzPts val="2400"/>
              <a:buNone/>
              <a:defRPr b="1" sz="2000"/>
            </a:lvl2pPr>
            <a:lvl3pPr indent="-228600" lvl="2" marL="1371600" algn="l">
              <a:lnSpc>
                <a:spcPct val="130000"/>
              </a:lnSpc>
              <a:spcBef>
                <a:spcPts val="600"/>
              </a:spcBef>
              <a:spcAft>
                <a:spcPts val="0"/>
              </a:spcAft>
              <a:buSzPts val="2160"/>
              <a:buNone/>
              <a:defRPr b="1" sz="1800"/>
            </a:lvl3pPr>
            <a:lvl4pPr indent="-228600" lvl="3" marL="1828800" algn="l">
              <a:lnSpc>
                <a:spcPct val="130000"/>
              </a:lnSpc>
              <a:spcBef>
                <a:spcPts val="600"/>
              </a:spcBef>
              <a:spcAft>
                <a:spcPts val="0"/>
              </a:spcAft>
              <a:buSzPts val="1920"/>
              <a:buNone/>
              <a:defRPr b="1" sz="1600"/>
            </a:lvl4pPr>
            <a:lvl5pPr indent="-228600" lvl="4" marL="2286000" algn="l">
              <a:lnSpc>
                <a:spcPct val="130000"/>
              </a:lnSpc>
              <a:spcBef>
                <a:spcPts val="600"/>
              </a:spcBef>
              <a:spcAft>
                <a:spcPts val="0"/>
              </a:spcAft>
              <a:buSzPts val="192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17"/>
          <p:cNvSpPr txBox="1"/>
          <p:nvPr>
            <p:ph idx="4" type="body"/>
          </p:nvPr>
        </p:nvSpPr>
        <p:spPr>
          <a:xfrm>
            <a:off x="4629150" y="2590800"/>
            <a:ext cx="3854196" cy="3538728"/>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7"/>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p:cSld name="Toán Rời Rạc">
    <p:spTree>
      <p:nvGrpSpPr>
        <p:cNvPr id="44" name="Shape 44"/>
        <p:cNvGrpSpPr/>
        <p:nvPr/>
      </p:nvGrpSpPr>
      <p:grpSpPr>
        <a:xfrm>
          <a:off x="0" y="0"/>
          <a:ext cx="0" cy="0"/>
          <a:chOff x="0" y="0"/>
          <a:chExt cx="0" cy="0"/>
        </a:xfrm>
      </p:grpSpPr>
      <p:sp>
        <p:nvSpPr>
          <p:cNvPr id="45" name="Google Shape;45;g114005b7e15_0_1164"/>
          <p:cNvSpPr txBox="1"/>
          <p:nvPr>
            <p:ph idx="1" type="body"/>
          </p:nvPr>
        </p:nvSpPr>
        <p:spPr>
          <a:xfrm>
            <a:off x="457200" y="1600200"/>
            <a:ext cx="8229600" cy="4525500"/>
          </a:xfrm>
          <a:prstGeom prst="rect">
            <a:avLst/>
          </a:prstGeom>
          <a:noFill/>
          <a:ln>
            <a:noFill/>
          </a:ln>
        </p:spPr>
        <p:txBody>
          <a:bodyPr anchorCtr="0" anchor="t" bIns="45700" lIns="91425" spcFirstLastPara="1" rIns="91425" wrap="square" tIns="45700">
            <a:noAutofit/>
          </a:bodyPr>
          <a:lstStyle>
            <a:lvl1pPr indent="-406400" lvl="0" marL="457200" rtl="0" algn="l">
              <a:spcBef>
                <a:spcPts val="560"/>
              </a:spcBef>
              <a:spcAft>
                <a:spcPts val="0"/>
              </a:spcAft>
              <a:buClr>
                <a:schemeClr val="dk1"/>
              </a:buClr>
              <a:buSzPts val="2800"/>
              <a:buChar char="•"/>
              <a:defRPr sz="2800">
                <a:solidFill>
                  <a:schemeClr val="dk1"/>
                </a:solidFill>
              </a:defRPr>
            </a:lvl1pPr>
            <a:lvl2pPr indent="-381000" lvl="1" marL="914400" rtl="0" algn="l">
              <a:spcBef>
                <a:spcPts val="480"/>
              </a:spcBef>
              <a:spcAft>
                <a:spcPts val="0"/>
              </a:spcAft>
              <a:buClr>
                <a:schemeClr val="dk1"/>
              </a:buClr>
              <a:buSzPts val="2400"/>
              <a:buChar char="-"/>
              <a:defRPr sz="2400">
                <a:solidFill>
                  <a:schemeClr val="dk1"/>
                </a:solidFill>
              </a:defRPr>
            </a:lvl2pPr>
            <a:lvl3pPr indent="-355600" lvl="2" marL="1371600" rtl="0" algn="l">
              <a:spcBef>
                <a:spcPts val="400"/>
              </a:spcBef>
              <a:spcAft>
                <a:spcPts val="0"/>
              </a:spcAft>
              <a:buClr>
                <a:schemeClr val="dk1"/>
              </a:buClr>
              <a:buSzPts val="2000"/>
              <a:buChar char="-"/>
              <a:defRPr sz="2000">
                <a:solidFill>
                  <a:schemeClr val="dk1"/>
                </a:solidFill>
              </a:defRPr>
            </a:lvl3pPr>
            <a:lvl4pPr indent="-342900" lvl="3" marL="1828800" rtl="0" algn="l">
              <a:spcBef>
                <a:spcPts val="360"/>
              </a:spcBef>
              <a:spcAft>
                <a:spcPts val="0"/>
              </a:spcAft>
              <a:buClr>
                <a:schemeClr val="dk1"/>
              </a:buClr>
              <a:buSzPts val="1800"/>
              <a:buChar char="-"/>
              <a:defRPr sz="1800">
                <a:solidFill>
                  <a:schemeClr val="dk1"/>
                </a:solidFill>
              </a:defRPr>
            </a:lvl4pPr>
            <a:lvl5pPr indent="-342900" lvl="4" marL="2286000" rtl="0" algn="l">
              <a:spcBef>
                <a:spcPts val="360"/>
              </a:spcBef>
              <a:spcAft>
                <a:spcPts val="0"/>
              </a:spcAft>
              <a:buClr>
                <a:schemeClr val="dk1"/>
              </a:buClr>
              <a:buSzPts val="1800"/>
              <a:buChar char="-"/>
              <a:defRPr sz="1800">
                <a:solidFill>
                  <a:schemeClr val="dk1"/>
                </a:solidFill>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pic>
        <p:nvPicPr>
          <p:cNvPr id="46" name="Google Shape;46;g114005b7e15_0_1164"/>
          <p:cNvPicPr preferRelativeResize="0"/>
          <p:nvPr/>
        </p:nvPicPr>
        <p:blipFill rotWithShape="1">
          <a:blip r:embed="rId2">
            <a:alphaModFix/>
          </a:blip>
          <a:srcRect b="0" l="0" r="0" t="0"/>
          <a:stretch/>
        </p:blipFill>
        <p:spPr>
          <a:xfrm>
            <a:off x="8077200" y="335756"/>
            <a:ext cx="765176" cy="609600"/>
          </a:xfrm>
          <a:prstGeom prst="rect">
            <a:avLst/>
          </a:prstGeom>
          <a:noFill/>
          <a:ln>
            <a:noFill/>
          </a:ln>
        </p:spPr>
      </p:pic>
      <p:pic>
        <p:nvPicPr>
          <p:cNvPr id="47" name="Google Shape;47;g114005b7e15_0_1164"/>
          <p:cNvPicPr preferRelativeResize="0"/>
          <p:nvPr/>
        </p:nvPicPr>
        <p:blipFill rotWithShape="1">
          <a:blip r:embed="rId3">
            <a:alphaModFix/>
          </a:blip>
          <a:srcRect b="0" l="0" r="0" t="0"/>
          <a:stretch/>
        </p:blipFill>
        <p:spPr>
          <a:xfrm>
            <a:off x="329808" y="345863"/>
            <a:ext cx="768163" cy="658425"/>
          </a:xfrm>
          <a:prstGeom prst="rect">
            <a:avLst/>
          </a:prstGeom>
          <a:noFill/>
          <a:ln>
            <a:noFill/>
          </a:ln>
        </p:spPr>
      </p:pic>
      <p:sp>
        <p:nvSpPr>
          <p:cNvPr id="48" name="Google Shape;48;g114005b7e15_0_1164"/>
          <p:cNvSpPr txBox="1"/>
          <p:nvPr>
            <p:ph type="title"/>
          </p:nvPr>
        </p:nvSpPr>
        <p:spPr>
          <a:xfrm>
            <a:off x="1097971" y="274639"/>
            <a:ext cx="6979200" cy="7296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3600"/>
              <a:buNone/>
              <a:defRPr sz="32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9" name="Google Shape;49;g114005b7e15_0_1164"/>
          <p:cNvSpPr txBox="1"/>
          <p:nvPr>
            <p:ph idx="10" type="dt"/>
          </p:nvPr>
        </p:nvSpPr>
        <p:spPr>
          <a:xfrm>
            <a:off x="329807" y="6610719"/>
            <a:ext cx="965700" cy="24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solidFill>
                  <a:schemeClr val="l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0" name="Google Shape;50;g114005b7e15_0_1164"/>
          <p:cNvSpPr txBox="1"/>
          <p:nvPr>
            <p:ph idx="11" type="ftr"/>
          </p:nvPr>
        </p:nvSpPr>
        <p:spPr>
          <a:xfrm>
            <a:off x="329808" y="6538912"/>
            <a:ext cx="67569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solidFill>
                  <a:schemeClr val="l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1" name="Google Shape;51;g114005b7e15_0_1164"/>
          <p:cNvSpPr txBox="1"/>
          <p:nvPr>
            <p:ph idx="12" type="sldNum"/>
          </p:nvPr>
        </p:nvSpPr>
        <p:spPr>
          <a:xfrm>
            <a:off x="7086599" y="6538912"/>
            <a:ext cx="2057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spcAft>
                <a:spcPts val="0"/>
              </a:spcAft>
              <a:buNone/>
              <a:defRPr/>
            </a:lvl1pPr>
            <a:lvl2pPr indent="0" lvl="1" marL="0" rtl="0" algn="r">
              <a:spcBef>
                <a:spcPts val="0"/>
              </a:spcBef>
              <a:spcAft>
                <a:spcPts val="0"/>
              </a:spcAft>
              <a:buNone/>
              <a:defRPr/>
            </a:lvl2pPr>
            <a:lvl3pPr indent="0" lvl="2" marL="0" rtl="0" algn="r">
              <a:spcBef>
                <a:spcPts val="0"/>
              </a:spcBef>
              <a:spcAft>
                <a:spcPts val="0"/>
              </a:spcAft>
              <a:buNone/>
              <a:defRPr/>
            </a:lvl3pPr>
            <a:lvl4pPr indent="0" lvl="3" marL="0" rtl="0" algn="r">
              <a:spcBef>
                <a:spcPts val="0"/>
              </a:spcBef>
              <a:spcAft>
                <a:spcPts val="0"/>
              </a:spcAft>
              <a:buNone/>
              <a:defRPr/>
            </a:lvl4pPr>
            <a:lvl5pPr indent="0" lvl="4" marL="0" rtl="0" algn="r">
              <a:spcBef>
                <a:spcPts val="0"/>
              </a:spcBef>
              <a:spcAft>
                <a:spcPts val="0"/>
              </a:spcAft>
              <a:buNone/>
              <a:defRPr/>
            </a:lvl5pPr>
            <a:lvl6pPr indent="0" lvl="5" marL="0" rtl="0" algn="r">
              <a:spcBef>
                <a:spcPts val="0"/>
              </a:spcBef>
              <a:spcAft>
                <a:spcPts val="0"/>
              </a:spcAft>
              <a:buNone/>
              <a:defRPr/>
            </a:lvl6pPr>
            <a:lvl7pPr indent="0" lvl="6" marL="0" rtl="0" algn="r">
              <a:spcBef>
                <a:spcPts val="0"/>
              </a:spcBef>
              <a:spcAft>
                <a:spcPts val="0"/>
              </a:spcAft>
              <a:buNone/>
              <a:defRPr/>
            </a:lvl7pPr>
            <a:lvl8pPr indent="0" lvl="7" marL="0" rtl="0" algn="r">
              <a:spcBef>
                <a:spcPts val="0"/>
              </a:spcBef>
              <a:spcAft>
                <a:spcPts val="0"/>
              </a:spcAft>
              <a:buNone/>
              <a:defRPr/>
            </a:lvl8pPr>
            <a:lvl9pPr indent="0" lvl="8" marL="0" rt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1.xml"/><Relationship Id="rId11" Type="http://schemas.openxmlformats.org/officeDocument/2006/relationships/theme" Target="../theme/theme2.xml"/><Relationship Id="rId10" Type="http://schemas.openxmlformats.org/officeDocument/2006/relationships/slideLayout" Target="../slideLayouts/slideLayout7.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marR="0" rtl="0" algn="l">
              <a:lnSpc>
                <a:spcPct val="90000"/>
              </a:lnSpc>
              <a:spcBef>
                <a:spcPts val="0"/>
              </a:spcBef>
              <a:spcAft>
                <a:spcPts val="0"/>
              </a:spcAft>
              <a:buClr>
                <a:schemeClr val="dk2"/>
              </a:buClr>
              <a:buSzPts val="3600"/>
              <a:buFont typeface="Georgia"/>
              <a:buNone/>
              <a:defRPr b="0" i="0" sz="3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425196" y="2185417"/>
            <a:ext cx="7886700" cy="3968249"/>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Clr>
                <a:schemeClr val="dk2"/>
              </a:buClr>
              <a:buSzPts val="2160"/>
              <a:buFont typeface="Arial"/>
              <a:buChar char="•"/>
              <a:defRPr b="0" i="0" sz="1800" u="none" cap="none" strike="noStrike">
                <a:solidFill>
                  <a:schemeClr val="dk1"/>
                </a:solidFill>
                <a:latin typeface="Arial"/>
                <a:ea typeface="Arial"/>
                <a:cs typeface="Arial"/>
                <a:sym typeface="Arial"/>
              </a:defRPr>
            </a:lvl1pPr>
            <a:lvl2pPr indent="-365760" lvl="1" marL="9144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2pPr>
            <a:lvl3pPr indent="-365760" lvl="2" marL="13716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3pPr>
            <a:lvl4pPr indent="-365760" lvl="3" marL="18288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4pPr>
            <a:lvl5pPr indent="-365760" lvl="4" marL="22860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2"/>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2"/>
          <p:cNvSpPr txBox="1"/>
          <p:nvPr/>
        </p:nvSpPr>
        <p:spPr>
          <a:xfrm>
            <a:off x="5542161" y="217021"/>
            <a:ext cx="2769394" cy="48731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14" name="Google Shape;14;p12"/>
          <p:cNvSpPr/>
          <p:nvPr/>
        </p:nvSpPr>
        <p:spPr>
          <a:xfrm>
            <a:off x="8311897" y="134971"/>
            <a:ext cx="645414" cy="595823"/>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15" name="Google Shape;15;p12"/>
          <p:cNvPicPr preferRelativeResize="0"/>
          <p:nvPr/>
        </p:nvPicPr>
        <p:blipFill rotWithShape="1">
          <a:blip r:embed="rId2">
            <a:alphaModFix/>
          </a:blip>
          <a:srcRect b="0" l="0" r="0" t="0"/>
          <a:stretch/>
        </p:blipFill>
        <p:spPr>
          <a:xfrm>
            <a:off x="-102631" y="-33229"/>
            <a:ext cx="4323649" cy="920794"/>
          </a:xfrm>
          <a:prstGeom prst="rect">
            <a:avLst/>
          </a:prstGeom>
          <a:noFill/>
          <a:ln>
            <a:noFill/>
          </a:ln>
        </p:spPr>
      </p:pic>
      <p:pic>
        <p:nvPicPr>
          <p:cNvPr descr="A close up of a sign&#10;&#10;Description automatically generated" id="16" name="Google Shape;16;p12"/>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slide" Target="/ppt/slides/slide4.xml"/><Relationship Id="rId11" Type="http://schemas.openxmlformats.org/officeDocument/2006/relationships/slide" Target="/ppt/slides/slide31.xml"/><Relationship Id="rId10" Type="http://schemas.openxmlformats.org/officeDocument/2006/relationships/slide" Target="/ppt/slides/slide24.xml"/><Relationship Id="rId12" Type="http://schemas.openxmlformats.org/officeDocument/2006/relationships/slide" Target="/ppt/slides/slide39.xml"/><Relationship Id="rId9" Type="http://schemas.openxmlformats.org/officeDocument/2006/relationships/slide" Target="/ppt/slides/slide21.xml"/><Relationship Id="rId5" Type="http://schemas.openxmlformats.org/officeDocument/2006/relationships/slide" Target="/ppt/slides/slide9.xml"/><Relationship Id="rId6" Type="http://schemas.openxmlformats.org/officeDocument/2006/relationships/slide" Target="/ppt/slides/slide14.xml"/><Relationship Id="rId7" Type="http://schemas.openxmlformats.org/officeDocument/2006/relationships/slide" Target="/ppt/slides/slide17.xml"/><Relationship Id="rId8" Type="http://schemas.openxmlformats.org/officeDocument/2006/relationships/slide" Target="/ppt/slid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510473" y="1804112"/>
            <a:ext cx="5620003" cy="2020414"/>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US"/>
              <a:t>TOÁN RỜI RẠC</a:t>
            </a:r>
            <a:endParaRPr/>
          </a:p>
        </p:txBody>
      </p:sp>
      <p:sp>
        <p:nvSpPr>
          <p:cNvPr id="57" name="Google Shape;57;p1"/>
          <p:cNvSpPr txBox="1"/>
          <p:nvPr/>
        </p:nvSpPr>
        <p:spPr>
          <a:xfrm>
            <a:off x="1309143" y="4828745"/>
            <a:ext cx="4944078" cy="6104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00"/>
                </a:solidFill>
                <a:latin typeface="Arial"/>
                <a:ea typeface="Arial"/>
                <a:cs typeface="Arial"/>
                <a:sym typeface="Arial"/>
              </a:rPr>
              <a:t>Khoa Công Nghệ Thông Tin</a:t>
            </a:r>
            <a:endParaRPr b="1" i="0" sz="1600" u="none" cap="none" strike="noStrike">
              <a:solidFill>
                <a:srgbClr val="FFFF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TS. Nguyễn Văn Hiệu</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437871" y="4735071"/>
            <a:ext cx="797773" cy="797773"/>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59" name="Google Shape;59;p1"/>
          <p:cNvPicPr preferRelativeResize="0"/>
          <p:nvPr/>
        </p:nvPicPr>
        <p:blipFill rotWithShape="1">
          <a:blip r:embed="rId3">
            <a:alphaModFix/>
          </a:blip>
          <a:srcRect b="0" l="0" r="0" t="0"/>
          <a:stretch/>
        </p:blipFill>
        <p:spPr>
          <a:xfrm>
            <a:off x="476464" y="4764626"/>
            <a:ext cx="743275" cy="728410"/>
          </a:xfrm>
          <a:prstGeom prst="rect">
            <a:avLst/>
          </a:prstGeom>
          <a:noFill/>
          <a:ln cap="flat" cmpd="sng" w="28575">
            <a:solidFill>
              <a:schemeClr val="accent1"/>
            </a:solidFill>
            <a:prstDash val="solid"/>
            <a:miter lim="8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ctrTitle"/>
          </p:nvPr>
        </p:nvSpPr>
        <p:spPr>
          <a:xfrm>
            <a:off x="493776" y="1490663"/>
            <a:ext cx="4978908" cy="2387600"/>
          </a:xfrm>
          <a:prstGeom prst="rect">
            <a:avLst/>
          </a:prstGeom>
          <a:noFill/>
          <a:ln>
            <a:noFill/>
          </a:ln>
        </p:spPr>
        <p:txBody>
          <a:bodyPr anchorCtr="0" anchor="b" bIns="45700" lIns="0" spcFirstLastPara="1" rIns="91425" wrap="square" tIns="45700">
            <a:noAutofit/>
          </a:bodyPr>
          <a:lstStyle/>
          <a:p>
            <a:pPr indent="0" lvl="0" marL="0" rtl="0" algn="l">
              <a:lnSpc>
                <a:spcPct val="207142"/>
              </a:lnSpc>
              <a:spcBef>
                <a:spcPts val="0"/>
              </a:spcBef>
              <a:spcAft>
                <a:spcPts val="0"/>
              </a:spcAft>
              <a:buClr>
                <a:schemeClr val="lt1"/>
              </a:buClr>
              <a:buSzPts val="2800"/>
              <a:buFont typeface="Arial"/>
              <a:buNone/>
            </a:pPr>
            <a:r>
              <a:rPr lang="en-US" sz="2800"/>
              <a:t>TOÁN RỜI RẠC</a:t>
            </a:r>
            <a:endParaRPr/>
          </a:p>
        </p:txBody>
      </p:sp>
      <p:sp>
        <p:nvSpPr>
          <p:cNvPr id="65" name="Google Shape;65;p2"/>
          <p:cNvSpPr txBox="1"/>
          <p:nvPr>
            <p:ph idx="1" type="subTitle"/>
          </p:nvPr>
        </p:nvSpPr>
        <p:spPr>
          <a:xfrm>
            <a:off x="493776" y="3793356"/>
            <a:ext cx="4978908" cy="2212976"/>
          </a:xfrm>
          <a:prstGeom prst="rect">
            <a:avLst/>
          </a:prstGeom>
          <a:noFill/>
          <a:ln>
            <a:noFill/>
          </a:ln>
        </p:spPr>
        <p:txBody>
          <a:bodyPr anchorCtr="0" anchor="t" bIns="45700" lIns="0" spcFirstLastPara="1" rIns="91425" wrap="square" tIns="45700">
            <a:noAutofit/>
          </a:bodyPr>
          <a:lstStyle/>
          <a:p>
            <a:pPr indent="0" lvl="0" marL="0" rtl="0" algn="l">
              <a:lnSpc>
                <a:spcPct val="130000"/>
              </a:lnSpc>
              <a:spcBef>
                <a:spcPts val="0"/>
              </a:spcBef>
              <a:spcAft>
                <a:spcPts val="0"/>
              </a:spcAft>
              <a:buSzPts val="3360"/>
              <a:buNone/>
            </a:pPr>
            <a:r>
              <a:rPr lang="en-US"/>
              <a:t>Bài 2: </a:t>
            </a:r>
            <a:r>
              <a:rPr lang="en-US"/>
              <a:t>Bài toán đếm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g815564a875_0_937"/>
          <p:cNvSpPr txBox="1"/>
          <p:nvPr>
            <p:ph type="title"/>
          </p:nvPr>
        </p:nvSpPr>
        <p:spPr>
          <a:xfrm>
            <a:off x="425196" y="1499616"/>
            <a:ext cx="5213604" cy="59093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Georgia"/>
              <a:buNone/>
            </a:pPr>
            <a:r>
              <a:rPr lang="en-US"/>
              <a:t>Nội dung</a:t>
            </a:r>
            <a:endParaRPr/>
          </a:p>
        </p:txBody>
      </p:sp>
      <p:sp>
        <p:nvSpPr>
          <p:cNvPr id="71" name="Google Shape;71;g815564a875_0_937"/>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72" name="Google Shape;72;g815564a875_0_937"/>
          <p:cNvSpPr txBox="1"/>
          <p:nvPr/>
        </p:nvSpPr>
        <p:spPr>
          <a:xfrm>
            <a:off x="572825" y="2172950"/>
            <a:ext cx="7367400" cy="4146900"/>
          </a:xfrm>
          <a:prstGeom prst="rect">
            <a:avLst/>
          </a:prstGeom>
          <a:noFill/>
          <a:ln>
            <a:noFill/>
          </a:ln>
        </p:spPr>
        <p:txBody>
          <a:bodyPr anchorCtr="0" anchor="t" bIns="91425" lIns="91425" spcFirstLastPara="1" rIns="91425" wrap="square" tIns="91425">
            <a:noAutofit/>
          </a:bodyPr>
          <a:lstStyle/>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4"/>
              </a:rPr>
              <a:t>Nguyên lý cộng</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5"/>
              </a:rPr>
              <a:t>Nguyên lý nhân</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6"/>
              </a:rPr>
              <a:t>Chỉnh hợp lặp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7"/>
              </a:rPr>
              <a:t>Chỉnh hợp không lặp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8"/>
              </a:rPr>
              <a:t>Tổ hợp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9"/>
              </a:rPr>
              <a:t>Hoán vị lặp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10"/>
              </a:rPr>
              <a:t>Tổ hợp lặp</a:t>
            </a:r>
            <a:endParaRPr sz="2400"/>
          </a:p>
          <a:p>
            <a:pPr indent="-381000" lvl="0" marL="457200" rtl="0" algn="l">
              <a:lnSpc>
                <a:spcPct val="130000"/>
              </a:lnSpc>
              <a:spcBef>
                <a:spcPts val="0"/>
              </a:spcBef>
              <a:spcAft>
                <a:spcPts val="0"/>
              </a:spcAft>
              <a:buSzPts val="2400"/>
              <a:buChar char="●"/>
            </a:pPr>
            <a:r>
              <a:rPr lang="en-US" sz="2400" u="sng">
                <a:solidFill>
                  <a:schemeClr val="hlink"/>
                </a:solidFill>
                <a:hlinkClick action="ppaction://hlinksldjump" r:id="rId11"/>
              </a:rPr>
              <a:t>Bài tập</a:t>
            </a:r>
            <a:endParaRPr sz="2400"/>
          </a:p>
          <a:p>
            <a:pPr indent="-381000" lvl="0" marL="457200" marR="0" rtl="0" algn="l">
              <a:lnSpc>
                <a:spcPct val="130000"/>
              </a:lnSpc>
              <a:spcBef>
                <a:spcPts val="0"/>
              </a:spcBef>
              <a:spcAft>
                <a:spcPts val="0"/>
              </a:spcAft>
              <a:buSzPts val="2400"/>
              <a:buChar char="●"/>
            </a:pPr>
            <a:r>
              <a:rPr lang="en-US" sz="2400" u="sng">
                <a:solidFill>
                  <a:schemeClr val="hlink"/>
                </a:solidFill>
                <a:hlinkClick action="ppaction://hlinksldjump" r:id="rId12"/>
              </a:rPr>
              <a:t>Nguyên lý bù trừ</a:t>
            </a:r>
            <a:endParaRPr sz="2400" u="sng">
              <a:solidFill>
                <a:schemeClr val="hlink"/>
              </a:solidFill>
            </a:endParaRPr>
          </a:p>
          <a:p>
            <a:pPr indent="0" lvl="0" marL="457200" rtl="0" algn="l">
              <a:lnSpc>
                <a:spcPct val="130000"/>
              </a:lnSpc>
              <a:spcBef>
                <a:spcPts val="560"/>
              </a:spcBef>
              <a:spcAft>
                <a:spcPts val="0"/>
              </a:spcAft>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8177f934de_0_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cộng</a:t>
            </a:r>
            <a:endParaRPr/>
          </a:p>
        </p:txBody>
      </p:sp>
      <p:sp>
        <p:nvSpPr>
          <p:cNvPr id="79" name="Google Shape;79;g8177f934de_0_8"/>
          <p:cNvSpPr txBox="1"/>
          <p:nvPr>
            <p:ph idx="1" type="body"/>
          </p:nvPr>
        </p:nvSpPr>
        <p:spPr>
          <a:xfrm>
            <a:off x="425200" y="2185418"/>
            <a:ext cx="7770000" cy="687600"/>
          </a:xfrm>
          <a:prstGeom prst="rect">
            <a:avLst/>
          </a:prstGeom>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Font typeface="Noto Sans Symbols"/>
              <a:buChar char="•"/>
            </a:pPr>
            <a:r>
              <a:rPr lang="en-US" sz="2400">
                <a:solidFill>
                  <a:srgbClr val="002060"/>
                </a:solidFill>
              </a:rPr>
              <a:t>Nếu A và B là hai tập hợp rời nhau thì </a:t>
            </a:r>
            <a:endParaRPr/>
          </a:p>
        </p:txBody>
      </p:sp>
      <p:sp>
        <p:nvSpPr>
          <p:cNvPr id="80" name="Google Shape;80;g8177f934de_0_8"/>
          <p:cNvSpPr/>
          <p:nvPr/>
        </p:nvSpPr>
        <p:spPr>
          <a:xfrm>
            <a:off x="2327025" y="2743097"/>
            <a:ext cx="36576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00" u="none" cap="none" strike="noStrike">
                <a:solidFill>
                  <a:srgbClr val="002060"/>
                </a:solidFill>
                <a:latin typeface="Times New Roman"/>
                <a:ea typeface="Times New Roman"/>
                <a:cs typeface="Times New Roman"/>
                <a:sym typeface="Times New Roman"/>
              </a:rPr>
              <a:t>N(A∪ B)= N(A) + N(B)</a:t>
            </a:r>
            <a:endParaRPr/>
          </a:p>
        </p:txBody>
      </p:sp>
      <p:sp>
        <p:nvSpPr>
          <p:cNvPr id="81" name="Google Shape;81;g8177f934de_0_8"/>
          <p:cNvSpPr/>
          <p:nvPr/>
        </p:nvSpPr>
        <p:spPr>
          <a:xfrm>
            <a:off x="1670750" y="3857259"/>
            <a:ext cx="5457900" cy="461700"/>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Clr>
                <a:srgbClr val="000000"/>
              </a:buClr>
              <a:buFont typeface="Arial"/>
              <a:buNone/>
            </a:pPr>
            <a:r>
              <a:rPr lang="en-US" sz="2400">
                <a:solidFill>
                  <a:srgbClr val="002060"/>
                </a:solidFill>
                <a:latin typeface="Times New Roman"/>
                <a:ea typeface="Times New Roman"/>
                <a:cs typeface="Times New Roman"/>
                <a:sym typeface="Times New Roman"/>
              </a:rPr>
              <a:t>N(X)= N(A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N(A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 … + N(A</a:t>
            </a:r>
            <a:r>
              <a:rPr baseline="-25000" lang="en-US" sz="2400">
                <a:solidFill>
                  <a:srgbClr val="002060"/>
                </a:solidFill>
                <a:latin typeface="Times New Roman"/>
                <a:ea typeface="Times New Roman"/>
                <a:cs typeface="Times New Roman"/>
                <a:sym typeface="Times New Roman"/>
              </a:rPr>
              <a:t>k</a:t>
            </a:r>
            <a:r>
              <a:rPr lang="en-US" sz="2400">
                <a:solidFill>
                  <a:srgbClr val="002060"/>
                </a:solidFill>
                <a:latin typeface="Times New Roman"/>
                <a:ea typeface="Times New Roman"/>
                <a:cs typeface="Times New Roman"/>
                <a:sym typeface="Times New Roman"/>
              </a:rPr>
              <a:t>)</a:t>
            </a:r>
            <a:endParaRPr/>
          </a:p>
        </p:txBody>
      </p:sp>
      <p:sp>
        <p:nvSpPr>
          <p:cNvPr id="82" name="Google Shape;82;g8177f934de_0_8"/>
          <p:cNvSpPr txBox="1"/>
          <p:nvPr>
            <p:ph idx="1" type="body"/>
          </p:nvPr>
        </p:nvSpPr>
        <p:spPr>
          <a:xfrm>
            <a:off x="434394" y="3340264"/>
            <a:ext cx="7770000" cy="687600"/>
          </a:xfrm>
          <a:prstGeom prst="rect">
            <a:avLst/>
          </a:prstGeom>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Font typeface="Noto Sans Symbols"/>
              <a:buChar char="•"/>
            </a:pPr>
            <a:r>
              <a:rPr lang="en-US" sz="2400">
                <a:solidFill>
                  <a:srgbClr val="002060"/>
                </a:solidFill>
              </a:rPr>
              <a:t>Nếu </a:t>
            </a:r>
            <a:r>
              <a:rPr lang="en-US" sz="2400">
                <a:solidFill>
                  <a:srgbClr val="002060"/>
                </a:solidFill>
              </a:rPr>
              <a:t>{ A</a:t>
            </a:r>
            <a:r>
              <a:rPr baseline="-25000" lang="en-US" sz="2400">
                <a:solidFill>
                  <a:srgbClr val="002060"/>
                </a:solidFill>
              </a:rPr>
              <a:t>1</a:t>
            </a:r>
            <a:r>
              <a:rPr lang="en-US" sz="2400">
                <a:solidFill>
                  <a:srgbClr val="002060"/>
                </a:solidFill>
              </a:rPr>
              <a:t>, A</a:t>
            </a:r>
            <a:r>
              <a:rPr baseline="-25000" lang="en-US" sz="2400">
                <a:solidFill>
                  <a:srgbClr val="002060"/>
                </a:solidFill>
              </a:rPr>
              <a:t>2</a:t>
            </a:r>
            <a:r>
              <a:rPr lang="en-US" sz="2400">
                <a:solidFill>
                  <a:srgbClr val="002060"/>
                </a:solidFill>
              </a:rPr>
              <a:t>, ..., A</a:t>
            </a:r>
            <a:r>
              <a:rPr baseline="-25000" lang="en-US" sz="2400">
                <a:solidFill>
                  <a:srgbClr val="002060"/>
                </a:solidFill>
              </a:rPr>
              <a:t>k </a:t>
            </a:r>
            <a:r>
              <a:rPr lang="en-US" sz="2400">
                <a:solidFill>
                  <a:srgbClr val="002060"/>
                </a:solidFill>
              </a:rPr>
              <a:t>} là một </a:t>
            </a:r>
            <a:r>
              <a:rPr i="1" lang="en-US" sz="2400">
                <a:solidFill>
                  <a:srgbClr val="002060"/>
                </a:solidFill>
              </a:rPr>
              <a:t>phân hoạch </a:t>
            </a:r>
            <a:r>
              <a:rPr lang="en-US" sz="2400">
                <a:solidFill>
                  <a:srgbClr val="002060"/>
                </a:solidFill>
              </a:rPr>
              <a:t>của X thì</a:t>
            </a:r>
            <a:endParaRPr/>
          </a:p>
        </p:txBody>
      </p:sp>
      <p:sp>
        <p:nvSpPr>
          <p:cNvPr id="83" name="Google Shape;83;g8177f934de_0_8"/>
          <p:cNvSpPr txBox="1"/>
          <p:nvPr>
            <p:ph idx="1" type="body"/>
          </p:nvPr>
        </p:nvSpPr>
        <p:spPr>
          <a:xfrm>
            <a:off x="427675" y="4622404"/>
            <a:ext cx="7770000" cy="687600"/>
          </a:xfrm>
          <a:prstGeom prst="rect">
            <a:avLst/>
          </a:prstGeom>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Font typeface="Noto Sans Symbols"/>
              <a:buChar char="•"/>
            </a:pPr>
            <a:r>
              <a:rPr lang="en-US" sz="2400">
                <a:solidFill>
                  <a:srgbClr val="002060"/>
                </a:solidFill>
              </a:rPr>
              <a:t>Nếu </a:t>
            </a:r>
            <a:r>
              <a:rPr lang="en-US" sz="2400">
                <a:solidFill>
                  <a:srgbClr val="002060"/>
                </a:solidFill>
              </a:rPr>
              <a:t>A là một tính chất trên X  thì  </a:t>
            </a:r>
            <a:endParaRPr/>
          </a:p>
        </p:txBody>
      </p:sp>
      <p:sp>
        <p:nvSpPr>
          <p:cNvPr id="84" name="Google Shape;84;g8177f934de_0_8"/>
          <p:cNvSpPr/>
          <p:nvPr/>
        </p:nvSpPr>
        <p:spPr>
          <a:xfrm>
            <a:off x="2164000" y="5059850"/>
            <a:ext cx="4312200" cy="461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2400">
                <a:solidFill>
                  <a:srgbClr val="002060"/>
                </a:solidFill>
                <a:latin typeface="Times New Roman"/>
                <a:ea typeface="Times New Roman"/>
                <a:cs typeface="Times New Roman"/>
                <a:sym typeface="Times New Roman"/>
              </a:rPr>
              <a:t>N(A)= N(X) - N( </a:t>
            </a:r>
            <a:r>
              <a:rPr i="1" lang="en-US" sz="2400" u="sng">
                <a:solidFill>
                  <a:srgbClr val="002060"/>
                </a:solidFill>
                <a:latin typeface="Times New Roman"/>
                <a:ea typeface="Times New Roman"/>
                <a:cs typeface="Times New Roman"/>
                <a:sym typeface="Times New Roman"/>
              </a:rPr>
              <a:t>A</a:t>
            </a:r>
            <a:r>
              <a:rPr i="1" lang="en-US" sz="2400">
                <a:solidFill>
                  <a:srgbClr val="002060"/>
                </a:solidFill>
                <a:latin typeface="Times New Roman"/>
                <a:ea typeface="Times New Roman"/>
                <a:cs typeface="Times New Roman"/>
                <a:sym typeface="Times New Roman"/>
              </a:rPr>
              <a:t>  )</a:t>
            </a:r>
            <a:endParaRPr/>
          </a:p>
          <a:p>
            <a:pPr indent="0" lvl="0" marL="0" marR="0" rtl="0" algn="l">
              <a:spcBef>
                <a:spcPts val="0"/>
              </a:spcBef>
              <a:spcAft>
                <a:spcPts val="0"/>
              </a:spcAft>
              <a:buNone/>
            </a:pPr>
            <a:r>
              <a:t/>
            </a:r>
            <a:endParaRPr i="1" sz="2400">
              <a:solidFill>
                <a:srgbClr val="00206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8177f934de_0_68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1</a:t>
            </a:r>
            <a:endParaRPr/>
          </a:p>
        </p:txBody>
      </p:sp>
      <p:sp>
        <p:nvSpPr>
          <p:cNvPr id="91" name="Google Shape;91;g8177f934de_0_68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4810" lvl="0" marL="457200" rtl="0" algn="l">
              <a:spcBef>
                <a:spcPts val="600"/>
              </a:spcBef>
              <a:spcAft>
                <a:spcPts val="0"/>
              </a:spcAft>
              <a:buSzPts val="2460"/>
              <a:buChar char="●"/>
            </a:pPr>
            <a:r>
              <a:rPr lang="en-US" sz="2100"/>
              <a:t>Vào năm 2022 Việt nam cử một đoàn vận động viên tham gia thi đấu cờ tướng và </a:t>
            </a:r>
            <a:r>
              <a:rPr lang="en-US" sz="2100"/>
              <a:t>cờ</a:t>
            </a:r>
            <a:r>
              <a:rPr lang="en-US" sz="2100"/>
              <a:t> vua tại thế vận </a:t>
            </a:r>
            <a:r>
              <a:rPr lang="en-US" sz="2100"/>
              <a:t>hội</a:t>
            </a:r>
            <a:r>
              <a:rPr lang="en-US" sz="2100"/>
              <a:t> </a:t>
            </a:r>
            <a:r>
              <a:rPr lang="en-US" sz="2100"/>
              <a:t>Olympic, mỗi vận động viên chỉ được phép thi đấu một nội dung, số nam tham gia có 10 người, số vận động viên thi cờ tướng cả nam lẫn nữ có 14 người, số nữ thi cờ vua bằng số nam thi cờ tướng. </a:t>
            </a:r>
            <a:endParaRPr sz="2100"/>
          </a:p>
          <a:p>
            <a:pPr indent="-384810" lvl="0" marL="457200" rtl="0" algn="l">
              <a:spcBef>
                <a:spcPts val="0"/>
              </a:spcBef>
              <a:spcAft>
                <a:spcPts val="0"/>
              </a:spcAft>
              <a:buSzPts val="2460"/>
              <a:buChar char="●"/>
            </a:pPr>
            <a:r>
              <a:rPr lang="en-US" sz="2100"/>
              <a:t>Hỏi toàn đoàn có bao nhiêu người? (Yêu cầu trực quan)</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8177f934de_0_34"/>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97" name="Google Shape;97;g8177f934de_0_34"/>
          <p:cNvGrpSpPr/>
          <p:nvPr/>
        </p:nvGrpSpPr>
        <p:grpSpPr>
          <a:xfrm>
            <a:off x="1525942" y="1860236"/>
            <a:ext cx="6625379" cy="3594650"/>
            <a:chOff x="1942" y="260036"/>
            <a:chExt cx="6625379" cy="3594650"/>
          </a:xfrm>
        </p:grpSpPr>
        <p:sp>
          <p:nvSpPr>
            <p:cNvPr id="98" name="Google Shape;98;g8177f934de_0_34"/>
            <p:cNvSpPr/>
            <p:nvPr/>
          </p:nvSpPr>
          <p:spPr>
            <a:xfrm>
              <a:off x="4932558" y="2424499"/>
              <a:ext cx="847500" cy="403200"/>
            </a:xfrm>
            <a:custGeom>
              <a:rect b="b" l="l" r="r" t="t"/>
              <a:pathLst>
                <a:path extrusionOk="0" h="120000" w="120000">
                  <a:moveTo>
                    <a:pt x="0" y="0"/>
                  </a:moveTo>
                  <a:lnTo>
                    <a:pt x="0" y="81776"/>
                  </a:lnTo>
                  <a:lnTo>
                    <a:pt x="120000" y="81776"/>
                  </a:lnTo>
                  <a:lnTo>
                    <a:pt x="120000" y="120000"/>
                  </a:lnTo>
                </a:path>
              </a:pathLst>
            </a:custGeom>
            <a:noFill/>
            <a:ln cap="flat" cmpd="sng" w="25400">
              <a:solidFill>
                <a:srgbClr val="0070C0"/>
              </a:solidFill>
              <a:prstDash val="solid"/>
              <a:round/>
              <a:headEnd len="sm" w="sm" type="none"/>
              <a:tailEnd len="sm" w="sm" type="none"/>
            </a:ln>
          </p:spPr>
        </p:sp>
        <p:sp>
          <p:nvSpPr>
            <p:cNvPr id="99" name="Google Shape;99;g8177f934de_0_34"/>
            <p:cNvSpPr/>
            <p:nvPr/>
          </p:nvSpPr>
          <p:spPr>
            <a:xfrm>
              <a:off x="4085108" y="2424499"/>
              <a:ext cx="847500" cy="403200"/>
            </a:xfrm>
            <a:custGeom>
              <a:rect b="b" l="l" r="r" t="t"/>
              <a:pathLst>
                <a:path extrusionOk="0" h="120000" w="120000">
                  <a:moveTo>
                    <a:pt x="120000" y="0"/>
                  </a:moveTo>
                  <a:lnTo>
                    <a:pt x="120000" y="81776"/>
                  </a:lnTo>
                  <a:lnTo>
                    <a:pt x="0" y="81776"/>
                  </a:lnTo>
                  <a:lnTo>
                    <a:pt x="0" y="120000"/>
                  </a:lnTo>
                </a:path>
              </a:pathLst>
            </a:custGeom>
            <a:noFill/>
            <a:ln cap="flat" cmpd="sng" w="25400">
              <a:solidFill>
                <a:srgbClr val="0070C0"/>
              </a:solidFill>
              <a:prstDash val="solid"/>
              <a:round/>
              <a:headEnd len="sm" w="sm" type="none"/>
              <a:tailEnd len="sm" w="sm" type="none"/>
            </a:ln>
          </p:spPr>
        </p:sp>
        <p:sp>
          <p:nvSpPr>
            <p:cNvPr id="100" name="Google Shape;100;g8177f934de_0_34"/>
            <p:cNvSpPr/>
            <p:nvPr/>
          </p:nvSpPr>
          <p:spPr>
            <a:xfrm>
              <a:off x="3295361" y="1140613"/>
              <a:ext cx="1637100" cy="403200"/>
            </a:xfrm>
            <a:custGeom>
              <a:rect b="b" l="l" r="r" t="t"/>
              <a:pathLst>
                <a:path extrusionOk="0" h="120000" w="120000">
                  <a:moveTo>
                    <a:pt x="0" y="0"/>
                  </a:moveTo>
                  <a:lnTo>
                    <a:pt x="0" y="81776"/>
                  </a:lnTo>
                  <a:lnTo>
                    <a:pt x="120000" y="81776"/>
                  </a:lnTo>
                  <a:lnTo>
                    <a:pt x="120000" y="120000"/>
                  </a:lnTo>
                </a:path>
              </a:pathLst>
            </a:custGeom>
            <a:noFill/>
            <a:ln cap="flat" cmpd="sng" w="25400">
              <a:solidFill>
                <a:srgbClr val="0070C0"/>
              </a:solidFill>
              <a:prstDash val="solid"/>
              <a:round/>
              <a:headEnd len="sm" w="sm" type="none"/>
              <a:tailEnd len="sm" w="sm" type="none"/>
            </a:ln>
            <a:effectLst>
              <a:outerShdw blurRad="40000" rotWithShape="0" dir="5400000" dist="20000">
                <a:srgbClr val="000000">
                  <a:alpha val="37650"/>
                </a:srgbClr>
              </a:outerShdw>
            </a:effectLst>
          </p:spPr>
        </p:sp>
        <p:sp>
          <p:nvSpPr>
            <p:cNvPr id="101" name="Google Shape;101;g8177f934de_0_34"/>
            <p:cNvSpPr/>
            <p:nvPr/>
          </p:nvSpPr>
          <p:spPr>
            <a:xfrm>
              <a:off x="1542759" y="2424499"/>
              <a:ext cx="847500" cy="403200"/>
            </a:xfrm>
            <a:custGeom>
              <a:rect b="b" l="l" r="r" t="t"/>
              <a:pathLst>
                <a:path extrusionOk="0" h="120000" w="120000">
                  <a:moveTo>
                    <a:pt x="0" y="0"/>
                  </a:moveTo>
                  <a:lnTo>
                    <a:pt x="0" y="81776"/>
                  </a:lnTo>
                  <a:lnTo>
                    <a:pt x="120000" y="81776"/>
                  </a:lnTo>
                  <a:lnTo>
                    <a:pt x="120000" y="120000"/>
                  </a:lnTo>
                </a:path>
              </a:pathLst>
            </a:custGeom>
            <a:noFill/>
            <a:ln cap="flat" cmpd="sng" w="25400">
              <a:solidFill>
                <a:srgbClr val="0070C0"/>
              </a:solidFill>
              <a:prstDash val="solid"/>
              <a:round/>
              <a:headEnd len="sm" w="sm" type="none"/>
              <a:tailEnd len="sm" w="sm" type="none"/>
            </a:ln>
          </p:spPr>
        </p:sp>
        <p:sp>
          <p:nvSpPr>
            <p:cNvPr id="102" name="Google Shape;102;g8177f934de_0_34"/>
            <p:cNvSpPr/>
            <p:nvPr/>
          </p:nvSpPr>
          <p:spPr>
            <a:xfrm>
              <a:off x="695310" y="2424499"/>
              <a:ext cx="847500" cy="403200"/>
            </a:xfrm>
            <a:custGeom>
              <a:rect b="b" l="l" r="r" t="t"/>
              <a:pathLst>
                <a:path extrusionOk="0" h="120000" w="120000">
                  <a:moveTo>
                    <a:pt x="120000" y="0"/>
                  </a:moveTo>
                  <a:lnTo>
                    <a:pt x="120000" y="81776"/>
                  </a:lnTo>
                  <a:lnTo>
                    <a:pt x="0" y="81776"/>
                  </a:lnTo>
                  <a:lnTo>
                    <a:pt x="0" y="120000"/>
                  </a:lnTo>
                </a:path>
              </a:pathLst>
            </a:custGeom>
            <a:noFill/>
            <a:ln cap="flat" cmpd="sng" w="25400">
              <a:solidFill>
                <a:srgbClr val="0070C0"/>
              </a:solidFill>
              <a:prstDash val="solid"/>
              <a:round/>
              <a:headEnd len="sm" w="sm" type="none"/>
              <a:tailEnd len="sm" w="sm" type="none"/>
            </a:ln>
          </p:spPr>
        </p:sp>
        <p:sp>
          <p:nvSpPr>
            <p:cNvPr id="103" name="Google Shape;103;g8177f934de_0_34"/>
            <p:cNvSpPr/>
            <p:nvPr/>
          </p:nvSpPr>
          <p:spPr>
            <a:xfrm>
              <a:off x="1542759" y="1140613"/>
              <a:ext cx="1752600" cy="403200"/>
            </a:xfrm>
            <a:custGeom>
              <a:rect b="b" l="l" r="r" t="t"/>
              <a:pathLst>
                <a:path extrusionOk="0" h="120000" w="120000">
                  <a:moveTo>
                    <a:pt x="120000" y="0"/>
                  </a:moveTo>
                  <a:lnTo>
                    <a:pt x="120000" y="81776"/>
                  </a:lnTo>
                  <a:lnTo>
                    <a:pt x="0" y="81776"/>
                  </a:lnTo>
                  <a:lnTo>
                    <a:pt x="0" y="120000"/>
                  </a:lnTo>
                </a:path>
              </a:pathLst>
            </a:custGeom>
            <a:noFill/>
            <a:ln cap="flat" cmpd="sng" w="25400">
              <a:solidFill>
                <a:srgbClr val="0070C0"/>
              </a:solidFill>
              <a:prstDash val="solid"/>
              <a:round/>
              <a:headEnd len="sm" w="sm" type="none"/>
              <a:tailEnd len="sm" w="sm" type="none"/>
            </a:ln>
          </p:spPr>
        </p:sp>
        <p:sp>
          <p:nvSpPr>
            <p:cNvPr id="104" name="Google Shape;104;g8177f934de_0_34"/>
            <p:cNvSpPr/>
            <p:nvPr/>
          </p:nvSpPr>
          <p:spPr>
            <a:xfrm>
              <a:off x="2115096" y="260036"/>
              <a:ext cx="2360400" cy="880500"/>
            </a:xfrm>
            <a:prstGeom prst="roundRect">
              <a:avLst>
                <a:gd fmla="val 10000" name="adj"/>
              </a:avLst>
            </a:prstGeom>
            <a:solidFill>
              <a:srgbClr val="C7C7C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8177f934de_0_34"/>
            <p:cNvSpPr/>
            <p:nvPr/>
          </p:nvSpPr>
          <p:spPr>
            <a:xfrm>
              <a:off x="2269178" y="406413"/>
              <a:ext cx="2360400" cy="880500"/>
            </a:xfrm>
            <a:prstGeom prst="roundRect">
              <a:avLst>
                <a:gd fmla="val 10000" name="adj"/>
              </a:avLst>
            </a:prstGeom>
            <a:solidFill>
              <a:schemeClr val="lt1">
                <a:alpha val="89800"/>
              </a:schemeClr>
            </a:solidFill>
            <a:ln cap="flat" cmpd="sng" w="25400">
              <a:solidFill>
                <a:srgbClr val="C7C7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8177f934de_0_34"/>
            <p:cNvSpPr txBox="1"/>
            <p:nvPr/>
          </p:nvSpPr>
          <p:spPr>
            <a:xfrm>
              <a:off x="2294969" y="432204"/>
              <a:ext cx="23088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Toàn đoàn</a:t>
              </a:r>
              <a:endParaRPr sz="2400">
                <a:solidFill>
                  <a:schemeClr val="dk1"/>
                </a:solidFill>
                <a:latin typeface="Times New Roman"/>
                <a:ea typeface="Times New Roman"/>
                <a:cs typeface="Times New Roman"/>
                <a:sym typeface="Times New Roman"/>
              </a:endParaRPr>
            </a:p>
          </p:txBody>
        </p:sp>
        <p:sp>
          <p:nvSpPr>
            <p:cNvPr id="107" name="Google Shape;107;g8177f934de_0_34"/>
            <p:cNvSpPr/>
            <p:nvPr/>
          </p:nvSpPr>
          <p:spPr>
            <a:xfrm>
              <a:off x="648800" y="1543922"/>
              <a:ext cx="1788000" cy="8805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8177f934de_0_34"/>
            <p:cNvSpPr/>
            <p:nvPr/>
          </p:nvSpPr>
          <p:spPr>
            <a:xfrm>
              <a:off x="802882" y="1690300"/>
              <a:ext cx="1788000" cy="8805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8177f934de_0_34"/>
            <p:cNvSpPr txBox="1"/>
            <p:nvPr/>
          </p:nvSpPr>
          <p:spPr>
            <a:xfrm>
              <a:off x="828673" y="1716091"/>
              <a:ext cx="17364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Nam (10)	</a:t>
              </a:r>
              <a:endParaRPr/>
            </a:p>
          </p:txBody>
        </p:sp>
        <p:sp>
          <p:nvSpPr>
            <p:cNvPr id="110" name="Google Shape;110;g8177f934de_0_34"/>
            <p:cNvSpPr/>
            <p:nvPr/>
          </p:nvSpPr>
          <p:spPr>
            <a:xfrm>
              <a:off x="1942"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8177f934de_0_34"/>
            <p:cNvSpPr/>
            <p:nvPr/>
          </p:nvSpPr>
          <p:spPr>
            <a:xfrm>
              <a:off x="156023"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8177f934de_0_34"/>
            <p:cNvSpPr txBox="1"/>
            <p:nvPr/>
          </p:nvSpPr>
          <p:spPr>
            <a:xfrm>
              <a:off x="181814"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a:t>
              </a:r>
              <a:r>
                <a:rPr lang="en-US" sz="2400">
                  <a:solidFill>
                    <a:srgbClr val="7030A0"/>
                  </a:solidFill>
                  <a:latin typeface="Times New Roman"/>
                  <a:ea typeface="Times New Roman"/>
                  <a:cs typeface="Times New Roman"/>
                  <a:sym typeface="Times New Roman"/>
                </a:rPr>
                <a:t>ờ </a:t>
              </a:r>
              <a:r>
                <a:rPr lang="en-US" sz="2400">
                  <a:solidFill>
                    <a:srgbClr val="7030A0"/>
                  </a:solidFill>
                  <a:latin typeface="Times New Roman"/>
                  <a:ea typeface="Times New Roman"/>
                  <a:cs typeface="Times New Roman"/>
                  <a:sym typeface="Times New Roman"/>
                </a:rPr>
                <a:t>tướng</a:t>
              </a:r>
              <a:endParaRPr sz="2400">
                <a:solidFill>
                  <a:srgbClr val="7030A0"/>
                </a:solidFill>
                <a:latin typeface="Times New Roman"/>
                <a:ea typeface="Times New Roman"/>
                <a:cs typeface="Times New Roman"/>
                <a:sym typeface="Times New Roman"/>
              </a:endParaRPr>
            </a:p>
          </p:txBody>
        </p:sp>
        <p:sp>
          <p:nvSpPr>
            <p:cNvPr id="113" name="Google Shape;113;g8177f934de_0_34"/>
            <p:cNvSpPr/>
            <p:nvPr/>
          </p:nvSpPr>
          <p:spPr>
            <a:xfrm>
              <a:off x="1696841"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8177f934de_0_34"/>
            <p:cNvSpPr/>
            <p:nvPr/>
          </p:nvSpPr>
          <p:spPr>
            <a:xfrm>
              <a:off x="1850923"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8177f934de_0_34"/>
            <p:cNvSpPr txBox="1"/>
            <p:nvPr/>
          </p:nvSpPr>
          <p:spPr>
            <a:xfrm>
              <a:off x="1876714"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Cờ vua</a:t>
              </a:r>
              <a:endParaRPr sz="2400">
                <a:solidFill>
                  <a:srgbClr val="7030A0"/>
                </a:solidFill>
                <a:latin typeface="Times New Roman"/>
                <a:ea typeface="Times New Roman"/>
                <a:cs typeface="Times New Roman"/>
                <a:sym typeface="Times New Roman"/>
              </a:endParaRPr>
            </a:p>
          </p:txBody>
        </p:sp>
        <p:sp>
          <p:nvSpPr>
            <p:cNvPr id="116" name="Google Shape;116;g8177f934de_0_34"/>
            <p:cNvSpPr/>
            <p:nvPr/>
          </p:nvSpPr>
          <p:spPr>
            <a:xfrm>
              <a:off x="3923195" y="1543922"/>
              <a:ext cx="2018700" cy="8805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8177f934de_0_34"/>
            <p:cNvSpPr/>
            <p:nvPr/>
          </p:nvSpPr>
          <p:spPr>
            <a:xfrm>
              <a:off x="4077276" y="1690300"/>
              <a:ext cx="2018700" cy="8805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8177f934de_0_34"/>
            <p:cNvSpPr txBox="1"/>
            <p:nvPr/>
          </p:nvSpPr>
          <p:spPr>
            <a:xfrm>
              <a:off x="4103067" y="1716091"/>
              <a:ext cx="19671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Nữ</a:t>
              </a:r>
              <a:endParaRPr sz="2400">
                <a:solidFill>
                  <a:schemeClr val="dk1"/>
                </a:solidFill>
                <a:latin typeface="Times New Roman"/>
                <a:ea typeface="Times New Roman"/>
                <a:cs typeface="Times New Roman"/>
                <a:sym typeface="Times New Roman"/>
              </a:endParaRPr>
            </a:p>
          </p:txBody>
        </p:sp>
        <p:sp>
          <p:nvSpPr>
            <p:cNvPr id="119" name="Google Shape;119;g8177f934de_0_34"/>
            <p:cNvSpPr/>
            <p:nvPr/>
          </p:nvSpPr>
          <p:spPr>
            <a:xfrm>
              <a:off x="3391740"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8177f934de_0_34"/>
            <p:cNvSpPr/>
            <p:nvPr/>
          </p:nvSpPr>
          <p:spPr>
            <a:xfrm>
              <a:off x="3545822"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8177f934de_0_34"/>
            <p:cNvSpPr txBox="1"/>
            <p:nvPr/>
          </p:nvSpPr>
          <p:spPr>
            <a:xfrm>
              <a:off x="3571613"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Cờ tướng</a:t>
              </a:r>
              <a:endParaRPr sz="2400">
                <a:solidFill>
                  <a:srgbClr val="7030A0"/>
                </a:solidFill>
                <a:latin typeface="Times New Roman"/>
                <a:ea typeface="Times New Roman"/>
                <a:cs typeface="Times New Roman"/>
                <a:sym typeface="Times New Roman"/>
              </a:endParaRPr>
            </a:p>
          </p:txBody>
        </p:sp>
        <p:sp>
          <p:nvSpPr>
            <p:cNvPr id="122" name="Google Shape;122;g8177f934de_0_34"/>
            <p:cNvSpPr/>
            <p:nvPr/>
          </p:nvSpPr>
          <p:spPr>
            <a:xfrm>
              <a:off x="5086640"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8177f934de_0_34"/>
            <p:cNvSpPr/>
            <p:nvPr/>
          </p:nvSpPr>
          <p:spPr>
            <a:xfrm>
              <a:off x="5240721"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8177f934de_0_34"/>
            <p:cNvSpPr txBox="1"/>
            <p:nvPr/>
          </p:nvSpPr>
          <p:spPr>
            <a:xfrm>
              <a:off x="5266512"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Cờ vua</a:t>
              </a:r>
              <a:endParaRPr sz="2400">
                <a:solidFill>
                  <a:srgbClr val="7030A0"/>
                </a:solidFill>
                <a:latin typeface="Times New Roman"/>
                <a:ea typeface="Times New Roman"/>
                <a:cs typeface="Times New Roman"/>
                <a:sym typeface="Times New Roman"/>
              </a:endParaRPr>
            </a:p>
          </p:txBody>
        </p:sp>
      </p:grpSp>
      <p:cxnSp>
        <p:nvCxnSpPr>
          <p:cNvPr id="125" name="Google Shape;125;g8177f934de_0_34"/>
          <p:cNvCxnSpPr/>
          <p:nvPr/>
        </p:nvCxnSpPr>
        <p:spPr>
          <a:xfrm>
            <a:off x="2209800" y="5791200"/>
            <a:ext cx="3581400" cy="1500"/>
          </a:xfrm>
          <a:prstGeom prst="bentConnector3">
            <a:avLst>
              <a:gd fmla="val 50000" name="adj1"/>
            </a:avLst>
          </a:prstGeom>
          <a:noFill/>
          <a:ln cap="flat" cmpd="sng" w="19050">
            <a:solidFill>
              <a:schemeClr val="dk1"/>
            </a:solidFill>
            <a:prstDash val="solid"/>
            <a:round/>
            <a:headEnd len="med" w="med" type="triangle"/>
            <a:tailEnd len="med" w="med" type="triangle"/>
          </a:ln>
        </p:spPr>
      </p:cxnSp>
      <p:cxnSp>
        <p:nvCxnSpPr>
          <p:cNvPr id="126" name="Google Shape;126;g8177f934de_0_34"/>
          <p:cNvCxnSpPr/>
          <p:nvPr/>
        </p:nvCxnSpPr>
        <p:spPr>
          <a:xfrm flipH="1" rot="10800000">
            <a:off x="1752600" y="6172200"/>
            <a:ext cx="5943600" cy="76200"/>
          </a:xfrm>
          <a:prstGeom prst="straightConnector1">
            <a:avLst/>
          </a:prstGeom>
          <a:noFill/>
          <a:ln cap="flat" cmpd="sng" w="19050">
            <a:solidFill>
              <a:schemeClr val="dk1"/>
            </a:solidFill>
            <a:prstDash val="solid"/>
            <a:round/>
            <a:headEnd len="med" w="med" type="stealth"/>
            <a:tailEnd len="med" w="med" type="stealth"/>
          </a:ln>
        </p:spPr>
      </p:cxnSp>
      <p:sp>
        <p:nvSpPr>
          <p:cNvPr id="127" name="Google Shape;127;g8177f934de_0_34"/>
          <p:cNvSpPr txBox="1"/>
          <p:nvPr/>
        </p:nvSpPr>
        <p:spPr>
          <a:xfrm>
            <a:off x="4572000" y="6096000"/>
            <a:ext cx="5334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a:t>
            </a:r>
            <a:endParaRPr/>
          </a:p>
        </p:txBody>
      </p:sp>
      <p:sp>
        <p:nvSpPr>
          <p:cNvPr id="128" name="Google Shape;128;g8177f934de_0_34"/>
          <p:cNvSpPr txBox="1"/>
          <p:nvPr/>
        </p:nvSpPr>
        <p:spPr>
          <a:xfrm>
            <a:off x="3810000" y="5791200"/>
            <a:ext cx="762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C00000"/>
                </a:solidFill>
                <a:latin typeface="Times New Roman"/>
                <a:ea typeface="Times New Roman"/>
                <a:cs typeface="Times New Roman"/>
                <a:sym typeface="Times New Roman"/>
              </a:rPr>
              <a:t>14</a:t>
            </a:r>
            <a:endParaRPr/>
          </a:p>
        </p:txBody>
      </p:sp>
      <p:sp>
        <p:nvSpPr>
          <p:cNvPr id="129" name="Google Shape;129;g8177f934de_0_3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8177f934de_0_108"/>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5" name="Google Shape;135;g8177f934de_0_108"/>
          <p:cNvSpPr/>
          <p:nvPr/>
        </p:nvSpPr>
        <p:spPr>
          <a:xfrm>
            <a:off x="1752600" y="2869580"/>
            <a:ext cx="48768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s = 0;</a:t>
            </a:r>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i = 0; i &lt;10 ; i ++)   s += 1;</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j = 0</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j &lt; 20; j++)    s += 1;</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(k = 0</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k &lt;30; k++)  s += 1;</a:t>
            </a:r>
            <a:endParaRPr sz="2400">
              <a:solidFill>
                <a:srgbClr val="002060"/>
              </a:solidFill>
              <a:latin typeface="Times New Roman"/>
              <a:ea typeface="Times New Roman"/>
              <a:cs typeface="Times New Roman"/>
              <a:sym typeface="Times New Roman"/>
            </a:endParaRPr>
          </a:p>
        </p:txBody>
      </p:sp>
      <p:sp>
        <p:nvSpPr>
          <p:cNvPr id="136" name="Google Shape;136;g8177f934de_0_10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2</a:t>
            </a:r>
            <a:endParaRPr/>
          </a:p>
        </p:txBody>
      </p:sp>
      <p:sp>
        <p:nvSpPr>
          <p:cNvPr id="137" name="Google Shape;137;g8177f934de_0_10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480"/>
              </a:spcBef>
              <a:spcAft>
                <a:spcPts val="0"/>
              </a:spcAft>
              <a:buClr>
                <a:srgbClr val="002060"/>
              </a:buClr>
              <a:buSzPts val="2400"/>
              <a:buChar char="•"/>
            </a:pPr>
            <a:r>
              <a:rPr b="1" lang="en-US" sz="2400">
                <a:solidFill>
                  <a:srgbClr val="002060"/>
                </a:solidFill>
              </a:rPr>
              <a:t>T</a:t>
            </a:r>
            <a:r>
              <a:rPr lang="en-US" sz="2400">
                <a:solidFill>
                  <a:srgbClr val="002060"/>
                </a:solidFill>
              </a:rPr>
              <a:t>ính giá trị của s:</a:t>
            </a:r>
            <a:endParaRPr sz="2400">
              <a:solidFill>
                <a:srgbClr val="002060"/>
              </a:solidFill>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b="1" sz="24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8177f934de_0_116"/>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43" name="Google Shape;143;g8177f934de_0_116"/>
          <p:cNvGrpSpPr/>
          <p:nvPr/>
        </p:nvGrpSpPr>
        <p:grpSpPr>
          <a:xfrm>
            <a:off x="715607" y="2166897"/>
            <a:ext cx="7895051" cy="3157576"/>
            <a:chOff x="-198793" y="566697"/>
            <a:chExt cx="7895051" cy="3157576"/>
          </a:xfrm>
        </p:grpSpPr>
        <p:sp>
          <p:nvSpPr>
            <p:cNvPr id="144" name="Google Shape;144;g8177f934de_0_116"/>
            <p:cNvSpPr/>
            <p:nvPr/>
          </p:nvSpPr>
          <p:spPr>
            <a:xfrm>
              <a:off x="3748703" y="1702802"/>
              <a:ext cx="2854200" cy="608100"/>
            </a:xfrm>
            <a:custGeom>
              <a:rect b="b" l="l" r="r" t="t"/>
              <a:pathLst>
                <a:path extrusionOk="0" h="120000" w="120000">
                  <a:moveTo>
                    <a:pt x="0" y="0"/>
                  </a:moveTo>
                  <a:lnTo>
                    <a:pt x="0" y="87291"/>
                  </a:lnTo>
                  <a:lnTo>
                    <a:pt x="120000" y="87291"/>
                  </a:lnTo>
                  <a:lnTo>
                    <a:pt x="120000" y="120000"/>
                  </a:lnTo>
                </a:path>
              </a:pathLst>
            </a:custGeom>
            <a:noFill/>
            <a:ln cap="flat" cmpd="sng" w="25400">
              <a:solidFill>
                <a:srgbClr val="0070C0"/>
              </a:solidFill>
              <a:prstDash val="solid"/>
              <a:round/>
              <a:headEnd len="sm" w="sm" type="none"/>
              <a:tailEnd len="sm" w="sm" type="none"/>
            </a:ln>
          </p:spPr>
        </p:sp>
        <p:sp>
          <p:nvSpPr>
            <p:cNvPr id="145" name="Google Shape;145;g8177f934de_0_116"/>
            <p:cNvSpPr/>
            <p:nvPr/>
          </p:nvSpPr>
          <p:spPr>
            <a:xfrm>
              <a:off x="3702983" y="1702802"/>
              <a:ext cx="91500" cy="696600"/>
            </a:xfrm>
            <a:custGeom>
              <a:rect b="b" l="l" r="r" t="t"/>
              <a:pathLst>
                <a:path extrusionOk="0" h="120000" w="120000">
                  <a:moveTo>
                    <a:pt x="60000" y="0"/>
                  </a:moveTo>
                  <a:lnTo>
                    <a:pt x="60000" y="91445"/>
                  </a:lnTo>
                  <a:lnTo>
                    <a:pt x="71316" y="91445"/>
                  </a:lnTo>
                  <a:lnTo>
                    <a:pt x="71316" y="120000"/>
                  </a:lnTo>
                </a:path>
              </a:pathLst>
            </a:custGeom>
            <a:noFill/>
            <a:ln cap="flat" cmpd="sng" w="25400">
              <a:solidFill>
                <a:srgbClr val="0070C0"/>
              </a:solidFill>
              <a:prstDash val="solid"/>
              <a:round/>
              <a:headEnd len="sm" w="sm" type="none"/>
              <a:tailEnd len="sm" w="sm" type="none"/>
            </a:ln>
            <a:effectLst>
              <a:outerShdw blurRad="40000" rotWithShape="0" dir="5400000" dist="20000">
                <a:srgbClr val="000000">
                  <a:alpha val="37650"/>
                </a:srgbClr>
              </a:outerShdw>
            </a:effectLst>
          </p:spPr>
        </p:sp>
        <p:sp>
          <p:nvSpPr>
            <p:cNvPr id="146" name="Google Shape;146;g8177f934de_0_116"/>
            <p:cNvSpPr/>
            <p:nvPr/>
          </p:nvSpPr>
          <p:spPr>
            <a:xfrm>
              <a:off x="954576" y="1702802"/>
              <a:ext cx="2794200" cy="608100"/>
            </a:xfrm>
            <a:custGeom>
              <a:rect b="b" l="l" r="r" t="t"/>
              <a:pathLst>
                <a:path extrusionOk="0" h="120000" w="120000">
                  <a:moveTo>
                    <a:pt x="120000" y="0"/>
                  </a:moveTo>
                  <a:lnTo>
                    <a:pt x="120000" y="87291"/>
                  </a:lnTo>
                  <a:lnTo>
                    <a:pt x="0" y="87291"/>
                  </a:lnTo>
                  <a:lnTo>
                    <a:pt x="0" y="120000"/>
                  </a:lnTo>
                </a:path>
              </a:pathLst>
            </a:custGeom>
            <a:noFill/>
            <a:ln cap="flat" cmpd="sng" w="25400">
              <a:solidFill>
                <a:srgbClr val="0070C0"/>
              </a:solidFill>
              <a:prstDash val="solid"/>
              <a:round/>
              <a:headEnd len="sm" w="sm" type="none"/>
              <a:tailEnd len="sm" w="sm" type="none"/>
            </a:ln>
          </p:spPr>
        </p:sp>
        <p:sp>
          <p:nvSpPr>
            <p:cNvPr id="147" name="Google Shape;147;g8177f934de_0_116"/>
            <p:cNvSpPr/>
            <p:nvPr/>
          </p:nvSpPr>
          <p:spPr>
            <a:xfrm>
              <a:off x="2225947" y="566697"/>
              <a:ext cx="3045600" cy="1136100"/>
            </a:xfrm>
            <a:prstGeom prst="roundRect">
              <a:avLst>
                <a:gd fmla="val 10000" name="adj"/>
              </a:avLst>
            </a:prstGeom>
            <a:solidFill>
              <a:srgbClr val="C7C7C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8177f934de_0_116"/>
            <p:cNvSpPr/>
            <p:nvPr/>
          </p:nvSpPr>
          <p:spPr>
            <a:xfrm>
              <a:off x="2424740" y="755551"/>
              <a:ext cx="3045600" cy="1136100"/>
            </a:xfrm>
            <a:prstGeom prst="roundRect">
              <a:avLst>
                <a:gd fmla="val 10000" name="adj"/>
              </a:avLst>
            </a:prstGeom>
            <a:solidFill>
              <a:schemeClr val="lt1">
                <a:alpha val="89800"/>
              </a:schemeClr>
            </a:solidFill>
            <a:ln cap="flat" cmpd="sng" w="25400">
              <a:solidFill>
                <a:srgbClr val="C7C7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8177f934de_0_116"/>
            <p:cNvSpPr txBox="1"/>
            <p:nvPr/>
          </p:nvSpPr>
          <p:spPr>
            <a:xfrm>
              <a:off x="2458015" y="788826"/>
              <a:ext cx="29790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s = ?</a:t>
              </a:r>
              <a:endParaRPr/>
            </a:p>
          </p:txBody>
        </p:sp>
        <p:sp>
          <p:nvSpPr>
            <p:cNvPr id="150" name="Google Shape;150;g8177f934de_0_116"/>
            <p:cNvSpPr/>
            <p:nvPr/>
          </p:nvSpPr>
          <p:spPr>
            <a:xfrm>
              <a:off x="-198793" y="2310862"/>
              <a:ext cx="2306700" cy="11361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8177f934de_0_116"/>
            <p:cNvSpPr/>
            <p:nvPr/>
          </p:nvSpPr>
          <p:spPr>
            <a:xfrm>
              <a:off x="0" y="2499716"/>
              <a:ext cx="2306700" cy="11361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8177f934de_0_116"/>
            <p:cNvSpPr txBox="1"/>
            <p:nvPr/>
          </p:nvSpPr>
          <p:spPr>
            <a:xfrm>
              <a:off x="33275" y="2532991"/>
              <a:ext cx="22401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b="1" lang="en-US" sz="2000">
                  <a:solidFill>
                    <a:srgbClr val="002060"/>
                  </a:solidFill>
                  <a:latin typeface="Times New Roman"/>
                  <a:ea typeface="Times New Roman"/>
                  <a:cs typeface="Times New Roman"/>
                  <a:sym typeface="Times New Roman"/>
                </a:rPr>
                <a:t>for(</a:t>
              </a:r>
              <a:r>
                <a:rPr lang="en-US" sz="2000">
                  <a:solidFill>
                    <a:srgbClr val="002060"/>
                  </a:solidFill>
                  <a:latin typeface="Times New Roman"/>
                  <a:ea typeface="Times New Roman"/>
                  <a:cs typeface="Times New Roman"/>
                  <a:sym typeface="Times New Roman"/>
                </a:rPr>
                <a:t> i = 0; i &lt;10 ; i ++) </a:t>
              </a:r>
              <a:endParaRPr/>
            </a:p>
            <a:p>
              <a:pPr indent="0" lvl="0" marL="0" marR="0" rtl="0" algn="ctr">
                <a:lnSpc>
                  <a:spcPct val="90000"/>
                </a:lnSpc>
                <a:spcBef>
                  <a:spcPts val="700"/>
                </a:spcBef>
                <a:spcAft>
                  <a:spcPts val="0"/>
                </a:spcAft>
                <a:buNone/>
              </a:pPr>
              <a:r>
                <a:rPr lang="en-US" sz="2000">
                  <a:solidFill>
                    <a:srgbClr val="002060"/>
                  </a:solidFill>
                  <a:latin typeface="Times New Roman"/>
                  <a:ea typeface="Times New Roman"/>
                  <a:cs typeface="Times New Roman"/>
                  <a:sym typeface="Times New Roman"/>
                </a:rPr>
                <a:t>  s += 1;</a:t>
              </a:r>
              <a:r>
                <a:rPr lang="en-US" sz="2000">
                  <a:solidFill>
                    <a:schemeClr val="dk1"/>
                  </a:solidFill>
                  <a:latin typeface="Times New Roman"/>
                  <a:ea typeface="Times New Roman"/>
                  <a:cs typeface="Times New Roman"/>
                  <a:sym typeface="Times New Roman"/>
                </a:rPr>
                <a:t>	</a:t>
              </a:r>
              <a:endParaRPr/>
            </a:p>
          </p:txBody>
        </p:sp>
        <p:sp>
          <p:nvSpPr>
            <p:cNvPr id="153" name="Google Shape;153;g8177f934de_0_116"/>
            <p:cNvSpPr/>
            <p:nvPr/>
          </p:nvSpPr>
          <p:spPr>
            <a:xfrm>
              <a:off x="2455064" y="2399319"/>
              <a:ext cx="2604600" cy="11361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8177f934de_0_116"/>
            <p:cNvSpPr/>
            <p:nvPr/>
          </p:nvSpPr>
          <p:spPr>
            <a:xfrm>
              <a:off x="2653858" y="2588173"/>
              <a:ext cx="2604600" cy="11361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8177f934de_0_116"/>
            <p:cNvSpPr txBox="1"/>
            <p:nvPr/>
          </p:nvSpPr>
          <p:spPr>
            <a:xfrm>
              <a:off x="2687133" y="2621448"/>
              <a:ext cx="25380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b="1" lang="en-US" sz="2000">
                  <a:solidFill>
                    <a:srgbClr val="002060"/>
                  </a:solidFill>
                  <a:latin typeface="Times New Roman"/>
                  <a:ea typeface="Times New Roman"/>
                  <a:cs typeface="Times New Roman"/>
                  <a:sym typeface="Times New Roman"/>
                </a:rPr>
                <a:t>for(</a:t>
              </a:r>
              <a:r>
                <a:rPr lang="en-US" sz="2000">
                  <a:solidFill>
                    <a:srgbClr val="002060"/>
                  </a:solidFill>
                  <a:latin typeface="Times New Roman"/>
                  <a:ea typeface="Times New Roman"/>
                  <a:cs typeface="Times New Roman"/>
                  <a:sym typeface="Times New Roman"/>
                </a:rPr>
                <a:t> j = 0</a:t>
              </a:r>
              <a:r>
                <a:rPr b="1" lang="en-US" sz="2000">
                  <a:solidFill>
                    <a:srgbClr val="002060"/>
                  </a:solidFill>
                  <a:latin typeface="Times New Roman"/>
                  <a:ea typeface="Times New Roman"/>
                  <a:cs typeface="Times New Roman"/>
                  <a:sym typeface="Times New Roman"/>
                </a:rPr>
                <a:t>;</a:t>
              </a:r>
              <a:r>
                <a:rPr lang="en-US" sz="2000">
                  <a:solidFill>
                    <a:srgbClr val="002060"/>
                  </a:solidFill>
                  <a:latin typeface="Times New Roman"/>
                  <a:ea typeface="Times New Roman"/>
                  <a:cs typeface="Times New Roman"/>
                  <a:sym typeface="Times New Roman"/>
                </a:rPr>
                <a:t> j &lt; 20; j++)  </a:t>
              </a:r>
              <a:endParaRPr/>
            </a:p>
            <a:p>
              <a:pPr indent="0" lvl="0" marL="0" marR="0" rtl="0" algn="ctr">
                <a:lnSpc>
                  <a:spcPct val="90000"/>
                </a:lnSpc>
                <a:spcBef>
                  <a:spcPts val="700"/>
                </a:spcBef>
                <a:spcAft>
                  <a:spcPts val="0"/>
                </a:spcAft>
                <a:buNone/>
              </a:pPr>
              <a:r>
                <a:rPr lang="en-US" sz="2000">
                  <a:solidFill>
                    <a:srgbClr val="002060"/>
                  </a:solidFill>
                  <a:latin typeface="Times New Roman"/>
                  <a:ea typeface="Times New Roman"/>
                  <a:cs typeface="Times New Roman"/>
                  <a:sym typeface="Times New Roman"/>
                </a:rPr>
                <a:t> s += 1;</a:t>
              </a:r>
              <a:endParaRPr sz="2000">
                <a:solidFill>
                  <a:schemeClr val="dk1"/>
                </a:solidFill>
                <a:latin typeface="Times New Roman"/>
                <a:ea typeface="Times New Roman"/>
                <a:cs typeface="Times New Roman"/>
                <a:sym typeface="Times New Roman"/>
              </a:endParaRPr>
            </a:p>
          </p:txBody>
        </p:sp>
        <p:sp>
          <p:nvSpPr>
            <p:cNvPr id="156" name="Google Shape;156;g8177f934de_0_116"/>
            <p:cNvSpPr/>
            <p:nvPr/>
          </p:nvSpPr>
          <p:spPr>
            <a:xfrm>
              <a:off x="5708265" y="2310862"/>
              <a:ext cx="1789200" cy="11361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8177f934de_0_116"/>
            <p:cNvSpPr/>
            <p:nvPr/>
          </p:nvSpPr>
          <p:spPr>
            <a:xfrm>
              <a:off x="5907058" y="2499716"/>
              <a:ext cx="1789200" cy="11361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8177f934de_0_116"/>
            <p:cNvSpPr txBox="1"/>
            <p:nvPr/>
          </p:nvSpPr>
          <p:spPr>
            <a:xfrm>
              <a:off x="5940333" y="2532991"/>
              <a:ext cx="17226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b="1" lang="en-US" sz="2000">
                  <a:solidFill>
                    <a:srgbClr val="002060"/>
                  </a:solidFill>
                  <a:latin typeface="Times New Roman"/>
                  <a:ea typeface="Times New Roman"/>
                  <a:cs typeface="Times New Roman"/>
                  <a:sym typeface="Times New Roman"/>
                </a:rPr>
                <a:t>for</a:t>
              </a:r>
              <a:r>
                <a:rPr lang="en-US" sz="2000">
                  <a:solidFill>
                    <a:srgbClr val="002060"/>
                  </a:solidFill>
                  <a:latin typeface="Times New Roman"/>
                  <a:ea typeface="Times New Roman"/>
                  <a:cs typeface="Times New Roman"/>
                  <a:sym typeface="Times New Roman"/>
                </a:rPr>
                <a:t> (k = 0</a:t>
              </a:r>
              <a:r>
                <a:rPr b="1" lang="en-US" sz="2000">
                  <a:solidFill>
                    <a:srgbClr val="002060"/>
                  </a:solidFill>
                  <a:latin typeface="Times New Roman"/>
                  <a:ea typeface="Times New Roman"/>
                  <a:cs typeface="Times New Roman"/>
                  <a:sym typeface="Times New Roman"/>
                </a:rPr>
                <a:t>;</a:t>
              </a:r>
              <a:r>
                <a:rPr lang="en-US" sz="2000">
                  <a:solidFill>
                    <a:srgbClr val="002060"/>
                  </a:solidFill>
                  <a:latin typeface="Times New Roman"/>
                  <a:ea typeface="Times New Roman"/>
                  <a:cs typeface="Times New Roman"/>
                  <a:sym typeface="Times New Roman"/>
                </a:rPr>
                <a:t> k &lt;30; k++)  </a:t>
              </a:r>
              <a:endParaRPr/>
            </a:p>
            <a:p>
              <a:pPr indent="0" lvl="0" marL="0" marR="0" rtl="0" algn="ctr">
                <a:lnSpc>
                  <a:spcPct val="90000"/>
                </a:lnSpc>
                <a:spcBef>
                  <a:spcPts val="700"/>
                </a:spcBef>
                <a:spcAft>
                  <a:spcPts val="0"/>
                </a:spcAft>
                <a:buNone/>
              </a:pPr>
              <a:r>
                <a:rPr lang="en-US" sz="2000">
                  <a:solidFill>
                    <a:srgbClr val="002060"/>
                  </a:solidFill>
                  <a:latin typeface="Times New Roman"/>
                  <a:ea typeface="Times New Roman"/>
                  <a:cs typeface="Times New Roman"/>
                  <a:sym typeface="Times New Roman"/>
                </a:rPr>
                <a:t>s += 1;</a:t>
              </a:r>
              <a:endParaRPr sz="2000">
                <a:solidFill>
                  <a:schemeClr val="dk1"/>
                </a:solidFill>
                <a:latin typeface="Times New Roman"/>
                <a:ea typeface="Times New Roman"/>
                <a:cs typeface="Times New Roman"/>
                <a:sym typeface="Times New Roman"/>
              </a:endParaRPr>
            </a:p>
          </p:txBody>
        </p:sp>
      </p:grpSp>
      <p:sp>
        <p:nvSpPr>
          <p:cNvPr id="159" name="Google Shape;159;g8177f934de_0_116"/>
          <p:cNvSpPr txBox="1"/>
          <p:nvPr/>
        </p:nvSpPr>
        <p:spPr>
          <a:xfrm>
            <a:off x="6435975" y="6039600"/>
            <a:ext cx="2286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ĐS: 60 </a:t>
            </a:r>
            <a:endParaRPr/>
          </a:p>
        </p:txBody>
      </p:sp>
      <p:sp>
        <p:nvSpPr>
          <p:cNvPr id="160" name="Google Shape;160;g8177f934de_0_116"/>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8177f934de_0_69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nhân</a:t>
            </a:r>
            <a:endParaRPr/>
          </a:p>
        </p:txBody>
      </p:sp>
      <p:sp>
        <p:nvSpPr>
          <p:cNvPr id="167" name="Google Shape;167;g8177f934de_0_694"/>
          <p:cNvSpPr txBox="1"/>
          <p:nvPr>
            <p:ph idx="1" type="body"/>
          </p:nvPr>
        </p:nvSpPr>
        <p:spPr>
          <a:xfrm>
            <a:off x="457200" y="2142076"/>
            <a:ext cx="8305800" cy="3588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lang="en-US" sz="2400">
                <a:solidFill>
                  <a:srgbClr val="002060"/>
                </a:solidFill>
              </a:rPr>
              <a:t>T</a:t>
            </a:r>
            <a:r>
              <a:rPr lang="en-US" sz="2400">
                <a:solidFill>
                  <a:srgbClr val="002060"/>
                </a:solidFill>
              </a:rPr>
              <a:t>hủ tục có 2 công việc nối tiếp nhau </a:t>
            </a:r>
            <a:r>
              <a:rPr lang="en-US" sz="2400">
                <a:solidFill>
                  <a:srgbClr val="002060"/>
                </a:solidFill>
              </a:rPr>
              <a:t> (a</a:t>
            </a:r>
            <a:r>
              <a:rPr baseline="-25000" lang="en-US" sz="2400">
                <a:solidFill>
                  <a:srgbClr val="002060"/>
                </a:solidFill>
              </a:rPr>
              <a:t>1</a:t>
            </a:r>
            <a:r>
              <a:rPr lang="en-US" sz="2400">
                <a:solidFill>
                  <a:srgbClr val="002060"/>
                </a:solidFill>
              </a:rPr>
              <a:t>, a</a:t>
            </a:r>
            <a:r>
              <a:rPr baseline="-25000" lang="en-US" sz="2400">
                <a:solidFill>
                  <a:srgbClr val="002060"/>
                </a:solidFill>
              </a:rPr>
              <a:t>2</a:t>
            </a:r>
            <a:r>
              <a:rPr lang="en-US" sz="2400">
                <a:solidFill>
                  <a:srgbClr val="002060"/>
                </a:solidFill>
              </a:rPr>
              <a:t>), </a:t>
            </a:r>
            <a:r>
              <a:rPr lang="en-US" sz="2400">
                <a:solidFill>
                  <a:srgbClr val="002060"/>
                </a:solidFill>
              </a:rPr>
              <a:t>để hoàn thành công việc</a:t>
            </a:r>
            <a:r>
              <a:rPr lang="en-US" sz="2400">
                <a:solidFill>
                  <a:srgbClr val="002060"/>
                </a:solidFill>
              </a:rPr>
              <a:t> a</a:t>
            </a:r>
            <a:r>
              <a:rPr baseline="-25000" lang="en-US" sz="2400">
                <a:solidFill>
                  <a:srgbClr val="002060"/>
                </a:solidFill>
              </a:rPr>
              <a:t>1</a:t>
            </a:r>
            <a:r>
              <a:rPr lang="en-US" sz="2400">
                <a:solidFill>
                  <a:srgbClr val="002060"/>
                </a:solidFill>
              </a:rPr>
              <a:t> có n</a:t>
            </a:r>
            <a:r>
              <a:rPr baseline="-25000" lang="en-US" sz="2400">
                <a:solidFill>
                  <a:srgbClr val="002060"/>
                </a:solidFill>
              </a:rPr>
              <a:t>1</a:t>
            </a:r>
            <a:r>
              <a:rPr lang="en-US" sz="2400">
                <a:solidFill>
                  <a:srgbClr val="002060"/>
                </a:solidFill>
              </a:rPr>
              <a:t> </a:t>
            </a:r>
            <a:r>
              <a:rPr lang="en-US" sz="2400">
                <a:solidFill>
                  <a:srgbClr val="002060"/>
                </a:solidFill>
              </a:rPr>
              <a:t>cách. Ứng với mỗi cách thực hiện  a</a:t>
            </a:r>
            <a:r>
              <a:rPr baseline="-25000" lang="en-US" sz="2400">
                <a:solidFill>
                  <a:srgbClr val="002060"/>
                </a:solidFill>
              </a:rPr>
              <a:t>1</a:t>
            </a:r>
            <a:r>
              <a:rPr lang="en-US" sz="2400">
                <a:solidFill>
                  <a:srgbClr val="002060"/>
                </a:solidFill>
              </a:rPr>
              <a:t> có n</a:t>
            </a:r>
            <a:r>
              <a:rPr baseline="-25000" lang="en-US" sz="2400">
                <a:solidFill>
                  <a:srgbClr val="002060"/>
                </a:solidFill>
              </a:rPr>
              <a:t>2</a:t>
            </a:r>
            <a:r>
              <a:rPr lang="en-US" sz="2400">
                <a:solidFill>
                  <a:srgbClr val="002060"/>
                </a:solidFill>
              </a:rPr>
              <a:t> cách thực hiện công việc a</a:t>
            </a:r>
            <a:r>
              <a:rPr baseline="-25000" lang="en-US" sz="2400">
                <a:solidFill>
                  <a:srgbClr val="002060"/>
                </a:solidFill>
              </a:rPr>
              <a:t>2</a:t>
            </a:r>
            <a:r>
              <a:rPr lang="en-US" sz="2400">
                <a:solidFill>
                  <a:srgbClr val="002060"/>
                </a:solidFill>
              </a:rPr>
              <a:t>. </a:t>
            </a:r>
            <a:endParaRPr sz="2400">
              <a:solidFill>
                <a:srgbClr val="002060"/>
              </a:solidFill>
            </a:endParaRPr>
          </a:p>
          <a:p>
            <a:pPr indent="-342900" lvl="0" marL="342900" rtl="0" algn="l">
              <a:spcBef>
                <a:spcPts val="0"/>
              </a:spcBef>
              <a:spcAft>
                <a:spcPts val="0"/>
              </a:spcAft>
              <a:buClr>
                <a:srgbClr val="002060"/>
              </a:buClr>
              <a:buSzPts val="2400"/>
              <a:buFont typeface="Noto Sans Symbols"/>
              <a:buChar char="▪"/>
            </a:pPr>
            <a:r>
              <a:rPr lang="en-US" sz="2400">
                <a:solidFill>
                  <a:srgbClr val="002060"/>
                </a:solidFill>
              </a:rPr>
              <a:t>Để hoàn thành thủ tục nêu trên có </a:t>
            </a:r>
            <a:r>
              <a:rPr lang="en-US" sz="2400">
                <a:solidFill>
                  <a:srgbClr val="002060"/>
                </a:solidFill>
              </a:rPr>
              <a:t> </a:t>
            </a:r>
            <a:r>
              <a:rPr lang="en-US" sz="2400">
                <a:solidFill>
                  <a:srgbClr val="002060"/>
                </a:solidFill>
              </a:rPr>
              <a:t>n</a:t>
            </a:r>
            <a:r>
              <a:rPr baseline="-25000" lang="en-US" sz="2400">
                <a:solidFill>
                  <a:srgbClr val="002060"/>
                </a:solidFill>
              </a:rPr>
              <a:t>1</a:t>
            </a:r>
            <a:r>
              <a:rPr lang="en-US" sz="2400">
                <a:solidFill>
                  <a:srgbClr val="002060"/>
                </a:solidFill>
              </a:rPr>
              <a:t>. n</a:t>
            </a:r>
            <a:r>
              <a:rPr b="1" baseline="-25000" lang="en-US" sz="2400">
                <a:solidFill>
                  <a:srgbClr val="002060"/>
                </a:solidFill>
              </a:rPr>
              <a:t>2 </a:t>
            </a:r>
            <a:r>
              <a:rPr lang="en-US" sz="2400">
                <a:solidFill>
                  <a:srgbClr val="002060"/>
                </a:solidFill>
              </a:rPr>
              <a:t>cách. </a:t>
            </a:r>
            <a:endParaRPr sz="2400">
              <a:solidFill>
                <a:srgbClr val="002060"/>
              </a:solidFill>
            </a:endParaRPr>
          </a:p>
          <a:p>
            <a:pPr indent="-342900" lvl="0" marL="342900" rtl="0" algn="l">
              <a:spcBef>
                <a:spcPts val="0"/>
              </a:spcBef>
              <a:spcAft>
                <a:spcPts val="0"/>
              </a:spcAft>
              <a:buClr>
                <a:srgbClr val="002060"/>
              </a:buClr>
              <a:buSzPts val="2400"/>
              <a:buChar char="▪"/>
            </a:pPr>
            <a:r>
              <a:rPr lang="en-US" sz="2400">
                <a:solidFill>
                  <a:srgbClr val="002060"/>
                </a:solidFill>
              </a:rPr>
              <a:t>Hệ quả: Thủ tục có k công  việc nối tiếp nhau, thì</a:t>
            </a:r>
            <a:endParaRPr/>
          </a:p>
          <a:p>
            <a:pPr indent="-133350" lvl="1" marL="742950" rtl="0" algn="l">
              <a:spcBef>
                <a:spcPts val="480"/>
              </a:spcBef>
              <a:spcAft>
                <a:spcPts val="0"/>
              </a:spcAft>
              <a:buClr>
                <a:schemeClr val="dk1"/>
              </a:buClr>
              <a:buSzPts val="2400"/>
              <a:buFont typeface="Noto Sans Symbols"/>
              <a:buNone/>
            </a:pPr>
            <a:r>
              <a:t/>
            </a:r>
            <a:endParaRPr sz="2400">
              <a:solidFill>
                <a:srgbClr val="002060"/>
              </a:solidFill>
            </a:endParaRPr>
          </a:p>
          <a:p>
            <a:pPr indent="-285750" lvl="1" marL="742950" rtl="0" algn="l">
              <a:spcBef>
                <a:spcPts val="480"/>
              </a:spcBef>
              <a:spcAft>
                <a:spcPts val="0"/>
              </a:spcAft>
              <a:buClr>
                <a:srgbClr val="002060"/>
              </a:buClr>
              <a:buSzPts val="2400"/>
              <a:buNone/>
            </a:pPr>
            <a:r>
              <a:rPr lang="en-US" sz="2400">
                <a:solidFill>
                  <a:srgbClr val="002060"/>
                </a:solidFill>
              </a:rPr>
              <a:t> </a:t>
            </a:r>
            <a:endParaRPr/>
          </a:p>
          <a:p>
            <a:pPr indent="-342900" lvl="0" marL="342900" rtl="0" algn="l">
              <a:spcBef>
                <a:spcPts val="480"/>
              </a:spcBef>
              <a:spcAft>
                <a:spcPts val="0"/>
              </a:spcAft>
              <a:buClr>
                <a:schemeClr val="dk1"/>
              </a:buClr>
              <a:buSzPts val="2400"/>
              <a:buNone/>
            </a:pPr>
            <a:r>
              <a:t/>
            </a:r>
            <a:endParaRPr sz="2400">
              <a:solidFill>
                <a:srgbClr val="002060"/>
              </a:solidFill>
            </a:endParaRPr>
          </a:p>
          <a:p>
            <a:pPr indent="-342900" lvl="0" marL="342900" rtl="0" algn="l">
              <a:spcBef>
                <a:spcPts val="480"/>
              </a:spcBef>
              <a:spcAft>
                <a:spcPts val="0"/>
              </a:spcAft>
              <a:buClr>
                <a:srgbClr val="002060"/>
              </a:buClr>
              <a:buSzPts val="2400"/>
              <a:buNone/>
            </a:pPr>
            <a:r>
              <a:rPr lang="en-US" sz="2400">
                <a:solidFill>
                  <a:srgbClr val="002060"/>
                </a:solidFill>
              </a:rPr>
              <a:t>              </a:t>
            </a:r>
            <a:endParaRPr/>
          </a:p>
        </p:txBody>
      </p:sp>
      <p:sp>
        <p:nvSpPr>
          <p:cNvPr id="168" name="Google Shape;168;g8177f934de_0_694"/>
          <p:cNvSpPr/>
          <p:nvPr/>
        </p:nvSpPr>
        <p:spPr>
          <a:xfrm>
            <a:off x="1336600" y="4657375"/>
            <a:ext cx="69387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N(A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 A</a:t>
            </a:r>
            <a:r>
              <a:rPr baseline="-25000" lang="en-US" sz="2400">
                <a:solidFill>
                  <a:srgbClr val="002060"/>
                </a:solidFill>
                <a:latin typeface="Times New Roman"/>
                <a:ea typeface="Times New Roman"/>
                <a:cs typeface="Times New Roman"/>
                <a:sym typeface="Times New Roman"/>
              </a:rPr>
              <a:t>k </a:t>
            </a:r>
            <a:r>
              <a:rPr lang="en-US" sz="2400">
                <a:solidFill>
                  <a:srgbClr val="002060"/>
                </a:solidFill>
                <a:latin typeface="Times New Roman"/>
                <a:ea typeface="Times New Roman"/>
                <a:cs typeface="Times New Roman"/>
                <a:sym typeface="Times New Roman"/>
              </a:rPr>
              <a:t>)  =  N(A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N(A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 </a:t>
            </a:r>
            <a:r>
              <a:rPr b="1"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N(A</a:t>
            </a:r>
            <a:r>
              <a:rPr baseline="-25000" lang="en-US" sz="2400">
                <a:solidFill>
                  <a:srgbClr val="002060"/>
                </a:solidFill>
                <a:latin typeface="Times New Roman"/>
                <a:ea typeface="Times New Roman"/>
                <a:cs typeface="Times New Roman"/>
                <a:sym typeface="Times New Roman"/>
              </a:rPr>
              <a:t>k</a:t>
            </a:r>
            <a:r>
              <a:rPr lang="en-US" sz="2400">
                <a:solidFill>
                  <a:srgbClr val="002060"/>
                </a:solidFill>
                <a:latin typeface="Times New Roman"/>
                <a:ea typeface="Times New Roman"/>
                <a:cs typeface="Times New Roman"/>
                <a:sym typeface="Times New Roman"/>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8177f934de_0_150"/>
          <p:cNvSpPr txBox="1"/>
          <p:nvPr>
            <p:ph idx="1" type="body"/>
          </p:nvPr>
        </p:nvSpPr>
        <p:spPr>
          <a:xfrm>
            <a:off x="345825" y="2231050"/>
            <a:ext cx="8229600" cy="44448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Char char="•"/>
            </a:pPr>
            <a:r>
              <a:rPr lang="en-US" sz="2400">
                <a:solidFill>
                  <a:srgbClr val="002060"/>
                </a:solidFill>
                <a:latin typeface="Arial"/>
                <a:ea typeface="Arial"/>
                <a:cs typeface="Arial"/>
                <a:sym typeface="Arial"/>
              </a:rPr>
              <a:t>Số hành trình có thể đi từ Hà Nội đến Sài Gòn ?</a:t>
            </a:r>
            <a:endParaRPr sz="2400">
              <a:latin typeface="Arial"/>
              <a:ea typeface="Arial"/>
              <a:cs typeface="Arial"/>
              <a:sym typeface="Arial"/>
            </a:endParaRPr>
          </a:p>
          <a:p>
            <a:pPr indent="-381000" lvl="1" marL="914400" marR="0" rtl="0" algn="l">
              <a:lnSpc>
                <a:spcPct val="130000"/>
              </a:lnSpc>
              <a:spcBef>
                <a:spcPts val="0"/>
              </a:spcBef>
              <a:spcAft>
                <a:spcPts val="0"/>
              </a:spcAft>
              <a:buClr>
                <a:srgbClr val="002060"/>
              </a:buClr>
              <a:buSzPts val="2400"/>
              <a:buFont typeface="Arial"/>
              <a:buChar char="▪"/>
            </a:pPr>
            <a:r>
              <a:rPr lang="en-US" sz="2400">
                <a:solidFill>
                  <a:srgbClr val="002060"/>
                </a:solidFill>
              </a:rPr>
              <a:t>Từ Hà nội đền Đà nẵng có 3 cách: </a:t>
            </a:r>
            <a:endParaRPr sz="2400">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Máy bay;</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Ô tô;</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Tàu  hỏa;</a:t>
            </a:r>
            <a:endParaRPr>
              <a:solidFill>
                <a:srgbClr val="002060"/>
              </a:solidFill>
            </a:endParaRPr>
          </a:p>
          <a:p>
            <a:pPr indent="-381000" lvl="1" marL="914400" marR="0" rtl="0" algn="l">
              <a:lnSpc>
                <a:spcPct val="130000"/>
              </a:lnSpc>
              <a:spcBef>
                <a:spcPts val="0"/>
              </a:spcBef>
              <a:spcAft>
                <a:spcPts val="0"/>
              </a:spcAft>
              <a:buClr>
                <a:srgbClr val="002060"/>
              </a:buClr>
              <a:buSzPts val="2400"/>
              <a:buFont typeface="Arial"/>
              <a:buChar char="▪"/>
            </a:pPr>
            <a:r>
              <a:rPr lang="en-US" sz="2400">
                <a:solidFill>
                  <a:srgbClr val="002060"/>
                </a:solidFill>
              </a:rPr>
              <a:t>Từ  Đà nẵng đến Sài gòn có 4 cách:</a:t>
            </a:r>
            <a:endParaRPr sz="2400">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Máy bay;</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Ô tô ;</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Tàu  hỏa;</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Tàu thủy.;</a:t>
            </a:r>
            <a:endParaRPr>
              <a:solidFill>
                <a:srgbClr val="002060"/>
              </a:solidFill>
            </a:endParaRPr>
          </a:p>
        </p:txBody>
      </p:sp>
      <p:sp>
        <p:nvSpPr>
          <p:cNvPr id="174" name="Google Shape;174;g8177f934de_0_150"/>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 name="Google Shape;175;g8177f934de_0_15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8177f934de_0_157"/>
          <p:cNvSpPr/>
          <p:nvPr/>
        </p:nvSpPr>
        <p:spPr>
          <a:xfrm>
            <a:off x="457200" y="3972477"/>
            <a:ext cx="1371600" cy="1676400"/>
          </a:xfrm>
          <a:prstGeom prst="ellipse">
            <a:avLst/>
          </a:prstGeom>
          <a:no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HN</a:t>
            </a:r>
            <a:endParaRPr/>
          </a:p>
        </p:txBody>
      </p:sp>
      <p:sp>
        <p:nvSpPr>
          <p:cNvPr id="181" name="Google Shape;181;g8177f934de_0_157"/>
          <p:cNvSpPr/>
          <p:nvPr/>
        </p:nvSpPr>
        <p:spPr>
          <a:xfrm>
            <a:off x="6858000" y="3286677"/>
            <a:ext cx="1676400" cy="1828800"/>
          </a:xfrm>
          <a:prstGeom prst="ellipse">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SG</a:t>
            </a:r>
            <a:endParaRPr/>
          </a:p>
        </p:txBody>
      </p:sp>
      <p:sp>
        <p:nvSpPr>
          <p:cNvPr id="182" name="Google Shape;182;g8177f934de_0_157"/>
          <p:cNvSpPr/>
          <p:nvPr/>
        </p:nvSpPr>
        <p:spPr>
          <a:xfrm>
            <a:off x="3352800" y="2677077"/>
            <a:ext cx="1524000" cy="1714500"/>
          </a:xfrm>
          <a:prstGeom prst="roundRect">
            <a:avLst>
              <a:gd fmla="val 16667" name="adj"/>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ĐN</a:t>
            </a:r>
            <a:endParaRPr/>
          </a:p>
        </p:txBody>
      </p:sp>
      <p:cxnSp>
        <p:nvCxnSpPr>
          <p:cNvPr id="183" name="Google Shape;183;g8177f934de_0_157"/>
          <p:cNvCxnSpPr>
            <a:stCxn id="182" idx="1"/>
            <a:endCxn id="180" idx="7"/>
          </p:cNvCxnSpPr>
          <p:nvPr/>
        </p:nvCxnSpPr>
        <p:spPr>
          <a:xfrm flipH="1">
            <a:off x="1627800" y="3534327"/>
            <a:ext cx="1725000" cy="683700"/>
          </a:xfrm>
          <a:prstGeom prst="straightConnector1">
            <a:avLst/>
          </a:prstGeom>
          <a:noFill/>
          <a:ln cap="flat" cmpd="sng" w="38100">
            <a:solidFill>
              <a:srgbClr val="FF0000"/>
            </a:solidFill>
            <a:prstDash val="solid"/>
            <a:round/>
            <a:headEnd len="med" w="med" type="triangle"/>
            <a:tailEnd len="sm" w="sm" type="none"/>
          </a:ln>
        </p:spPr>
      </p:cxnSp>
      <p:cxnSp>
        <p:nvCxnSpPr>
          <p:cNvPr id="184" name="Google Shape;184;g8177f934de_0_157"/>
          <p:cNvCxnSpPr>
            <a:stCxn id="180" idx="5"/>
          </p:cNvCxnSpPr>
          <p:nvPr/>
        </p:nvCxnSpPr>
        <p:spPr>
          <a:xfrm rot="-5400000">
            <a:off x="2098784" y="3920624"/>
            <a:ext cx="1011900" cy="1953600"/>
          </a:xfrm>
          <a:prstGeom prst="curvedConnector4">
            <a:avLst>
              <a:gd fmla="val -22592" name="adj1"/>
              <a:gd fmla="val 55137" name="adj2"/>
            </a:avLst>
          </a:prstGeom>
          <a:noFill/>
          <a:ln cap="flat" cmpd="sng" w="38100">
            <a:solidFill>
              <a:srgbClr val="FF0000"/>
            </a:solidFill>
            <a:prstDash val="solid"/>
            <a:round/>
            <a:headEnd len="sm" w="sm" type="none"/>
            <a:tailEnd len="med" w="med" type="triangle"/>
          </a:ln>
        </p:spPr>
      </p:cxnSp>
      <p:cxnSp>
        <p:nvCxnSpPr>
          <p:cNvPr id="185" name="Google Shape;185;g8177f934de_0_157"/>
          <p:cNvCxnSpPr>
            <a:stCxn id="180" idx="0"/>
          </p:cNvCxnSpPr>
          <p:nvPr/>
        </p:nvCxnSpPr>
        <p:spPr>
          <a:xfrm rot="-5400000">
            <a:off x="1714500" y="2334177"/>
            <a:ext cx="1066800" cy="2209800"/>
          </a:xfrm>
          <a:prstGeom prst="curvedConnector2">
            <a:avLst/>
          </a:prstGeom>
          <a:noFill/>
          <a:ln cap="flat" cmpd="sng" w="38100">
            <a:solidFill>
              <a:srgbClr val="FF0000"/>
            </a:solidFill>
            <a:prstDash val="solid"/>
            <a:round/>
            <a:headEnd len="med" w="med" type="diamond"/>
            <a:tailEnd len="med" w="med" type="triangle"/>
          </a:ln>
        </p:spPr>
      </p:cxnSp>
      <p:cxnSp>
        <p:nvCxnSpPr>
          <p:cNvPr id="186" name="Google Shape;186;g8177f934de_0_157"/>
          <p:cNvCxnSpPr>
            <a:stCxn id="182" idx="0"/>
            <a:endCxn id="181" idx="0"/>
          </p:cNvCxnSpPr>
          <p:nvPr/>
        </p:nvCxnSpPr>
        <p:spPr>
          <a:xfrm flipH="1" rot="-5400000">
            <a:off x="5600700" y="1191177"/>
            <a:ext cx="609600" cy="3581400"/>
          </a:xfrm>
          <a:prstGeom prst="curvedConnector3">
            <a:avLst>
              <a:gd fmla="val -37500" name="adj1"/>
            </a:avLst>
          </a:prstGeom>
          <a:noFill/>
          <a:ln cap="flat" cmpd="sng" w="57150">
            <a:solidFill>
              <a:srgbClr val="00B050"/>
            </a:solidFill>
            <a:prstDash val="solid"/>
            <a:round/>
            <a:headEnd len="sm" w="sm" type="none"/>
            <a:tailEnd len="med" w="med" type="triangle"/>
          </a:ln>
        </p:spPr>
      </p:cxnSp>
      <p:cxnSp>
        <p:nvCxnSpPr>
          <p:cNvPr id="187" name="Google Shape;187;g8177f934de_0_157"/>
          <p:cNvCxnSpPr>
            <a:endCxn id="181" idx="1"/>
          </p:cNvCxnSpPr>
          <p:nvPr/>
        </p:nvCxnSpPr>
        <p:spPr>
          <a:xfrm>
            <a:off x="4888003" y="3082299"/>
            <a:ext cx="2215500" cy="472200"/>
          </a:xfrm>
          <a:prstGeom prst="curvedConnector2">
            <a:avLst/>
          </a:prstGeom>
          <a:noFill/>
          <a:ln cap="flat" cmpd="sng" w="57150">
            <a:solidFill>
              <a:srgbClr val="00B050"/>
            </a:solidFill>
            <a:prstDash val="solid"/>
            <a:round/>
            <a:headEnd len="sm" w="sm" type="none"/>
            <a:tailEnd len="med" w="med" type="triangle"/>
          </a:ln>
        </p:spPr>
      </p:cxnSp>
      <p:cxnSp>
        <p:nvCxnSpPr>
          <p:cNvPr id="188" name="Google Shape;188;g8177f934de_0_157"/>
          <p:cNvCxnSpPr>
            <a:stCxn id="182" idx="2"/>
            <a:endCxn id="181" idx="4"/>
          </p:cNvCxnSpPr>
          <p:nvPr/>
        </p:nvCxnSpPr>
        <p:spPr>
          <a:xfrm flipH="1" rot="-5400000">
            <a:off x="5543550" y="2962827"/>
            <a:ext cx="723900" cy="3581400"/>
          </a:xfrm>
          <a:prstGeom prst="curvedConnector3">
            <a:avLst>
              <a:gd fmla="val 131579" name="adj1"/>
            </a:avLst>
          </a:prstGeom>
          <a:noFill/>
          <a:ln cap="flat" cmpd="sng" w="57150">
            <a:solidFill>
              <a:srgbClr val="00B050"/>
            </a:solidFill>
            <a:prstDash val="solid"/>
            <a:round/>
            <a:headEnd len="sm" w="sm" type="none"/>
            <a:tailEnd len="med" w="med" type="triangle"/>
          </a:ln>
        </p:spPr>
      </p:cxnSp>
      <p:cxnSp>
        <p:nvCxnSpPr>
          <p:cNvPr id="189" name="Google Shape;189;g8177f934de_0_157"/>
          <p:cNvCxnSpPr>
            <a:stCxn id="182" idx="3"/>
            <a:endCxn id="181" idx="2"/>
          </p:cNvCxnSpPr>
          <p:nvPr/>
        </p:nvCxnSpPr>
        <p:spPr>
          <a:xfrm>
            <a:off x="4876800" y="3534327"/>
            <a:ext cx="1981200" cy="666900"/>
          </a:xfrm>
          <a:prstGeom prst="straightConnector1">
            <a:avLst/>
          </a:prstGeom>
          <a:noFill/>
          <a:ln cap="flat" cmpd="sng" w="57150">
            <a:solidFill>
              <a:srgbClr val="00B050"/>
            </a:solidFill>
            <a:prstDash val="solid"/>
            <a:round/>
            <a:headEnd len="sm" w="sm" type="none"/>
            <a:tailEnd len="med" w="med" type="stealth"/>
          </a:ln>
        </p:spPr>
      </p:cxnSp>
      <p:cxnSp>
        <p:nvCxnSpPr>
          <p:cNvPr id="190" name="Google Shape;190;g8177f934de_0_157"/>
          <p:cNvCxnSpPr/>
          <p:nvPr/>
        </p:nvCxnSpPr>
        <p:spPr>
          <a:xfrm>
            <a:off x="1143000" y="5648877"/>
            <a:ext cx="3429000" cy="1500"/>
          </a:xfrm>
          <a:prstGeom prst="straightConnector1">
            <a:avLst/>
          </a:prstGeom>
          <a:noFill/>
          <a:ln cap="flat" cmpd="sng" w="9525">
            <a:solidFill>
              <a:srgbClr val="002060"/>
            </a:solidFill>
            <a:prstDash val="solid"/>
            <a:round/>
            <a:headEnd len="med" w="med" type="stealth"/>
            <a:tailEnd len="med" w="med" type="stealth"/>
          </a:ln>
        </p:spPr>
      </p:cxnSp>
      <p:cxnSp>
        <p:nvCxnSpPr>
          <p:cNvPr id="191" name="Google Shape;191;g8177f934de_0_157"/>
          <p:cNvCxnSpPr/>
          <p:nvPr/>
        </p:nvCxnSpPr>
        <p:spPr>
          <a:xfrm>
            <a:off x="4800600" y="5648877"/>
            <a:ext cx="3124200" cy="1500"/>
          </a:xfrm>
          <a:prstGeom prst="straightConnector1">
            <a:avLst/>
          </a:prstGeom>
          <a:noFill/>
          <a:ln cap="flat" cmpd="sng" w="9525">
            <a:solidFill>
              <a:srgbClr val="002060"/>
            </a:solidFill>
            <a:prstDash val="solid"/>
            <a:round/>
            <a:headEnd len="med" w="med" type="stealth"/>
            <a:tailEnd len="med" w="med" type="stealth"/>
          </a:ln>
        </p:spPr>
      </p:cxnSp>
      <p:sp>
        <p:nvSpPr>
          <p:cNvPr id="192" name="Google Shape;192;g8177f934de_0_157"/>
          <p:cNvSpPr txBox="1"/>
          <p:nvPr/>
        </p:nvSpPr>
        <p:spPr>
          <a:xfrm>
            <a:off x="1905000" y="5801277"/>
            <a:ext cx="17526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Chặng 1</a:t>
            </a:r>
            <a:endParaRPr/>
          </a:p>
        </p:txBody>
      </p:sp>
      <p:sp>
        <p:nvSpPr>
          <p:cNvPr id="193" name="Google Shape;193;g8177f934de_0_157"/>
          <p:cNvSpPr txBox="1"/>
          <p:nvPr/>
        </p:nvSpPr>
        <p:spPr>
          <a:xfrm>
            <a:off x="5486400" y="5801277"/>
            <a:ext cx="17526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Chặng 2</a:t>
            </a:r>
            <a:endParaRPr/>
          </a:p>
        </p:txBody>
      </p:sp>
      <p:cxnSp>
        <p:nvCxnSpPr>
          <p:cNvPr id="194" name="Google Shape;194;g8177f934de_0_157"/>
          <p:cNvCxnSpPr/>
          <p:nvPr/>
        </p:nvCxnSpPr>
        <p:spPr>
          <a:xfrm>
            <a:off x="3200400" y="4217981"/>
            <a:ext cx="152400" cy="173700"/>
          </a:xfrm>
          <a:prstGeom prst="straightConnector1">
            <a:avLst/>
          </a:prstGeom>
          <a:noFill/>
          <a:ln cap="flat" cmpd="sng" w="28575">
            <a:solidFill>
              <a:srgbClr val="D7D7D7"/>
            </a:solidFill>
            <a:prstDash val="solid"/>
            <a:round/>
            <a:headEnd len="sm" w="sm" type="none"/>
            <a:tailEnd len="med" w="med" type="stealth"/>
          </a:ln>
        </p:spPr>
      </p:cxnSp>
      <p:sp>
        <p:nvSpPr>
          <p:cNvPr id="195" name="Google Shape;195;g8177f934de_0_157"/>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g8177f934de_0_157"/>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8177f934de_0_18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g8177f934de_0_180"/>
          <p:cNvSpPr/>
          <p:nvPr/>
        </p:nvSpPr>
        <p:spPr>
          <a:xfrm>
            <a:off x="1927200" y="3238415"/>
            <a:ext cx="57150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S = 0;</a:t>
            </a:r>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i = 0; i &lt;10 ; i ++)</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    for(</a:t>
            </a:r>
            <a:r>
              <a:rPr lang="en-US" sz="2400">
                <a:solidFill>
                  <a:srgbClr val="002060"/>
                </a:solidFill>
                <a:latin typeface="Times New Roman"/>
                <a:ea typeface="Times New Roman"/>
                <a:cs typeface="Times New Roman"/>
                <a:sym typeface="Times New Roman"/>
              </a:rPr>
              <a:t> j = 0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j &lt;20 ; j++)</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         for</a:t>
            </a:r>
            <a:r>
              <a:rPr lang="en-US" sz="2400">
                <a:solidFill>
                  <a:srgbClr val="002060"/>
                </a:solidFill>
                <a:latin typeface="Times New Roman"/>
                <a:ea typeface="Times New Roman"/>
                <a:cs typeface="Times New Roman"/>
                <a:sym typeface="Times New Roman"/>
              </a:rPr>
              <a:t> (k= 0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k &lt;30; k++) S += 1;</a:t>
            </a:r>
            <a:endParaRPr sz="2400">
              <a:solidFill>
                <a:srgbClr val="002060"/>
              </a:solidFill>
              <a:latin typeface="Times New Roman"/>
              <a:ea typeface="Times New Roman"/>
              <a:cs typeface="Times New Roman"/>
              <a:sym typeface="Times New Roman"/>
            </a:endParaRPr>
          </a:p>
        </p:txBody>
      </p:sp>
      <p:sp>
        <p:nvSpPr>
          <p:cNvPr id="203" name="Google Shape;203;g8177f934de_0_18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4</a:t>
            </a:r>
            <a:endParaRPr/>
          </a:p>
        </p:txBody>
      </p:sp>
      <p:sp>
        <p:nvSpPr>
          <p:cNvPr id="204" name="Google Shape;204;g8177f934de_0_180"/>
          <p:cNvSpPr txBox="1"/>
          <p:nvPr>
            <p:ph idx="1" type="body"/>
          </p:nvPr>
        </p:nvSpPr>
        <p:spPr>
          <a:xfrm>
            <a:off x="425200" y="2185419"/>
            <a:ext cx="7770000" cy="958200"/>
          </a:xfrm>
          <a:prstGeom prst="rect">
            <a:avLst/>
          </a:prstGeom>
        </p:spPr>
        <p:txBody>
          <a:bodyPr anchorCtr="0" anchor="t" bIns="45700" lIns="91425" spcFirstLastPara="1" rIns="91425" wrap="square" tIns="45700">
            <a:noAutofit/>
          </a:bodyPr>
          <a:lstStyle/>
          <a:p>
            <a:pPr indent="-381000" lvl="0" marL="457200" rtl="0" algn="l">
              <a:spcBef>
                <a:spcPts val="480"/>
              </a:spcBef>
              <a:spcAft>
                <a:spcPts val="0"/>
              </a:spcAft>
              <a:buClr>
                <a:srgbClr val="002060"/>
              </a:buClr>
              <a:buSzPts val="2400"/>
              <a:buChar char="•"/>
            </a:pPr>
            <a:r>
              <a:rPr b="1" lang="en-US" sz="2400">
                <a:solidFill>
                  <a:srgbClr val="002060"/>
                </a:solidFill>
              </a:rPr>
              <a:t>T</a:t>
            </a:r>
            <a:r>
              <a:rPr lang="en-US" sz="2400">
                <a:solidFill>
                  <a:srgbClr val="002060"/>
                </a:solidFill>
              </a:rPr>
              <a:t>ính giá trị của S:</a:t>
            </a:r>
            <a:endParaRPr sz="2400">
              <a:solidFill>
                <a:srgbClr val="002060"/>
              </a:solidFill>
            </a:endParaRPr>
          </a:p>
          <a:p>
            <a:pPr indent="0" lvl="0" marL="0" rtl="0" algn="l">
              <a:spcBef>
                <a:spcPts val="6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8177f934de_0_188"/>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0" name="Google Shape;210;g8177f934de_0_188"/>
          <p:cNvSpPr/>
          <p:nvPr/>
        </p:nvSpPr>
        <p:spPr>
          <a:xfrm>
            <a:off x="914400" y="2287575"/>
            <a:ext cx="7391400" cy="40371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8177f934de_0_188"/>
          <p:cNvSpPr/>
          <p:nvPr/>
        </p:nvSpPr>
        <p:spPr>
          <a:xfrm>
            <a:off x="1876535" y="2343813"/>
            <a:ext cx="30480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for( S=0, i = 0; i &lt;10 ; i ++)</a:t>
            </a:r>
            <a:endParaRPr b="1" sz="1800">
              <a:solidFill>
                <a:srgbClr val="002060"/>
              </a:solidFill>
              <a:latin typeface="Times New Roman"/>
              <a:ea typeface="Times New Roman"/>
              <a:cs typeface="Times New Roman"/>
              <a:sym typeface="Times New Roman"/>
            </a:endParaRPr>
          </a:p>
        </p:txBody>
      </p:sp>
      <p:sp>
        <p:nvSpPr>
          <p:cNvPr id="212" name="Google Shape;212;g8177f934de_0_188"/>
          <p:cNvSpPr/>
          <p:nvPr/>
        </p:nvSpPr>
        <p:spPr>
          <a:xfrm>
            <a:off x="2333735" y="3410613"/>
            <a:ext cx="27939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for( j = 0; j &lt; 20 ; j ++)</a:t>
            </a:r>
            <a:endParaRPr b="1" sz="1800">
              <a:solidFill>
                <a:srgbClr val="002060"/>
              </a:solidFill>
              <a:latin typeface="Times New Roman"/>
              <a:ea typeface="Times New Roman"/>
              <a:cs typeface="Times New Roman"/>
              <a:sym typeface="Times New Roman"/>
            </a:endParaRPr>
          </a:p>
        </p:txBody>
      </p:sp>
      <p:sp>
        <p:nvSpPr>
          <p:cNvPr id="213" name="Google Shape;213;g8177f934de_0_188"/>
          <p:cNvSpPr/>
          <p:nvPr/>
        </p:nvSpPr>
        <p:spPr>
          <a:xfrm>
            <a:off x="2867135" y="4553613"/>
            <a:ext cx="27939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for(k= 0; k &lt; 30 ; k ++)</a:t>
            </a:r>
            <a:endParaRPr b="1" sz="1800">
              <a:solidFill>
                <a:srgbClr val="002060"/>
              </a:solidFill>
              <a:latin typeface="Times New Roman"/>
              <a:ea typeface="Times New Roman"/>
              <a:cs typeface="Times New Roman"/>
              <a:sym typeface="Times New Roman"/>
            </a:endParaRPr>
          </a:p>
        </p:txBody>
      </p:sp>
      <p:sp>
        <p:nvSpPr>
          <p:cNvPr id="214" name="Google Shape;214;g8177f934de_0_188"/>
          <p:cNvSpPr/>
          <p:nvPr/>
        </p:nvSpPr>
        <p:spPr>
          <a:xfrm>
            <a:off x="3933935" y="5696613"/>
            <a:ext cx="27939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                 S+=1</a:t>
            </a:r>
            <a:endParaRPr b="1" sz="1800">
              <a:solidFill>
                <a:srgbClr val="002060"/>
              </a:solidFill>
              <a:latin typeface="Times New Roman"/>
              <a:ea typeface="Times New Roman"/>
              <a:cs typeface="Times New Roman"/>
              <a:sym typeface="Times New Roman"/>
            </a:endParaRPr>
          </a:p>
        </p:txBody>
      </p:sp>
      <p:sp>
        <p:nvSpPr>
          <p:cNvPr id="215" name="Google Shape;215;g8177f934de_0_188"/>
          <p:cNvSpPr/>
          <p:nvPr/>
        </p:nvSpPr>
        <p:spPr>
          <a:xfrm>
            <a:off x="2409935" y="3182013"/>
            <a:ext cx="152400" cy="228600"/>
          </a:xfrm>
          <a:prstGeom prst="downArrow">
            <a:avLst>
              <a:gd fmla="val 50000" name="adj1"/>
              <a:gd fmla="val 50000" name="adj2"/>
            </a:avLst>
          </a:prstGeom>
          <a:solidFill>
            <a:schemeClr val="accent1"/>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Times New Roman"/>
              <a:ea typeface="Times New Roman"/>
              <a:cs typeface="Times New Roman"/>
              <a:sym typeface="Times New Roman"/>
            </a:endParaRPr>
          </a:p>
        </p:txBody>
      </p:sp>
      <p:sp>
        <p:nvSpPr>
          <p:cNvPr id="216" name="Google Shape;216;g8177f934de_0_188"/>
          <p:cNvSpPr/>
          <p:nvPr/>
        </p:nvSpPr>
        <p:spPr>
          <a:xfrm>
            <a:off x="2867135" y="4248813"/>
            <a:ext cx="152400" cy="228600"/>
          </a:xfrm>
          <a:prstGeom prst="downArrow">
            <a:avLst>
              <a:gd fmla="val 50000" name="adj1"/>
              <a:gd fmla="val 50000" name="adj2"/>
            </a:avLst>
          </a:prstGeom>
          <a:solidFill>
            <a:schemeClr val="accent1"/>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Times New Roman"/>
              <a:ea typeface="Times New Roman"/>
              <a:cs typeface="Times New Roman"/>
              <a:sym typeface="Times New Roman"/>
            </a:endParaRPr>
          </a:p>
        </p:txBody>
      </p:sp>
      <p:sp>
        <p:nvSpPr>
          <p:cNvPr id="217" name="Google Shape;217;g8177f934de_0_188"/>
          <p:cNvSpPr/>
          <p:nvPr/>
        </p:nvSpPr>
        <p:spPr>
          <a:xfrm>
            <a:off x="3857735" y="5391813"/>
            <a:ext cx="152400" cy="228600"/>
          </a:xfrm>
          <a:prstGeom prst="downArrow">
            <a:avLst>
              <a:gd fmla="val 50000" name="adj1"/>
              <a:gd fmla="val 50000" name="adj2"/>
            </a:avLst>
          </a:prstGeom>
          <a:solidFill>
            <a:schemeClr val="accent1"/>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Times New Roman"/>
              <a:ea typeface="Times New Roman"/>
              <a:cs typeface="Times New Roman"/>
              <a:sym typeface="Times New Roman"/>
            </a:endParaRPr>
          </a:p>
        </p:txBody>
      </p:sp>
      <p:sp>
        <p:nvSpPr>
          <p:cNvPr id="218" name="Google Shape;218;g8177f934de_0_188"/>
          <p:cNvSpPr txBox="1"/>
          <p:nvPr/>
        </p:nvSpPr>
        <p:spPr>
          <a:xfrm>
            <a:off x="6680100" y="6172200"/>
            <a:ext cx="2286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ĐS: 6000</a:t>
            </a:r>
            <a:endParaRPr/>
          </a:p>
        </p:txBody>
      </p:sp>
      <p:sp>
        <p:nvSpPr>
          <p:cNvPr id="219" name="Google Shape;219;g8177f934de_0_18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8177f934de_0_734"/>
          <p:cNvSpPr txBox="1"/>
          <p:nvPr>
            <p:ph idx="1" type="body"/>
          </p:nvPr>
        </p:nvSpPr>
        <p:spPr>
          <a:xfrm>
            <a:off x="425200" y="2185425"/>
            <a:ext cx="7850100" cy="3968100"/>
          </a:xfrm>
          <a:prstGeom prst="rect">
            <a:avLst/>
          </a:prstGeom>
        </p:spPr>
        <p:txBody>
          <a:bodyPr anchorCtr="0" anchor="t" bIns="45700" lIns="91425" spcFirstLastPara="1" rIns="91425" wrap="square" tIns="45700">
            <a:noAutofit/>
          </a:bodyPr>
          <a:lstStyle/>
          <a:p>
            <a:pPr indent="-317500" lvl="0" marL="342900" rtl="0" algn="l">
              <a:spcBef>
                <a:spcPts val="0"/>
              </a:spcBef>
              <a:spcAft>
                <a:spcPts val="0"/>
              </a:spcAft>
              <a:buClr>
                <a:srgbClr val="002060"/>
              </a:buClr>
              <a:buSzPts val="2400"/>
              <a:buFont typeface="Noto Sans Symbols"/>
              <a:buChar char="●"/>
            </a:pPr>
            <a:r>
              <a:rPr lang="en-US" sz="2400">
                <a:solidFill>
                  <a:srgbClr val="002060"/>
                </a:solidFill>
              </a:rPr>
              <a:t>Một chỉnh hợp lặp chập k của n phần tử là </a:t>
            </a:r>
            <a:r>
              <a:rPr lang="en-US" sz="2400">
                <a:solidFill>
                  <a:srgbClr val="FF0000"/>
                </a:solidFill>
              </a:rPr>
              <a:t>một bộ </a:t>
            </a:r>
            <a:r>
              <a:rPr b="1" i="1" lang="en-US" sz="2400">
                <a:solidFill>
                  <a:srgbClr val="FF0000"/>
                </a:solidFill>
              </a:rPr>
              <a:t>có thứ tự</a:t>
            </a:r>
            <a:r>
              <a:rPr b="1" i="1" lang="en-US" sz="2400">
                <a:solidFill>
                  <a:srgbClr val="002060"/>
                </a:solidFill>
              </a:rPr>
              <a:t> </a:t>
            </a:r>
            <a:r>
              <a:rPr lang="en-US" sz="2400">
                <a:solidFill>
                  <a:srgbClr val="002060"/>
                </a:solidFill>
              </a:rPr>
              <a:t>gồm k phần từ lấy từ n phần tử, trong đó các phần tử </a:t>
            </a:r>
            <a:r>
              <a:rPr i="1" lang="en-US" sz="2400">
                <a:solidFill>
                  <a:srgbClr val="002060"/>
                </a:solidFill>
              </a:rPr>
              <a:t>có thể lặp.</a:t>
            </a:r>
            <a:endParaRPr i="1" sz="2400">
              <a:solidFill>
                <a:srgbClr val="002060"/>
              </a:solidFill>
            </a:endParaRPr>
          </a:p>
          <a:p>
            <a:pPr indent="-381000" lvl="0" marL="457200" rtl="0" algn="l">
              <a:spcBef>
                <a:spcPts val="560"/>
              </a:spcBef>
              <a:spcAft>
                <a:spcPts val="0"/>
              </a:spcAft>
              <a:buClr>
                <a:srgbClr val="002060"/>
              </a:buClr>
              <a:buSzPts val="2400"/>
              <a:buChar char="●"/>
            </a:pPr>
            <a:r>
              <a:rPr lang="en-US" sz="2400">
                <a:solidFill>
                  <a:srgbClr val="002060"/>
                </a:solidFill>
              </a:rPr>
              <a:t>Số tất cả chỉnh hợp lặp chập k của n phần tử là:</a:t>
            </a:r>
            <a:endParaRPr sz="2400">
              <a:solidFill>
                <a:srgbClr val="002060"/>
              </a:solidFill>
            </a:endParaRPr>
          </a:p>
          <a:p>
            <a:pPr indent="-381000" lvl="0" marL="457200" rtl="0" algn="l">
              <a:spcBef>
                <a:spcPts val="560"/>
              </a:spcBef>
              <a:spcAft>
                <a:spcPts val="0"/>
              </a:spcAft>
              <a:buClr>
                <a:srgbClr val="002060"/>
              </a:buClr>
              <a:buSzPts val="2400"/>
              <a:buChar char="●"/>
            </a:pPr>
            <a:r>
              <a:rPr lang="en-US" sz="2400">
                <a:solidFill>
                  <a:srgbClr val="002060"/>
                </a:solidFill>
              </a:rPr>
              <a:t>Đếm số chỉnh hợp lặp chập 2 của tập X ( tập 3 phân tử)</a:t>
            </a:r>
            <a:endParaRPr sz="2400">
              <a:solidFill>
                <a:srgbClr val="002060"/>
              </a:solidFill>
            </a:endParaRPr>
          </a:p>
          <a:p>
            <a:pPr indent="-381000" lvl="1" marL="914400" rtl="0" algn="l">
              <a:spcBef>
                <a:spcPts val="560"/>
              </a:spcBef>
              <a:spcAft>
                <a:spcPts val="0"/>
              </a:spcAft>
              <a:buClr>
                <a:srgbClr val="002060"/>
              </a:buClr>
              <a:buSzPts val="2400"/>
              <a:buChar char="○"/>
            </a:pPr>
            <a:r>
              <a:rPr lang="en-US" sz="2400">
                <a:solidFill>
                  <a:srgbClr val="002060"/>
                </a:solidFill>
              </a:rPr>
              <a:t>X = {a, b, c}</a:t>
            </a:r>
            <a:endParaRPr sz="2400">
              <a:solidFill>
                <a:srgbClr val="002060"/>
              </a:solidFill>
            </a:endParaRPr>
          </a:p>
        </p:txBody>
      </p:sp>
      <p:sp>
        <p:nvSpPr>
          <p:cNvPr id="226" name="Google Shape;226;g8177f934de_0_73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Chỉnh hợp lặp</a:t>
            </a:r>
            <a:endParaRPr/>
          </a:p>
        </p:txBody>
      </p:sp>
      <p:pic>
        <p:nvPicPr>
          <p:cNvPr id="227" name="Google Shape;227;g8177f934de_0_734"/>
          <p:cNvPicPr preferRelativeResize="0"/>
          <p:nvPr/>
        </p:nvPicPr>
        <p:blipFill rotWithShape="1">
          <a:blip r:embed="rId3">
            <a:alphaModFix/>
          </a:blip>
          <a:srcRect b="0" l="0" r="0" t="0"/>
          <a:stretch/>
        </p:blipFill>
        <p:spPr>
          <a:xfrm>
            <a:off x="6762300" y="3685340"/>
            <a:ext cx="439738" cy="40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8177f934de_0_219"/>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Char char="●"/>
            </a:pPr>
            <a:r>
              <a:rPr lang="en-US" sz="2400">
                <a:solidFill>
                  <a:srgbClr val="002060"/>
                </a:solidFill>
              </a:rPr>
              <a:t>Đếm số hàm số từ tập k phần tử vào tập n phần tử </a:t>
            </a:r>
            <a:endParaRPr sz="2400">
              <a:solidFill>
                <a:srgbClr val="002060"/>
              </a:solidFill>
            </a:endParaRPr>
          </a:p>
          <a:p>
            <a:pPr indent="-342900" lvl="0" marL="342900" rtl="0" algn="l">
              <a:spcBef>
                <a:spcPts val="480"/>
              </a:spcBef>
              <a:spcAft>
                <a:spcPts val="0"/>
              </a:spcAft>
              <a:buClr>
                <a:schemeClr val="dk1"/>
              </a:buClr>
              <a:buSzPts val="2400"/>
              <a:buNone/>
            </a:pPr>
            <a:r>
              <a:t/>
            </a:r>
            <a:endParaRPr sz="2400">
              <a:solidFill>
                <a:srgbClr val="002060"/>
              </a:solidFill>
            </a:endParaRPr>
          </a:p>
          <a:p>
            <a:pPr indent="-342900" lvl="0" marL="342900" rtl="0" algn="l">
              <a:spcBef>
                <a:spcPts val="480"/>
              </a:spcBef>
              <a:spcAft>
                <a:spcPts val="0"/>
              </a:spcAft>
              <a:buClr>
                <a:schemeClr val="dk1"/>
              </a:buClr>
              <a:buSzPts val="2400"/>
              <a:buNone/>
            </a:pPr>
            <a:r>
              <a:t/>
            </a:r>
            <a:endParaRPr sz="2400">
              <a:solidFill>
                <a:srgbClr val="002060"/>
              </a:solidFill>
            </a:endParaRPr>
          </a:p>
          <a:p>
            <a:pPr indent="-190500" lvl="0" marL="342900" rtl="0" algn="l">
              <a:spcBef>
                <a:spcPts val="480"/>
              </a:spcBef>
              <a:spcAft>
                <a:spcPts val="0"/>
              </a:spcAft>
              <a:buClr>
                <a:schemeClr val="dk1"/>
              </a:buClr>
              <a:buSzPts val="2400"/>
              <a:buNone/>
            </a:pPr>
            <a:r>
              <a:t/>
            </a:r>
            <a:endParaRPr b="1" sz="2400">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p:txBody>
      </p:sp>
      <p:sp>
        <p:nvSpPr>
          <p:cNvPr id="233" name="Google Shape;233;g8177f934de_0_219"/>
          <p:cNvSpPr/>
          <p:nvPr/>
        </p:nvSpPr>
        <p:spPr>
          <a:xfrm>
            <a:off x="2057400" y="3135342"/>
            <a:ext cx="914400" cy="1970100"/>
          </a:xfrm>
          <a:prstGeom prst="ellipse">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FF"/>
                </a:solidFill>
                <a:latin typeface="Times New Roman"/>
                <a:ea typeface="Times New Roman"/>
                <a:cs typeface="Times New Roman"/>
                <a:sym typeface="Times New Roman"/>
              </a:rPr>
              <a:t>K</a:t>
            </a:r>
            <a:endParaRPr sz="1800">
              <a:solidFill>
                <a:srgbClr val="0000FF"/>
              </a:solidFill>
              <a:latin typeface="Times New Roman"/>
              <a:ea typeface="Times New Roman"/>
              <a:cs typeface="Times New Roman"/>
              <a:sym typeface="Times New Roman"/>
            </a:endParaRPr>
          </a:p>
        </p:txBody>
      </p:sp>
      <p:sp>
        <p:nvSpPr>
          <p:cNvPr id="234" name="Google Shape;234;g8177f934de_0_219"/>
          <p:cNvSpPr/>
          <p:nvPr/>
        </p:nvSpPr>
        <p:spPr>
          <a:xfrm>
            <a:off x="5257800" y="2895600"/>
            <a:ext cx="762000" cy="2209800"/>
          </a:xfrm>
          <a:prstGeom prst="ellipse">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FF"/>
                </a:solidFill>
                <a:latin typeface="Times New Roman"/>
                <a:ea typeface="Times New Roman"/>
                <a:cs typeface="Times New Roman"/>
                <a:sym typeface="Times New Roman"/>
              </a:rPr>
              <a:t>N</a:t>
            </a:r>
            <a:endParaRPr sz="1800">
              <a:solidFill>
                <a:srgbClr val="0000FF"/>
              </a:solidFill>
              <a:latin typeface="Times New Roman"/>
              <a:ea typeface="Times New Roman"/>
              <a:cs typeface="Times New Roman"/>
              <a:sym typeface="Times New Roman"/>
            </a:endParaRPr>
          </a:p>
        </p:txBody>
      </p:sp>
      <p:cxnSp>
        <p:nvCxnSpPr>
          <p:cNvPr id="235" name="Google Shape;235;g8177f934de_0_219"/>
          <p:cNvCxnSpPr/>
          <p:nvPr/>
        </p:nvCxnSpPr>
        <p:spPr>
          <a:xfrm>
            <a:off x="2590800" y="3516342"/>
            <a:ext cx="3048000" cy="1500"/>
          </a:xfrm>
          <a:prstGeom prst="straightConnector1">
            <a:avLst/>
          </a:prstGeom>
          <a:noFill/>
          <a:ln cap="flat" cmpd="sng" w="9525">
            <a:solidFill>
              <a:srgbClr val="002060"/>
            </a:solidFill>
            <a:prstDash val="solid"/>
            <a:round/>
            <a:headEnd len="med" w="med" type="oval"/>
            <a:tailEnd len="med" w="med" type="oval"/>
          </a:ln>
        </p:spPr>
      </p:cxnSp>
      <p:cxnSp>
        <p:nvCxnSpPr>
          <p:cNvPr id="236" name="Google Shape;236;g8177f934de_0_219"/>
          <p:cNvCxnSpPr/>
          <p:nvPr/>
        </p:nvCxnSpPr>
        <p:spPr>
          <a:xfrm>
            <a:off x="2590800" y="3516342"/>
            <a:ext cx="3048000" cy="304800"/>
          </a:xfrm>
          <a:prstGeom prst="straightConnector1">
            <a:avLst/>
          </a:prstGeom>
          <a:noFill/>
          <a:ln cap="flat" cmpd="sng" w="9525">
            <a:solidFill>
              <a:srgbClr val="002060"/>
            </a:solidFill>
            <a:prstDash val="solid"/>
            <a:round/>
            <a:headEnd len="med" w="med" type="oval"/>
            <a:tailEnd len="med" w="med" type="oval"/>
          </a:ln>
        </p:spPr>
      </p:cxnSp>
      <p:cxnSp>
        <p:nvCxnSpPr>
          <p:cNvPr id="237" name="Google Shape;237;g8177f934de_0_219"/>
          <p:cNvCxnSpPr/>
          <p:nvPr/>
        </p:nvCxnSpPr>
        <p:spPr>
          <a:xfrm>
            <a:off x="2590800" y="3516342"/>
            <a:ext cx="3048000" cy="685800"/>
          </a:xfrm>
          <a:prstGeom prst="straightConnector1">
            <a:avLst/>
          </a:prstGeom>
          <a:noFill/>
          <a:ln cap="flat" cmpd="sng" w="9525">
            <a:solidFill>
              <a:srgbClr val="002060"/>
            </a:solidFill>
            <a:prstDash val="solid"/>
            <a:round/>
            <a:headEnd len="med" w="med" type="oval"/>
            <a:tailEnd len="med" w="med" type="oval"/>
          </a:ln>
        </p:spPr>
      </p:cxnSp>
      <p:cxnSp>
        <p:nvCxnSpPr>
          <p:cNvPr id="238" name="Google Shape;238;g8177f934de_0_219"/>
          <p:cNvCxnSpPr/>
          <p:nvPr/>
        </p:nvCxnSpPr>
        <p:spPr>
          <a:xfrm flipH="1" rot="10800000">
            <a:off x="2590800" y="3516342"/>
            <a:ext cx="3048000" cy="762000"/>
          </a:xfrm>
          <a:prstGeom prst="straightConnector1">
            <a:avLst/>
          </a:prstGeom>
          <a:noFill/>
          <a:ln cap="flat" cmpd="sng" w="9525">
            <a:solidFill>
              <a:srgbClr val="002060"/>
            </a:solidFill>
            <a:prstDash val="dot"/>
            <a:round/>
            <a:headEnd len="sm" w="sm" type="none"/>
            <a:tailEnd len="sm" w="sm" type="none"/>
          </a:ln>
        </p:spPr>
      </p:cxnSp>
      <p:cxnSp>
        <p:nvCxnSpPr>
          <p:cNvPr id="239" name="Google Shape;239;g8177f934de_0_219"/>
          <p:cNvCxnSpPr/>
          <p:nvPr/>
        </p:nvCxnSpPr>
        <p:spPr>
          <a:xfrm flipH="1" rot="10800000">
            <a:off x="2590800" y="3821142"/>
            <a:ext cx="3048000" cy="457200"/>
          </a:xfrm>
          <a:prstGeom prst="straightConnector1">
            <a:avLst/>
          </a:prstGeom>
          <a:noFill/>
          <a:ln cap="flat" cmpd="sng" w="9525">
            <a:solidFill>
              <a:srgbClr val="002060"/>
            </a:solidFill>
            <a:prstDash val="dot"/>
            <a:round/>
            <a:headEnd len="sm" w="sm" type="none"/>
            <a:tailEnd len="sm" w="sm" type="none"/>
          </a:ln>
        </p:spPr>
      </p:cxnSp>
      <p:cxnSp>
        <p:nvCxnSpPr>
          <p:cNvPr id="240" name="Google Shape;240;g8177f934de_0_219"/>
          <p:cNvCxnSpPr/>
          <p:nvPr/>
        </p:nvCxnSpPr>
        <p:spPr>
          <a:xfrm flipH="1" rot="10800000">
            <a:off x="2590800" y="4202142"/>
            <a:ext cx="3048000" cy="76200"/>
          </a:xfrm>
          <a:prstGeom prst="straightConnector1">
            <a:avLst/>
          </a:prstGeom>
          <a:noFill/>
          <a:ln cap="flat" cmpd="sng" w="9525">
            <a:solidFill>
              <a:srgbClr val="002060"/>
            </a:solidFill>
            <a:prstDash val="dot"/>
            <a:round/>
            <a:headEnd len="med" w="med" type="oval"/>
            <a:tailEnd len="med" w="med" type="oval"/>
          </a:ln>
        </p:spPr>
      </p:cxnSp>
      <p:sp>
        <p:nvSpPr>
          <p:cNvPr id="241" name="Google Shape;241;g8177f934de_0_219"/>
          <p:cNvSpPr txBox="1"/>
          <p:nvPr/>
        </p:nvSpPr>
        <p:spPr>
          <a:xfrm>
            <a:off x="5744148" y="5429450"/>
            <a:ext cx="3276600" cy="12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f = (f1, f2, …, fk). </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fi có  n giá trị.</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DS</a:t>
            </a:r>
            <a:r>
              <a:rPr lang="en-US" sz="24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n mũ k </a:t>
            </a:r>
            <a:endParaRPr sz="2000">
              <a:solidFill>
                <a:schemeClr val="dk1"/>
              </a:solidFill>
              <a:latin typeface="Times New Roman"/>
              <a:ea typeface="Times New Roman"/>
              <a:cs typeface="Times New Roman"/>
              <a:sym typeface="Times New Roman"/>
            </a:endParaRPr>
          </a:p>
        </p:txBody>
      </p:sp>
      <p:sp>
        <p:nvSpPr>
          <p:cNvPr id="242" name="Google Shape;242;g8177f934de_0_21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8177f934de_0_243"/>
          <p:cNvSpPr txBox="1"/>
          <p:nvPr>
            <p:ph idx="1" type="body"/>
          </p:nvPr>
        </p:nvSpPr>
        <p:spPr>
          <a:xfrm>
            <a:off x="684200" y="2482250"/>
            <a:ext cx="7591200" cy="1347300"/>
          </a:xfrm>
          <a:prstGeom prst="rect">
            <a:avLst/>
          </a:prstGeom>
          <a:noFill/>
          <a:ln>
            <a:noFill/>
          </a:ln>
        </p:spPr>
        <p:txBody>
          <a:bodyPr anchorCtr="0" anchor="t" bIns="45700" lIns="91425" spcFirstLastPara="1" rIns="91425" wrap="square" tIns="45700">
            <a:noAutofit/>
          </a:bodyPr>
          <a:lstStyle/>
          <a:p>
            <a:pPr indent="-381000" lvl="0" marL="457200" rtl="0" algn="l">
              <a:spcBef>
                <a:spcPts val="480"/>
              </a:spcBef>
              <a:spcAft>
                <a:spcPts val="0"/>
              </a:spcAft>
              <a:buClr>
                <a:srgbClr val="002060"/>
              </a:buClr>
              <a:buSzPts val="2400"/>
              <a:buChar char="●"/>
            </a:pPr>
            <a:r>
              <a:rPr lang="en-US" sz="2400">
                <a:solidFill>
                  <a:srgbClr val="002060"/>
                </a:solidFill>
              </a:rPr>
              <a:t>Đếm</a:t>
            </a:r>
            <a:r>
              <a:rPr lang="en-US" sz="2400">
                <a:solidFill>
                  <a:srgbClr val="002060"/>
                </a:solidFill>
              </a:rPr>
              <a:t> số tập con của một tập gồm n phần tử?</a:t>
            </a:r>
            <a:endParaRPr/>
          </a:p>
          <a:p>
            <a:pPr indent="-190500" lvl="0" marL="342900" rtl="0" algn="l">
              <a:spcBef>
                <a:spcPts val="480"/>
              </a:spcBef>
              <a:spcAft>
                <a:spcPts val="0"/>
              </a:spcAft>
              <a:buClr>
                <a:schemeClr val="dk1"/>
              </a:buClr>
              <a:buSzPts val="2400"/>
              <a:buNone/>
            </a:pPr>
            <a:r>
              <a:t/>
            </a:r>
            <a:endParaRPr sz="2400">
              <a:solidFill>
                <a:srgbClr val="002060"/>
              </a:solidFill>
            </a:endParaRPr>
          </a:p>
          <a:p>
            <a:pPr indent="0" lvl="0" marL="0" rtl="0" algn="l">
              <a:spcBef>
                <a:spcPts val="480"/>
              </a:spcBef>
              <a:spcAft>
                <a:spcPts val="0"/>
              </a:spcAft>
              <a:buClr>
                <a:schemeClr val="dk1"/>
              </a:buClr>
              <a:buSzPts val="2400"/>
              <a:buNone/>
            </a:pPr>
            <a:r>
              <a:t/>
            </a:r>
            <a:endParaRPr sz="2400">
              <a:solidFill>
                <a:srgbClr val="002060"/>
              </a:solidFill>
            </a:endParaRPr>
          </a:p>
        </p:txBody>
      </p:sp>
      <p:sp>
        <p:nvSpPr>
          <p:cNvPr id="248" name="Google Shape;248;g8177f934de_0_243"/>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 name="Google Shape;249;g8177f934de_0_243"/>
          <p:cNvSpPr/>
          <p:nvPr/>
        </p:nvSpPr>
        <p:spPr>
          <a:xfrm>
            <a:off x="1596450" y="3437000"/>
            <a:ext cx="5951100" cy="134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X =  {x1,x2,…,xn},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Tập con A thuộc X: b =(b1,b2,…,bn)</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
        <p:nvSpPr>
          <p:cNvPr id="250" name="Google Shape;250;g8177f934de_0_243"/>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8177f934de_0_743"/>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Chỉnh hợp không lặp</a:t>
            </a:r>
            <a:endParaRPr/>
          </a:p>
        </p:txBody>
      </p:sp>
      <p:sp>
        <p:nvSpPr>
          <p:cNvPr id="257" name="Google Shape;257;g8177f934de_0_743"/>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17500" lvl="0" marL="342900" rtl="0" algn="l">
              <a:spcBef>
                <a:spcPts val="0"/>
              </a:spcBef>
              <a:spcAft>
                <a:spcPts val="0"/>
              </a:spcAft>
              <a:buClr>
                <a:srgbClr val="434343"/>
              </a:buClr>
              <a:buSzPts val="2400"/>
              <a:buFont typeface="Noto Sans Symbols"/>
              <a:buChar char="●"/>
            </a:pPr>
            <a:r>
              <a:rPr lang="en-US" sz="2400">
                <a:solidFill>
                  <a:srgbClr val="434343"/>
                </a:solidFill>
              </a:rPr>
              <a:t>Một chỉnh hợp không lặp chập k của n phần tử là </a:t>
            </a:r>
            <a:r>
              <a:rPr lang="en-US" sz="2400">
                <a:solidFill>
                  <a:srgbClr val="FF0000"/>
                </a:solidFill>
              </a:rPr>
              <a:t>một bộ có thứ tự</a:t>
            </a:r>
            <a:r>
              <a:rPr b="1" lang="en-US" sz="2400">
                <a:solidFill>
                  <a:srgbClr val="434343"/>
                </a:solidFill>
              </a:rPr>
              <a:t>  </a:t>
            </a:r>
            <a:r>
              <a:rPr lang="en-US" sz="2400">
                <a:solidFill>
                  <a:srgbClr val="434343"/>
                </a:solidFill>
              </a:rPr>
              <a:t>gồm k phần tử lấy từ n phần tử, trong đó các phần tử không được lặp.</a:t>
            </a:r>
            <a:endParaRPr sz="2400">
              <a:solidFill>
                <a:srgbClr val="434343"/>
              </a:solidFill>
            </a:endParaRPr>
          </a:p>
          <a:p>
            <a:pPr indent="-342900" lvl="0" marL="342900" rtl="0" algn="l">
              <a:spcBef>
                <a:spcPts val="560"/>
              </a:spcBef>
              <a:spcAft>
                <a:spcPts val="0"/>
              </a:spcAft>
              <a:buClr>
                <a:srgbClr val="434343"/>
              </a:buClr>
              <a:buSzPts val="2400"/>
              <a:buFont typeface="Noto Sans Symbols"/>
              <a:buChar char="●"/>
            </a:pPr>
            <a:r>
              <a:rPr lang="en-US" sz="2400">
                <a:solidFill>
                  <a:srgbClr val="434343"/>
                </a:solidFill>
              </a:rPr>
              <a:t>Số chỉnh hợp không lặp chập k của n phần tử:              </a:t>
            </a:r>
            <a:endParaRPr sz="2400">
              <a:solidFill>
                <a:srgbClr val="434343"/>
              </a:solidFill>
            </a:endParaRPr>
          </a:p>
          <a:p>
            <a:pPr indent="0" lvl="0" marL="0" rtl="0" algn="l">
              <a:spcBef>
                <a:spcPts val="480"/>
              </a:spcBef>
              <a:spcAft>
                <a:spcPts val="0"/>
              </a:spcAft>
              <a:buNone/>
            </a:pPr>
            <a:r>
              <a:rPr lang="en-US" sz="2400">
                <a:solidFill>
                  <a:srgbClr val="434343"/>
                </a:solidFill>
              </a:rPr>
              <a:t>                         n*(n-1)*....(n-k+1), với k &lt;=n</a:t>
            </a:r>
            <a:endParaRPr sz="2400">
              <a:solidFill>
                <a:srgbClr val="434343"/>
              </a:solidFill>
            </a:endParaRPr>
          </a:p>
          <a:p>
            <a:pPr indent="-342900" lvl="0" marL="342900" marR="0" rtl="0" algn="l">
              <a:lnSpc>
                <a:spcPct val="130000"/>
              </a:lnSpc>
              <a:spcBef>
                <a:spcPts val="560"/>
              </a:spcBef>
              <a:spcAft>
                <a:spcPts val="0"/>
              </a:spcAft>
              <a:buClr>
                <a:srgbClr val="434343"/>
              </a:buClr>
              <a:buSzPts val="2400"/>
              <a:buFont typeface="Noto Sans Symbols"/>
              <a:buChar char="●"/>
            </a:pPr>
            <a:r>
              <a:rPr lang="en-US" sz="2400">
                <a:solidFill>
                  <a:srgbClr val="434343"/>
                </a:solidFill>
              </a:rPr>
              <a:t>Đếm số chỉnh hợp không lặp chập 2  từ tập 3 phân tử</a:t>
            </a:r>
            <a:endParaRPr sz="2400">
              <a:solidFill>
                <a:srgbClr val="434343"/>
              </a:solidFill>
            </a:endParaRPr>
          </a:p>
          <a:p>
            <a:pPr indent="-381000" lvl="1" marL="914400" marR="0" rtl="0" algn="l">
              <a:lnSpc>
                <a:spcPct val="130000"/>
              </a:lnSpc>
              <a:spcBef>
                <a:spcPts val="560"/>
              </a:spcBef>
              <a:spcAft>
                <a:spcPts val="0"/>
              </a:spcAft>
              <a:buClr>
                <a:srgbClr val="434343"/>
              </a:buClr>
              <a:buSzPts val="2400"/>
              <a:buFont typeface="Noto Sans Symbols"/>
              <a:buChar char="○"/>
            </a:pPr>
            <a:r>
              <a:rPr lang="en-US" sz="2400">
                <a:solidFill>
                  <a:srgbClr val="434343"/>
                </a:solidFill>
                <a:latin typeface="Times New Roman"/>
                <a:ea typeface="Times New Roman"/>
                <a:cs typeface="Times New Roman"/>
                <a:sym typeface="Times New Roman"/>
              </a:rPr>
              <a:t>X = {a, b, c}</a:t>
            </a:r>
            <a:endParaRPr sz="2400">
              <a:solidFill>
                <a:srgbClr val="434343"/>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8177f934de_0_74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a:t>
            </a:r>
            <a:endParaRPr/>
          </a:p>
        </p:txBody>
      </p:sp>
      <p:sp>
        <p:nvSpPr>
          <p:cNvPr id="264" name="Google Shape;264;g8177f934de_0_749"/>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Tổ hợp không lặp</a:t>
            </a:r>
            <a:endParaRPr sz="2400"/>
          </a:p>
          <a:p>
            <a:pPr indent="-381000" lvl="0" marL="457200" marR="0" rtl="0" algn="l">
              <a:lnSpc>
                <a:spcPct val="130000"/>
              </a:lnSpc>
              <a:spcBef>
                <a:spcPts val="0"/>
              </a:spcBef>
              <a:spcAft>
                <a:spcPts val="0"/>
              </a:spcAft>
              <a:buSzPts val="2400"/>
              <a:buChar char="●"/>
            </a:pPr>
            <a:r>
              <a:rPr lang="en-US" sz="2400"/>
              <a:t>Tổ</a:t>
            </a:r>
            <a:r>
              <a:rPr lang="en-US" sz="2400"/>
              <a:t> hợp chập k của n phần tử là </a:t>
            </a:r>
            <a:r>
              <a:rPr lang="en-US" sz="2400">
                <a:solidFill>
                  <a:srgbClr val="FF0000"/>
                </a:solidFill>
              </a:rPr>
              <a:t>một bộ không có thứ tự</a:t>
            </a:r>
            <a:r>
              <a:rPr lang="en-US" sz="2400"/>
              <a:t> gồm k thành phần khác nhau lấy từ tập n phần tử.</a:t>
            </a:r>
            <a:endParaRPr sz="2400"/>
          </a:p>
          <a:p>
            <a:pPr indent="-381000" lvl="0" marL="457200" marR="0" rtl="0" algn="l">
              <a:lnSpc>
                <a:spcPct val="130000"/>
              </a:lnSpc>
              <a:spcBef>
                <a:spcPts val="0"/>
              </a:spcBef>
              <a:spcAft>
                <a:spcPts val="0"/>
              </a:spcAft>
              <a:buSzPts val="2400"/>
              <a:buChar char="●"/>
            </a:pPr>
            <a:r>
              <a:rPr lang="en-US" sz="2400"/>
              <a:t>Số tổ hợp chập k của n phần tử là </a:t>
            </a:r>
            <a:r>
              <a:rPr b="1" lang="en-US" sz="2400"/>
              <a:t>C(n,k) = C</a:t>
            </a:r>
            <a:r>
              <a:rPr b="1" baseline="-25000" lang="en-US" sz="2400"/>
              <a:t>n</a:t>
            </a:r>
            <a:r>
              <a:rPr b="1" baseline="30000" lang="en-US" sz="2400"/>
              <a:t>k</a:t>
            </a:r>
            <a:endParaRPr b="1" baseline="30000">
              <a:solidFill>
                <a:srgbClr val="002060"/>
              </a:solidFill>
              <a:latin typeface="Arial"/>
              <a:ea typeface="Arial"/>
              <a:cs typeface="Arial"/>
              <a:sym typeface="Arial"/>
            </a:endParaRPr>
          </a:p>
          <a:p>
            <a:pPr indent="0" lvl="0" marL="457200" rtl="0" algn="l">
              <a:spcBef>
                <a:spcPts val="560"/>
              </a:spcBef>
              <a:spcAft>
                <a:spcPts val="0"/>
              </a:spcAft>
              <a:buNone/>
            </a:pPr>
            <a:r>
              <a:t/>
            </a:r>
            <a:endParaRPr>
              <a:solidFill>
                <a:srgbClr val="00206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8177f934de_0_75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a:t>
            </a:r>
            <a:endParaRPr/>
          </a:p>
        </p:txBody>
      </p:sp>
      <p:sp>
        <p:nvSpPr>
          <p:cNvPr id="271" name="Google Shape;271;g8177f934de_0_755"/>
          <p:cNvSpPr txBox="1"/>
          <p:nvPr>
            <p:ph idx="1" type="body"/>
          </p:nvPr>
        </p:nvSpPr>
        <p:spPr>
          <a:xfrm>
            <a:off x="425200" y="2185418"/>
            <a:ext cx="7770000" cy="710400"/>
          </a:xfrm>
          <a:prstGeom prst="rect">
            <a:avLst/>
          </a:prstGeom>
        </p:spPr>
        <p:txBody>
          <a:bodyPr anchorCtr="0" anchor="t" bIns="45700" lIns="91425" spcFirstLastPara="1" rIns="91425" wrap="square" tIns="45700">
            <a:noAutofit/>
          </a:bodyPr>
          <a:lstStyle/>
          <a:p>
            <a:pPr indent="-381000" lvl="0" marL="457200" rtl="0" algn="l">
              <a:spcBef>
                <a:spcPts val="560"/>
              </a:spcBef>
              <a:spcAft>
                <a:spcPts val="0"/>
              </a:spcAft>
              <a:buSzPts val="2400"/>
              <a:buChar char="●"/>
            </a:pPr>
            <a:r>
              <a:rPr lang="en-US" sz="2400"/>
              <a:t>Tính chất đối </a:t>
            </a:r>
            <a:r>
              <a:rPr lang="en-US" sz="2400"/>
              <a:t>xứng</a:t>
            </a:r>
            <a:endParaRPr>
              <a:solidFill>
                <a:srgbClr val="002060"/>
              </a:solidFill>
              <a:latin typeface="Arial"/>
              <a:ea typeface="Arial"/>
              <a:cs typeface="Arial"/>
              <a:sym typeface="Arial"/>
            </a:endParaRPr>
          </a:p>
        </p:txBody>
      </p:sp>
      <p:pic>
        <p:nvPicPr>
          <p:cNvPr id="272" name="Google Shape;272;g8177f934de_0_755"/>
          <p:cNvPicPr preferRelativeResize="0"/>
          <p:nvPr/>
        </p:nvPicPr>
        <p:blipFill rotWithShape="1">
          <a:blip r:embed="rId3">
            <a:alphaModFix/>
          </a:blip>
          <a:srcRect b="0" l="0" r="0" t="0"/>
          <a:stretch/>
        </p:blipFill>
        <p:spPr>
          <a:xfrm>
            <a:off x="2978650" y="2774300"/>
            <a:ext cx="2743200" cy="478000"/>
          </a:xfrm>
          <a:prstGeom prst="rect">
            <a:avLst/>
          </a:prstGeom>
          <a:noFill/>
          <a:ln>
            <a:noFill/>
          </a:ln>
        </p:spPr>
      </p:pic>
      <p:sp>
        <p:nvSpPr>
          <p:cNvPr id="273" name="Google Shape;273;g8177f934de_0_755"/>
          <p:cNvSpPr txBox="1"/>
          <p:nvPr>
            <p:ph idx="1" type="body"/>
          </p:nvPr>
        </p:nvSpPr>
        <p:spPr>
          <a:xfrm>
            <a:off x="450305" y="3356176"/>
            <a:ext cx="7770000" cy="710400"/>
          </a:xfrm>
          <a:prstGeom prst="rect">
            <a:avLst/>
          </a:prstGeom>
        </p:spPr>
        <p:txBody>
          <a:bodyPr anchorCtr="0" anchor="t" bIns="45700" lIns="91425" spcFirstLastPara="1" rIns="91425" wrap="square" tIns="45700">
            <a:noAutofit/>
          </a:bodyPr>
          <a:lstStyle/>
          <a:p>
            <a:pPr indent="-381000" lvl="0" marL="457200" marR="0" rtl="0" algn="l">
              <a:lnSpc>
                <a:spcPct val="130000"/>
              </a:lnSpc>
              <a:spcBef>
                <a:spcPts val="560"/>
              </a:spcBef>
              <a:spcAft>
                <a:spcPts val="0"/>
              </a:spcAft>
              <a:buSzPts val="2400"/>
              <a:buChar char="●"/>
            </a:pPr>
            <a:r>
              <a:rPr lang="en-US" sz="2400"/>
              <a:t>Điều</a:t>
            </a:r>
            <a:r>
              <a:rPr lang="en-US" sz="2400"/>
              <a:t> kiện đầu</a:t>
            </a:r>
            <a:endParaRPr sz="2400"/>
          </a:p>
        </p:txBody>
      </p:sp>
      <p:pic>
        <p:nvPicPr>
          <p:cNvPr id="274" name="Google Shape;274;g8177f934de_0_755"/>
          <p:cNvPicPr preferRelativeResize="0"/>
          <p:nvPr/>
        </p:nvPicPr>
        <p:blipFill rotWithShape="1">
          <a:blip r:embed="rId4">
            <a:alphaModFix/>
          </a:blip>
          <a:srcRect b="0" l="0" r="0" t="0"/>
          <a:stretch/>
        </p:blipFill>
        <p:spPr>
          <a:xfrm>
            <a:off x="2870075" y="4041075"/>
            <a:ext cx="2960352" cy="478000"/>
          </a:xfrm>
          <a:prstGeom prst="rect">
            <a:avLst/>
          </a:prstGeom>
          <a:noFill/>
          <a:ln>
            <a:noFill/>
          </a:ln>
        </p:spPr>
      </p:pic>
      <p:sp>
        <p:nvSpPr>
          <p:cNvPr id="275" name="Google Shape;275;g8177f934de_0_755"/>
          <p:cNvSpPr txBox="1"/>
          <p:nvPr>
            <p:ph idx="1" type="body"/>
          </p:nvPr>
        </p:nvSpPr>
        <p:spPr>
          <a:xfrm>
            <a:off x="491323" y="4495109"/>
            <a:ext cx="7770000" cy="710400"/>
          </a:xfrm>
          <a:prstGeom prst="rect">
            <a:avLst/>
          </a:prstGeom>
        </p:spPr>
        <p:txBody>
          <a:bodyPr anchorCtr="0" anchor="t" bIns="45700" lIns="91425" spcFirstLastPara="1" rIns="91425" wrap="square" tIns="45700">
            <a:noAutofit/>
          </a:bodyPr>
          <a:lstStyle/>
          <a:p>
            <a:pPr indent="-381000" lvl="0" marL="457200" rtl="0" algn="l">
              <a:spcBef>
                <a:spcPts val="560"/>
              </a:spcBef>
              <a:spcAft>
                <a:spcPts val="0"/>
              </a:spcAft>
              <a:buSzPts val="2400"/>
              <a:buChar char="●"/>
            </a:pPr>
            <a:r>
              <a:rPr lang="en-US" sz="2400"/>
              <a:t>Tính </a:t>
            </a:r>
            <a:r>
              <a:rPr lang="en-US" sz="2400"/>
              <a:t>đệ quy</a:t>
            </a:r>
            <a:endParaRPr>
              <a:solidFill>
                <a:srgbClr val="002060"/>
              </a:solidFill>
              <a:latin typeface="Arial"/>
              <a:ea typeface="Arial"/>
              <a:cs typeface="Arial"/>
              <a:sym typeface="Arial"/>
            </a:endParaRPr>
          </a:p>
        </p:txBody>
      </p:sp>
      <p:pic>
        <p:nvPicPr>
          <p:cNvPr id="276" name="Google Shape;276;g8177f934de_0_755"/>
          <p:cNvPicPr preferRelativeResize="0"/>
          <p:nvPr/>
        </p:nvPicPr>
        <p:blipFill rotWithShape="1">
          <a:blip r:embed="rId5">
            <a:alphaModFix/>
          </a:blip>
          <a:srcRect b="0" l="0" r="0" t="0"/>
          <a:stretch/>
        </p:blipFill>
        <p:spPr>
          <a:xfrm>
            <a:off x="1971100" y="5307850"/>
            <a:ext cx="5876228" cy="47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8177f934de_0_305"/>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1.jpg" id="282" name="Google Shape;282;g8177f934de_0_305"/>
          <p:cNvPicPr preferRelativeResize="0"/>
          <p:nvPr/>
        </p:nvPicPr>
        <p:blipFill rotWithShape="1">
          <a:blip r:embed="rId3">
            <a:alphaModFix/>
          </a:blip>
          <a:srcRect b="0" l="0" r="0" t="0"/>
          <a:stretch/>
        </p:blipFill>
        <p:spPr>
          <a:xfrm>
            <a:off x="578350" y="2386775"/>
            <a:ext cx="7543801" cy="3533275"/>
          </a:xfrm>
          <a:prstGeom prst="rect">
            <a:avLst/>
          </a:prstGeom>
          <a:noFill/>
          <a:ln cap="flat" cmpd="sng" w="9525">
            <a:solidFill>
              <a:srgbClr val="2416D4"/>
            </a:solidFill>
            <a:prstDash val="solid"/>
            <a:miter lim="800000"/>
            <a:headEnd len="sm" w="sm" type="none"/>
            <a:tailEnd len="sm" w="sm" type="none"/>
          </a:ln>
        </p:spPr>
      </p:pic>
      <p:sp>
        <p:nvSpPr>
          <p:cNvPr id="283" name="Google Shape;283;g8177f934de_0_30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8177f934de_0_321"/>
          <p:cNvSpPr txBox="1"/>
          <p:nvPr>
            <p:ph idx="1" type="body"/>
          </p:nvPr>
        </p:nvSpPr>
        <p:spPr>
          <a:xfrm>
            <a:off x="457200" y="2284350"/>
            <a:ext cx="8229600" cy="4208400"/>
          </a:xfrm>
          <a:prstGeom prst="rect">
            <a:avLst/>
          </a:prstGeom>
          <a:noFill/>
          <a:ln>
            <a:noFill/>
          </a:ln>
        </p:spPr>
        <p:txBody>
          <a:bodyPr anchorCtr="0" anchor="t" bIns="45700" lIns="91425" spcFirstLastPara="1" rIns="91425" wrap="square" tIns="45700">
            <a:noAutofit/>
          </a:bodyPr>
          <a:lstStyle/>
          <a:p>
            <a:pPr indent="-317500" lvl="0" marL="342900" rtl="0" algn="l">
              <a:spcBef>
                <a:spcPts val="0"/>
              </a:spcBef>
              <a:spcAft>
                <a:spcPts val="0"/>
              </a:spcAft>
              <a:buClr>
                <a:srgbClr val="002060"/>
              </a:buClr>
              <a:buSzPts val="2400"/>
              <a:buFont typeface="Noto Sans Symbols"/>
              <a:buChar char="●"/>
            </a:pPr>
            <a:r>
              <a:rPr i="1" lang="en-US" sz="2400">
                <a:solidFill>
                  <a:srgbClr val="002060"/>
                </a:solidFill>
              </a:rPr>
              <a:t>Cho n phần tử </a:t>
            </a:r>
            <a:r>
              <a:rPr i="1" lang="en-US" sz="2400">
                <a:solidFill>
                  <a:srgbClr val="002060"/>
                </a:solidFill>
              </a:rPr>
              <a:t>trong đó</a:t>
            </a:r>
            <a:endParaRPr i="1" sz="2400">
              <a:solidFill>
                <a:srgbClr val="002060"/>
              </a:solidFill>
            </a:endParaRPr>
          </a:p>
          <a:p>
            <a:pPr indent="-342900" lvl="1" marL="914400" rtl="0" algn="l">
              <a:spcBef>
                <a:spcPts val="360"/>
              </a:spcBef>
              <a:spcAft>
                <a:spcPts val="0"/>
              </a:spcAft>
              <a:buClr>
                <a:srgbClr val="002060"/>
              </a:buClr>
              <a:buSzPts val="1800"/>
              <a:buChar char="○"/>
            </a:pPr>
            <a:r>
              <a:rPr i="1" lang="en-US" sz="1800">
                <a:solidFill>
                  <a:srgbClr val="002060"/>
                </a:solidFill>
              </a:rPr>
              <a:t>có n</a:t>
            </a:r>
            <a:r>
              <a:rPr baseline="-25000" i="1" lang="en-US" sz="1800">
                <a:solidFill>
                  <a:srgbClr val="002060"/>
                </a:solidFill>
              </a:rPr>
              <a:t>1</a:t>
            </a:r>
            <a:r>
              <a:rPr i="1" lang="en-US" sz="1800">
                <a:solidFill>
                  <a:srgbClr val="002060"/>
                </a:solidFill>
              </a:rPr>
              <a:t> phần tử </a:t>
            </a:r>
            <a:r>
              <a:rPr b="1" i="1" lang="en-US" sz="1800">
                <a:solidFill>
                  <a:srgbClr val="002060"/>
                </a:solidFill>
              </a:rPr>
              <a:t>như nhau </a:t>
            </a:r>
            <a:r>
              <a:rPr i="1" lang="en-US" sz="1800">
                <a:solidFill>
                  <a:srgbClr val="002060"/>
                </a:solidFill>
              </a:rPr>
              <a:t>thuộc loại 1, </a:t>
            </a:r>
            <a:endParaRPr i="1" sz="1800">
              <a:solidFill>
                <a:srgbClr val="002060"/>
              </a:solidFill>
            </a:endParaRPr>
          </a:p>
          <a:p>
            <a:pPr indent="-342900" lvl="1" marL="914400" rtl="0" algn="l">
              <a:spcBef>
                <a:spcPts val="360"/>
              </a:spcBef>
              <a:spcAft>
                <a:spcPts val="0"/>
              </a:spcAft>
              <a:buClr>
                <a:srgbClr val="002060"/>
              </a:buClr>
              <a:buSzPts val="1800"/>
              <a:buChar char="○"/>
            </a:pPr>
            <a:r>
              <a:rPr i="1" lang="en-US" sz="1800">
                <a:solidFill>
                  <a:srgbClr val="002060"/>
                </a:solidFill>
              </a:rPr>
              <a:t>có n</a:t>
            </a:r>
            <a:r>
              <a:rPr baseline="-25000" i="1" lang="en-US" sz="1800">
                <a:solidFill>
                  <a:srgbClr val="002060"/>
                </a:solidFill>
              </a:rPr>
              <a:t>2</a:t>
            </a:r>
            <a:r>
              <a:rPr i="1" lang="en-US" sz="1800">
                <a:solidFill>
                  <a:srgbClr val="002060"/>
                </a:solidFill>
              </a:rPr>
              <a:t> phần tử </a:t>
            </a:r>
            <a:r>
              <a:rPr b="1" i="1" lang="en-US" sz="1800">
                <a:solidFill>
                  <a:srgbClr val="002060"/>
                </a:solidFill>
              </a:rPr>
              <a:t>như nhau </a:t>
            </a:r>
            <a:r>
              <a:rPr i="1" lang="en-US" sz="1800">
                <a:solidFill>
                  <a:srgbClr val="002060"/>
                </a:solidFill>
              </a:rPr>
              <a:t>thuộc loại 2,</a:t>
            </a:r>
            <a:endParaRPr/>
          </a:p>
          <a:p>
            <a:pPr indent="-342900" lvl="1" marL="914400" rtl="0" algn="l">
              <a:spcBef>
                <a:spcPts val="360"/>
              </a:spcBef>
              <a:spcAft>
                <a:spcPts val="0"/>
              </a:spcAft>
              <a:buClr>
                <a:srgbClr val="002060"/>
              </a:buClr>
              <a:buSzPts val="1800"/>
              <a:buChar char="○"/>
            </a:pPr>
            <a:r>
              <a:rPr i="1" lang="en-US" sz="1800">
                <a:solidFill>
                  <a:srgbClr val="002060"/>
                </a:solidFill>
              </a:rPr>
              <a:t>………………………………………. ,</a:t>
            </a:r>
            <a:endParaRPr/>
          </a:p>
          <a:p>
            <a:pPr indent="-342900" lvl="1" marL="914400" rtl="0" algn="l">
              <a:spcBef>
                <a:spcPts val="360"/>
              </a:spcBef>
              <a:spcAft>
                <a:spcPts val="0"/>
              </a:spcAft>
              <a:buClr>
                <a:srgbClr val="002060"/>
              </a:buClr>
              <a:buSzPts val="1800"/>
              <a:buChar char="○"/>
            </a:pPr>
            <a:r>
              <a:rPr i="1" lang="en-US" sz="1800">
                <a:solidFill>
                  <a:srgbClr val="002060"/>
                </a:solidFill>
              </a:rPr>
              <a:t>có n</a:t>
            </a:r>
            <a:r>
              <a:rPr baseline="-25000" i="1" lang="en-US" sz="1800">
                <a:solidFill>
                  <a:srgbClr val="002060"/>
                </a:solidFill>
              </a:rPr>
              <a:t>k</a:t>
            </a:r>
            <a:r>
              <a:rPr i="1" lang="en-US" sz="1800">
                <a:solidFill>
                  <a:srgbClr val="002060"/>
                </a:solidFill>
              </a:rPr>
              <a:t> phần tử </a:t>
            </a:r>
            <a:r>
              <a:rPr b="1" i="1" lang="en-US" sz="1800">
                <a:solidFill>
                  <a:srgbClr val="002060"/>
                </a:solidFill>
              </a:rPr>
              <a:t>như nhau </a:t>
            </a:r>
            <a:r>
              <a:rPr i="1" lang="en-US" sz="1800">
                <a:solidFill>
                  <a:srgbClr val="002060"/>
                </a:solidFill>
              </a:rPr>
              <a:t>thuộc lại k. </a:t>
            </a:r>
            <a:endParaRPr i="1" sz="1800">
              <a:solidFill>
                <a:srgbClr val="002060"/>
              </a:solidFill>
            </a:endParaRPr>
          </a:p>
          <a:p>
            <a:pPr indent="-292100" lvl="0" marL="342900" rtl="0" algn="l">
              <a:spcBef>
                <a:spcPts val="640"/>
              </a:spcBef>
              <a:spcAft>
                <a:spcPts val="0"/>
              </a:spcAft>
              <a:buClr>
                <a:srgbClr val="002060"/>
              </a:buClr>
              <a:buSzPts val="2400"/>
              <a:buFont typeface="Noto Sans Symbols"/>
              <a:buChar char="●"/>
            </a:pPr>
            <a:r>
              <a:rPr i="1" lang="en-US" sz="2400">
                <a:solidFill>
                  <a:srgbClr val="002060"/>
                </a:solidFill>
              </a:rPr>
              <a:t>Một cách sắp xếp n </a:t>
            </a:r>
            <a:r>
              <a:rPr i="1" lang="en-US" sz="2400">
                <a:solidFill>
                  <a:srgbClr val="002060"/>
                </a:solidFill>
              </a:rPr>
              <a:t>phần</a:t>
            </a:r>
            <a:r>
              <a:rPr i="1" lang="en-US" sz="2400">
                <a:solidFill>
                  <a:srgbClr val="002060"/>
                </a:solidFill>
              </a:rPr>
              <a:t> tử  trên gọi là </a:t>
            </a:r>
            <a:r>
              <a:rPr b="1" i="1" lang="en-US" sz="2400">
                <a:solidFill>
                  <a:srgbClr val="002060"/>
                </a:solidFill>
              </a:rPr>
              <a:t>một hoán </a:t>
            </a:r>
            <a:r>
              <a:rPr b="1" i="1" lang="en-US" sz="2400">
                <a:solidFill>
                  <a:srgbClr val="002060"/>
                </a:solidFill>
              </a:rPr>
              <a:t>vị</a:t>
            </a:r>
            <a:r>
              <a:rPr b="1" i="1" lang="en-US" sz="2400">
                <a:solidFill>
                  <a:srgbClr val="002060"/>
                </a:solidFill>
              </a:rPr>
              <a:t> lặp</a:t>
            </a:r>
            <a:r>
              <a:rPr i="1" lang="en-US" sz="2400">
                <a:solidFill>
                  <a:srgbClr val="002060"/>
                </a:solidFill>
              </a:rPr>
              <a:t>.</a:t>
            </a:r>
            <a:endParaRPr sz="2400"/>
          </a:p>
          <a:p>
            <a:pPr indent="-317500" lvl="0" marL="342900" rtl="0" algn="l">
              <a:spcBef>
                <a:spcPts val="640"/>
              </a:spcBef>
              <a:spcAft>
                <a:spcPts val="0"/>
              </a:spcAft>
              <a:buClr>
                <a:srgbClr val="002060"/>
              </a:buClr>
              <a:buSzPts val="2400"/>
              <a:buFont typeface="Noto Sans Symbols"/>
              <a:buChar char="●"/>
            </a:pPr>
            <a:r>
              <a:rPr lang="en-US" sz="2400">
                <a:solidFill>
                  <a:srgbClr val="002060"/>
                </a:solidFill>
              </a:rPr>
              <a:t>Tổng số hoán vị lặp của n phần  </a:t>
            </a:r>
            <a:endParaRPr sz="2400">
              <a:solidFill>
                <a:srgbClr val="002060"/>
              </a:solidFill>
            </a:endParaRPr>
          </a:p>
        </p:txBody>
      </p:sp>
      <p:sp>
        <p:nvSpPr>
          <p:cNvPr id="289" name="Google Shape;289;g8177f934de_0_321"/>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0" name="Google Shape;290;g8177f934de_0_321"/>
          <p:cNvPicPr preferRelativeResize="0"/>
          <p:nvPr/>
        </p:nvPicPr>
        <p:blipFill rotWithShape="1">
          <a:blip r:embed="rId3">
            <a:alphaModFix/>
          </a:blip>
          <a:srcRect b="0" l="0" r="0" t="0"/>
          <a:stretch/>
        </p:blipFill>
        <p:spPr>
          <a:xfrm>
            <a:off x="1384325" y="5622709"/>
            <a:ext cx="6492024" cy="870041"/>
          </a:xfrm>
          <a:prstGeom prst="rect">
            <a:avLst/>
          </a:prstGeom>
          <a:noFill/>
          <a:ln>
            <a:noFill/>
          </a:ln>
        </p:spPr>
      </p:pic>
      <p:sp>
        <p:nvSpPr>
          <p:cNvPr id="291" name="Google Shape;291;g8177f934de_0_32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Hoán vị lặp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g8177f934de_0_329"/>
          <p:cNvPicPr preferRelativeResize="0"/>
          <p:nvPr/>
        </p:nvPicPr>
        <p:blipFill rotWithShape="1">
          <a:blip r:embed="rId3">
            <a:alphaModFix/>
          </a:blip>
          <a:srcRect b="0" l="0" r="0" t="0"/>
          <a:stretch/>
        </p:blipFill>
        <p:spPr>
          <a:xfrm>
            <a:off x="2089224" y="5721718"/>
            <a:ext cx="6553203" cy="762000"/>
          </a:xfrm>
          <a:prstGeom prst="rect">
            <a:avLst/>
          </a:prstGeom>
          <a:noFill/>
          <a:ln>
            <a:noFill/>
          </a:ln>
        </p:spPr>
      </p:pic>
      <p:grpSp>
        <p:nvGrpSpPr>
          <p:cNvPr id="297" name="Google Shape;297;g8177f934de_0_329"/>
          <p:cNvGrpSpPr/>
          <p:nvPr/>
        </p:nvGrpSpPr>
        <p:grpSpPr>
          <a:xfrm>
            <a:off x="616821" y="2130422"/>
            <a:ext cx="7687508" cy="4215711"/>
            <a:chOff x="271004" y="2657"/>
            <a:chExt cx="7687508" cy="4215711"/>
          </a:xfrm>
        </p:grpSpPr>
        <p:sp>
          <p:nvSpPr>
            <p:cNvPr id="298" name="Google Shape;298;g8177f934de_0_329"/>
            <p:cNvSpPr/>
            <p:nvPr/>
          </p:nvSpPr>
          <p:spPr>
            <a:xfrm rot="5400000">
              <a:off x="-66496" y="340157"/>
              <a:ext cx="2250600" cy="1575600"/>
            </a:xfrm>
            <a:prstGeom prst="chevron">
              <a:avLst>
                <a:gd fmla="val 50000" name="adj"/>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8177f934de_0_329"/>
            <p:cNvSpPr txBox="1"/>
            <p:nvPr/>
          </p:nvSpPr>
          <p:spPr>
            <a:xfrm>
              <a:off x="271088" y="790414"/>
              <a:ext cx="1575600" cy="675300"/>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None/>
              </a:pPr>
              <a:r>
                <a:rPr b="1" lang="en-US" sz="2500">
                  <a:solidFill>
                    <a:schemeClr val="dk2"/>
                  </a:solidFill>
                  <a:latin typeface="Times New Roman"/>
                  <a:ea typeface="Times New Roman"/>
                  <a:cs typeface="Times New Roman"/>
                  <a:sym typeface="Times New Roman"/>
                </a:rPr>
                <a:t>SUCCESS</a:t>
              </a:r>
              <a:r>
                <a:rPr lang="en-US" sz="2500">
                  <a:solidFill>
                    <a:schemeClr val="lt1"/>
                  </a:solidFill>
                  <a:latin typeface="Times New Roman"/>
                  <a:ea typeface="Times New Roman"/>
                  <a:cs typeface="Times New Roman"/>
                  <a:sym typeface="Times New Roman"/>
                </a:rPr>
                <a:t>.</a:t>
              </a:r>
              <a:endParaRPr sz="2500">
                <a:solidFill>
                  <a:schemeClr val="lt1"/>
                </a:solidFill>
                <a:latin typeface="Times New Roman"/>
                <a:ea typeface="Times New Roman"/>
                <a:cs typeface="Times New Roman"/>
                <a:sym typeface="Times New Roman"/>
              </a:endParaRPr>
            </a:p>
          </p:txBody>
        </p:sp>
        <p:sp>
          <p:nvSpPr>
            <p:cNvPr id="300" name="Google Shape;300;g8177f934de_0_329"/>
            <p:cNvSpPr/>
            <p:nvPr/>
          </p:nvSpPr>
          <p:spPr>
            <a:xfrm rot="5400000">
              <a:off x="4415283" y="-1934142"/>
              <a:ext cx="1463100" cy="5336700"/>
            </a:xfrm>
            <a:prstGeom prst="round2SameRect">
              <a:avLst>
                <a:gd fmla="val 16667" name="adj1"/>
                <a:gd fmla="val 0" name="adj2"/>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8177f934de_0_329"/>
            <p:cNvSpPr txBox="1"/>
            <p:nvPr/>
          </p:nvSpPr>
          <p:spPr>
            <a:xfrm>
              <a:off x="2478409" y="74074"/>
              <a:ext cx="5265300" cy="1320000"/>
            </a:xfrm>
            <a:prstGeom prst="rect">
              <a:avLst/>
            </a:prstGeom>
            <a:noFill/>
            <a:ln>
              <a:noFill/>
            </a:ln>
          </p:spPr>
          <p:txBody>
            <a:bodyPr anchorCtr="0" anchor="ctr" bIns="13325" lIns="149350" spcFirstLastPara="1" rIns="13325" wrap="square" tIns="13325">
              <a:noAutofit/>
            </a:bodyPr>
            <a:lstStyle/>
            <a:p>
              <a:pPr indent="-228600" lvl="1" marL="228600" marR="0" rtl="0" algn="l">
                <a:lnSpc>
                  <a:spcPct val="9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3 S</a:t>
              </a:r>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2 C</a:t>
              </a:r>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1 U</a:t>
              </a:r>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1 E</a:t>
              </a:r>
              <a:endParaRPr/>
            </a:p>
          </p:txBody>
        </p:sp>
        <p:sp>
          <p:nvSpPr>
            <p:cNvPr id="302" name="Google Shape;302;g8177f934de_0_329"/>
            <p:cNvSpPr/>
            <p:nvPr/>
          </p:nvSpPr>
          <p:spPr>
            <a:xfrm rot="5400000">
              <a:off x="-66496" y="2305268"/>
              <a:ext cx="2250600" cy="1575600"/>
            </a:xfrm>
            <a:prstGeom prst="chevron">
              <a:avLst>
                <a:gd fmla="val 50000" name="adj"/>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8177f934de_0_329"/>
            <p:cNvSpPr txBox="1"/>
            <p:nvPr/>
          </p:nvSpPr>
          <p:spPr>
            <a:xfrm>
              <a:off x="271088" y="2755525"/>
              <a:ext cx="1575600" cy="675300"/>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None/>
              </a:pPr>
              <a:r>
                <a:rPr lang="en-US" sz="2500">
                  <a:solidFill>
                    <a:schemeClr val="dk2"/>
                  </a:solidFill>
                  <a:latin typeface="Times New Roman"/>
                  <a:ea typeface="Times New Roman"/>
                  <a:cs typeface="Times New Roman"/>
                  <a:sym typeface="Times New Roman"/>
                </a:rPr>
                <a:t>7!</a:t>
              </a:r>
              <a:endParaRPr/>
            </a:p>
          </p:txBody>
        </p:sp>
        <p:sp>
          <p:nvSpPr>
            <p:cNvPr id="304" name="Google Shape;304;g8177f934de_0_329"/>
            <p:cNvSpPr/>
            <p:nvPr/>
          </p:nvSpPr>
          <p:spPr>
            <a:xfrm rot="5400000">
              <a:off x="4442062" y="-85581"/>
              <a:ext cx="1463100" cy="5569800"/>
            </a:xfrm>
            <a:prstGeom prst="round2SameRect">
              <a:avLst>
                <a:gd fmla="val 16667" name="adj1"/>
                <a:gd fmla="val 0" name="adj2"/>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8177f934de_0_329"/>
            <p:cNvSpPr txBox="1"/>
            <p:nvPr/>
          </p:nvSpPr>
          <p:spPr>
            <a:xfrm>
              <a:off x="2388778" y="2039185"/>
              <a:ext cx="5498400" cy="1320000"/>
            </a:xfrm>
            <a:prstGeom prst="rect">
              <a:avLst/>
            </a:prstGeom>
            <a:noFill/>
            <a:ln>
              <a:noFill/>
            </a:ln>
          </p:spPr>
          <p:txBody>
            <a:bodyPr anchorCtr="0" anchor="ctr" bIns="13325" lIns="149350" spcFirstLastPara="1" rIns="13325" wrap="square" tIns="13325">
              <a:noAutofit/>
            </a:bodyPr>
            <a:lstStyle/>
            <a:p>
              <a:pPr indent="-228600" lvl="1" marL="228600" marR="0" rtl="0" algn="l">
                <a:lnSpc>
                  <a:spcPct val="9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C(7,3)- chọn 3 </a:t>
              </a:r>
              <a:r>
                <a:rPr lang="en-US" sz="2100">
                  <a:solidFill>
                    <a:schemeClr val="dk1"/>
                  </a:solidFill>
                  <a:latin typeface="Times New Roman"/>
                  <a:ea typeface="Times New Roman"/>
                  <a:cs typeface="Times New Roman"/>
                  <a:sym typeface="Times New Roman"/>
                </a:rPr>
                <a:t>vị trí</a:t>
              </a:r>
              <a:r>
                <a:rPr b="0" i="0" lang="en-US" sz="2100" u="none" cap="none" strike="noStrike">
                  <a:solidFill>
                    <a:schemeClr val="dk1"/>
                  </a:solidFill>
                  <a:latin typeface="Times New Roman"/>
                  <a:ea typeface="Times New Roman"/>
                  <a:cs typeface="Times New Roman"/>
                  <a:sym typeface="Times New Roman"/>
                </a:rPr>
                <a:t> cho kí tự S, còn lại 4 </a:t>
              </a:r>
              <a:r>
                <a:rPr lang="en-US" sz="2100">
                  <a:solidFill>
                    <a:schemeClr val="dk1"/>
                  </a:solidFill>
                  <a:latin typeface="Times New Roman"/>
                  <a:ea typeface="Times New Roman"/>
                  <a:cs typeface="Times New Roman"/>
                  <a:sym typeface="Times New Roman"/>
                </a:rPr>
                <a:t>vị trí</a:t>
              </a:r>
              <a:endParaRPr b="0" i="0" sz="21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C(4,2) – chọn 2 </a:t>
              </a:r>
              <a:r>
                <a:rPr lang="en-US" sz="2100">
                  <a:solidFill>
                    <a:schemeClr val="dk1"/>
                  </a:solidFill>
                  <a:latin typeface="Times New Roman"/>
                  <a:ea typeface="Times New Roman"/>
                  <a:cs typeface="Times New Roman"/>
                  <a:sym typeface="Times New Roman"/>
                </a:rPr>
                <a:t>vị trí </a:t>
              </a:r>
              <a:r>
                <a:rPr b="0" i="0" lang="en-US" sz="2100" u="none" cap="none" strike="noStrike">
                  <a:solidFill>
                    <a:schemeClr val="dk1"/>
                  </a:solidFill>
                  <a:latin typeface="Times New Roman"/>
                  <a:ea typeface="Times New Roman"/>
                  <a:cs typeface="Times New Roman"/>
                  <a:sym typeface="Times New Roman"/>
                </a:rPr>
                <a:t>cho k</a:t>
              </a:r>
              <a:r>
                <a:rPr lang="en-US" sz="2100">
                  <a:solidFill>
                    <a:schemeClr val="dk1"/>
                  </a:solidFill>
                  <a:latin typeface="Times New Roman"/>
                  <a:ea typeface="Times New Roman"/>
                  <a:cs typeface="Times New Roman"/>
                  <a:sym typeface="Times New Roman"/>
                </a:rPr>
                <a:t>ý</a:t>
              </a:r>
              <a:r>
                <a:rPr b="0" i="0" lang="en-US" sz="2100" u="none" cap="none" strike="noStrike">
                  <a:solidFill>
                    <a:schemeClr val="dk1"/>
                  </a:solidFill>
                  <a:latin typeface="Times New Roman"/>
                  <a:ea typeface="Times New Roman"/>
                  <a:cs typeface="Times New Roman"/>
                  <a:sym typeface="Times New Roman"/>
                </a:rPr>
                <a:t> tự C, còn 2 </a:t>
              </a:r>
              <a:r>
                <a:rPr lang="en-US" sz="2100">
                  <a:solidFill>
                    <a:schemeClr val="dk1"/>
                  </a:solidFill>
                  <a:latin typeface="Times New Roman"/>
                  <a:ea typeface="Times New Roman"/>
                  <a:cs typeface="Times New Roman"/>
                  <a:sym typeface="Times New Roman"/>
                </a:rPr>
                <a:t>vị trí</a:t>
              </a:r>
              <a:endParaRPr b="0" i="0" sz="21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C(2,1)- chọn 1 </a:t>
              </a:r>
              <a:r>
                <a:rPr lang="en-US" sz="2100">
                  <a:solidFill>
                    <a:schemeClr val="dk1"/>
                  </a:solidFill>
                  <a:latin typeface="Times New Roman"/>
                  <a:ea typeface="Times New Roman"/>
                  <a:cs typeface="Times New Roman"/>
                  <a:sym typeface="Times New Roman"/>
                </a:rPr>
                <a:t>vị trí</a:t>
              </a:r>
              <a:r>
                <a:rPr b="0" i="0" lang="en-US" sz="2100" u="none" cap="none" strike="noStrike">
                  <a:solidFill>
                    <a:schemeClr val="dk1"/>
                  </a:solidFill>
                  <a:latin typeface="Times New Roman"/>
                  <a:ea typeface="Times New Roman"/>
                  <a:cs typeface="Times New Roman"/>
                  <a:sym typeface="Times New Roman"/>
                </a:rPr>
                <a:t> cho k</a:t>
              </a:r>
              <a:r>
                <a:rPr lang="en-US" sz="2100">
                  <a:solidFill>
                    <a:schemeClr val="dk1"/>
                  </a:solidFill>
                  <a:latin typeface="Times New Roman"/>
                  <a:ea typeface="Times New Roman"/>
                  <a:cs typeface="Times New Roman"/>
                  <a:sym typeface="Times New Roman"/>
                </a:rPr>
                <a:t>ý</a:t>
              </a:r>
              <a:r>
                <a:rPr b="0" i="0" lang="en-US" sz="2100" u="none" cap="none" strike="noStrike">
                  <a:solidFill>
                    <a:schemeClr val="dk1"/>
                  </a:solidFill>
                  <a:latin typeface="Times New Roman"/>
                  <a:ea typeface="Times New Roman"/>
                  <a:cs typeface="Times New Roman"/>
                  <a:sym typeface="Times New Roman"/>
                </a:rPr>
                <a:t> tự U, còn lại 1 </a:t>
              </a:r>
              <a:r>
                <a:rPr lang="en-US" sz="2100">
                  <a:solidFill>
                    <a:schemeClr val="dk1"/>
                  </a:solidFill>
                  <a:latin typeface="Times New Roman"/>
                  <a:ea typeface="Times New Roman"/>
                  <a:cs typeface="Times New Roman"/>
                  <a:sym typeface="Times New Roman"/>
                </a:rPr>
                <a:t>vị trí</a:t>
              </a:r>
              <a:endParaRPr b="0" i="0" sz="21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C(1,1)- chọn 1 </a:t>
              </a:r>
              <a:r>
                <a:rPr lang="en-US" sz="2100">
                  <a:solidFill>
                    <a:schemeClr val="dk1"/>
                  </a:solidFill>
                  <a:latin typeface="Times New Roman"/>
                  <a:ea typeface="Times New Roman"/>
                  <a:cs typeface="Times New Roman"/>
                  <a:sym typeface="Times New Roman"/>
                </a:rPr>
                <a:t>vị trí</a:t>
              </a:r>
              <a:r>
                <a:rPr b="0" i="0" lang="en-US" sz="2100" u="none" cap="none" strike="noStrike">
                  <a:solidFill>
                    <a:schemeClr val="dk1"/>
                  </a:solidFill>
                  <a:latin typeface="Times New Roman"/>
                  <a:ea typeface="Times New Roman"/>
                  <a:cs typeface="Times New Roman"/>
                  <a:sym typeface="Times New Roman"/>
                </a:rPr>
                <a:t> cho </a:t>
              </a:r>
              <a:r>
                <a:rPr lang="en-US" sz="2100">
                  <a:solidFill>
                    <a:schemeClr val="dk1"/>
                  </a:solidFill>
                  <a:latin typeface="Times New Roman"/>
                  <a:ea typeface="Times New Roman"/>
                  <a:cs typeface="Times New Roman"/>
                  <a:sym typeface="Times New Roman"/>
                </a:rPr>
                <a:t>ký</a:t>
              </a:r>
              <a:r>
                <a:rPr b="0" i="0" lang="en-US" sz="2100" u="none" cap="none" strike="noStrike">
                  <a:solidFill>
                    <a:schemeClr val="dk1"/>
                  </a:solidFill>
                  <a:latin typeface="Times New Roman"/>
                  <a:ea typeface="Times New Roman"/>
                  <a:cs typeface="Times New Roman"/>
                  <a:sym typeface="Times New Roman"/>
                </a:rPr>
                <a:t> tự S</a:t>
              </a:r>
              <a:endParaRPr/>
            </a:p>
          </p:txBody>
        </p:sp>
      </p:grpSp>
      <p:sp>
        <p:nvSpPr>
          <p:cNvPr id="306" name="Google Shape;306;g8177f934de_0_329"/>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7" name="Google Shape;307;g8177f934de_0_32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11855f20a0c_1_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
        <p:nvSpPr>
          <p:cNvPr id="314" name="Google Shape;314;g11855f20a0c_1_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Hãy đếm cách mua mâm ngũ quả từ 3 loại: Cam, Quýt và Xoài</a:t>
            </a:r>
            <a:endParaRPr sz="2400"/>
          </a:p>
          <a:p>
            <a:pPr indent="-381000" lvl="0" marL="457200" rtl="0" algn="l">
              <a:spcBef>
                <a:spcPts val="0"/>
              </a:spcBef>
              <a:spcAft>
                <a:spcPts val="0"/>
              </a:spcAft>
              <a:buSzPts val="2400"/>
              <a:buChar char="●"/>
            </a:pPr>
            <a:r>
              <a:rPr lang="en-US" sz="2400"/>
              <a:t>Phân tích </a:t>
            </a:r>
            <a:endParaRPr sz="2400"/>
          </a:p>
          <a:p>
            <a:pPr indent="-342900" lvl="1" marL="914400" rtl="0" algn="l">
              <a:spcBef>
                <a:spcPts val="0"/>
              </a:spcBef>
              <a:spcAft>
                <a:spcPts val="0"/>
              </a:spcAft>
              <a:buSzPts val="1800"/>
              <a:buChar char="○"/>
            </a:pPr>
            <a:r>
              <a:rPr lang="en-US"/>
              <a:t>Mỗi loại cam, quýt và xoài có nhiều hơn 5 quả</a:t>
            </a:r>
            <a:endParaRPr/>
          </a:p>
          <a:p>
            <a:pPr indent="-365760" lvl="1" marL="914400" rtl="0" algn="l">
              <a:spcBef>
                <a:spcPts val="0"/>
              </a:spcBef>
              <a:spcAft>
                <a:spcPts val="0"/>
              </a:spcAft>
              <a:buSzPts val="2160"/>
              <a:buChar char="○"/>
            </a:pPr>
            <a:r>
              <a:rPr lang="en-US"/>
              <a:t>Hai quả cùng một loại thì không phân biệt được.</a:t>
            </a:r>
            <a:endParaRPr/>
          </a:p>
          <a:p>
            <a:pPr indent="-381000" lvl="0" marL="457200" marR="0" rtl="0" algn="l">
              <a:lnSpc>
                <a:spcPct val="130000"/>
              </a:lnSpc>
              <a:spcBef>
                <a:spcPts val="0"/>
              </a:spcBef>
              <a:spcAft>
                <a:spcPts val="0"/>
              </a:spcAft>
              <a:buSzPts val="2400"/>
              <a:buChar char="●"/>
            </a:pPr>
            <a:r>
              <a:rPr lang="en-US" sz="2400"/>
              <a:t>Đếm cách mua mâm ngũ quả (7 phút ):</a:t>
            </a:r>
            <a:endParaRPr sz="2400"/>
          </a:p>
          <a:p>
            <a:pPr indent="0" lvl="0" marL="457200" marR="0" rtl="0" algn="l">
              <a:lnSpc>
                <a:spcPct val="130000"/>
              </a:lnSpc>
              <a:spcBef>
                <a:spcPts val="600"/>
              </a:spcBef>
              <a:spcAft>
                <a:spcPts val="0"/>
              </a:spcAft>
              <a:buNone/>
            </a:pPr>
            <a:r>
              <a:t/>
            </a:r>
            <a:endParaRPr sz="2400"/>
          </a:p>
          <a:p>
            <a:pPr indent="0" lvl="0" marL="457200" marR="0" rtl="0" algn="l">
              <a:lnSpc>
                <a:spcPct val="130000"/>
              </a:lnSpc>
              <a:spcBef>
                <a:spcPts val="600"/>
              </a:spcBef>
              <a:spcAft>
                <a:spcPts val="0"/>
              </a:spcAft>
              <a:buNone/>
            </a:pPr>
            <a:r>
              <a:t/>
            </a:r>
            <a:endParaRPr sz="2400"/>
          </a:p>
          <a:p>
            <a:pPr indent="0" lvl="0" marL="0" rtl="0" algn="l">
              <a:spcBef>
                <a:spcPts val="600"/>
              </a:spcBef>
              <a:spcAft>
                <a:spcPts val="0"/>
              </a:spcAft>
              <a:buNone/>
            </a:pPr>
            <a:r>
              <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8177f934de_0_712"/>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
        <p:nvSpPr>
          <p:cNvPr id="321" name="Google Shape;321;g8177f934de_0_712"/>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65760" lvl="0" marL="457200" rtl="0" algn="l">
              <a:lnSpc>
                <a:spcPct val="115000"/>
              </a:lnSpc>
              <a:spcBef>
                <a:spcPts val="0"/>
              </a:spcBef>
              <a:spcAft>
                <a:spcPts val="0"/>
              </a:spcAft>
              <a:buSzPts val="2160"/>
              <a:buChar char="●"/>
            </a:pPr>
            <a:r>
              <a:rPr lang="en-US" sz="2400"/>
              <a:t>Phương pháp truyền thống</a:t>
            </a:r>
            <a:endParaRPr sz="1150">
              <a:solidFill>
                <a:srgbClr val="000000"/>
              </a:solidFill>
              <a:latin typeface="Arial"/>
              <a:ea typeface="Arial"/>
              <a:cs typeface="Arial"/>
              <a:sym typeface="Arial"/>
            </a:endParaRPr>
          </a:p>
          <a:p>
            <a:pPr indent="-365760" lvl="1" marL="914400" marR="0" rtl="0" algn="l">
              <a:lnSpc>
                <a:spcPct val="130000"/>
              </a:lnSpc>
              <a:spcBef>
                <a:spcPts val="0"/>
              </a:spcBef>
              <a:spcAft>
                <a:spcPts val="0"/>
              </a:spcAft>
              <a:buSzPts val="2160"/>
              <a:buChar char="○"/>
            </a:pPr>
            <a:r>
              <a:rPr lang="en-US" sz="2400">
                <a:solidFill>
                  <a:srgbClr val="333333"/>
                </a:solidFill>
                <a:latin typeface="Times New Roman"/>
                <a:ea typeface="Times New Roman"/>
                <a:cs typeface="Times New Roman"/>
                <a:sym typeface="Times New Roman"/>
              </a:rPr>
              <a:t>Sử dụng hoán vị lặp ( để kiểm tra)</a:t>
            </a:r>
            <a:endParaRPr sz="2400">
              <a:solidFill>
                <a:srgbClr val="333333"/>
              </a:solidFill>
              <a:latin typeface="Times New Roman"/>
              <a:ea typeface="Times New Roman"/>
              <a:cs typeface="Times New Roman"/>
              <a:sym typeface="Times New Roman"/>
            </a:endParaRPr>
          </a:p>
          <a:p>
            <a:pPr indent="-365760" lvl="1" marL="914400" marR="0" rtl="0" algn="l">
              <a:lnSpc>
                <a:spcPct val="130000"/>
              </a:lnSpc>
              <a:spcBef>
                <a:spcPts val="0"/>
              </a:spcBef>
              <a:spcAft>
                <a:spcPts val="0"/>
              </a:spcAft>
              <a:buSzPts val="2160"/>
              <a:buChar char="○"/>
            </a:pPr>
            <a:r>
              <a:rPr lang="en-US" sz="2400">
                <a:solidFill>
                  <a:srgbClr val="333333"/>
                </a:solidFill>
                <a:latin typeface="Times New Roman"/>
                <a:ea typeface="Times New Roman"/>
                <a:cs typeface="Times New Roman"/>
                <a:sym typeface="Times New Roman"/>
              </a:rPr>
              <a:t> Khai triển theo </a:t>
            </a:r>
            <a:r>
              <a:rPr lang="en-US" sz="2400">
                <a:solidFill>
                  <a:srgbClr val="333333"/>
                </a:solidFill>
                <a:latin typeface="Times New Roman"/>
                <a:ea typeface="Times New Roman"/>
                <a:cs typeface="Times New Roman"/>
                <a:sym typeface="Times New Roman"/>
              </a:rPr>
              <a:t>C| Q| X</a:t>
            </a:r>
            <a:endParaRPr sz="2400">
              <a:solidFill>
                <a:srgbClr val="333333"/>
              </a:solidFill>
              <a:latin typeface="Times New Roman"/>
              <a:ea typeface="Times New Roman"/>
              <a:cs typeface="Times New Roman"/>
              <a:sym typeface="Times New Roman"/>
            </a:endParaRPr>
          </a:p>
          <a:p>
            <a:pPr indent="0" lvl="0" marL="914400" marR="0" rtl="0" algn="l">
              <a:lnSpc>
                <a:spcPct val="130000"/>
              </a:lnSpc>
              <a:spcBef>
                <a:spcPts val="600"/>
              </a:spcBef>
              <a:spcAft>
                <a:spcPts val="0"/>
              </a:spcAft>
              <a:buNone/>
            </a:pPr>
            <a:r>
              <a:rPr lang="en-US" sz="2400"/>
              <a:t>   </a:t>
            </a:r>
            <a:endParaRPr sz="2400"/>
          </a:p>
        </p:txBody>
      </p:sp>
      <p:graphicFrame>
        <p:nvGraphicFramePr>
          <p:cNvPr id="322" name="Google Shape;322;g8177f934de_0_712"/>
          <p:cNvGraphicFramePr/>
          <p:nvPr/>
        </p:nvGraphicFramePr>
        <p:xfrm>
          <a:off x="1955538" y="3945925"/>
          <a:ext cx="3000000" cy="3000000"/>
        </p:xfrm>
        <a:graphic>
          <a:graphicData uri="http://schemas.openxmlformats.org/drawingml/2006/table">
            <a:tbl>
              <a:tblPr>
                <a:noFill/>
                <a:tableStyleId>{5EE26986-E62C-44F7-9768-0979396F1786}</a:tableStyleId>
              </a:tblPr>
              <a:tblGrid>
                <a:gridCol w="1052575"/>
                <a:gridCol w="1338950"/>
                <a:gridCol w="1291225"/>
              </a:tblGrid>
              <a:tr h="381000">
                <a:tc>
                  <a:txBody>
                    <a:bodyPr/>
                    <a:lstStyle/>
                    <a:p>
                      <a:pPr indent="0" lvl="0" marL="0" rtl="0" algn="ctr">
                        <a:spcBef>
                          <a:spcPts val="0"/>
                        </a:spcBef>
                        <a:spcAft>
                          <a:spcPts val="0"/>
                        </a:spcAft>
                        <a:buNone/>
                      </a:pPr>
                      <a:r>
                        <a:rPr lang="en-US"/>
                        <a:t>C</a:t>
                      </a:r>
                      <a:endParaRPr/>
                    </a:p>
                  </a:txBody>
                  <a:tcPr marT="91425" marB="91425" marR="91425" marL="91425"/>
                </a:tc>
                <a:tc>
                  <a:txBody>
                    <a:bodyPr/>
                    <a:lstStyle/>
                    <a:p>
                      <a:pPr indent="0" lvl="0" marL="0" rtl="0" algn="ctr">
                        <a:spcBef>
                          <a:spcPts val="0"/>
                        </a:spcBef>
                        <a:spcAft>
                          <a:spcPts val="0"/>
                        </a:spcAft>
                        <a:buNone/>
                      </a:pPr>
                      <a:r>
                        <a:rPr lang="en-US"/>
                        <a:t>Q</a:t>
                      </a:r>
                      <a:endParaRPr/>
                    </a:p>
                  </a:txBody>
                  <a:tcPr marT="91425" marB="91425" marR="91425" marL="91425"/>
                </a:tc>
                <a:tc>
                  <a:txBody>
                    <a:bodyPr/>
                    <a:lstStyle/>
                    <a:p>
                      <a:pPr indent="0" lvl="0" marL="0" rtl="0" algn="ctr">
                        <a:spcBef>
                          <a:spcPts val="0"/>
                        </a:spcBef>
                        <a:spcAft>
                          <a:spcPts val="0"/>
                        </a:spcAft>
                        <a:buNone/>
                      </a:pPr>
                      <a:r>
                        <a:rPr lang="en-US"/>
                        <a:t>X</a:t>
                      </a:r>
                      <a:endParaRPr/>
                    </a:p>
                  </a:txBody>
                  <a:tcPr marT="91425" marB="91425" marR="91425" marL="91425"/>
                </a:tc>
              </a:tr>
              <a:tr h="381000">
                <a:tc>
                  <a:txBody>
                    <a:bodyPr/>
                    <a:lstStyle/>
                    <a:p>
                      <a:pPr indent="0" lvl="0" marL="0" rtl="0" algn="ctr">
                        <a:spcBef>
                          <a:spcPts val="0"/>
                        </a:spcBef>
                        <a:spcAft>
                          <a:spcPts val="0"/>
                        </a:spcAft>
                        <a:buNone/>
                      </a:pPr>
                      <a:r>
                        <a:rPr lang="en-US"/>
                        <a:t>5</a:t>
                      </a:r>
                      <a:endParaRPr/>
                    </a:p>
                  </a:txBody>
                  <a:tcPr marT="91425" marB="91425" marR="91425" marL="91425"/>
                </a:tc>
                <a:tc>
                  <a:txBody>
                    <a:bodyPr/>
                    <a:lstStyle/>
                    <a:p>
                      <a:pPr indent="0" lvl="0" marL="0" rtl="0" algn="ctr">
                        <a:spcBef>
                          <a:spcPts val="0"/>
                        </a:spcBef>
                        <a:spcAft>
                          <a:spcPts val="0"/>
                        </a:spcAft>
                        <a:buNone/>
                      </a:pPr>
                      <a:r>
                        <a:rPr lang="en-US"/>
                        <a:t>0</a:t>
                      </a:r>
                      <a:endParaRPr/>
                    </a:p>
                  </a:txBody>
                  <a:tcPr marT="91425" marB="91425" marR="91425" marL="91425"/>
                </a:tc>
                <a:tc>
                  <a:txBody>
                    <a:bodyPr/>
                    <a:lstStyle/>
                    <a:p>
                      <a:pPr indent="0" lvl="0" marL="0" rtl="0" algn="ctr">
                        <a:spcBef>
                          <a:spcPts val="0"/>
                        </a:spcBef>
                        <a:spcAft>
                          <a:spcPts val="0"/>
                        </a:spcAft>
                        <a:buNone/>
                      </a:pPr>
                      <a:r>
                        <a:rPr lang="en-US"/>
                        <a:t>0</a:t>
                      </a:r>
                      <a:endParaRPr/>
                    </a:p>
                  </a:txBody>
                  <a:tcPr marT="91425" marB="91425" marR="91425" marL="91425"/>
                </a:tc>
              </a:tr>
              <a:tr h="381000">
                <a:tc>
                  <a:txBody>
                    <a:bodyPr/>
                    <a:lstStyle/>
                    <a:p>
                      <a:pPr indent="0" lvl="0" marL="0" rtl="0" algn="ctr">
                        <a:spcBef>
                          <a:spcPts val="0"/>
                        </a:spcBef>
                        <a:spcAft>
                          <a:spcPts val="0"/>
                        </a:spcAft>
                        <a:buNone/>
                      </a:pPr>
                      <a:r>
                        <a:rPr b="1" lang="en-US"/>
                        <a:t>...</a:t>
                      </a:r>
                      <a:endParaRPr b="1"/>
                    </a:p>
                  </a:txBody>
                  <a:tcPr marT="91425" marB="91425" marR="91425" marL="91425"/>
                </a:tc>
                <a:tc>
                  <a:txBody>
                    <a:bodyPr/>
                    <a:lstStyle/>
                    <a:p>
                      <a:pPr indent="0" lvl="0" marL="0" rtl="0" algn="ctr">
                        <a:spcBef>
                          <a:spcPts val="0"/>
                        </a:spcBef>
                        <a:spcAft>
                          <a:spcPts val="0"/>
                        </a:spcAft>
                        <a:buNone/>
                      </a:pPr>
                      <a:r>
                        <a:rPr b="1" lang="en-US"/>
                        <a:t>...</a:t>
                      </a:r>
                      <a:endParaRPr b="1"/>
                    </a:p>
                  </a:txBody>
                  <a:tcPr marT="91425" marB="91425" marR="91425" marL="91425"/>
                </a:tc>
                <a:tc>
                  <a:txBody>
                    <a:bodyPr/>
                    <a:lstStyle/>
                    <a:p>
                      <a:pPr indent="0" lvl="0" marL="0" rtl="0" algn="ctr">
                        <a:spcBef>
                          <a:spcPts val="0"/>
                        </a:spcBef>
                        <a:spcAft>
                          <a:spcPts val="0"/>
                        </a:spcAft>
                        <a:buNone/>
                      </a:pPr>
                      <a:r>
                        <a:rPr b="1" lang="en-US"/>
                        <a:t>...</a:t>
                      </a:r>
                      <a:endParaRPr b="1"/>
                    </a:p>
                  </a:txBody>
                  <a:tcPr marT="91425" marB="91425" marR="91425" marL="91425"/>
                </a:tc>
              </a:tr>
            </a:tbl>
          </a:graphicData>
        </a:graphic>
      </p:graphicFrame>
      <p:sp>
        <p:nvSpPr>
          <p:cNvPr id="323" name="Google Shape;323;g8177f934de_0_712"/>
          <p:cNvSpPr txBox="1"/>
          <p:nvPr/>
        </p:nvSpPr>
        <p:spPr>
          <a:xfrm>
            <a:off x="7239875" y="6172200"/>
            <a:ext cx="1320600" cy="45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ĐS: 21</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8177f934de_0_370"/>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9" name="Google Shape;329;g8177f934de_0_370"/>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330" name="Google Shape;330;g8177f934de_0_370"/>
          <p:cNvPicPr preferRelativeResize="0"/>
          <p:nvPr/>
        </p:nvPicPr>
        <p:blipFill rotWithShape="1">
          <a:blip r:embed="rId3">
            <a:alphaModFix/>
          </a:blip>
          <a:srcRect b="0" l="0" r="0" t="0"/>
          <a:stretch/>
        </p:blipFill>
        <p:spPr>
          <a:xfrm>
            <a:off x="2399850" y="5725975"/>
            <a:ext cx="4959347" cy="533400"/>
          </a:xfrm>
          <a:prstGeom prst="rect">
            <a:avLst/>
          </a:prstGeom>
          <a:noFill/>
          <a:ln>
            <a:noFill/>
          </a:ln>
        </p:spPr>
      </p:pic>
      <p:sp>
        <p:nvSpPr>
          <p:cNvPr id="331" name="Google Shape;331;g8177f934de_0_370"/>
          <p:cNvSpPr/>
          <p:nvPr/>
        </p:nvSpPr>
        <p:spPr>
          <a:xfrm>
            <a:off x="1719357" y="1664731"/>
            <a:ext cx="5938200" cy="1472100"/>
          </a:xfrm>
          <a:prstGeom prst="roundRect">
            <a:avLst>
              <a:gd fmla="val 10000" name="adj"/>
            </a:avLst>
          </a:prstGeom>
          <a:no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8177f934de_0_370"/>
          <p:cNvSpPr/>
          <p:nvPr/>
        </p:nvSpPr>
        <p:spPr>
          <a:xfrm>
            <a:off x="875900" y="3673827"/>
            <a:ext cx="7189500" cy="1215600"/>
          </a:xfrm>
          <a:prstGeom prst="roundRect">
            <a:avLst>
              <a:gd fmla="val 10000" name="adj"/>
            </a:avLst>
          </a:prstGeom>
          <a:no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8177f934de_0_370"/>
          <p:cNvSpPr txBox="1"/>
          <p:nvPr/>
        </p:nvSpPr>
        <p:spPr>
          <a:xfrm>
            <a:off x="919000" y="3704325"/>
            <a:ext cx="5511900" cy="1142100"/>
          </a:xfrm>
          <a:prstGeom prst="rect">
            <a:avLst/>
          </a:prstGeom>
          <a:noFill/>
          <a:ln>
            <a:noFill/>
          </a:ln>
        </p:spPr>
        <p:txBody>
          <a:bodyPr anchorCtr="0" anchor="ctr" bIns="247650" lIns="247650" spcFirstLastPara="1" rIns="247650" wrap="square" tIns="247650">
            <a:noAutofit/>
          </a:bodyPr>
          <a:lstStyle/>
          <a:p>
            <a:pPr indent="0" lvl="0" marL="0" marR="0" rtl="0" algn="l">
              <a:lnSpc>
                <a:spcPct val="90000"/>
              </a:lnSpc>
              <a:spcBef>
                <a:spcPts val="0"/>
              </a:spcBef>
              <a:spcAft>
                <a:spcPts val="0"/>
              </a:spcAft>
              <a:buNone/>
            </a:pPr>
            <a:r>
              <a:t/>
            </a:r>
            <a:endParaRPr sz="6500">
              <a:solidFill>
                <a:schemeClr val="lt1"/>
              </a:solidFill>
              <a:latin typeface="Times New Roman"/>
              <a:ea typeface="Times New Roman"/>
              <a:cs typeface="Times New Roman"/>
              <a:sym typeface="Times New Roman"/>
            </a:endParaRPr>
          </a:p>
        </p:txBody>
      </p:sp>
      <p:grpSp>
        <p:nvGrpSpPr>
          <p:cNvPr id="334" name="Google Shape;334;g8177f934de_0_370"/>
          <p:cNvGrpSpPr/>
          <p:nvPr/>
        </p:nvGrpSpPr>
        <p:grpSpPr>
          <a:xfrm>
            <a:off x="1534975" y="2274400"/>
            <a:ext cx="7189500" cy="4297300"/>
            <a:chOff x="1534975" y="2274400"/>
            <a:chExt cx="7189500" cy="4297300"/>
          </a:xfrm>
        </p:grpSpPr>
        <p:sp>
          <p:nvSpPr>
            <p:cNvPr id="335" name="Google Shape;335;g8177f934de_0_370"/>
            <p:cNvSpPr txBox="1"/>
            <p:nvPr/>
          </p:nvSpPr>
          <p:spPr>
            <a:xfrm>
              <a:off x="1719350" y="2274400"/>
              <a:ext cx="4611300" cy="957000"/>
            </a:xfrm>
            <a:prstGeom prst="rect">
              <a:avLst/>
            </a:prstGeom>
            <a:noFill/>
            <a:ln cap="flat" cmpd="sng" w="9525">
              <a:solidFill>
                <a:srgbClr val="0000FF"/>
              </a:solidFill>
              <a:prstDash val="solid"/>
              <a:round/>
              <a:headEnd len="sm" w="sm" type="none"/>
              <a:tailEnd len="sm" w="sm" type="none"/>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5 quả </a:t>
              </a:r>
              <a:r>
                <a:rPr lang="en-US" sz="2400">
                  <a:solidFill>
                    <a:srgbClr val="002060"/>
                  </a:solidFill>
                  <a:latin typeface="Times New Roman"/>
                  <a:ea typeface="Times New Roman"/>
                  <a:cs typeface="Times New Roman"/>
                  <a:sym typeface="Times New Roman"/>
                </a:rPr>
                <a:t>biểu</a:t>
              </a:r>
              <a:r>
                <a:rPr lang="en-US" sz="2400">
                  <a:solidFill>
                    <a:srgbClr val="002060"/>
                  </a:solidFill>
                  <a:latin typeface="Times New Roman"/>
                  <a:ea typeface="Times New Roman"/>
                  <a:cs typeface="Times New Roman"/>
                  <a:sym typeface="Times New Roman"/>
                </a:rPr>
                <a:t> diễn: 5 ngôi sao </a:t>
              </a:r>
              <a:br>
                <a:rPr lang="en-US" sz="2400">
                  <a:solidFill>
                    <a:srgbClr val="002060"/>
                  </a:solidFill>
                  <a:latin typeface="Times New Roman"/>
                  <a:ea typeface="Times New Roman"/>
                  <a:cs typeface="Times New Roman"/>
                  <a:sym typeface="Times New Roman"/>
                </a:rPr>
              </a:br>
              <a:r>
                <a:rPr lang="en-US" sz="2400">
                  <a:solidFill>
                    <a:srgbClr val="002060"/>
                  </a:solidFill>
                  <a:latin typeface="Times New Roman"/>
                  <a:ea typeface="Times New Roman"/>
                  <a:cs typeface="Times New Roman"/>
                  <a:sym typeface="Times New Roman"/>
                </a:rPr>
                <a:t>3 loại biểu diễn: 2 vách ngăn</a:t>
              </a:r>
              <a:endParaRPr sz="2400">
                <a:solidFill>
                  <a:srgbClr val="002060"/>
                </a:solidFill>
                <a:latin typeface="Times New Roman"/>
                <a:ea typeface="Times New Roman"/>
                <a:cs typeface="Times New Roman"/>
                <a:sym typeface="Times New Roman"/>
              </a:endParaRPr>
            </a:p>
          </p:txBody>
        </p:sp>
        <p:sp>
          <p:nvSpPr>
            <p:cNvPr id="336" name="Google Shape;336;g8177f934de_0_370"/>
            <p:cNvSpPr/>
            <p:nvPr/>
          </p:nvSpPr>
          <p:spPr>
            <a:xfrm>
              <a:off x="1534975" y="5505800"/>
              <a:ext cx="7189500" cy="1065900"/>
            </a:xfrm>
            <a:prstGeom prst="roundRect">
              <a:avLst>
                <a:gd fmla="val 10000" name="adj"/>
              </a:avLst>
            </a:prstGeom>
            <a:no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8177f934de_0_370"/>
            <p:cNvSpPr/>
            <p:nvPr/>
          </p:nvSpPr>
          <p:spPr>
            <a:xfrm>
              <a:off x="6498870" y="2781065"/>
              <a:ext cx="957000" cy="957000"/>
            </a:xfrm>
            <a:prstGeom prst="downArrow">
              <a:avLst>
                <a:gd fmla="val 55000" name="adj1"/>
                <a:gd fmla="val 45000" name="adj2"/>
              </a:avLst>
            </a:prstGeom>
            <a:solidFill>
              <a:srgbClr val="00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8177f934de_0_370"/>
            <p:cNvSpPr txBox="1"/>
            <p:nvPr/>
          </p:nvSpPr>
          <p:spPr>
            <a:xfrm>
              <a:off x="6714163" y="2781065"/>
              <a:ext cx="526200" cy="720000"/>
            </a:xfrm>
            <a:prstGeom prst="rect">
              <a:avLst/>
            </a:prstGeom>
            <a:solidFill>
              <a:srgbClr val="0000FF"/>
            </a:solid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sp>
          <p:nvSpPr>
            <p:cNvPr id="339" name="Google Shape;339;g8177f934de_0_370"/>
            <p:cNvSpPr/>
            <p:nvPr/>
          </p:nvSpPr>
          <p:spPr>
            <a:xfrm>
              <a:off x="7133235" y="4488688"/>
              <a:ext cx="957000" cy="957000"/>
            </a:xfrm>
            <a:prstGeom prst="downArrow">
              <a:avLst>
                <a:gd fmla="val 55000" name="adj1"/>
                <a:gd fmla="val 45000" name="adj2"/>
              </a:avLst>
            </a:prstGeom>
            <a:solidFill>
              <a:srgbClr val="00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8177f934de_0_370"/>
            <p:cNvSpPr txBox="1"/>
            <p:nvPr/>
          </p:nvSpPr>
          <p:spPr>
            <a:xfrm>
              <a:off x="7348528" y="4488688"/>
              <a:ext cx="526200" cy="720000"/>
            </a:xfrm>
            <a:prstGeom prst="rect">
              <a:avLst/>
            </a:prstGeom>
            <a:solidFill>
              <a:srgbClr val="0000FF"/>
            </a:solid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cxnSp>
          <p:nvCxnSpPr>
            <p:cNvPr id="341" name="Google Shape;341;g8177f934de_0_370"/>
            <p:cNvCxnSpPr/>
            <p:nvPr/>
          </p:nvCxnSpPr>
          <p:spPr>
            <a:xfrm>
              <a:off x="3373300" y="3914300"/>
              <a:ext cx="17100" cy="858600"/>
            </a:xfrm>
            <a:prstGeom prst="straightConnector1">
              <a:avLst/>
            </a:prstGeom>
            <a:noFill/>
            <a:ln cap="flat" cmpd="sng" w="57150">
              <a:solidFill>
                <a:srgbClr val="FF0000"/>
              </a:solidFill>
              <a:prstDash val="solid"/>
              <a:round/>
              <a:headEnd len="sm" w="sm" type="none"/>
              <a:tailEnd len="sm" w="sm" type="none"/>
            </a:ln>
          </p:spPr>
        </p:cxnSp>
        <p:cxnSp>
          <p:nvCxnSpPr>
            <p:cNvPr id="342" name="Google Shape;342;g8177f934de_0_370"/>
            <p:cNvCxnSpPr/>
            <p:nvPr/>
          </p:nvCxnSpPr>
          <p:spPr>
            <a:xfrm>
              <a:off x="5282725" y="3977950"/>
              <a:ext cx="12600" cy="795000"/>
            </a:xfrm>
            <a:prstGeom prst="straightConnector1">
              <a:avLst/>
            </a:prstGeom>
            <a:noFill/>
            <a:ln cap="flat" cmpd="sng" w="57150">
              <a:solidFill>
                <a:srgbClr val="FF0000"/>
              </a:solidFill>
              <a:prstDash val="solid"/>
              <a:round/>
              <a:headEnd len="sm" w="sm" type="none"/>
              <a:tailEnd len="sm" w="sm" type="none"/>
            </a:ln>
          </p:spPr>
        </p:cxnSp>
        <p:sp>
          <p:nvSpPr>
            <p:cNvPr id="343" name="Google Shape;343;g8177f934de_0_370"/>
            <p:cNvSpPr/>
            <p:nvPr/>
          </p:nvSpPr>
          <p:spPr>
            <a:xfrm>
              <a:off x="16378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44" name="Google Shape;344;g8177f934de_0_370"/>
            <p:cNvSpPr/>
            <p:nvPr/>
          </p:nvSpPr>
          <p:spPr>
            <a:xfrm>
              <a:off x="19426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45" name="Google Shape;345;g8177f934de_0_370"/>
            <p:cNvSpPr/>
            <p:nvPr/>
          </p:nvSpPr>
          <p:spPr>
            <a:xfrm>
              <a:off x="23998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46" name="Google Shape;346;g8177f934de_0_370"/>
            <p:cNvSpPr/>
            <p:nvPr/>
          </p:nvSpPr>
          <p:spPr>
            <a:xfrm>
              <a:off x="37714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47" name="Google Shape;347;g8177f934de_0_370"/>
            <p:cNvSpPr/>
            <p:nvPr/>
          </p:nvSpPr>
          <p:spPr>
            <a:xfrm>
              <a:off x="61336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grpSp>
      <p:sp>
        <p:nvSpPr>
          <p:cNvPr id="348" name="Google Shape;348;g8177f934de_0_37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8177f934de_0_77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
        <p:nvSpPr>
          <p:cNvPr id="355" name="Google Shape;355;g8177f934de_0_779"/>
          <p:cNvSpPr txBox="1"/>
          <p:nvPr>
            <p:ph idx="1" type="body"/>
          </p:nvPr>
        </p:nvSpPr>
        <p:spPr>
          <a:xfrm>
            <a:off x="425200" y="2185425"/>
            <a:ext cx="7960200" cy="39681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Cho n loại, mỗi loại có không ít hơn k phần tử:</a:t>
            </a:r>
            <a:endParaRPr sz="2400">
              <a:solidFill>
                <a:srgbClr val="002060"/>
              </a:solidFill>
              <a:latin typeface="Arial"/>
              <a:ea typeface="Arial"/>
              <a:cs typeface="Arial"/>
              <a:sym typeface="Arial"/>
            </a:endParaRPr>
          </a:p>
          <a:p>
            <a:pPr indent="-381000" lvl="1" marL="914400" rtl="0" algn="l">
              <a:lnSpc>
                <a:spcPct val="115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Một tổ hợp lặp chập k từ n loại – </a:t>
            </a:r>
            <a:r>
              <a:rPr lang="en-US" sz="2400">
                <a:solidFill>
                  <a:srgbClr val="FF0000"/>
                </a:solidFill>
                <a:latin typeface="Arial"/>
                <a:ea typeface="Arial"/>
                <a:cs typeface="Arial"/>
                <a:sym typeface="Arial"/>
              </a:rPr>
              <a:t>một bộ không có thứ tự </a:t>
            </a:r>
            <a:r>
              <a:rPr lang="en-US" sz="2400">
                <a:solidFill>
                  <a:srgbClr val="002060"/>
                </a:solidFill>
                <a:latin typeface="Arial"/>
                <a:ea typeface="Arial"/>
                <a:cs typeface="Arial"/>
                <a:sym typeface="Arial"/>
              </a:rPr>
              <a:t>k phần tử lấy từ n loại (các phần tử có thể lặp, k &gt;n)</a:t>
            </a:r>
            <a:endParaRPr sz="2400">
              <a:solidFill>
                <a:srgbClr val="002060"/>
              </a:solidFill>
              <a:latin typeface="Arial"/>
              <a:ea typeface="Arial"/>
              <a:cs typeface="Arial"/>
              <a:sym typeface="Arial"/>
            </a:endParaRPr>
          </a:p>
          <a:p>
            <a:pPr indent="-381000" lvl="1" marL="914400" rtl="0" algn="l">
              <a:lnSpc>
                <a:spcPct val="115000"/>
              </a:lnSpc>
              <a:spcBef>
                <a:spcPts val="0"/>
              </a:spcBef>
              <a:spcAft>
                <a:spcPts val="0"/>
              </a:spcAft>
              <a:buClr>
                <a:srgbClr val="002060"/>
              </a:buClr>
              <a:buSzPts val="2400"/>
              <a:buChar char="○"/>
            </a:pPr>
            <a:r>
              <a:rPr lang="en-US" sz="2400">
                <a:solidFill>
                  <a:srgbClr val="002060"/>
                </a:solidFill>
                <a:latin typeface="Arial"/>
                <a:ea typeface="Arial"/>
                <a:cs typeface="Arial"/>
                <a:sym typeface="Arial"/>
              </a:rPr>
              <a:t>Số tổ hợp lặp chập k của n loại:</a:t>
            </a:r>
            <a:endParaRPr sz="2400">
              <a:solidFill>
                <a:srgbClr val="002060"/>
              </a:solidFill>
              <a:latin typeface="Arial"/>
              <a:ea typeface="Arial"/>
              <a:cs typeface="Arial"/>
              <a:sym typeface="Arial"/>
            </a:endParaRPr>
          </a:p>
        </p:txBody>
      </p:sp>
      <p:pic>
        <p:nvPicPr>
          <p:cNvPr id="356" name="Google Shape;356;g8177f934de_0_779"/>
          <p:cNvPicPr preferRelativeResize="0"/>
          <p:nvPr/>
        </p:nvPicPr>
        <p:blipFill rotWithShape="1">
          <a:blip r:embed="rId3">
            <a:alphaModFix/>
          </a:blip>
          <a:srcRect b="0" l="0" r="0" t="0"/>
          <a:stretch/>
        </p:blipFill>
        <p:spPr>
          <a:xfrm>
            <a:off x="1736425" y="4592527"/>
            <a:ext cx="5227639" cy="552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8177f934de_0_787"/>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3" name="Google Shape;363;g8177f934de_0_787"/>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7</a:t>
            </a:r>
            <a:endParaRPr/>
          </a:p>
        </p:txBody>
      </p:sp>
      <p:sp>
        <p:nvSpPr>
          <p:cNvPr id="364" name="Google Shape;364;g8177f934de_0_787"/>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marR="0" rtl="0" algn="l">
              <a:lnSpc>
                <a:spcPct val="130000"/>
              </a:lnSpc>
              <a:spcBef>
                <a:spcPts val="600"/>
              </a:spcBef>
              <a:spcAft>
                <a:spcPts val="0"/>
              </a:spcAft>
              <a:buSzPts val="2400"/>
              <a:buChar char="●"/>
            </a:pPr>
            <a:r>
              <a:rPr lang="en-US" sz="2400"/>
              <a:t>Đếm số</a:t>
            </a:r>
            <a:r>
              <a:rPr lang="en-US" sz="2400"/>
              <a:t> cách rút 5 tờ tiền từ két đựng tiền với các khe</a:t>
            </a:r>
            <a:endParaRPr sz="1150">
              <a:solidFill>
                <a:srgbClr val="000000"/>
              </a:solidFill>
              <a:latin typeface="Arial"/>
              <a:ea typeface="Arial"/>
              <a:cs typeface="Arial"/>
              <a:sym typeface="Arial"/>
            </a:endParaRPr>
          </a:p>
          <a:p>
            <a:pPr indent="-381000" lvl="0" marL="457200" marR="0" rtl="0" algn="l">
              <a:lnSpc>
                <a:spcPct val="130000"/>
              </a:lnSpc>
              <a:spcBef>
                <a:spcPts val="0"/>
              </a:spcBef>
              <a:spcAft>
                <a:spcPts val="0"/>
              </a:spcAft>
              <a:buSzPts val="2400"/>
              <a:buChar char="●"/>
            </a:pPr>
            <a:r>
              <a:rPr lang="en-US" sz="2400"/>
              <a:t> (5.000đ, 10.000đ, 20.000đ, 50.000đ, 100.000đ, 200.000đ, 500.000đ). </a:t>
            </a:r>
            <a:endParaRPr sz="2400"/>
          </a:p>
          <a:p>
            <a:pPr indent="-381000" lvl="0" marL="457200" marR="0" rtl="0" algn="l">
              <a:lnSpc>
                <a:spcPct val="130000"/>
              </a:lnSpc>
              <a:spcBef>
                <a:spcPts val="0"/>
              </a:spcBef>
              <a:spcAft>
                <a:spcPts val="0"/>
              </a:spcAft>
              <a:buSzPts val="2400"/>
              <a:buChar char="●"/>
            </a:pPr>
            <a:r>
              <a:rPr lang="en-US" sz="2400"/>
              <a:t>Phân tích:</a:t>
            </a:r>
            <a:endParaRPr sz="2400"/>
          </a:p>
          <a:p>
            <a:pPr indent="-342900" lvl="1" marL="914400" rtl="0" algn="l">
              <a:spcBef>
                <a:spcPts val="0"/>
              </a:spcBef>
              <a:spcAft>
                <a:spcPts val="0"/>
              </a:spcAft>
              <a:buSzPts val="1800"/>
              <a:buChar char="○"/>
            </a:pPr>
            <a:r>
              <a:rPr lang="en-US"/>
              <a:t>Thứ tự các tờ tiền được chọn là không quan trọng;</a:t>
            </a:r>
            <a:endParaRPr/>
          </a:p>
          <a:p>
            <a:pPr indent="-342900" lvl="1" marL="914400" rtl="0" algn="l">
              <a:spcBef>
                <a:spcPts val="0"/>
              </a:spcBef>
              <a:spcAft>
                <a:spcPts val="0"/>
              </a:spcAft>
              <a:buSzPts val="1800"/>
              <a:buChar char="○"/>
            </a:pPr>
            <a:r>
              <a:rPr lang="en-US"/>
              <a:t>Tờ tiền cùng loại là không phân biệt;</a:t>
            </a:r>
            <a:endParaRPr/>
          </a:p>
          <a:p>
            <a:pPr indent="-342900" lvl="1" marL="914400" marR="0" rtl="0" algn="l">
              <a:lnSpc>
                <a:spcPct val="130000"/>
              </a:lnSpc>
              <a:spcBef>
                <a:spcPts val="0"/>
              </a:spcBef>
              <a:spcAft>
                <a:spcPts val="0"/>
              </a:spcAft>
              <a:buSzPts val="1800"/>
              <a:buChar char="○"/>
            </a:pPr>
            <a:r>
              <a:rPr lang="en-US"/>
              <a:t>Mỗi khe  có không ít hơn 5 tờ (giả sử két nhiều tiền :) ) </a:t>
            </a:r>
            <a:endParaRPr/>
          </a:p>
          <a:p>
            <a:pPr indent="0" lvl="0" marL="457200" rtl="0" algn="l">
              <a:spcBef>
                <a:spcPts val="600"/>
              </a:spcBef>
              <a:spcAft>
                <a:spcPts val="0"/>
              </a:spcAft>
              <a:buNone/>
            </a:pPr>
            <a:r>
              <a:t/>
            </a:r>
            <a:endParaRPr sz="2400"/>
          </a:p>
          <a:p>
            <a:pPr indent="0" lvl="0" marL="457200" marR="0" rtl="0" algn="l">
              <a:lnSpc>
                <a:spcPct val="130000"/>
              </a:lnSpc>
              <a:spcBef>
                <a:spcPts val="600"/>
              </a:spcBef>
              <a:spcAft>
                <a:spcPts val="0"/>
              </a:spcAft>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grpSp>
        <p:nvGrpSpPr>
          <p:cNvPr id="370" name="Google Shape;370;g8177f934de_0_396"/>
          <p:cNvGrpSpPr/>
          <p:nvPr/>
        </p:nvGrpSpPr>
        <p:grpSpPr>
          <a:xfrm>
            <a:off x="506357" y="2294061"/>
            <a:ext cx="8228314" cy="4140063"/>
            <a:chOff x="46657" y="389587"/>
            <a:chExt cx="8136373" cy="3750397"/>
          </a:xfrm>
        </p:grpSpPr>
        <p:sp>
          <p:nvSpPr>
            <p:cNvPr id="371" name="Google Shape;371;g8177f934de_0_396"/>
            <p:cNvSpPr/>
            <p:nvPr/>
          </p:nvSpPr>
          <p:spPr>
            <a:xfrm rot="-5400000">
              <a:off x="-1636491" y="2289125"/>
              <a:ext cx="3530400" cy="16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8177f934de_0_396"/>
            <p:cNvSpPr txBox="1"/>
            <p:nvPr/>
          </p:nvSpPr>
          <p:spPr>
            <a:xfrm rot="-5400000">
              <a:off x="-1636491"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73" name="Google Shape;373;g8177f934de_0_396"/>
            <p:cNvSpPr/>
            <p:nvPr/>
          </p:nvSpPr>
          <p:spPr>
            <a:xfrm>
              <a:off x="210701"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8177f934de_0_396"/>
            <p:cNvSpPr txBox="1"/>
            <p:nvPr/>
          </p:nvSpPr>
          <p:spPr>
            <a:xfrm>
              <a:off x="210701"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10000đ</a:t>
              </a:r>
              <a:endParaRPr sz="1800"/>
            </a:p>
          </p:txBody>
        </p:sp>
        <p:sp>
          <p:nvSpPr>
            <p:cNvPr id="375" name="Google Shape;375;g8177f934de_0_396"/>
            <p:cNvSpPr/>
            <p:nvPr/>
          </p:nvSpPr>
          <p:spPr>
            <a:xfrm>
              <a:off x="46657"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8177f934de_0_396"/>
            <p:cNvSpPr/>
            <p:nvPr/>
          </p:nvSpPr>
          <p:spPr>
            <a:xfrm rot="-5400000">
              <a:off x="-443970"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8177f934de_0_396"/>
            <p:cNvSpPr txBox="1"/>
            <p:nvPr/>
          </p:nvSpPr>
          <p:spPr>
            <a:xfrm rot="-5400000">
              <a:off x="-443970"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78" name="Google Shape;378;g8177f934de_0_396"/>
            <p:cNvSpPr/>
            <p:nvPr/>
          </p:nvSpPr>
          <p:spPr>
            <a:xfrm>
              <a:off x="1403222"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8177f934de_0_396"/>
            <p:cNvSpPr txBox="1"/>
            <p:nvPr/>
          </p:nvSpPr>
          <p:spPr>
            <a:xfrm>
              <a:off x="1403222"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20000đ</a:t>
              </a:r>
              <a:endParaRPr sz="1800"/>
            </a:p>
          </p:txBody>
        </p:sp>
        <p:sp>
          <p:nvSpPr>
            <p:cNvPr id="380" name="Google Shape;380;g8177f934de_0_396"/>
            <p:cNvSpPr/>
            <p:nvPr/>
          </p:nvSpPr>
          <p:spPr>
            <a:xfrm>
              <a:off x="1239179"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8177f934de_0_396"/>
            <p:cNvSpPr/>
            <p:nvPr/>
          </p:nvSpPr>
          <p:spPr>
            <a:xfrm rot="-5400000">
              <a:off x="748550"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8177f934de_0_396"/>
            <p:cNvSpPr txBox="1"/>
            <p:nvPr/>
          </p:nvSpPr>
          <p:spPr>
            <a:xfrm rot="-5400000">
              <a:off x="748550"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83" name="Google Shape;383;g8177f934de_0_396"/>
            <p:cNvSpPr/>
            <p:nvPr/>
          </p:nvSpPr>
          <p:spPr>
            <a:xfrm>
              <a:off x="2595744"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8177f934de_0_396"/>
            <p:cNvSpPr txBox="1"/>
            <p:nvPr/>
          </p:nvSpPr>
          <p:spPr>
            <a:xfrm>
              <a:off x="2595744"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50000đ</a:t>
              </a:r>
              <a:endParaRPr sz="1800"/>
            </a:p>
          </p:txBody>
        </p:sp>
        <p:sp>
          <p:nvSpPr>
            <p:cNvPr id="385" name="Google Shape;385;g8177f934de_0_396"/>
            <p:cNvSpPr/>
            <p:nvPr/>
          </p:nvSpPr>
          <p:spPr>
            <a:xfrm>
              <a:off x="2431700"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8177f934de_0_396"/>
            <p:cNvSpPr/>
            <p:nvPr/>
          </p:nvSpPr>
          <p:spPr>
            <a:xfrm rot="-5400000">
              <a:off x="1941072"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8177f934de_0_396"/>
            <p:cNvSpPr txBox="1"/>
            <p:nvPr/>
          </p:nvSpPr>
          <p:spPr>
            <a:xfrm rot="-5400000">
              <a:off x="1941072"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88" name="Google Shape;388;g8177f934de_0_396"/>
            <p:cNvSpPr/>
            <p:nvPr/>
          </p:nvSpPr>
          <p:spPr>
            <a:xfrm>
              <a:off x="3788265"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8177f934de_0_396"/>
            <p:cNvSpPr txBox="1"/>
            <p:nvPr/>
          </p:nvSpPr>
          <p:spPr>
            <a:xfrm>
              <a:off x="3788265"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100000đ</a:t>
              </a:r>
              <a:endParaRPr sz="1800"/>
            </a:p>
          </p:txBody>
        </p:sp>
        <p:sp>
          <p:nvSpPr>
            <p:cNvPr id="390" name="Google Shape;390;g8177f934de_0_396"/>
            <p:cNvSpPr/>
            <p:nvPr/>
          </p:nvSpPr>
          <p:spPr>
            <a:xfrm>
              <a:off x="3624222"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8177f934de_0_396"/>
            <p:cNvSpPr/>
            <p:nvPr/>
          </p:nvSpPr>
          <p:spPr>
            <a:xfrm rot="-5400000">
              <a:off x="3133593"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8177f934de_0_396"/>
            <p:cNvSpPr txBox="1"/>
            <p:nvPr/>
          </p:nvSpPr>
          <p:spPr>
            <a:xfrm rot="-5400000">
              <a:off x="3133593"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93" name="Google Shape;393;g8177f934de_0_396"/>
            <p:cNvSpPr/>
            <p:nvPr/>
          </p:nvSpPr>
          <p:spPr>
            <a:xfrm>
              <a:off x="4952997" y="60958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8177f934de_0_396"/>
            <p:cNvSpPr txBox="1"/>
            <p:nvPr/>
          </p:nvSpPr>
          <p:spPr>
            <a:xfrm>
              <a:off x="4952997" y="60958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200000đ</a:t>
              </a:r>
              <a:endParaRPr sz="1800"/>
            </a:p>
          </p:txBody>
        </p:sp>
        <p:sp>
          <p:nvSpPr>
            <p:cNvPr id="395" name="Google Shape;395;g8177f934de_0_396"/>
            <p:cNvSpPr/>
            <p:nvPr/>
          </p:nvSpPr>
          <p:spPr>
            <a:xfrm>
              <a:off x="4816743"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8177f934de_0_396"/>
            <p:cNvSpPr/>
            <p:nvPr/>
          </p:nvSpPr>
          <p:spPr>
            <a:xfrm rot="-5400000">
              <a:off x="4326115"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8177f934de_0_396"/>
            <p:cNvSpPr txBox="1"/>
            <p:nvPr/>
          </p:nvSpPr>
          <p:spPr>
            <a:xfrm rot="-5400000">
              <a:off x="4326115"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br>
                <a:rPr lang="en-US" sz="500">
                  <a:solidFill>
                    <a:schemeClr val="dk1"/>
                  </a:solidFill>
                  <a:latin typeface="Times New Roman"/>
                  <a:ea typeface="Times New Roman"/>
                  <a:cs typeface="Times New Roman"/>
                  <a:sym typeface="Times New Roman"/>
                </a:rPr>
              </a:br>
              <a:endParaRPr sz="500">
                <a:solidFill>
                  <a:schemeClr val="dk1"/>
                </a:solidFill>
                <a:latin typeface="Times New Roman"/>
                <a:ea typeface="Times New Roman"/>
                <a:cs typeface="Times New Roman"/>
                <a:sym typeface="Times New Roman"/>
              </a:endParaRPr>
            </a:p>
          </p:txBody>
        </p:sp>
        <p:sp>
          <p:nvSpPr>
            <p:cNvPr id="398" name="Google Shape;398;g8177f934de_0_396"/>
            <p:cNvSpPr/>
            <p:nvPr/>
          </p:nvSpPr>
          <p:spPr>
            <a:xfrm>
              <a:off x="6172197" y="533401"/>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8177f934de_0_396"/>
            <p:cNvSpPr txBox="1"/>
            <p:nvPr/>
          </p:nvSpPr>
          <p:spPr>
            <a:xfrm>
              <a:off x="6172197" y="533401"/>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500000đ</a:t>
              </a:r>
              <a:endParaRPr sz="1800"/>
            </a:p>
          </p:txBody>
        </p:sp>
        <p:sp>
          <p:nvSpPr>
            <p:cNvPr id="400" name="Google Shape;400;g8177f934de_0_396"/>
            <p:cNvSpPr/>
            <p:nvPr/>
          </p:nvSpPr>
          <p:spPr>
            <a:xfrm>
              <a:off x="6009265"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8177f934de_0_396"/>
            <p:cNvSpPr/>
            <p:nvPr/>
          </p:nvSpPr>
          <p:spPr>
            <a:xfrm rot="-5400000">
              <a:off x="5518636"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8177f934de_0_396"/>
            <p:cNvSpPr txBox="1"/>
            <p:nvPr/>
          </p:nvSpPr>
          <p:spPr>
            <a:xfrm rot="-5400000">
              <a:off x="5518636"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br>
                <a:rPr lang="en-US" sz="500">
                  <a:solidFill>
                    <a:schemeClr val="dk1"/>
                  </a:solidFill>
                  <a:latin typeface="Times New Roman"/>
                  <a:ea typeface="Times New Roman"/>
                  <a:cs typeface="Times New Roman"/>
                  <a:sym typeface="Times New Roman"/>
                </a:rPr>
              </a:br>
              <a:br>
                <a:rPr lang="en-US" sz="500">
                  <a:solidFill>
                    <a:schemeClr val="dk1"/>
                  </a:solidFill>
                  <a:latin typeface="Times New Roman"/>
                  <a:ea typeface="Times New Roman"/>
                  <a:cs typeface="Times New Roman"/>
                  <a:sym typeface="Times New Roman"/>
                </a:rPr>
              </a:br>
              <a:endParaRPr sz="500">
                <a:solidFill>
                  <a:schemeClr val="dk1"/>
                </a:solidFill>
                <a:latin typeface="Times New Roman"/>
                <a:ea typeface="Times New Roman"/>
                <a:cs typeface="Times New Roman"/>
                <a:sym typeface="Times New Roman"/>
              </a:endParaRPr>
            </a:p>
          </p:txBody>
        </p:sp>
        <p:sp>
          <p:nvSpPr>
            <p:cNvPr id="403" name="Google Shape;403;g8177f934de_0_396"/>
            <p:cNvSpPr/>
            <p:nvPr/>
          </p:nvSpPr>
          <p:spPr>
            <a:xfrm>
              <a:off x="7365830"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8177f934de_0_396"/>
            <p:cNvSpPr txBox="1"/>
            <p:nvPr/>
          </p:nvSpPr>
          <p:spPr>
            <a:xfrm>
              <a:off x="7365830"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5000đ</a:t>
              </a:r>
              <a:endParaRPr sz="1800"/>
            </a:p>
          </p:txBody>
        </p:sp>
        <p:sp>
          <p:nvSpPr>
            <p:cNvPr id="405" name="Google Shape;405;g8177f934de_0_396"/>
            <p:cNvSpPr/>
            <p:nvPr/>
          </p:nvSpPr>
          <p:spPr>
            <a:xfrm>
              <a:off x="7201786"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 name="Google Shape;406;g8177f934de_0_396"/>
          <p:cNvSpPr/>
          <p:nvPr/>
        </p:nvSpPr>
        <p:spPr>
          <a:xfrm>
            <a:off x="914400" y="30464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07" name="Google Shape;407;g8177f934de_0_396"/>
          <p:cNvSpPr/>
          <p:nvPr/>
        </p:nvSpPr>
        <p:spPr>
          <a:xfrm>
            <a:off x="914400" y="35036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08" name="Google Shape;408;g8177f934de_0_396"/>
          <p:cNvSpPr/>
          <p:nvPr/>
        </p:nvSpPr>
        <p:spPr>
          <a:xfrm>
            <a:off x="914400" y="39608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09" name="Google Shape;409;g8177f934de_0_396"/>
          <p:cNvSpPr/>
          <p:nvPr/>
        </p:nvSpPr>
        <p:spPr>
          <a:xfrm>
            <a:off x="3276600" y="31226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0" name="Google Shape;410;g8177f934de_0_396"/>
          <p:cNvSpPr/>
          <p:nvPr/>
        </p:nvSpPr>
        <p:spPr>
          <a:xfrm>
            <a:off x="3276600" y="35798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1" name="Google Shape;411;g8177f934de_0_396"/>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2" name="Google Shape;412;g8177f934de_0_396"/>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7</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8177f934de_0_835"/>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Đếm số nghiệm </a:t>
            </a:r>
            <a:r>
              <a:rPr b="1" lang="en-US" sz="2400"/>
              <a:t>nguyên không âm</a:t>
            </a:r>
            <a:r>
              <a:rPr lang="en-US" sz="2400"/>
              <a:t> của phương trình:</a:t>
            </a:r>
            <a:endParaRPr sz="2400"/>
          </a:p>
        </p:txBody>
      </p:sp>
      <p:sp>
        <p:nvSpPr>
          <p:cNvPr id="419" name="Google Shape;419;g8177f934de_0_83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8</a:t>
            </a:r>
            <a:endParaRPr/>
          </a:p>
        </p:txBody>
      </p:sp>
      <p:sp>
        <p:nvSpPr>
          <p:cNvPr id="420" name="Google Shape;420;g8177f934de_0_835"/>
          <p:cNvSpPr txBox="1"/>
          <p:nvPr>
            <p:ph idx="1" type="body"/>
          </p:nvPr>
        </p:nvSpPr>
        <p:spPr>
          <a:xfrm>
            <a:off x="1368425" y="2882350"/>
            <a:ext cx="7073700" cy="826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None/>
            </a:pPr>
            <a:r>
              <a:rPr lang="en-US" sz="2400">
                <a:solidFill>
                  <a:srgbClr val="002060"/>
                </a:solidFill>
              </a:rPr>
              <a:t>x</a:t>
            </a:r>
            <a:r>
              <a:rPr baseline="-25000" lang="en-US" sz="2400">
                <a:solidFill>
                  <a:srgbClr val="002060"/>
                </a:solidFill>
              </a:rPr>
              <a:t>1</a:t>
            </a:r>
            <a:r>
              <a:rPr lang="en-US" sz="2400">
                <a:solidFill>
                  <a:srgbClr val="002060"/>
                </a:solidFill>
              </a:rPr>
              <a:t> + x</a:t>
            </a:r>
            <a:r>
              <a:rPr baseline="-25000" lang="en-US" sz="2400">
                <a:solidFill>
                  <a:srgbClr val="002060"/>
                </a:solidFill>
              </a:rPr>
              <a:t>2 </a:t>
            </a:r>
            <a:r>
              <a:rPr lang="en-US" sz="2400">
                <a:solidFill>
                  <a:srgbClr val="002060"/>
                </a:solidFill>
              </a:rPr>
              <a:t>+ x</a:t>
            </a:r>
            <a:r>
              <a:rPr baseline="-25000" lang="en-US" sz="2400">
                <a:solidFill>
                  <a:srgbClr val="002060"/>
                </a:solidFill>
              </a:rPr>
              <a:t>3 </a:t>
            </a:r>
            <a:r>
              <a:rPr lang="en-US" sz="2400">
                <a:solidFill>
                  <a:srgbClr val="002060"/>
                </a:solidFill>
              </a:rPr>
              <a:t> = 15, x</a:t>
            </a:r>
            <a:r>
              <a:rPr baseline="-25000" lang="en-US" sz="2400">
                <a:solidFill>
                  <a:srgbClr val="002060"/>
                </a:solidFill>
              </a:rPr>
              <a:t>1</a:t>
            </a:r>
            <a:r>
              <a:rPr lang="en-US" sz="2400">
                <a:solidFill>
                  <a:srgbClr val="002060"/>
                </a:solidFill>
              </a:rPr>
              <a:t> ≥ 0 , x</a:t>
            </a:r>
            <a:r>
              <a:rPr baseline="-25000" lang="en-US" sz="2400">
                <a:solidFill>
                  <a:srgbClr val="002060"/>
                </a:solidFill>
              </a:rPr>
              <a:t>2 </a:t>
            </a:r>
            <a:r>
              <a:rPr lang="en-US" sz="2400">
                <a:solidFill>
                  <a:srgbClr val="002060"/>
                </a:solidFill>
              </a:rPr>
              <a:t>≥ 0 , x</a:t>
            </a:r>
            <a:r>
              <a:rPr baseline="-25000" lang="en-US" sz="2400">
                <a:solidFill>
                  <a:srgbClr val="002060"/>
                </a:solidFill>
              </a:rPr>
              <a:t>3</a:t>
            </a:r>
            <a:r>
              <a:rPr lang="en-US" sz="2400">
                <a:solidFill>
                  <a:srgbClr val="002060"/>
                </a:solidFill>
              </a:rPr>
              <a:t> ≥ 0.</a:t>
            </a:r>
            <a:r>
              <a:rPr b="1" lang="en-US" sz="2400">
                <a:solidFill>
                  <a:srgbClr val="002060"/>
                </a:solidFill>
              </a:rPr>
              <a:t>      </a:t>
            </a:r>
            <a:endParaRPr b="1" sz="2400">
              <a:solidFill>
                <a:srgbClr val="00206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8177f934de_0_540"/>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426" name="Google Shape;426;g8177f934de_0_540"/>
          <p:cNvGrpSpPr/>
          <p:nvPr/>
        </p:nvGrpSpPr>
        <p:grpSpPr>
          <a:xfrm>
            <a:off x="1525375" y="2743200"/>
            <a:ext cx="6550579" cy="3200400"/>
            <a:chOff x="1375" y="0"/>
            <a:chExt cx="6550579" cy="3200400"/>
          </a:xfrm>
        </p:grpSpPr>
        <p:sp>
          <p:nvSpPr>
            <p:cNvPr id="427" name="Google Shape;427;g8177f934de_0_540"/>
            <p:cNvSpPr/>
            <p:nvPr/>
          </p:nvSpPr>
          <p:spPr>
            <a:xfrm>
              <a:off x="1375" y="0"/>
              <a:ext cx="2140800" cy="3200400"/>
            </a:xfrm>
            <a:prstGeom prst="roundRect">
              <a:avLst>
                <a:gd fmla="val 10000" name="adj"/>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8177f934de_0_540"/>
            <p:cNvSpPr txBox="1"/>
            <p:nvPr/>
          </p:nvSpPr>
          <p:spPr>
            <a:xfrm>
              <a:off x="1375" y="1280160"/>
              <a:ext cx="2140800" cy="128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marR="0" rtl="0" algn="ctr">
                <a:lnSpc>
                  <a:spcPct val="90000"/>
                </a:lnSpc>
                <a:spcBef>
                  <a:spcPts val="525"/>
                </a:spcBef>
                <a:spcAft>
                  <a:spcPts val="0"/>
                </a:spcAft>
                <a:buNone/>
              </a:pPr>
              <a:r>
                <a:rPr lang="en-US" sz="2800">
                  <a:solidFill>
                    <a:srgbClr val="002060"/>
                  </a:solidFill>
                  <a:latin typeface="Times New Roman"/>
                  <a:ea typeface="Times New Roman"/>
                  <a:cs typeface="Times New Roman"/>
                  <a:sym typeface="Times New Roman"/>
                </a:rPr>
                <a:t>Loại</a:t>
              </a:r>
              <a:r>
                <a:rPr lang="en-US" sz="2800">
                  <a:solidFill>
                    <a:srgbClr val="002060"/>
                  </a:solidFill>
                  <a:latin typeface="Times New Roman"/>
                  <a:ea typeface="Times New Roman"/>
                  <a:cs typeface="Times New Roman"/>
                  <a:sym typeface="Times New Roman"/>
                </a:rPr>
                <a:t> 1</a:t>
              </a:r>
              <a:endParaRPr/>
            </a:p>
            <a:p>
              <a:pPr indent="0" lvl="0" marL="0" marR="0" rtl="0" algn="ctr">
                <a:lnSpc>
                  <a:spcPct val="90000"/>
                </a:lnSpc>
                <a:spcBef>
                  <a:spcPts val="980"/>
                </a:spcBef>
                <a:spcAft>
                  <a:spcPts val="0"/>
                </a:spcAft>
                <a:buNone/>
              </a:pPr>
              <a:r>
                <a:rPr lang="en-US" sz="2800">
                  <a:solidFill>
                    <a:srgbClr val="002060"/>
                  </a:solidFill>
                  <a:latin typeface="Times New Roman"/>
                  <a:ea typeface="Times New Roman"/>
                  <a:cs typeface="Times New Roman"/>
                  <a:sym typeface="Times New Roman"/>
                </a:rPr>
                <a:t>x1≤15</a:t>
              </a:r>
              <a:endParaRPr sz="1500">
                <a:solidFill>
                  <a:srgbClr val="002060"/>
                </a:solidFill>
                <a:latin typeface="Times New Roman"/>
                <a:ea typeface="Times New Roman"/>
                <a:cs typeface="Times New Roman"/>
                <a:sym typeface="Times New Roman"/>
              </a:endParaRPr>
            </a:p>
            <a:p>
              <a:pPr indent="0" lvl="0" marL="0" marR="0" rtl="0" algn="ctr">
                <a:lnSpc>
                  <a:spcPct val="90000"/>
                </a:lnSpc>
                <a:spcBef>
                  <a:spcPts val="980"/>
                </a:spcBef>
                <a:spcAft>
                  <a:spcPts val="0"/>
                </a:spcAft>
                <a:buNone/>
              </a:pPr>
              <a:r>
                <a:t/>
              </a:r>
              <a:endParaRPr sz="1500">
                <a:solidFill>
                  <a:schemeClr val="lt1"/>
                </a:solidFill>
                <a:latin typeface="Times New Roman"/>
                <a:ea typeface="Times New Roman"/>
                <a:cs typeface="Times New Roman"/>
                <a:sym typeface="Times New Roman"/>
              </a:endParaRPr>
            </a:p>
          </p:txBody>
        </p:sp>
        <p:sp>
          <p:nvSpPr>
            <p:cNvPr id="429" name="Google Shape;429;g8177f934de_0_540"/>
            <p:cNvSpPr/>
            <p:nvPr/>
          </p:nvSpPr>
          <p:spPr>
            <a:xfrm>
              <a:off x="2206265" y="0"/>
              <a:ext cx="2140800" cy="3200400"/>
            </a:xfrm>
            <a:prstGeom prst="roundRect">
              <a:avLst>
                <a:gd fmla="val 10000" name="adj"/>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8177f934de_0_540"/>
            <p:cNvSpPr txBox="1"/>
            <p:nvPr/>
          </p:nvSpPr>
          <p:spPr>
            <a:xfrm>
              <a:off x="2206265" y="1280160"/>
              <a:ext cx="2140800" cy="1280100"/>
            </a:xfrm>
            <a:prstGeom prst="rect">
              <a:avLst/>
            </a:prstGeom>
            <a:noFill/>
            <a:ln>
              <a:noFill/>
            </a:ln>
          </p:spPr>
          <p:txBody>
            <a:bodyPr anchorCtr="0" anchor="ctr" bIns="199125" lIns="199125" spcFirstLastPara="1" rIns="199125" wrap="square" tIns="199125">
              <a:noAutofit/>
            </a:bodyPr>
            <a:lstStyle/>
            <a:p>
              <a:pPr indent="0" lvl="0" marL="0" marR="0" rtl="0" algn="l">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Loại</a:t>
              </a:r>
              <a:r>
                <a:rPr lang="en-US" sz="2800">
                  <a:solidFill>
                    <a:srgbClr val="002060"/>
                  </a:solidFill>
                  <a:latin typeface="Times New Roman"/>
                  <a:ea typeface="Times New Roman"/>
                  <a:cs typeface="Times New Roman"/>
                  <a:sym typeface="Times New Roman"/>
                </a:rPr>
                <a:t> 2</a:t>
              </a:r>
              <a:endParaRPr/>
            </a:p>
            <a:p>
              <a:pPr indent="0" lvl="0" marL="0" marR="0" rtl="0" algn="ctr">
                <a:lnSpc>
                  <a:spcPct val="90000"/>
                </a:lnSpc>
                <a:spcBef>
                  <a:spcPts val="980"/>
                </a:spcBef>
                <a:spcAft>
                  <a:spcPts val="0"/>
                </a:spcAft>
                <a:buNone/>
              </a:pPr>
              <a:r>
                <a:rPr lang="en-US" sz="2800">
                  <a:solidFill>
                    <a:srgbClr val="002060"/>
                  </a:solidFill>
                  <a:latin typeface="Times New Roman"/>
                  <a:ea typeface="Times New Roman"/>
                  <a:cs typeface="Times New Roman"/>
                  <a:sym typeface="Times New Roman"/>
                </a:rPr>
                <a:t>x2≤15 </a:t>
              </a:r>
              <a:endParaRPr/>
            </a:p>
          </p:txBody>
        </p:sp>
        <p:sp>
          <p:nvSpPr>
            <p:cNvPr id="431" name="Google Shape;431;g8177f934de_0_540"/>
            <p:cNvSpPr/>
            <p:nvPr/>
          </p:nvSpPr>
          <p:spPr>
            <a:xfrm>
              <a:off x="2743733" y="192024"/>
              <a:ext cx="1065600" cy="1065600"/>
            </a:xfrm>
            <a:prstGeom prst="ellipse">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8177f934de_0_540"/>
            <p:cNvSpPr/>
            <p:nvPr/>
          </p:nvSpPr>
          <p:spPr>
            <a:xfrm>
              <a:off x="4411154" y="0"/>
              <a:ext cx="2140800" cy="3200400"/>
            </a:xfrm>
            <a:prstGeom prst="roundRect">
              <a:avLst>
                <a:gd fmla="val 10000" name="adj"/>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8177f934de_0_540"/>
            <p:cNvSpPr txBox="1"/>
            <p:nvPr/>
          </p:nvSpPr>
          <p:spPr>
            <a:xfrm>
              <a:off x="4411154" y="1280160"/>
              <a:ext cx="2140800" cy="1280100"/>
            </a:xfrm>
            <a:prstGeom prst="rect">
              <a:avLst/>
            </a:prstGeom>
            <a:noFill/>
            <a:ln>
              <a:noFill/>
            </a:ln>
          </p:spPr>
          <p:txBody>
            <a:bodyPr anchorCtr="0" anchor="ctr" bIns="199125" lIns="199125" spcFirstLastPara="1" rIns="199125" wrap="square" tIns="199125">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Loại 3</a:t>
              </a:r>
              <a:endParaRPr/>
            </a:p>
            <a:p>
              <a:pPr indent="0" lvl="0" marL="0" marR="0" rtl="0" algn="ctr">
                <a:lnSpc>
                  <a:spcPct val="90000"/>
                </a:lnSpc>
                <a:spcBef>
                  <a:spcPts val="980"/>
                </a:spcBef>
                <a:spcAft>
                  <a:spcPts val="0"/>
                </a:spcAft>
                <a:buNone/>
              </a:pPr>
              <a:r>
                <a:rPr lang="en-US" sz="2800">
                  <a:solidFill>
                    <a:srgbClr val="002060"/>
                  </a:solidFill>
                  <a:latin typeface="Times New Roman"/>
                  <a:ea typeface="Times New Roman"/>
                  <a:cs typeface="Times New Roman"/>
                  <a:sym typeface="Times New Roman"/>
                </a:rPr>
                <a:t>x3≤15</a:t>
              </a:r>
              <a:endParaRPr/>
            </a:p>
          </p:txBody>
        </p:sp>
        <p:sp>
          <p:nvSpPr>
            <p:cNvPr id="434" name="Google Shape;434;g8177f934de_0_540"/>
            <p:cNvSpPr/>
            <p:nvPr/>
          </p:nvSpPr>
          <p:spPr>
            <a:xfrm>
              <a:off x="4948622" y="192024"/>
              <a:ext cx="1065600" cy="1065600"/>
            </a:xfrm>
            <a:prstGeom prst="ellipse">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8177f934de_0_540"/>
            <p:cNvSpPr/>
            <p:nvPr/>
          </p:nvSpPr>
          <p:spPr>
            <a:xfrm>
              <a:off x="262128" y="2560320"/>
              <a:ext cx="6028800" cy="480000"/>
            </a:xfrm>
            <a:prstGeom prst="leftRightArrow">
              <a:avLst>
                <a:gd fmla="val 50000" name="adj1"/>
                <a:gd fmla="val 50000" name="adj2"/>
              </a:avLst>
            </a:prstGeom>
            <a:solidFill>
              <a:srgbClr val="9900F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6" name="Google Shape;436;g8177f934de_0_540"/>
          <p:cNvSpPr/>
          <p:nvPr/>
        </p:nvSpPr>
        <p:spPr>
          <a:xfrm>
            <a:off x="2819400" y="6096000"/>
            <a:ext cx="3942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C(3+15−1, 15) </a:t>
            </a:r>
            <a:r>
              <a:rPr b="1" i="1" lang="en-US" sz="1800">
                <a:solidFill>
                  <a:srgbClr val="002060"/>
                </a:solidFill>
                <a:latin typeface="Times New Roman"/>
                <a:ea typeface="Times New Roman"/>
                <a:cs typeface="Times New Roman"/>
                <a:sym typeface="Times New Roman"/>
              </a:rPr>
              <a:t>= </a:t>
            </a:r>
            <a:r>
              <a:rPr b="1" lang="en-US" sz="1800">
                <a:solidFill>
                  <a:srgbClr val="002060"/>
                </a:solidFill>
                <a:latin typeface="Times New Roman"/>
                <a:ea typeface="Times New Roman"/>
                <a:cs typeface="Times New Roman"/>
                <a:sym typeface="Times New Roman"/>
              </a:rPr>
              <a:t>C(3+15−1, 2) </a:t>
            </a:r>
            <a:r>
              <a:rPr b="1" i="1" lang="en-US" sz="1800">
                <a:solidFill>
                  <a:srgbClr val="002060"/>
                </a:solidFill>
                <a:latin typeface="Times New Roman"/>
                <a:ea typeface="Times New Roman"/>
                <a:cs typeface="Times New Roman"/>
                <a:sym typeface="Times New Roman"/>
              </a:rPr>
              <a:t>= 136</a:t>
            </a:r>
            <a:endParaRPr sz="1800">
              <a:solidFill>
                <a:schemeClr val="dk1"/>
              </a:solidFill>
              <a:latin typeface="Times New Roman"/>
              <a:ea typeface="Times New Roman"/>
              <a:cs typeface="Times New Roman"/>
              <a:sym typeface="Times New Roman"/>
            </a:endParaRPr>
          </a:p>
        </p:txBody>
      </p:sp>
      <p:sp>
        <p:nvSpPr>
          <p:cNvPr id="437" name="Google Shape;437;g8177f934de_0_54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8</a:t>
            </a:r>
            <a:endParaRPr/>
          </a:p>
        </p:txBody>
      </p:sp>
      <p:sp>
        <p:nvSpPr>
          <p:cNvPr id="438" name="Google Shape;438;g8177f934de_0_540"/>
          <p:cNvSpPr/>
          <p:nvPr/>
        </p:nvSpPr>
        <p:spPr>
          <a:xfrm>
            <a:off x="2049258" y="2960324"/>
            <a:ext cx="1065600" cy="1065600"/>
          </a:xfrm>
          <a:prstGeom prst="ellipse">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8177f934de_0_84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Đ</a:t>
            </a:r>
            <a:r>
              <a:rPr lang="en-US" sz="2400"/>
              <a:t>ếm số nghiệm nguyên không âm của phương trình/ </a:t>
            </a:r>
            <a:r>
              <a:rPr lang="en-US" sz="2400"/>
              <a:t>bất phương trình:</a:t>
            </a:r>
            <a:endParaRPr sz="2400"/>
          </a:p>
        </p:txBody>
      </p:sp>
      <p:sp>
        <p:nvSpPr>
          <p:cNvPr id="445" name="Google Shape;445;g8177f934de_0_84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a:t>
            </a:r>
            <a:endParaRPr/>
          </a:p>
        </p:txBody>
      </p:sp>
      <p:grpSp>
        <p:nvGrpSpPr>
          <p:cNvPr id="446" name="Google Shape;446;g8177f934de_0_848"/>
          <p:cNvGrpSpPr/>
          <p:nvPr/>
        </p:nvGrpSpPr>
        <p:grpSpPr>
          <a:xfrm>
            <a:off x="669000" y="3309651"/>
            <a:ext cx="7653600" cy="3221334"/>
            <a:chOff x="59399" y="59399"/>
            <a:chExt cx="7653600" cy="3841781"/>
          </a:xfrm>
        </p:grpSpPr>
        <p:sp>
          <p:nvSpPr>
            <p:cNvPr id="447" name="Google Shape;447;g8177f934de_0_848"/>
            <p:cNvSpPr txBox="1"/>
            <p:nvPr/>
          </p:nvSpPr>
          <p:spPr>
            <a:xfrm>
              <a:off x="59399" y="59399"/>
              <a:ext cx="7653600" cy="1098000"/>
            </a:xfrm>
            <a:prstGeom prst="rect">
              <a:avLst/>
            </a:prstGeom>
            <a:noFill/>
            <a:ln>
              <a:noFill/>
            </a:ln>
          </p:spPr>
          <p:txBody>
            <a:bodyPr anchorCtr="0" anchor="ctr" bIns="76200" lIns="76200" spcFirstLastPara="1" rIns="76200" wrap="square" tIns="76200">
              <a:noAutofit/>
            </a:bodyPr>
            <a:lstStyle/>
            <a:p>
              <a:pPr indent="-355600" lvl="0" marL="914400" marR="0" rtl="0" algn="l">
                <a:lnSpc>
                  <a:spcPct val="90000"/>
                </a:lnSpc>
                <a:spcBef>
                  <a:spcPts val="0"/>
                </a:spcBef>
                <a:spcAft>
                  <a:spcPts val="0"/>
                </a:spcAft>
                <a:buClr>
                  <a:srgbClr val="002060"/>
                </a:buClr>
                <a:buSzPts val="2000"/>
                <a:buFont typeface="Times New Roman"/>
                <a:buChar char="●"/>
              </a:pPr>
              <a:r>
                <a:rPr i="1" lang="en-US" sz="2000" u="sng">
                  <a:solidFill>
                    <a:srgbClr val="002060"/>
                  </a:solidFill>
                  <a:latin typeface="Times New Roman"/>
                  <a:ea typeface="Times New Roman"/>
                  <a:cs typeface="Times New Roman"/>
                  <a:sym typeface="Times New Roman"/>
                </a:rPr>
                <a:t>9.1: </a:t>
              </a:r>
              <a:endParaRPr/>
            </a:p>
            <a:p>
              <a:pPr indent="0" lvl="0" marL="0" marR="0" rtl="0" algn="l">
                <a:lnSpc>
                  <a:spcPct val="90000"/>
                </a:lnSpc>
                <a:spcBef>
                  <a:spcPts val="700"/>
                </a:spcBef>
                <a:spcAft>
                  <a:spcPts val="0"/>
                </a:spcAft>
                <a:buNone/>
              </a:pP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3 </a:t>
              </a:r>
              <a:r>
                <a:rPr lang="en-US" sz="2400">
                  <a:solidFill>
                    <a:srgbClr val="002060"/>
                  </a:solidFill>
                  <a:latin typeface="Times New Roman"/>
                  <a:ea typeface="Times New Roman"/>
                  <a:cs typeface="Times New Roman"/>
                  <a:sym typeface="Times New Roman"/>
                </a:rPr>
                <a:t> = 12 với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1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-2 , x</a:t>
              </a:r>
              <a:r>
                <a:rPr baseline="-25000" lang="en-US" sz="2400">
                  <a:solidFill>
                    <a:srgbClr val="002060"/>
                  </a:solidFill>
                  <a:latin typeface="Times New Roman"/>
                  <a:ea typeface="Times New Roman"/>
                  <a:cs typeface="Times New Roman"/>
                  <a:sym typeface="Times New Roman"/>
                </a:rPr>
                <a:t>3</a:t>
              </a:r>
              <a:r>
                <a:rPr lang="en-US" sz="2400">
                  <a:solidFill>
                    <a:srgbClr val="002060"/>
                  </a:solidFill>
                  <a:latin typeface="Times New Roman"/>
                  <a:ea typeface="Times New Roman"/>
                  <a:cs typeface="Times New Roman"/>
                  <a:sym typeface="Times New Roman"/>
                </a:rPr>
                <a:t> ≥3</a:t>
              </a:r>
              <a:r>
                <a:rPr baseline="-25000"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 </a:t>
              </a:r>
              <a:endParaRPr b="1" sz="2400">
                <a:solidFill>
                  <a:srgbClr val="002060"/>
                </a:solidFill>
                <a:latin typeface="Times New Roman"/>
                <a:ea typeface="Times New Roman"/>
                <a:cs typeface="Times New Roman"/>
                <a:sym typeface="Times New Roman"/>
              </a:endParaRPr>
            </a:p>
          </p:txBody>
        </p:sp>
        <p:sp>
          <p:nvSpPr>
            <p:cNvPr id="448" name="Google Shape;448;g8177f934de_0_848"/>
            <p:cNvSpPr txBox="1"/>
            <p:nvPr/>
          </p:nvSpPr>
          <p:spPr>
            <a:xfrm>
              <a:off x="59399" y="1507203"/>
              <a:ext cx="7653600" cy="1098000"/>
            </a:xfrm>
            <a:prstGeom prst="rect">
              <a:avLst/>
            </a:prstGeom>
            <a:noFill/>
            <a:ln>
              <a:noFill/>
            </a:ln>
          </p:spPr>
          <p:txBody>
            <a:bodyPr anchorCtr="0" anchor="ctr" bIns="68575" lIns="68575" spcFirstLastPara="1" rIns="68575" wrap="square" tIns="68575">
              <a:noAutofit/>
            </a:bodyPr>
            <a:lstStyle/>
            <a:p>
              <a:pPr indent="-355600" lvl="0" marL="914400" marR="0" rtl="0" algn="l">
                <a:lnSpc>
                  <a:spcPct val="90000"/>
                </a:lnSpc>
                <a:spcBef>
                  <a:spcPts val="0"/>
                </a:spcBef>
                <a:spcAft>
                  <a:spcPts val="0"/>
                </a:spcAft>
                <a:buClr>
                  <a:srgbClr val="002060"/>
                </a:buClr>
                <a:buSzPts val="2000"/>
                <a:buFont typeface="Times New Roman"/>
                <a:buChar char="●"/>
              </a:pPr>
              <a:r>
                <a:rPr i="1" lang="en-US" sz="1800" u="sng">
                  <a:solidFill>
                    <a:srgbClr val="002060"/>
                  </a:solidFill>
                  <a:latin typeface="Times New Roman"/>
                  <a:ea typeface="Times New Roman"/>
                  <a:cs typeface="Times New Roman"/>
                  <a:sym typeface="Times New Roman"/>
                </a:rPr>
                <a:t>9.2: </a:t>
              </a:r>
              <a:endParaRPr/>
            </a:p>
            <a:p>
              <a:pPr indent="0" lvl="0" marL="0" marR="0" rtl="0" algn="l">
                <a:lnSpc>
                  <a:spcPct val="90000"/>
                </a:lnSpc>
                <a:spcBef>
                  <a:spcPts val="630"/>
                </a:spcBef>
                <a:spcAft>
                  <a:spcPts val="0"/>
                </a:spcAft>
                <a:buNone/>
              </a:pPr>
              <a:r>
                <a:rPr lang="en-US" sz="20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3 </a:t>
              </a:r>
              <a:r>
                <a:rPr lang="en-US" sz="2400">
                  <a:solidFill>
                    <a:srgbClr val="002060"/>
                  </a:solidFill>
                  <a:latin typeface="Times New Roman"/>
                  <a:ea typeface="Times New Roman"/>
                  <a:cs typeface="Times New Roman"/>
                  <a:sym typeface="Times New Roman"/>
                </a:rPr>
                <a:t> ≤  12 với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0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0 , x</a:t>
              </a:r>
              <a:r>
                <a:rPr baseline="-25000" lang="en-US" sz="2400">
                  <a:solidFill>
                    <a:srgbClr val="002060"/>
                  </a:solidFill>
                  <a:latin typeface="Times New Roman"/>
                  <a:ea typeface="Times New Roman"/>
                  <a:cs typeface="Times New Roman"/>
                  <a:sym typeface="Times New Roman"/>
                </a:rPr>
                <a:t>3</a:t>
              </a:r>
              <a:r>
                <a:rPr lang="en-US" sz="2400">
                  <a:solidFill>
                    <a:srgbClr val="002060"/>
                  </a:solidFill>
                  <a:latin typeface="Times New Roman"/>
                  <a:ea typeface="Times New Roman"/>
                  <a:cs typeface="Times New Roman"/>
                  <a:sym typeface="Times New Roman"/>
                </a:rPr>
                <a:t> ≥ 0</a:t>
              </a:r>
              <a:r>
                <a:rPr baseline="-25000"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a:t>
              </a:r>
              <a:endParaRPr sz="2400">
                <a:solidFill>
                  <a:srgbClr val="002060"/>
                </a:solidFill>
                <a:latin typeface="Times New Roman"/>
                <a:ea typeface="Times New Roman"/>
                <a:cs typeface="Times New Roman"/>
                <a:sym typeface="Times New Roman"/>
              </a:endParaRPr>
            </a:p>
          </p:txBody>
        </p:sp>
        <p:sp>
          <p:nvSpPr>
            <p:cNvPr id="449" name="Google Shape;449;g8177f934de_0_848"/>
            <p:cNvSpPr txBox="1"/>
            <p:nvPr/>
          </p:nvSpPr>
          <p:spPr>
            <a:xfrm>
              <a:off x="59399" y="2803180"/>
              <a:ext cx="7653600" cy="1098000"/>
            </a:xfrm>
            <a:prstGeom prst="rect">
              <a:avLst/>
            </a:prstGeom>
            <a:noFill/>
            <a:ln>
              <a:noFill/>
            </a:ln>
          </p:spPr>
          <p:txBody>
            <a:bodyPr anchorCtr="0" anchor="ctr" bIns="68575" lIns="68575" spcFirstLastPara="1" rIns="68575" wrap="square" tIns="68575">
              <a:noAutofit/>
            </a:bodyPr>
            <a:lstStyle/>
            <a:p>
              <a:pPr indent="-355600" lvl="0" marL="914400" marR="0" rtl="0" algn="l">
                <a:lnSpc>
                  <a:spcPct val="90000"/>
                </a:lnSpc>
                <a:spcBef>
                  <a:spcPts val="0"/>
                </a:spcBef>
                <a:spcAft>
                  <a:spcPts val="0"/>
                </a:spcAft>
                <a:buClr>
                  <a:srgbClr val="002060"/>
                </a:buClr>
                <a:buSzPts val="2000"/>
                <a:buFont typeface="Times New Roman"/>
                <a:buChar char="●"/>
              </a:pPr>
              <a:r>
                <a:rPr i="1" lang="en-US" sz="1800" u="sng">
                  <a:solidFill>
                    <a:srgbClr val="002060"/>
                  </a:solidFill>
                  <a:latin typeface="Times New Roman"/>
                  <a:ea typeface="Times New Roman"/>
                  <a:cs typeface="Times New Roman"/>
                  <a:sym typeface="Times New Roman"/>
                </a:rPr>
                <a:t>9.3: </a:t>
              </a:r>
              <a:endParaRPr/>
            </a:p>
            <a:p>
              <a:pPr indent="0" lvl="0" marL="0" marR="0" rtl="0" algn="l">
                <a:lnSpc>
                  <a:spcPct val="90000"/>
                </a:lnSpc>
                <a:spcBef>
                  <a:spcPts val="630"/>
                </a:spcBef>
                <a:spcAft>
                  <a:spcPts val="0"/>
                </a:spcAft>
                <a:buNone/>
              </a:pPr>
              <a:r>
                <a:rPr b="1" lang="en-US" sz="20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3 </a:t>
              </a:r>
              <a:r>
                <a:rPr lang="en-US" sz="2400">
                  <a:solidFill>
                    <a:srgbClr val="002060"/>
                  </a:solidFill>
                  <a:latin typeface="Times New Roman"/>
                  <a:ea typeface="Times New Roman"/>
                  <a:cs typeface="Times New Roman"/>
                  <a:sym typeface="Times New Roman"/>
                </a:rPr>
                <a:t> = 11 với 3 ≥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0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0 , x</a:t>
              </a:r>
              <a:r>
                <a:rPr baseline="-25000" lang="en-US" sz="2400">
                  <a:solidFill>
                    <a:srgbClr val="002060"/>
                  </a:solidFill>
                  <a:latin typeface="Times New Roman"/>
                  <a:ea typeface="Times New Roman"/>
                  <a:cs typeface="Times New Roman"/>
                  <a:sym typeface="Times New Roman"/>
                </a:rPr>
                <a:t>3</a:t>
              </a:r>
              <a:r>
                <a:rPr lang="en-US" sz="2400">
                  <a:solidFill>
                    <a:srgbClr val="002060"/>
                  </a:solidFill>
                  <a:latin typeface="Times New Roman"/>
                  <a:ea typeface="Times New Roman"/>
                  <a:cs typeface="Times New Roman"/>
                  <a:sym typeface="Times New Roman"/>
                </a:rPr>
                <a:t> ≥ 0</a:t>
              </a:r>
              <a:r>
                <a:rPr baseline="-25000"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 </a:t>
              </a:r>
              <a:endParaRPr sz="24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8177f934de_0_602"/>
          <p:cNvSpPr txBox="1"/>
          <p:nvPr>
            <p:ph type="title"/>
          </p:nvPr>
        </p:nvSpPr>
        <p:spPr>
          <a:xfrm>
            <a:off x="3810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Trao đổi</a:t>
            </a:r>
            <a:endParaRPr/>
          </a:p>
        </p:txBody>
      </p:sp>
      <p:sp>
        <p:nvSpPr>
          <p:cNvPr id="455" name="Google Shape;455;g8177f934de_0_602"/>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456" name="Google Shape;456;g8177f934de_0_602"/>
          <p:cNvPicPr preferRelativeResize="0"/>
          <p:nvPr/>
        </p:nvPicPr>
        <p:blipFill rotWithShape="1">
          <a:blip r:embed="rId3">
            <a:alphaModFix/>
          </a:blip>
          <a:srcRect b="0" l="0" r="0" t="0"/>
          <a:stretch/>
        </p:blipFill>
        <p:spPr>
          <a:xfrm>
            <a:off x="2514600" y="2743200"/>
            <a:ext cx="4572000" cy="3200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114005b7e15_0_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không ưu nhau</a:t>
            </a:r>
            <a:endParaRPr/>
          </a:p>
        </p:txBody>
      </p:sp>
      <p:sp>
        <p:nvSpPr>
          <p:cNvPr id="463" name="Google Shape;463;g114005b7e15_0_0"/>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pic>
        <p:nvPicPr>
          <p:cNvPr id="464" name="Google Shape;464;g114005b7e15_0_0"/>
          <p:cNvPicPr preferRelativeResize="0"/>
          <p:nvPr/>
        </p:nvPicPr>
        <p:blipFill rotWithShape="1">
          <a:blip r:embed="rId3">
            <a:alphaModFix/>
          </a:blip>
          <a:srcRect b="0" l="0" r="0" t="0"/>
          <a:stretch/>
        </p:blipFill>
        <p:spPr>
          <a:xfrm>
            <a:off x="763025" y="2295250"/>
            <a:ext cx="7772401" cy="3419475"/>
          </a:xfrm>
          <a:prstGeom prst="rect">
            <a:avLst/>
          </a:prstGeom>
          <a:noFill/>
          <a:ln>
            <a:noFill/>
          </a:ln>
        </p:spPr>
      </p:pic>
      <p:sp>
        <p:nvSpPr>
          <p:cNvPr id="465" name="Google Shape;465;g114005b7e15_0_0"/>
          <p:cNvSpPr/>
          <p:nvPr/>
        </p:nvSpPr>
        <p:spPr>
          <a:xfrm>
            <a:off x="6478025" y="5876650"/>
            <a:ext cx="609600" cy="6096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466" name="Google Shape;466;g114005b7e15_0_0"/>
          <p:cNvSpPr/>
          <p:nvPr/>
        </p:nvSpPr>
        <p:spPr>
          <a:xfrm>
            <a:off x="1632501" y="5876650"/>
            <a:ext cx="807000" cy="6096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cxnSp>
        <p:nvCxnSpPr>
          <p:cNvPr id="467" name="Google Shape;467;g114005b7e15_0_0"/>
          <p:cNvCxnSpPr>
            <a:stCxn id="466" idx="3"/>
            <a:endCxn id="465" idx="1"/>
          </p:cNvCxnSpPr>
          <p:nvPr/>
        </p:nvCxnSpPr>
        <p:spPr>
          <a:xfrm>
            <a:off x="2439501" y="6181450"/>
            <a:ext cx="4038600" cy="0"/>
          </a:xfrm>
          <a:prstGeom prst="straightConnector1">
            <a:avLst/>
          </a:prstGeom>
          <a:noFill/>
          <a:ln cap="flat" cmpd="sng" w="38100">
            <a:solidFill>
              <a:srgbClr val="FF0000"/>
            </a:solidFill>
            <a:prstDash val="solid"/>
            <a:round/>
            <a:headEnd len="med" w="med" type="stealth"/>
            <a:tailEnd len="med" w="med" type="stealth"/>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114005b7e15_0_392"/>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không ưa nhau</a:t>
            </a:r>
            <a:endParaRPr/>
          </a:p>
        </p:txBody>
      </p:sp>
      <p:sp>
        <p:nvSpPr>
          <p:cNvPr id="474" name="Google Shape;474;g114005b7e15_0_392"/>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pic>
        <p:nvPicPr>
          <p:cNvPr id="475" name="Google Shape;475;g114005b7e15_0_392"/>
          <p:cNvPicPr preferRelativeResize="0"/>
          <p:nvPr/>
        </p:nvPicPr>
        <p:blipFill rotWithShape="1">
          <a:blip r:embed="rId3">
            <a:alphaModFix/>
          </a:blip>
          <a:srcRect b="0" l="0" r="0" t="0"/>
          <a:stretch/>
        </p:blipFill>
        <p:spPr>
          <a:xfrm>
            <a:off x="990600" y="2133600"/>
            <a:ext cx="6934200" cy="2076887"/>
          </a:xfrm>
          <a:prstGeom prst="rect">
            <a:avLst/>
          </a:prstGeom>
          <a:noFill/>
          <a:ln>
            <a:noFill/>
          </a:ln>
        </p:spPr>
      </p:pic>
      <p:sp>
        <p:nvSpPr>
          <p:cNvPr id="476" name="Google Shape;476;g114005b7e15_0_392"/>
          <p:cNvSpPr/>
          <p:nvPr/>
        </p:nvSpPr>
        <p:spPr>
          <a:xfrm>
            <a:off x="2971800" y="4210487"/>
            <a:ext cx="228600" cy="10383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477" name="Google Shape;477;g114005b7e15_0_392"/>
          <p:cNvSpPr/>
          <p:nvPr/>
        </p:nvSpPr>
        <p:spPr>
          <a:xfrm>
            <a:off x="4724400" y="4210487"/>
            <a:ext cx="304800" cy="10383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478" name="Google Shape;478;g114005b7e15_0_392"/>
          <p:cNvSpPr txBox="1"/>
          <p:nvPr/>
        </p:nvSpPr>
        <p:spPr>
          <a:xfrm>
            <a:off x="2857500" y="5248712"/>
            <a:ext cx="495300" cy="5232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A</a:t>
            </a:r>
            <a:endParaRPr/>
          </a:p>
        </p:txBody>
      </p:sp>
      <p:sp>
        <p:nvSpPr>
          <p:cNvPr id="479" name="Google Shape;479;g114005b7e15_0_392"/>
          <p:cNvSpPr txBox="1"/>
          <p:nvPr/>
        </p:nvSpPr>
        <p:spPr>
          <a:xfrm>
            <a:off x="4648200" y="5248712"/>
            <a:ext cx="457200" cy="5232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B</a:t>
            </a:r>
            <a:endParaRPr/>
          </a:p>
        </p:txBody>
      </p:sp>
      <p:cxnSp>
        <p:nvCxnSpPr>
          <p:cNvPr id="480" name="Google Shape;480;g114005b7e15_0_392"/>
          <p:cNvCxnSpPr/>
          <p:nvPr/>
        </p:nvCxnSpPr>
        <p:spPr>
          <a:xfrm>
            <a:off x="3086100" y="4867712"/>
            <a:ext cx="1790700" cy="0"/>
          </a:xfrm>
          <a:prstGeom prst="straightConnector1">
            <a:avLst/>
          </a:prstGeom>
          <a:noFill/>
          <a:ln cap="flat" cmpd="sng" w="38100">
            <a:solidFill>
              <a:srgbClr val="FF0000"/>
            </a:solidFill>
            <a:prstDash val="solid"/>
            <a:round/>
            <a:headEnd len="med" w="med" type="stealth"/>
            <a:tailEnd len="med" w="med" type="stealth"/>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114005b7e15_0_40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không ưa nhau</a:t>
            </a:r>
            <a:endParaRPr/>
          </a:p>
        </p:txBody>
      </p:sp>
      <p:sp>
        <p:nvSpPr>
          <p:cNvPr id="487" name="Google Shape;487;g114005b7e15_0_404"/>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488" name="Google Shape;488;g114005b7e15_0_404"/>
          <p:cNvSpPr txBox="1"/>
          <p:nvPr/>
        </p:nvSpPr>
        <p:spPr>
          <a:xfrm>
            <a:off x="3429000" y="4114800"/>
            <a:ext cx="457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a:t>
            </a:r>
            <a:endParaRPr/>
          </a:p>
        </p:txBody>
      </p:sp>
      <p:sp>
        <p:nvSpPr>
          <p:cNvPr id="489" name="Google Shape;489;g114005b7e15_0_404"/>
          <p:cNvSpPr txBox="1"/>
          <p:nvPr/>
        </p:nvSpPr>
        <p:spPr>
          <a:xfrm>
            <a:off x="5203209" y="4114800"/>
            <a:ext cx="457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a:t>
            </a:r>
            <a:endParaRPr/>
          </a:p>
        </p:txBody>
      </p:sp>
      <p:grpSp>
        <p:nvGrpSpPr>
          <p:cNvPr id="490" name="Google Shape;490;g114005b7e15_0_404"/>
          <p:cNvGrpSpPr/>
          <p:nvPr/>
        </p:nvGrpSpPr>
        <p:grpSpPr>
          <a:xfrm>
            <a:off x="2138876" y="2286016"/>
            <a:ext cx="4713712" cy="2438477"/>
            <a:chOff x="1491176" y="16"/>
            <a:chExt cx="4713712" cy="2438477"/>
          </a:xfrm>
        </p:grpSpPr>
        <p:sp>
          <p:nvSpPr>
            <p:cNvPr id="491" name="Google Shape;491;g114005b7e15_0_404"/>
            <p:cNvSpPr/>
            <p:nvPr/>
          </p:nvSpPr>
          <p:spPr>
            <a:xfrm>
              <a:off x="3848100" y="1007606"/>
              <a:ext cx="1742700" cy="423300"/>
            </a:xfrm>
            <a:custGeom>
              <a:rect b="b" l="l" r="r" t="t"/>
              <a:pathLst>
                <a:path extrusionOk="0" h="120000" w="120000">
                  <a:moveTo>
                    <a:pt x="0" y="0"/>
                  </a:moveTo>
                  <a:lnTo>
                    <a:pt x="0" y="60000"/>
                  </a:lnTo>
                  <a:lnTo>
                    <a:pt x="120000" y="60000"/>
                  </a:lnTo>
                  <a:lnTo>
                    <a:pt x="120000" y="120000"/>
                  </a:lnTo>
                </a:path>
              </a:pathLst>
            </a:custGeom>
            <a:noFill/>
            <a:ln cap="flat" cmpd="sng" w="25400">
              <a:solidFill>
                <a:srgbClr val="487AA8"/>
              </a:solidFill>
              <a:prstDash val="solid"/>
              <a:round/>
              <a:headEnd len="sm" w="sm" type="none"/>
              <a:tailEnd len="sm" w="sm" type="none"/>
            </a:ln>
          </p:spPr>
        </p:sp>
        <p:sp>
          <p:nvSpPr>
            <p:cNvPr id="492" name="Google Shape;492;g114005b7e15_0_404"/>
            <p:cNvSpPr/>
            <p:nvPr/>
          </p:nvSpPr>
          <p:spPr>
            <a:xfrm>
              <a:off x="3802380" y="1007606"/>
              <a:ext cx="91500" cy="423300"/>
            </a:xfrm>
            <a:custGeom>
              <a:rect b="b" l="l" r="r" t="t"/>
              <a:pathLst>
                <a:path extrusionOk="0" h="120000" w="120000">
                  <a:moveTo>
                    <a:pt x="60000" y="0"/>
                  </a:moveTo>
                  <a:lnTo>
                    <a:pt x="60000" y="60000"/>
                  </a:lnTo>
                  <a:lnTo>
                    <a:pt x="80390" y="60000"/>
                  </a:lnTo>
                  <a:lnTo>
                    <a:pt x="80390" y="120000"/>
                  </a:lnTo>
                </a:path>
              </a:pathLst>
            </a:custGeom>
            <a:noFill/>
            <a:ln cap="flat" cmpd="sng" w="25400">
              <a:solidFill>
                <a:srgbClr val="487AA8"/>
              </a:solidFill>
              <a:prstDash val="solid"/>
              <a:round/>
              <a:headEnd len="sm" w="sm" type="none"/>
              <a:tailEnd len="sm" w="sm" type="none"/>
            </a:ln>
          </p:spPr>
        </p:sp>
        <p:sp>
          <p:nvSpPr>
            <p:cNvPr id="493" name="Google Shape;493;g114005b7e15_0_404"/>
            <p:cNvSpPr/>
            <p:nvPr/>
          </p:nvSpPr>
          <p:spPr>
            <a:xfrm>
              <a:off x="2121030" y="1007606"/>
              <a:ext cx="1727100" cy="423300"/>
            </a:xfrm>
            <a:custGeom>
              <a:rect b="b" l="l" r="r" t="t"/>
              <a:pathLst>
                <a:path extrusionOk="0" h="120000" w="120000">
                  <a:moveTo>
                    <a:pt x="120000" y="0"/>
                  </a:moveTo>
                  <a:lnTo>
                    <a:pt x="120000" y="60000"/>
                  </a:lnTo>
                  <a:lnTo>
                    <a:pt x="0" y="60000"/>
                  </a:lnTo>
                  <a:lnTo>
                    <a:pt x="0" y="120000"/>
                  </a:lnTo>
                </a:path>
              </a:pathLst>
            </a:custGeom>
            <a:noFill/>
            <a:ln cap="flat" cmpd="sng" w="25400">
              <a:solidFill>
                <a:srgbClr val="487AA8"/>
              </a:solidFill>
              <a:prstDash val="solid"/>
              <a:round/>
              <a:headEnd len="sm" w="sm" type="none"/>
              <a:tailEnd len="sm" w="sm" type="none"/>
            </a:ln>
          </p:spPr>
        </p:sp>
        <p:sp>
          <p:nvSpPr>
            <p:cNvPr id="494" name="Google Shape;494;g114005b7e15_0_404"/>
            <p:cNvSpPr/>
            <p:nvPr/>
          </p:nvSpPr>
          <p:spPr>
            <a:xfrm>
              <a:off x="2840510" y="16"/>
              <a:ext cx="20151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114005b7e15_0_404"/>
            <p:cNvSpPr txBox="1"/>
            <p:nvPr/>
          </p:nvSpPr>
          <p:spPr>
            <a:xfrm>
              <a:off x="2840510" y="16"/>
              <a:ext cx="2015100" cy="1007700"/>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3200">
                  <a:solidFill>
                    <a:srgbClr val="FF0000"/>
                  </a:solidFill>
                  <a:latin typeface="Times New Roman"/>
                  <a:ea typeface="Times New Roman"/>
                  <a:cs typeface="Times New Roman"/>
                  <a:sym typeface="Times New Roman"/>
                </a:rPr>
                <a:t>A,B</a:t>
              </a:r>
              <a:endParaRPr/>
            </a:p>
          </p:txBody>
        </p:sp>
        <p:sp>
          <p:nvSpPr>
            <p:cNvPr id="496" name="Google Shape;496;g114005b7e15_0_404"/>
            <p:cNvSpPr/>
            <p:nvPr/>
          </p:nvSpPr>
          <p:spPr>
            <a:xfrm>
              <a:off x="1491176" y="1430793"/>
              <a:ext cx="12597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114005b7e15_0_404"/>
            <p:cNvSpPr txBox="1"/>
            <p:nvPr/>
          </p:nvSpPr>
          <p:spPr>
            <a:xfrm>
              <a:off x="1491176" y="1430793"/>
              <a:ext cx="1259700" cy="100770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None/>
              </a:pPr>
              <a:r>
                <a:rPr lang="en-US" sz="4000">
                  <a:solidFill>
                    <a:srgbClr val="FF0000"/>
                  </a:solidFill>
                  <a:latin typeface="Times New Roman"/>
                  <a:ea typeface="Times New Roman"/>
                  <a:cs typeface="Times New Roman"/>
                  <a:sym typeface="Times New Roman"/>
                </a:rPr>
                <a:t>n!</a:t>
              </a:r>
              <a:endParaRPr/>
            </a:p>
          </p:txBody>
        </p:sp>
        <p:sp>
          <p:nvSpPr>
            <p:cNvPr id="498" name="Google Shape;498;g114005b7e15_0_404"/>
            <p:cNvSpPr/>
            <p:nvPr/>
          </p:nvSpPr>
          <p:spPr>
            <a:xfrm>
              <a:off x="3174072" y="1430793"/>
              <a:ext cx="13791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114005b7e15_0_404"/>
            <p:cNvSpPr txBox="1"/>
            <p:nvPr/>
          </p:nvSpPr>
          <p:spPr>
            <a:xfrm>
              <a:off x="3174072" y="1430793"/>
              <a:ext cx="1379100" cy="100770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None/>
              </a:pPr>
              <a:r>
                <a:rPr lang="en-US" sz="4000">
                  <a:solidFill>
                    <a:srgbClr val="FF0000"/>
                  </a:solidFill>
                  <a:latin typeface="Times New Roman"/>
                  <a:ea typeface="Times New Roman"/>
                  <a:cs typeface="Times New Roman"/>
                  <a:sym typeface="Times New Roman"/>
                </a:rPr>
                <a:t>n-1!</a:t>
              </a:r>
              <a:endParaRPr/>
            </a:p>
          </p:txBody>
        </p:sp>
        <p:sp>
          <p:nvSpPr>
            <p:cNvPr id="500" name="Google Shape;500;g114005b7e15_0_404"/>
            <p:cNvSpPr/>
            <p:nvPr/>
          </p:nvSpPr>
          <p:spPr>
            <a:xfrm>
              <a:off x="4976388" y="1430793"/>
              <a:ext cx="12285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114005b7e15_0_404"/>
            <p:cNvSpPr txBox="1"/>
            <p:nvPr/>
          </p:nvSpPr>
          <p:spPr>
            <a:xfrm>
              <a:off x="4976388" y="1430793"/>
              <a:ext cx="1228500" cy="100770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None/>
              </a:pPr>
              <a:r>
                <a:rPr lang="en-US" sz="4000">
                  <a:solidFill>
                    <a:srgbClr val="FF0000"/>
                  </a:solidFill>
                  <a:latin typeface="Times New Roman"/>
                  <a:ea typeface="Times New Roman"/>
                  <a:cs typeface="Times New Roman"/>
                  <a:sym typeface="Times New Roman"/>
                </a:rPr>
                <a:t>n-1!</a:t>
              </a:r>
              <a:endParaRPr/>
            </a:p>
          </p:txBody>
        </p:sp>
      </p:grpSp>
      <p:sp>
        <p:nvSpPr>
          <p:cNvPr id="502" name="Google Shape;502;g114005b7e15_0_404"/>
          <p:cNvSpPr txBox="1"/>
          <p:nvPr/>
        </p:nvSpPr>
        <p:spPr>
          <a:xfrm>
            <a:off x="4125604" y="5029200"/>
            <a:ext cx="6858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AB</a:t>
            </a:r>
            <a:endParaRPr/>
          </a:p>
        </p:txBody>
      </p:sp>
      <p:sp>
        <p:nvSpPr>
          <p:cNvPr id="503" name="Google Shape;503;g114005b7e15_0_404"/>
          <p:cNvSpPr txBox="1"/>
          <p:nvPr/>
        </p:nvSpPr>
        <p:spPr>
          <a:xfrm>
            <a:off x="5995766" y="5029200"/>
            <a:ext cx="505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BA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114005b7e15_0_426"/>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kiến tha mồi</a:t>
            </a:r>
            <a:endParaRPr/>
          </a:p>
        </p:txBody>
      </p:sp>
      <p:sp>
        <p:nvSpPr>
          <p:cNvPr id="510" name="Google Shape;510;g114005b7e15_0_426"/>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graphicFrame>
        <p:nvGraphicFramePr>
          <p:cNvPr id="511" name="Google Shape;511;g114005b7e15_0_426"/>
          <p:cNvGraphicFramePr/>
          <p:nvPr/>
        </p:nvGraphicFramePr>
        <p:xfrm>
          <a:off x="2057400" y="4495800"/>
          <a:ext cx="3000000" cy="3000000"/>
        </p:xfrm>
        <a:graphic>
          <a:graphicData uri="http://schemas.openxmlformats.org/drawingml/2006/table">
            <a:tbl>
              <a:tblPr bandRow="1" firstRow="1">
                <a:noFill/>
                <a:tableStyleId>{E3B4A211-EC04-4F1B-AD00-7C9035FD32D0}</a:tableStyleId>
              </a:tblPr>
              <a:tblGrid>
                <a:gridCol w="800100"/>
                <a:gridCol w="800100"/>
              </a:tblGrid>
              <a:tr h="685800">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r h="685800">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bl>
          </a:graphicData>
        </a:graphic>
      </p:graphicFrame>
      <p:pic>
        <p:nvPicPr>
          <p:cNvPr id="512" name="Google Shape;512;g114005b7e15_0_426"/>
          <p:cNvPicPr preferRelativeResize="0"/>
          <p:nvPr/>
        </p:nvPicPr>
        <p:blipFill rotWithShape="1">
          <a:blip r:embed="rId3">
            <a:alphaModFix/>
          </a:blip>
          <a:srcRect b="0" l="0" r="0" t="0"/>
          <a:stretch/>
        </p:blipFill>
        <p:spPr>
          <a:xfrm>
            <a:off x="2758625" y="2362075"/>
            <a:ext cx="3429000" cy="1905000"/>
          </a:xfrm>
          <a:prstGeom prst="rect">
            <a:avLst/>
          </a:prstGeom>
          <a:noFill/>
          <a:ln>
            <a:noFill/>
          </a:ln>
        </p:spPr>
      </p:pic>
      <p:sp>
        <p:nvSpPr>
          <p:cNvPr id="513" name="Google Shape;513;g114005b7e15_0_426"/>
          <p:cNvSpPr/>
          <p:nvPr/>
        </p:nvSpPr>
        <p:spPr>
          <a:xfrm>
            <a:off x="3581400" y="57912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14" name="Google Shape;514;g114005b7e15_0_426"/>
          <p:cNvSpPr/>
          <p:nvPr/>
        </p:nvSpPr>
        <p:spPr>
          <a:xfrm>
            <a:off x="1828800" y="43434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cxnSp>
        <p:nvCxnSpPr>
          <p:cNvPr id="515" name="Google Shape;515;g114005b7e15_0_426"/>
          <p:cNvCxnSpPr>
            <a:stCxn id="514" idx="7"/>
          </p:cNvCxnSpPr>
          <p:nvPr/>
        </p:nvCxnSpPr>
        <p:spPr>
          <a:xfrm flipH="1" rot="10800000">
            <a:off x="2088963" y="4343278"/>
            <a:ext cx="501900" cy="33600"/>
          </a:xfrm>
          <a:prstGeom prst="straightConnector1">
            <a:avLst/>
          </a:prstGeom>
          <a:noFill/>
          <a:ln cap="flat" cmpd="sng" w="9525">
            <a:solidFill>
              <a:srgbClr val="FF0000"/>
            </a:solidFill>
            <a:prstDash val="solid"/>
            <a:round/>
            <a:headEnd len="sm" w="sm" type="none"/>
            <a:tailEnd len="med" w="med" type="stealth"/>
          </a:ln>
        </p:spPr>
      </p:cxnSp>
      <p:cxnSp>
        <p:nvCxnSpPr>
          <p:cNvPr id="516" name="Google Shape;516;g114005b7e15_0_426"/>
          <p:cNvCxnSpPr>
            <a:stCxn id="514" idx="3"/>
          </p:cNvCxnSpPr>
          <p:nvPr/>
        </p:nvCxnSpPr>
        <p:spPr>
          <a:xfrm>
            <a:off x="1873437" y="4538522"/>
            <a:ext cx="31500" cy="414600"/>
          </a:xfrm>
          <a:prstGeom prst="straightConnector1">
            <a:avLst/>
          </a:prstGeom>
          <a:noFill/>
          <a:ln cap="flat" cmpd="sng" w="9525">
            <a:solidFill>
              <a:srgbClr val="FF0000"/>
            </a:solidFill>
            <a:prstDash val="solid"/>
            <a:round/>
            <a:headEnd len="sm" w="sm" type="none"/>
            <a:tailEnd len="med" w="med" type="stealth"/>
          </a:ln>
        </p:spPr>
      </p:cxnSp>
      <p:graphicFrame>
        <p:nvGraphicFramePr>
          <p:cNvPr id="517" name="Google Shape;517;g114005b7e15_0_426"/>
          <p:cNvGraphicFramePr/>
          <p:nvPr/>
        </p:nvGraphicFramePr>
        <p:xfrm>
          <a:off x="5181600" y="4495800"/>
          <a:ext cx="3000000" cy="3000000"/>
        </p:xfrm>
        <a:graphic>
          <a:graphicData uri="http://schemas.openxmlformats.org/drawingml/2006/table">
            <a:tbl>
              <a:tblPr bandRow="1" firstRow="1">
                <a:noFill/>
                <a:tableStyleId>{E3B4A211-EC04-4F1B-AD00-7C9035FD32D0}</a:tableStyleId>
              </a:tblPr>
              <a:tblGrid>
                <a:gridCol w="736600"/>
                <a:gridCol w="736600"/>
                <a:gridCol w="736600"/>
              </a:tblGrid>
              <a:tr h="76200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r h="76200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bl>
          </a:graphicData>
        </a:graphic>
      </p:graphicFrame>
      <p:sp>
        <p:nvSpPr>
          <p:cNvPr id="518" name="Google Shape;518;g114005b7e15_0_426"/>
          <p:cNvSpPr/>
          <p:nvPr/>
        </p:nvSpPr>
        <p:spPr>
          <a:xfrm>
            <a:off x="7239000" y="58674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19" name="Google Shape;519;g114005b7e15_0_426"/>
          <p:cNvSpPr/>
          <p:nvPr/>
        </p:nvSpPr>
        <p:spPr>
          <a:xfrm>
            <a:off x="4953000" y="43434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cxnSp>
        <p:nvCxnSpPr>
          <p:cNvPr id="520" name="Google Shape;520;g114005b7e15_0_426"/>
          <p:cNvCxnSpPr>
            <a:stCxn id="519" idx="7"/>
          </p:cNvCxnSpPr>
          <p:nvPr/>
        </p:nvCxnSpPr>
        <p:spPr>
          <a:xfrm flipH="1" rot="10800000">
            <a:off x="5213163" y="4343278"/>
            <a:ext cx="501900" cy="33600"/>
          </a:xfrm>
          <a:prstGeom prst="straightConnector1">
            <a:avLst/>
          </a:prstGeom>
          <a:noFill/>
          <a:ln cap="flat" cmpd="sng" w="9525">
            <a:solidFill>
              <a:srgbClr val="FF0000"/>
            </a:solidFill>
            <a:prstDash val="solid"/>
            <a:round/>
            <a:headEnd len="sm" w="sm" type="none"/>
            <a:tailEnd len="med" w="med" type="stealth"/>
          </a:ln>
        </p:spPr>
      </p:cxnSp>
      <p:cxnSp>
        <p:nvCxnSpPr>
          <p:cNvPr id="521" name="Google Shape;521;g114005b7e15_0_426"/>
          <p:cNvCxnSpPr>
            <a:stCxn id="519" idx="3"/>
          </p:cNvCxnSpPr>
          <p:nvPr/>
        </p:nvCxnSpPr>
        <p:spPr>
          <a:xfrm>
            <a:off x="4997637" y="4538522"/>
            <a:ext cx="31500" cy="414600"/>
          </a:xfrm>
          <a:prstGeom prst="straightConnector1">
            <a:avLst/>
          </a:prstGeom>
          <a:noFill/>
          <a:ln cap="flat" cmpd="sng" w="9525">
            <a:solidFill>
              <a:srgbClr val="FF0000"/>
            </a:solidFill>
            <a:prstDash val="solid"/>
            <a:round/>
            <a:headEnd len="sm" w="sm" type="none"/>
            <a:tailEnd len="med" w="med" type="stealth"/>
          </a:ln>
        </p:spPr>
      </p:cxnSp>
      <p:sp>
        <p:nvSpPr>
          <p:cNvPr id="522" name="Google Shape;522;g114005b7e15_0_426"/>
          <p:cNvSpPr txBox="1"/>
          <p:nvPr/>
        </p:nvSpPr>
        <p:spPr>
          <a:xfrm>
            <a:off x="2438400" y="6096000"/>
            <a:ext cx="83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(2 x 2)</a:t>
            </a:r>
            <a:endParaRPr/>
          </a:p>
        </p:txBody>
      </p:sp>
      <p:sp>
        <p:nvSpPr>
          <p:cNvPr id="523" name="Google Shape;523;g114005b7e15_0_426"/>
          <p:cNvSpPr txBox="1"/>
          <p:nvPr/>
        </p:nvSpPr>
        <p:spPr>
          <a:xfrm>
            <a:off x="5715000" y="6096000"/>
            <a:ext cx="83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(2 x 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114005b7e15_0_43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kiến tha mồi</a:t>
            </a:r>
            <a:endParaRPr/>
          </a:p>
        </p:txBody>
      </p:sp>
      <p:sp>
        <p:nvSpPr>
          <p:cNvPr id="530" name="Google Shape;530;g114005b7e15_0_43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graphicFrame>
        <p:nvGraphicFramePr>
          <p:cNvPr id="531" name="Google Shape;531;g114005b7e15_0_438"/>
          <p:cNvGraphicFramePr/>
          <p:nvPr/>
        </p:nvGraphicFramePr>
        <p:xfrm>
          <a:off x="485272" y="2622883"/>
          <a:ext cx="3000000" cy="3000000"/>
        </p:xfrm>
        <a:graphic>
          <a:graphicData uri="http://schemas.openxmlformats.org/drawingml/2006/table">
            <a:tbl>
              <a:tblPr bandRow="1" firstRow="1">
                <a:noFill/>
                <a:tableStyleId>{E3B4A211-EC04-4F1B-AD00-7C9035FD32D0}</a:tableStyleId>
              </a:tblPr>
              <a:tblGrid>
                <a:gridCol w="609600"/>
                <a:gridCol w="609600"/>
                <a:gridCol w="609600"/>
                <a:gridCol w="609600"/>
                <a:gridCol w="609600"/>
                <a:gridCol w="609600"/>
                <a:gridCol w="609600"/>
              </a:tblGrid>
              <a:tr h="4245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532" name="Google Shape;532;g114005b7e15_0_438"/>
          <p:cNvSpPr/>
          <p:nvPr/>
        </p:nvSpPr>
        <p:spPr>
          <a:xfrm>
            <a:off x="4600072" y="5442283"/>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33" name="Google Shape;533;g114005b7e15_0_438"/>
          <p:cNvSpPr/>
          <p:nvPr/>
        </p:nvSpPr>
        <p:spPr>
          <a:xfrm>
            <a:off x="332872" y="2470483"/>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cxnSp>
        <p:nvCxnSpPr>
          <p:cNvPr id="534" name="Google Shape;534;g114005b7e15_0_438"/>
          <p:cNvCxnSpPr>
            <a:stCxn id="533" idx="7"/>
          </p:cNvCxnSpPr>
          <p:nvPr/>
        </p:nvCxnSpPr>
        <p:spPr>
          <a:xfrm flipH="1" rot="10800000">
            <a:off x="593035" y="2470361"/>
            <a:ext cx="501900" cy="33600"/>
          </a:xfrm>
          <a:prstGeom prst="straightConnector1">
            <a:avLst/>
          </a:prstGeom>
          <a:noFill/>
          <a:ln cap="flat" cmpd="sng" w="9525">
            <a:solidFill>
              <a:srgbClr val="FF0000"/>
            </a:solidFill>
            <a:prstDash val="solid"/>
            <a:round/>
            <a:headEnd len="sm" w="sm" type="none"/>
            <a:tailEnd len="med" w="med" type="stealth"/>
          </a:ln>
        </p:spPr>
      </p:cxnSp>
      <p:cxnSp>
        <p:nvCxnSpPr>
          <p:cNvPr id="535" name="Google Shape;535;g114005b7e15_0_438"/>
          <p:cNvCxnSpPr>
            <a:stCxn id="533" idx="3"/>
          </p:cNvCxnSpPr>
          <p:nvPr/>
        </p:nvCxnSpPr>
        <p:spPr>
          <a:xfrm>
            <a:off x="377509" y="2665605"/>
            <a:ext cx="31500" cy="414600"/>
          </a:xfrm>
          <a:prstGeom prst="straightConnector1">
            <a:avLst/>
          </a:prstGeom>
          <a:noFill/>
          <a:ln cap="flat" cmpd="sng" w="9525">
            <a:solidFill>
              <a:srgbClr val="FF0000"/>
            </a:solidFill>
            <a:prstDash val="solid"/>
            <a:round/>
            <a:headEnd len="sm" w="sm" type="none"/>
            <a:tailEnd len="med" w="med" type="stealth"/>
          </a:ln>
        </p:spPr>
      </p:cxnSp>
      <p:sp>
        <p:nvSpPr>
          <p:cNvPr id="536" name="Google Shape;536;g114005b7e15_0_438"/>
          <p:cNvSpPr txBox="1"/>
          <p:nvPr/>
        </p:nvSpPr>
        <p:spPr>
          <a:xfrm>
            <a:off x="515989" y="5593289"/>
            <a:ext cx="2433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m</a:t>
            </a:r>
            <a:endParaRPr/>
          </a:p>
        </p:txBody>
      </p:sp>
      <p:sp>
        <p:nvSpPr>
          <p:cNvPr id="537" name="Google Shape;537;g114005b7e15_0_438"/>
          <p:cNvSpPr txBox="1"/>
          <p:nvPr/>
        </p:nvSpPr>
        <p:spPr>
          <a:xfrm>
            <a:off x="4427619" y="2215451"/>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114005b7e15_0_432"/>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“Nên hay không nên:)”</a:t>
            </a:r>
            <a:endParaRPr/>
          </a:p>
        </p:txBody>
      </p:sp>
      <p:sp>
        <p:nvSpPr>
          <p:cNvPr id="544" name="Google Shape;544;g114005b7e15_0_432"/>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pic>
        <p:nvPicPr>
          <p:cNvPr id="545" name="Google Shape;545;g114005b7e15_0_432"/>
          <p:cNvPicPr preferRelativeResize="0"/>
          <p:nvPr/>
        </p:nvPicPr>
        <p:blipFill rotWithShape="1">
          <a:blip r:embed="rId3">
            <a:alphaModFix/>
          </a:blip>
          <a:srcRect b="0" l="0" r="0" t="0"/>
          <a:stretch/>
        </p:blipFill>
        <p:spPr>
          <a:xfrm>
            <a:off x="919306" y="2568125"/>
            <a:ext cx="6781800" cy="3505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114005b7e15_0_711"/>
          <p:cNvSpPr txBox="1"/>
          <p:nvPr>
            <p:ph type="title"/>
          </p:nvPr>
        </p:nvSpPr>
        <p:spPr>
          <a:xfrm>
            <a:off x="425200" y="1001022"/>
            <a:ext cx="7850100" cy="647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552" name="Google Shape;552;g114005b7e15_0_711"/>
          <p:cNvSpPr txBox="1"/>
          <p:nvPr>
            <p:ph idx="1" type="body"/>
          </p:nvPr>
        </p:nvSpPr>
        <p:spPr>
          <a:xfrm>
            <a:off x="425200" y="2185426"/>
            <a:ext cx="7770000" cy="4394400"/>
          </a:xfrm>
          <a:prstGeom prst="rect">
            <a:avLst/>
          </a:prstGeom>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2060"/>
              </a:buClr>
              <a:buSzPts val="2400"/>
              <a:buChar char="•"/>
            </a:pPr>
            <a:r>
              <a:rPr lang="en-US" sz="2400">
                <a:solidFill>
                  <a:srgbClr val="002060"/>
                </a:solidFill>
              </a:rPr>
              <a:t>A</a:t>
            </a:r>
            <a:r>
              <a:rPr baseline="-25000" lang="en-US" sz="2400">
                <a:solidFill>
                  <a:srgbClr val="002060"/>
                </a:solidFill>
              </a:rPr>
              <a:t>1</a:t>
            </a:r>
            <a:r>
              <a:rPr lang="en-US" sz="2400">
                <a:solidFill>
                  <a:srgbClr val="002060"/>
                </a:solidFill>
              </a:rPr>
              <a:t>và A</a:t>
            </a:r>
            <a:r>
              <a:rPr baseline="-25000" lang="en-US" sz="2400">
                <a:solidFill>
                  <a:srgbClr val="002060"/>
                </a:solidFill>
              </a:rPr>
              <a:t>2 </a:t>
            </a:r>
            <a:r>
              <a:rPr lang="en-US" sz="2400">
                <a:solidFill>
                  <a:srgbClr val="002060"/>
                </a:solidFill>
              </a:rPr>
              <a:t> hai tập </a:t>
            </a:r>
            <a:r>
              <a:rPr lang="en-US" sz="2400">
                <a:solidFill>
                  <a:srgbClr val="002060"/>
                </a:solidFill>
              </a:rPr>
              <a:t>hữu</a:t>
            </a:r>
            <a:r>
              <a:rPr lang="en-US" sz="2400">
                <a:solidFill>
                  <a:srgbClr val="002060"/>
                </a:solidFill>
              </a:rPr>
              <a:t> hạn, A</a:t>
            </a:r>
            <a:r>
              <a:rPr baseline="-25000" lang="en-US" sz="2400">
                <a:solidFill>
                  <a:srgbClr val="002060"/>
                </a:solidFill>
              </a:rPr>
              <a:t>1</a:t>
            </a:r>
            <a:r>
              <a:rPr lang="en-US" sz="2400">
                <a:solidFill>
                  <a:srgbClr val="002060"/>
                </a:solidFill>
              </a:rPr>
              <a:t>∩ A</a:t>
            </a:r>
            <a:r>
              <a:rPr baseline="-25000" lang="en-US" sz="2400">
                <a:solidFill>
                  <a:srgbClr val="002060"/>
                </a:solidFill>
              </a:rPr>
              <a:t>2</a:t>
            </a:r>
            <a:r>
              <a:rPr lang="en-US" sz="2400">
                <a:solidFill>
                  <a:srgbClr val="002060"/>
                </a:solidFill>
              </a:rPr>
              <a:t> ≠ ☉</a:t>
            </a:r>
            <a:r>
              <a:rPr baseline="-25000" lang="en-US" sz="2400">
                <a:solidFill>
                  <a:srgbClr val="002060"/>
                </a:solidFill>
              </a:rPr>
              <a:t>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342900" lvl="0" marL="342900" rtl="0" algn="l">
              <a:lnSpc>
                <a:spcPct val="100000"/>
              </a:lnSpc>
              <a:spcBef>
                <a:spcPts val="480"/>
              </a:spcBef>
              <a:spcAft>
                <a:spcPts val="0"/>
              </a:spcAft>
              <a:buClr>
                <a:srgbClr val="002060"/>
              </a:buClr>
              <a:buSzPts val="2400"/>
              <a:buChar char="•"/>
            </a:pPr>
            <a:r>
              <a:rPr lang="en-US" sz="2400">
                <a:solidFill>
                  <a:srgbClr val="002060"/>
                </a:solidFill>
              </a:rPr>
              <a:t>Tổng quát: khi A</a:t>
            </a:r>
            <a:r>
              <a:rPr baseline="-25000" lang="en-US" sz="2400">
                <a:solidFill>
                  <a:srgbClr val="002060"/>
                </a:solidFill>
              </a:rPr>
              <a:t>i</a:t>
            </a:r>
            <a:r>
              <a:rPr lang="en-US" sz="2400">
                <a:solidFill>
                  <a:srgbClr val="002060"/>
                </a:solidFill>
              </a:rPr>
              <a:t>∩ A</a:t>
            </a:r>
            <a:r>
              <a:rPr baseline="-25000" lang="en-US" sz="2400">
                <a:solidFill>
                  <a:srgbClr val="002060"/>
                </a:solidFill>
              </a:rPr>
              <a:t>j</a:t>
            </a:r>
            <a:r>
              <a:rPr lang="en-US" sz="2400">
                <a:solidFill>
                  <a:srgbClr val="002060"/>
                </a:solidFill>
              </a:rPr>
              <a:t> ≠ ☉ mọi i, j      </a:t>
            </a:r>
            <a:endParaRPr sz="28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0" lvl="0" marL="1143000" rtl="0" algn="l">
              <a:lnSpc>
                <a:spcPct val="100000"/>
              </a:lnSpc>
              <a:spcBef>
                <a:spcPts val="320"/>
              </a:spcBef>
              <a:spcAft>
                <a:spcPts val="0"/>
              </a:spcAft>
              <a:buNone/>
            </a:pPr>
            <a:r>
              <a:rPr lang="en-US" sz="1600">
                <a:solidFill>
                  <a:srgbClr val="002060"/>
                </a:solidFill>
                <a:latin typeface="Times New Roman"/>
                <a:ea typeface="Times New Roman"/>
                <a:cs typeface="Times New Roman"/>
                <a:sym typeface="Times New Roman"/>
              </a:rPr>
              <a:t> </a:t>
            </a:r>
            <a:endParaRPr sz="1600">
              <a:solidFill>
                <a:srgbClr val="002060"/>
              </a:solidFill>
              <a:latin typeface="Times New Roman"/>
              <a:ea typeface="Times New Roman"/>
              <a:cs typeface="Times New Roman"/>
              <a:sym typeface="Times New Roman"/>
            </a:endParaRPr>
          </a:p>
          <a:p>
            <a:pPr indent="-228600" lvl="2" marL="1143000" rtl="0" algn="l">
              <a:lnSpc>
                <a:spcPct val="100000"/>
              </a:lnSpc>
              <a:spcBef>
                <a:spcPts val="320"/>
              </a:spcBef>
              <a:spcAft>
                <a:spcPts val="0"/>
              </a:spcAft>
              <a:buClr>
                <a:srgbClr val="002060"/>
              </a:buClr>
              <a:buSzPts val="1600"/>
              <a:buFont typeface="Arial"/>
              <a:buChar char="•"/>
            </a:pPr>
            <a:r>
              <a:rPr lang="en-US" sz="1600">
                <a:solidFill>
                  <a:srgbClr val="002060"/>
                </a:solidFill>
                <a:latin typeface="Times New Roman"/>
                <a:ea typeface="Times New Roman"/>
                <a:cs typeface="Times New Roman"/>
                <a:sym typeface="Times New Roman"/>
              </a:rPr>
              <a:t>N</a:t>
            </a:r>
            <a:r>
              <a:rPr baseline="-25000" lang="en-US" sz="1600">
                <a:solidFill>
                  <a:srgbClr val="002060"/>
                </a:solidFill>
                <a:latin typeface="Times New Roman"/>
                <a:ea typeface="Times New Roman"/>
                <a:cs typeface="Times New Roman"/>
                <a:sym typeface="Times New Roman"/>
              </a:rPr>
              <a:t>k</a:t>
            </a:r>
            <a:r>
              <a:rPr lang="en-US" sz="1600">
                <a:solidFill>
                  <a:srgbClr val="002060"/>
                </a:solidFill>
                <a:latin typeface="Times New Roman"/>
                <a:ea typeface="Times New Roman"/>
                <a:cs typeface="Times New Roman"/>
                <a:sym typeface="Times New Roman"/>
              </a:rPr>
              <a:t>  là tổng phần tử của tất cả các giao của k tập lấy từ n tập.</a:t>
            </a:r>
            <a:endParaRPr sz="1600">
              <a:solidFill>
                <a:srgbClr val="002060"/>
              </a:solidFill>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553" name="Google Shape;553;g114005b7e15_0_711"/>
          <p:cNvSpPr/>
          <p:nvPr/>
        </p:nvSpPr>
        <p:spPr>
          <a:xfrm>
            <a:off x="1524000" y="2725695"/>
            <a:ext cx="6705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002060"/>
                </a:solidFill>
                <a:latin typeface="Times New Roman"/>
                <a:ea typeface="Times New Roman"/>
                <a:cs typeface="Times New Roman"/>
                <a:sym typeface="Times New Roman"/>
              </a:rPr>
              <a:t>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A</a:t>
            </a:r>
            <a:r>
              <a:rPr baseline="-25000" lang="en-US" sz="2800">
                <a:solidFill>
                  <a:srgbClr val="002060"/>
                </a:solidFill>
                <a:latin typeface="Times New Roman"/>
                <a:ea typeface="Times New Roman"/>
                <a:cs typeface="Times New Roman"/>
                <a:sym typeface="Times New Roman"/>
              </a:rPr>
              <a:t>2 </a:t>
            </a:r>
            <a:r>
              <a:rPr lang="en-US" sz="2800">
                <a:solidFill>
                  <a:srgbClr val="002060"/>
                </a:solidFill>
                <a:latin typeface="Times New Roman"/>
                <a:ea typeface="Times New Roman"/>
                <a:cs typeface="Times New Roman"/>
                <a:sym typeface="Times New Roman"/>
              </a:rPr>
              <a:t>) = 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 N(A</a:t>
            </a:r>
            <a:r>
              <a:rPr baseline="-25000" lang="en-US" sz="2800">
                <a:solidFill>
                  <a:srgbClr val="002060"/>
                </a:solidFill>
                <a:latin typeface="Times New Roman"/>
                <a:ea typeface="Times New Roman"/>
                <a:cs typeface="Times New Roman"/>
                <a:sym typeface="Times New Roman"/>
              </a:rPr>
              <a:t>2</a:t>
            </a:r>
            <a:r>
              <a:rPr lang="en-US" sz="2800">
                <a:solidFill>
                  <a:srgbClr val="002060"/>
                </a:solidFill>
                <a:latin typeface="Times New Roman"/>
                <a:ea typeface="Times New Roman"/>
                <a:cs typeface="Times New Roman"/>
                <a:sym typeface="Times New Roman"/>
              </a:rPr>
              <a:t>) – 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A</a:t>
            </a:r>
            <a:r>
              <a:rPr baseline="-25000" lang="en-US" sz="2800">
                <a:solidFill>
                  <a:srgbClr val="002060"/>
                </a:solidFill>
                <a:latin typeface="Times New Roman"/>
                <a:ea typeface="Times New Roman"/>
                <a:cs typeface="Times New Roman"/>
                <a:sym typeface="Times New Roman"/>
              </a:rPr>
              <a:t>2</a:t>
            </a:r>
            <a:r>
              <a:rPr lang="en-US" sz="2800">
                <a:solidFill>
                  <a:srgbClr val="002060"/>
                </a:solidFill>
                <a:latin typeface="Times New Roman"/>
                <a:ea typeface="Times New Roman"/>
                <a:cs typeface="Times New Roman"/>
                <a:sym typeface="Times New Roman"/>
              </a:rPr>
              <a:t>)</a:t>
            </a:r>
            <a:endParaRPr/>
          </a:p>
        </p:txBody>
      </p:sp>
      <p:grpSp>
        <p:nvGrpSpPr>
          <p:cNvPr id="554" name="Google Shape;554;g114005b7e15_0_711"/>
          <p:cNvGrpSpPr/>
          <p:nvPr/>
        </p:nvGrpSpPr>
        <p:grpSpPr>
          <a:xfrm>
            <a:off x="1090717" y="3782314"/>
            <a:ext cx="2542843" cy="391200"/>
            <a:chOff x="404917" y="533400"/>
            <a:chExt cx="2542843" cy="391200"/>
          </a:xfrm>
        </p:grpSpPr>
        <p:sp>
          <p:nvSpPr>
            <p:cNvPr id="555" name="Google Shape;555;g114005b7e15_0_711"/>
            <p:cNvSpPr/>
            <p:nvPr/>
          </p:nvSpPr>
          <p:spPr>
            <a:xfrm>
              <a:off x="404917" y="558594"/>
              <a:ext cx="1449900" cy="3408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114005b7e15_0_711"/>
            <p:cNvSpPr txBox="1"/>
            <p:nvPr/>
          </p:nvSpPr>
          <p:spPr>
            <a:xfrm>
              <a:off x="607401" y="598781"/>
              <a:ext cx="836100" cy="2604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t>
              </a:r>
              <a:endParaRPr/>
            </a:p>
          </p:txBody>
        </p:sp>
        <p:sp>
          <p:nvSpPr>
            <p:cNvPr id="557" name="Google Shape;557;g114005b7e15_0_711"/>
            <p:cNvSpPr/>
            <p:nvPr/>
          </p:nvSpPr>
          <p:spPr>
            <a:xfrm>
              <a:off x="1402160" y="533400"/>
              <a:ext cx="1545600" cy="391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g114005b7e15_0_711"/>
            <p:cNvSpPr txBox="1"/>
            <p:nvPr/>
          </p:nvSpPr>
          <p:spPr>
            <a:xfrm>
              <a:off x="1840811" y="579528"/>
              <a:ext cx="891300" cy="29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a:t>
              </a:r>
              <a:endParaRPr/>
            </a:p>
          </p:txBody>
        </p:sp>
      </p:grpSp>
      <p:sp>
        <p:nvSpPr>
          <p:cNvPr id="559" name="Google Shape;559;g114005b7e15_0_711"/>
          <p:cNvSpPr txBox="1"/>
          <p:nvPr/>
        </p:nvSpPr>
        <p:spPr>
          <a:xfrm>
            <a:off x="1371600" y="4325895"/>
            <a:ext cx="24384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N</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N(A</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 + N(A</a:t>
            </a:r>
            <a:r>
              <a:rPr baseline="-25000" lang="en-US" sz="1800">
                <a:solidFill>
                  <a:srgbClr val="002060"/>
                </a:solidFill>
                <a:latin typeface="Times New Roman"/>
                <a:ea typeface="Times New Roman"/>
                <a:cs typeface="Times New Roman"/>
                <a:sym typeface="Times New Roman"/>
              </a:rPr>
              <a:t>2</a:t>
            </a:r>
            <a:r>
              <a:rPr lang="en-US" sz="1800">
                <a:solidFill>
                  <a:srgbClr val="002060"/>
                </a:solidFill>
                <a:latin typeface="Times New Roman"/>
                <a:ea typeface="Times New Roman"/>
                <a:cs typeface="Times New Roman"/>
                <a:sym typeface="Times New Roman"/>
              </a:rPr>
              <a:t>)</a:t>
            </a:r>
            <a:endParaRPr/>
          </a:p>
        </p:txBody>
      </p:sp>
      <p:grpSp>
        <p:nvGrpSpPr>
          <p:cNvPr id="560" name="Google Shape;560;g114005b7e15_0_711"/>
          <p:cNvGrpSpPr/>
          <p:nvPr/>
        </p:nvGrpSpPr>
        <p:grpSpPr>
          <a:xfrm>
            <a:off x="5091853" y="3716298"/>
            <a:ext cx="2488785" cy="475226"/>
            <a:chOff x="404917" y="424168"/>
            <a:chExt cx="2488785" cy="475226"/>
          </a:xfrm>
        </p:grpSpPr>
        <p:sp>
          <p:nvSpPr>
            <p:cNvPr id="561" name="Google Shape;561;g114005b7e15_0_711"/>
            <p:cNvSpPr/>
            <p:nvPr/>
          </p:nvSpPr>
          <p:spPr>
            <a:xfrm>
              <a:off x="404917" y="558594"/>
              <a:ext cx="1449900" cy="3408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114005b7e15_0_711"/>
            <p:cNvSpPr txBox="1"/>
            <p:nvPr/>
          </p:nvSpPr>
          <p:spPr>
            <a:xfrm>
              <a:off x="607401" y="598781"/>
              <a:ext cx="836100" cy="2604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t>
              </a:r>
              <a:endParaRPr/>
            </a:p>
          </p:txBody>
        </p:sp>
        <p:sp>
          <p:nvSpPr>
            <p:cNvPr id="563" name="Google Shape;563;g114005b7e15_0_711"/>
            <p:cNvSpPr/>
            <p:nvPr/>
          </p:nvSpPr>
          <p:spPr>
            <a:xfrm>
              <a:off x="1348102" y="424168"/>
              <a:ext cx="1545600" cy="391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114005b7e15_0_711"/>
            <p:cNvSpPr txBox="1"/>
            <p:nvPr/>
          </p:nvSpPr>
          <p:spPr>
            <a:xfrm>
              <a:off x="1786753" y="470296"/>
              <a:ext cx="891300" cy="29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a:t>
              </a:r>
              <a:endParaRPr/>
            </a:p>
          </p:txBody>
        </p:sp>
      </p:grpSp>
      <p:sp>
        <p:nvSpPr>
          <p:cNvPr id="565" name="Google Shape;565;g114005b7e15_0_711"/>
          <p:cNvSpPr txBox="1"/>
          <p:nvPr/>
        </p:nvSpPr>
        <p:spPr>
          <a:xfrm>
            <a:off x="4876800" y="4351755"/>
            <a:ext cx="32004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N(A</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 + N(A</a:t>
            </a:r>
            <a:r>
              <a:rPr baseline="-25000" lang="en-US" sz="1800">
                <a:solidFill>
                  <a:srgbClr val="002060"/>
                </a:solidFill>
                <a:latin typeface="Times New Roman"/>
                <a:ea typeface="Times New Roman"/>
                <a:cs typeface="Times New Roman"/>
                <a:sym typeface="Times New Roman"/>
              </a:rPr>
              <a:t>2</a:t>
            </a:r>
            <a:r>
              <a:rPr lang="en-US" sz="1800">
                <a:solidFill>
                  <a:srgbClr val="002060"/>
                </a:solidFill>
                <a:latin typeface="Times New Roman"/>
                <a:ea typeface="Times New Roman"/>
                <a:cs typeface="Times New Roman"/>
                <a:sym typeface="Times New Roman"/>
              </a:rPr>
              <a:t>) – N(A</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A</a:t>
            </a:r>
            <a:r>
              <a:rPr baseline="-25000" lang="en-US" sz="1800">
                <a:solidFill>
                  <a:srgbClr val="002060"/>
                </a:solidFill>
                <a:latin typeface="Times New Roman"/>
                <a:ea typeface="Times New Roman"/>
                <a:cs typeface="Times New Roman"/>
                <a:sym typeface="Times New Roman"/>
              </a:rPr>
              <a:t>2</a:t>
            </a:r>
            <a:r>
              <a:rPr lang="en-US" sz="1800">
                <a:solidFill>
                  <a:srgbClr val="002060"/>
                </a:solidFill>
                <a:latin typeface="Times New Roman"/>
                <a:ea typeface="Times New Roman"/>
                <a:cs typeface="Times New Roman"/>
                <a:sym typeface="Times New Roman"/>
              </a:rPr>
              <a:t>)</a:t>
            </a:r>
            <a:endParaRPr/>
          </a:p>
        </p:txBody>
      </p:sp>
      <p:sp>
        <p:nvSpPr>
          <p:cNvPr id="566" name="Google Shape;566;g114005b7e15_0_711"/>
          <p:cNvSpPr/>
          <p:nvPr/>
        </p:nvSpPr>
        <p:spPr>
          <a:xfrm>
            <a:off x="1523988" y="5302075"/>
            <a:ext cx="6324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002060"/>
                </a:solidFill>
                <a:latin typeface="Times New Roman"/>
                <a:ea typeface="Times New Roman"/>
                <a:cs typeface="Times New Roman"/>
                <a:sym typeface="Times New Roman"/>
              </a:rPr>
              <a:t>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n</a:t>
            </a:r>
            <a:r>
              <a:rPr lang="en-US" sz="2800">
                <a:solidFill>
                  <a:srgbClr val="002060"/>
                </a:solidFill>
                <a:latin typeface="Times New Roman"/>
                <a:ea typeface="Times New Roman"/>
                <a:cs typeface="Times New Roman"/>
                <a:sym typeface="Times New Roman"/>
              </a:rPr>
              <a:t>) = N</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 N</a:t>
            </a:r>
            <a:r>
              <a:rPr baseline="-25000" lang="en-US" sz="2800">
                <a:solidFill>
                  <a:srgbClr val="002060"/>
                </a:solidFill>
                <a:latin typeface="Times New Roman"/>
                <a:ea typeface="Times New Roman"/>
                <a:cs typeface="Times New Roman"/>
                <a:sym typeface="Times New Roman"/>
              </a:rPr>
              <a:t>2</a:t>
            </a:r>
            <a:r>
              <a:rPr lang="en-US" sz="2800">
                <a:solidFill>
                  <a:srgbClr val="002060"/>
                </a:solidFill>
                <a:latin typeface="Times New Roman"/>
                <a:ea typeface="Times New Roman"/>
                <a:cs typeface="Times New Roman"/>
                <a:sym typeface="Times New Roman"/>
              </a:rPr>
              <a:t> + … +(-1)</a:t>
            </a:r>
            <a:r>
              <a:rPr baseline="30000" lang="en-US" sz="2800">
                <a:solidFill>
                  <a:srgbClr val="002060"/>
                </a:solidFill>
                <a:latin typeface="Times New Roman"/>
                <a:ea typeface="Times New Roman"/>
                <a:cs typeface="Times New Roman"/>
                <a:sym typeface="Times New Roman"/>
              </a:rPr>
              <a:t>n-1 </a:t>
            </a:r>
            <a:r>
              <a:rPr lang="en-US" sz="2800">
                <a:solidFill>
                  <a:srgbClr val="002060"/>
                </a:solidFill>
                <a:latin typeface="Times New Roman"/>
                <a:ea typeface="Times New Roman"/>
                <a:cs typeface="Times New Roman"/>
                <a:sym typeface="Times New Roman"/>
              </a:rPr>
              <a:t>N</a:t>
            </a:r>
            <a:r>
              <a:rPr baseline="-25000" lang="en-US" sz="2800">
                <a:solidFill>
                  <a:srgbClr val="002060"/>
                </a:solidFill>
                <a:latin typeface="Times New Roman"/>
                <a:ea typeface="Times New Roman"/>
                <a:cs typeface="Times New Roman"/>
                <a:sym typeface="Times New Roman"/>
              </a:rPr>
              <a:t>n</a:t>
            </a:r>
            <a:endParaRPr sz="2800">
              <a:solidFill>
                <a:srgbClr val="002060"/>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114005b7e15_0_971"/>
          <p:cNvSpPr txBox="1"/>
          <p:nvPr>
            <p:ph type="title"/>
          </p:nvPr>
        </p:nvSpPr>
        <p:spPr>
          <a:xfrm>
            <a:off x="425200" y="1001023"/>
            <a:ext cx="7850100" cy="71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573" name="Google Shape;573;g114005b7e15_0_97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grpSp>
        <p:nvGrpSpPr>
          <p:cNvPr id="574" name="Google Shape;574;g114005b7e15_0_971"/>
          <p:cNvGrpSpPr/>
          <p:nvPr/>
        </p:nvGrpSpPr>
        <p:grpSpPr>
          <a:xfrm>
            <a:off x="473676" y="1970604"/>
            <a:ext cx="2667119" cy="2517375"/>
            <a:chOff x="0" y="303472"/>
            <a:chExt cx="2667119" cy="2517375"/>
          </a:xfrm>
        </p:grpSpPr>
        <p:sp>
          <p:nvSpPr>
            <p:cNvPr id="575" name="Google Shape;575;g114005b7e15_0_971"/>
            <p:cNvSpPr/>
            <p:nvPr/>
          </p:nvSpPr>
          <p:spPr>
            <a:xfrm>
              <a:off x="558959" y="303472"/>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g114005b7e15_0_971"/>
            <p:cNvSpPr txBox="1"/>
            <p:nvPr/>
          </p:nvSpPr>
          <p:spPr>
            <a:xfrm>
              <a:off x="765503" y="574561"/>
              <a:ext cx="1136100" cy="69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1</a:t>
              </a:r>
              <a:endParaRPr sz="2800">
                <a:solidFill>
                  <a:srgbClr val="002060"/>
                </a:solidFill>
                <a:latin typeface="Times New Roman"/>
                <a:ea typeface="Times New Roman"/>
                <a:cs typeface="Times New Roman"/>
                <a:sym typeface="Times New Roman"/>
              </a:endParaRPr>
            </a:p>
          </p:txBody>
        </p:sp>
        <p:sp>
          <p:nvSpPr>
            <p:cNvPr id="577" name="Google Shape;577;g114005b7e15_0_971"/>
            <p:cNvSpPr/>
            <p:nvPr/>
          </p:nvSpPr>
          <p:spPr>
            <a:xfrm>
              <a:off x="1117919"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g114005b7e15_0_971"/>
            <p:cNvSpPr txBox="1"/>
            <p:nvPr/>
          </p:nvSpPr>
          <p:spPr>
            <a:xfrm>
              <a:off x="1591680"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3</a:t>
              </a:r>
              <a:endParaRPr sz="3200">
                <a:solidFill>
                  <a:srgbClr val="002060"/>
                </a:solidFill>
                <a:latin typeface="Times New Roman"/>
                <a:ea typeface="Times New Roman"/>
                <a:cs typeface="Times New Roman"/>
                <a:sym typeface="Times New Roman"/>
              </a:endParaRPr>
            </a:p>
          </p:txBody>
        </p:sp>
        <p:sp>
          <p:nvSpPr>
            <p:cNvPr id="579" name="Google Shape;579;g114005b7e15_0_971"/>
            <p:cNvSpPr/>
            <p:nvPr/>
          </p:nvSpPr>
          <p:spPr>
            <a:xfrm>
              <a:off x="0"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g114005b7e15_0_971"/>
            <p:cNvSpPr txBox="1"/>
            <p:nvPr/>
          </p:nvSpPr>
          <p:spPr>
            <a:xfrm>
              <a:off x="145871"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2</a:t>
              </a:r>
              <a:endParaRPr sz="3200">
                <a:solidFill>
                  <a:srgbClr val="002060"/>
                </a:solidFill>
                <a:latin typeface="Times New Roman"/>
                <a:ea typeface="Times New Roman"/>
                <a:cs typeface="Times New Roman"/>
                <a:sym typeface="Times New Roman"/>
              </a:endParaRPr>
            </a:p>
          </p:txBody>
        </p:sp>
      </p:grpSp>
      <p:sp>
        <p:nvSpPr>
          <p:cNvPr id="581" name="Google Shape;581;g114005b7e15_0_971"/>
          <p:cNvSpPr txBox="1"/>
          <p:nvPr/>
        </p:nvSpPr>
        <p:spPr>
          <a:xfrm>
            <a:off x="1692876" y="3191132"/>
            <a:ext cx="389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3</a:t>
            </a:r>
            <a:endParaRPr/>
          </a:p>
        </p:txBody>
      </p:sp>
      <p:sp>
        <p:nvSpPr>
          <p:cNvPr id="582" name="Google Shape;582;g114005b7e15_0_971"/>
          <p:cNvSpPr txBox="1"/>
          <p:nvPr/>
        </p:nvSpPr>
        <p:spPr>
          <a:xfrm>
            <a:off x="1235676" y="29625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a:t>
            </a:r>
            <a:endParaRPr/>
          </a:p>
        </p:txBody>
      </p:sp>
      <p:sp>
        <p:nvSpPr>
          <p:cNvPr id="583" name="Google Shape;583;g114005b7e15_0_971"/>
          <p:cNvSpPr txBox="1"/>
          <p:nvPr/>
        </p:nvSpPr>
        <p:spPr>
          <a:xfrm>
            <a:off x="1997676" y="30387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a:t>
            </a:r>
            <a:endParaRPr/>
          </a:p>
        </p:txBody>
      </p:sp>
      <p:sp>
        <p:nvSpPr>
          <p:cNvPr id="584" name="Google Shape;584;g114005b7e15_0_971"/>
          <p:cNvSpPr txBox="1"/>
          <p:nvPr/>
        </p:nvSpPr>
        <p:spPr>
          <a:xfrm>
            <a:off x="2226276" y="25053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85" name="Google Shape;585;g114005b7e15_0_971"/>
          <p:cNvSpPr txBox="1"/>
          <p:nvPr/>
        </p:nvSpPr>
        <p:spPr>
          <a:xfrm>
            <a:off x="1388076" y="41055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86" name="Google Shape;586;g114005b7e15_0_971"/>
          <p:cNvSpPr txBox="1"/>
          <p:nvPr/>
        </p:nvSpPr>
        <p:spPr>
          <a:xfrm>
            <a:off x="2226276" y="40293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87" name="Google Shape;587;g114005b7e15_0_971"/>
          <p:cNvSpPr txBox="1"/>
          <p:nvPr/>
        </p:nvSpPr>
        <p:spPr>
          <a:xfrm>
            <a:off x="1540476" y="4486532"/>
            <a:ext cx="457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N</a:t>
            </a:r>
            <a:r>
              <a:rPr b="1" baseline="-25000" lang="en-US" sz="1800">
                <a:solidFill>
                  <a:srgbClr val="002060"/>
                </a:solidFill>
                <a:latin typeface="Times New Roman"/>
                <a:ea typeface="Times New Roman"/>
                <a:cs typeface="Times New Roman"/>
                <a:sym typeface="Times New Roman"/>
              </a:rPr>
              <a:t>1</a:t>
            </a:r>
            <a:endParaRPr b="1" sz="1800">
              <a:solidFill>
                <a:srgbClr val="002060"/>
              </a:solidFill>
              <a:latin typeface="Times New Roman"/>
              <a:ea typeface="Times New Roman"/>
              <a:cs typeface="Times New Roman"/>
              <a:sym typeface="Times New Roman"/>
            </a:endParaRPr>
          </a:p>
        </p:txBody>
      </p:sp>
      <p:sp>
        <p:nvSpPr>
          <p:cNvPr id="588" name="Google Shape;588;g114005b7e15_0_971"/>
          <p:cNvSpPr txBox="1"/>
          <p:nvPr/>
        </p:nvSpPr>
        <p:spPr>
          <a:xfrm>
            <a:off x="1692876" y="35721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a:t>
            </a:r>
            <a:endParaRPr/>
          </a:p>
        </p:txBody>
      </p:sp>
      <p:grpSp>
        <p:nvGrpSpPr>
          <p:cNvPr id="589" name="Google Shape;589;g114005b7e15_0_971"/>
          <p:cNvGrpSpPr/>
          <p:nvPr/>
        </p:nvGrpSpPr>
        <p:grpSpPr>
          <a:xfrm>
            <a:off x="5131143" y="1957218"/>
            <a:ext cx="2667119" cy="2517375"/>
            <a:chOff x="0" y="303472"/>
            <a:chExt cx="2667119" cy="2517375"/>
          </a:xfrm>
        </p:grpSpPr>
        <p:sp>
          <p:nvSpPr>
            <p:cNvPr id="590" name="Google Shape;590;g114005b7e15_0_971"/>
            <p:cNvSpPr/>
            <p:nvPr/>
          </p:nvSpPr>
          <p:spPr>
            <a:xfrm>
              <a:off x="558959" y="303472"/>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114005b7e15_0_971"/>
            <p:cNvSpPr txBox="1"/>
            <p:nvPr/>
          </p:nvSpPr>
          <p:spPr>
            <a:xfrm>
              <a:off x="765503" y="574561"/>
              <a:ext cx="1136100" cy="69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1</a:t>
              </a:r>
              <a:endParaRPr sz="2800">
                <a:solidFill>
                  <a:srgbClr val="002060"/>
                </a:solidFill>
                <a:latin typeface="Times New Roman"/>
                <a:ea typeface="Times New Roman"/>
                <a:cs typeface="Times New Roman"/>
                <a:sym typeface="Times New Roman"/>
              </a:endParaRPr>
            </a:p>
          </p:txBody>
        </p:sp>
        <p:sp>
          <p:nvSpPr>
            <p:cNvPr id="592" name="Google Shape;592;g114005b7e15_0_971"/>
            <p:cNvSpPr/>
            <p:nvPr/>
          </p:nvSpPr>
          <p:spPr>
            <a:xfrm>
              <a:off x="1117919"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114005b7e15_0_971"/>
            <p:cNvSpPr txBox="1"/>
            <p:nvPr/>
          </p:nvSpPr>
          <p:spPr>
            <a:xfrm>
              <a:off x="1591680"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3</a:t>
              </a:r>
              <a:endParaRPr sz="3200">
                <a:solidFill>
                  <a:srgbClr val="002060"/>
                </a:solidFill>
                <a:latin typeface="Times New Roman"/>
                <a:ea typeface="Times New Roman"/>
                <a:cs typeface="Times New Roman"/>
                <a:sym typeface="Times New Roman"/>
              </a:endParaRPr>
            </a:p>
          </p:txBody>
        </p:sp>
        <p:sp>
          <p:nvSpPr>
            <p:cNvPr id="594" name="Google Shape;594;g114005b7e15_0_971"/>
            <p:cNvSpPr/>
            <p:nvPr/>
          </p:nvSpPr>
          <p:spPr>
            <a:xfrm>
              <a:off x="0"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g114005b7e15_0_971"/>
            <p:cNvSpPr txBox="1"/>
            <p:nvPr/>
          </p:nvSpPr>
          <p:spPr>
            <a:xfrm>
              <a:off x="145871"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2</a:t>
              </a:r>
              <a:endParaRPr sz="3200">
                <a:solidFill>
                  <a:srgbClr val="002060"/>
                </a:solidFill>
                <a:latin typeface="Times New Roman"/>
                <a:ea typeface="Times New Roman"/>
                <a:cs typeface="Times New Roman"/>
                <a:sym typeface="Times New Roman"/>
              </a:endParaRPr>
            </a:p>
          </p:txBody>
        </p:sp>
      </p:grpSp>
      <p:sp>
        <p:nvSpPr>
          <p:cNvPr id="596" name="Google Shape;596;g114005b7e15_0_971"/>
          <p:cNvSpPr txBox="1"/>
          <p:nvPr/>
        </p:nvSpPr>
        <p:spPr>
          <a:xfrm>
            <a:off x="6274143" y="3177746"/>
            <a:ext cx="389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0</a:t>
            </a:r>
            <a:endParaRPr/>
          </a:p>
        </p:txBody>
      </p:sp>
      <p:sp>
        <p:nvSpPr>
          <p:cNvPr id="597" name="Google Shape;597;g114005b7e15_0_971"/>
          <p:cNvSpPr txBox="1"/>
          <p:nvPr/>
        </p:nvSpPr>
        <p:spPr>
          <a:xfrm>
            <a:off x="5969343" y="30253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98" name="Google Shape;598;g114005b7e15_0_971"/>
          <p:cNvSpPr txBox="1"/>
          <p:nvPr/>
        </p:nvSpPr>
        <p:spPr>
          <a:xfrm>
            <a:off x="6655143" y="30253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99" name="Google Shape;599;g114005b7e15_0_971"/>
          <p:cNvSpPr txBox="1"/>
          <p:nvPr/>
        </p:nvSpPr>
        <p:spPr>
          <a:xfrm>
            <a:off x="6655143" y="22633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0" name="Google Shape;600;g114005b7e15_0_971"/>
          <p:cNvSpPr txBox="1"/>
          <p:nvPr/>
        </p:nvSpPr>
        <p:spPr>
          <a:xfrm>
            <a:off x="5740743" y="40921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1" name="Google Shape;601;g114005b7e15_0_971"/>
          <p:cNvSpPr txBox="1"/>
          <p:nvPr/>
        </p:nvSpPr>
        <p:spPr>
          <a:xfrm>
            <a:off x="6959943" y="40921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2" name="Google Shape;602;g114005b7e15_0_971"/>
          <p:cNvSpPr txBox="1"/>
          <p:nvPr/>
        </p:nvSpPr>
        <p:spPr>
          <a:xfrm>
            <a:off x="6274143" y="35587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grpSp>
        <p:nvGrpSpPr>
          <p:cNvPr id="603" name="Google Shape;603;g114005b7e15_0_971"/>
          <p:cNvGrpSpPr/>
          <p:nvPr/>
        </p:nvGrpSpPr>
        <p:grpSpPr>
          <a:xfrm>
            <a:off x="3000632" y="3751007"/>
            <a:ext cx="2667119" cy="2517375"/>
            <a:chOff x="3124200" y="3503872"/>
            <a:chExt cx="2667119" cy="2517375"/>
          </a:xfrm>
        </p:grpSpPr>
        <p:grpSp>
          <p:nvGrpSpPr>
            <p:cNvPr id="604" name="Google Shape;604;g114005b7e15_0_971"/>
            <p:cNvGrpSpPr/>
            <p:nvPr/>
          </p:nvGrpSpPr>
          <p:grpSpPr>
            <a:xfrm>
              <a:off x="3124200" y="3503872"/>
              <a:ext cx="2667119" cy="2517375"/>
              <a:chOff x="0" y="151072"/>
              <a:chExt cx="2667119" cy="2517375"/>
            </a:xfrm>
          </p:grpSpPr>
          <p:sp>
            <p:nvSpPr>
              <p:cNvPr id="605" name="Google Shape;605;g114005b7e15_0_971"/>
              <p:cNvSpPr/>
              <p:nvPr/>
            </p:nvSpPr>
            <p:spPr>
              <a:xfrm>
                <a:off x="558959" y="151072"/>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g114005b7e15_0_971"/>
              <p:cNvSpPr txBox="1"/>
              <p:nvPr/>
            </p:nvSpPr>
            <p:spPr>
              <a:xfrm>
                <a:off x="765503" y="422161"/>
                <a:ext cx="1136100" cy="69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1</a:t>
                </a:r>
                <a:endParaRPr sz="2800">
                  <a:solidFill>
                    <a:srgbClr val="002060"/>
                  </a:solidFill>
                  <a:latin typeface="Times New Roman"/>
                  <a:ea typeface="Times New Roman"/>
                  <a:cs typeface="Times New Roman"/>
                  <a:sym typeface="Times New Roman"/>
                </a:endParaRPr>
              </a:p>
            </p:txBody>
          </p:sp>
          <p:sp>
            <p:nvSpPr>
              <p:cNvPr id="607" name="Google Shape;607;g114005b7e15_0_971"/>
              <p:cNvSpPr/>
              <p:nvPr/>
            </p:nvSpPr>
            <p:spPr>
              <a:xfrm>
                <a:off x="1117919" y="11192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g114005b7e15_0_971"/>
              <p:cNvSpPr txBox="1"/>
              <p:nvPr/>
            </p:nvSpPr>
            <p:spPr>
              <a:xfrm>
                <a:off x="1591680" y="15194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3</a:t>
                </a:r>
                <a:endParaRPr sz="3200">
                  <a:solidFill>
                    <a:srgbClr val="002060"/>
                  </a:solidFill>
                  <a:latin typeface="Times New Roman"/>
                  <a:ea typeface="Times New Roman"/>
                  <a:cs typeface="Times New Roman"/>
                  <a:sym typeface="Times New Roman"/>
                </a:endParaRPr>
              </a:p>
            </p:txBody>
          </p:sp>
          <p:sp>
            <p:nvSpPr>
              <p:cNvPr id="609" name="Google Shape;609;g114005b7e15_0_971"/>
              <p:cNvSpPr/>
              <p:nvPr/>
            </p:nvSpPr>
            <p:spPr>
              <a:xfrm>
                <a:off x="0" y="11192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114005b7e15_0_971"/>
              <p:cNvSpPr txBox="1"/>
              <p:nvPr/>
            </p:nvSpPr>
            <p:spPr>
              <a:xfrm>
                <a:off x="145871" y="15194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2</a:t>
                </a:r>
                <a:endParaRPr sz="3200">
                  <a:solidFill>
                    <a:srgbClr val="002060"/>
                  </a:solidFill>
                  <a:latin typeface="Times New Roman"/>
                  <a:ea typeface="Times New Roman"/>
                  <a:cs typeface="Times New Roman"/>
                  <a:sym typeface="Times New Roman"/>
                </a:endParaRPr>
              </a:p>
            </p:txBody>
          </p:sp>
        </p:grpSp>
        <p:sp>
          <p:nvSpPr>
            <p:cNvPr id="611" name="Google Shape;611;g114005b7e15_0_971"/>
            <p:cNvSpPr txBox="1"/>
            <p:nvPr/>
          </p:nvSpPr>
          <p:spPr>
            <a:xfrm>
              <a:off x="4267200" y="4724400"/>
              <a:ext cx="389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2" name="Google Shape;612;g114005b7e15_0_971"/>
            <p:cNvSpPr txBox="1"/>
            <p:nvPr/>
          </p:nvSpPr>
          <p:spPr>
            <a:xfrm>
              <a:off x="3962400" y="44958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3" name="Google Shape;613;g114005b7e15_0_971"/>
            <p:cNvSpPr txBox="1"/>
            <p:nvPr/>
          </p:nvSpPr>
          <p:spPr>
            <a:xfrm>
              <a:off x="4724400" y="45720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4" name="Google Shape;614;g114005b7e15_0_971"/>
            <p:cNvSpPr txBox="1"/>
            <p:nvPr/>
          </p:nvSpPr>
          <p:spPr>
            <a:xfrm>
              <a:off x="4648200" y="38862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5" name="Google Shape;615;g114005b7e15_0_971"/>
            <p:cNvSpPr txBox="1"/>
            <p:nvPr/>
          </p:nvSpPr>
          <p:spPr>
            <a:xfrm>
              <a:off x="3886200" y="54864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6" name="Google Shape;616;g114005b7e15_0_971"/>
            <p:cNvSpPr txBox="1"/>
            <p:nvPr/>
          </p:nvSpPr>
          <p:spPr>
            <a:xfrm>
              <a:off x="4800600" y="54864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7" name="Google Shape;617;g114005b7e15_0_971"/>
            <p:cNvSpPr txBox="1"/>
            <p:nvPr/>
          </p:nvSpPr>
          <p:spPr>
            <a:xfrm>
              <a:off x="4267200" y="51816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114005b7e15_0_1021"/>
          <p:cNvSpPr txBox="1"/>
          <p:nvPr>
            <p:ph type="title"/>
          </p:nvPr>
        </p:nvSpPr>
        <p:spPr>
          <a:xfrm>
            <a:off x="425200" y="1001022"/>
            <a:ext cx="7850100" cy="605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24" name="Google Shape;624;g114005b7e15_0_1021"/>
          <p:cNvSpPr txBox="1"/>
          <p:nvPr/>
        </p:nvSpPr>
        <p:spPr>
          <a:xfrm>
            <a:off x="646670" y="1713476"/>
            <a:ext cx="8077200" cy="904800"/>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000000"/>
              </a:buClr>
              <a:buSzPts val="2400"/>
              <a:buFont typeface="Arial"/>
              <a:buNone/>
            </a:pPr>
            <a:r>
              <a:rPr lang="en-US" sz="2400">
                <a:latin typeface="Times New Roman"/>
                <a:ea typeface="Times New Roman"/>
                <a:cs typeface="Times New Roman"/>
                <a:sym typeface="Times New Roman"/>
              </a:rPr>
              <a:t>Đếm số trên </a:t>
            </a:r>
            <a:r>
              <a:rPr lang="en-US" sz="2400">
                <a:solidFill>
                  <a:srgbClr val="000000"/>
                </a:solidFill>
                <a:latin typeface="Times New Roman"/>
                <a:ea typeface="Times New Roman"/>
                <a:cs typeface="Times New Roman"/>
                <a:sym typeface="Times New Roman"/>
              </a:rPr>
              <a:t>X={1,2,…50} không chia hết cho bất </a:t>
            </a:r>
            <a:r>
              <a:rPr lang="en-US" sz="2400">
                <a:latin typeface="Times New Roman"/>
                <a:ea typeface="Times New Roman"/>
                <a:cs typeface="Times New Roman"/>
                <a:sym typeface="Times New Roman"/>
              </a:rPr>
              <a:t>kỳ</a:t>
            </a:r>
            <a:r>
              <a:rPr lang="en-US" sz="2400">
                <a:solidFill>
                  <a:srgbClr val="000000"/>
                </a:solidFill>
                <a:latin typeface="Times New Roman"/>
                <a:ea typeface="Times New Roman"/>
                <a:cs typeface="Times New Roman"/>
                <a:sym typeface="Times New Roman"/>
              </a:rPr>
              <a:t> 2, 3, 4 ?</a:t>
            </a:r>
            <a:endParaRPr/>
          </a:p>
        </p:txBody>
      </p:sp>
      <p:grpSp>
        <p:nvGrpSpPr>
          <p:cNvPr id="625" name="Google Shape;625;g114005b7e15_0_1021"/>
          <p:cNvGrpSpPr/>
          <p:nvPr/>
        </p:nvGrpSpPr>
        <p:grpSpPr>
          <a:xfrm>
            <a:off x="913370" y="2930336"/>
            <a:ext cx="7543800" cy="3654022"/>
            <a:chOff x="0" y="1785"/>
            <a:chExt cx="7543800" cy="3654022"/>
          </a:xfrm>
        </p:grpSpPr>
        <p:sp>
          <p:nvSpPr>
            <p:cNvPr id="626" name="Google Shape;626;g114005b7e15_0_1021"/>
            <p:cNvSpPr/>
            <p:nvPr/>
          </p:nvSpPr>
          <p:spPr>
            <a:xfrm>
              <a:off x="0" y="1785"/>
              <a:ext cx="7543800" cy="913500"/>
            </a:xfrm>
            <a:prstGeom prst="roundRect">
              <a:avLst>
                <a:gd fmla="val 10000" name="adj"/>
              </a:avLst>
            </a:prstGeom>
            <a:solidFill>
              <a:srgbClr val="BBD6EE"/>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114005b7e15_0_1021"/>
            <p:cNvSpPr txBox="1"/>
            <p:nvPr/>
          </p:nvSpPr>
          <p:spPr>
            <a:xfrm>
              <a:off x="26756" y="28541"/>
              <a:ext cx="7490400" cy="86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i</a:t>
              </a:r>
              <a:r>
                <a:rPr b="0" lang="en-US" sz="2800">
                  <a:solidFill>
                    <a:srgbClr val="002060"/>
                  </a:solidFill>
                  <a:latin typeface="Times New Roman"/>
                  <a:ea typeface="Times New Roman"/>
                  <a:cs typeface="Times New Roman"/>
                  <a:sym typeface="Times New Roman"/>
                </a:rPr>
                <a:t> = { x € X: x % i ==0 } i=2,3,4.</a:t>
              </a:r>
              <a:endParaRPr/>
            </a:p>
          </p:txBody>
        </p:sp>
        <p:sp>
          <p:nvSpPr>
            <p:cNvPr id="628" name="Google Shape;628;g114005b7e15_0_1021"/>
            <p:cNvSpPr/>
            <p:nvPr/>
          </p:nvSpPr>
          <p:spPr>
            <a:xfrm rot="5400000">
              <a:off x="3600639" y="938187"/>
              <a:ext cx="342600" cy="411000"/>
            </a:xfrm>
            <a:prstGeom prst="rightArrow">
              <a:avLst>
                <a:gd fmla="val 60000" name="adj1"/>
                <a:gd fmla="val 50000" name="adj2"/>
              </a:avLst>
            </a:prstGeom>
            <a:solidFill>
              <a:srgbClr val="B3CA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g114005b7e15_0_1021"/>
            <p:cNvSpPr txBox="1"/>
            <p:nvPr/>
          </p:nvSpPr>
          <p:spPr>
            <a:xfrm>
              <a:off x="3648577" y="972387"/>
              <a:ext cx="246600" cy="239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b="0" sz="2800">
                <a:solidFill>
                  <a:srgbClr val="002060"/>
                </a:solidFill>
                <a:latin typeface="Times New Roman"/>
                <a:ea typeface="Times New Roman"/>
                <a:cs typeface="Times New Roman"/>
                <a:sym typeface="Times New Roman"/>
              </a:endParaRPr>
            </a:p>
          </p:txBody>
        </p:sp>
        <p:sp>
          <p:nvSpPr>
            <p:cNvPr id="630" name="Google Shape;630;g114005b7e15_0_1021"/>
            <p:cNvSpPr/>
            <p:nvPr/>
          </p:nvSpPr>
          <p:spPr>
            <a:xfrm>
              <a:off x="0" y="1372046"/>
              <a:ext cx="7543800" cy="913500"/>
            </a:xfrm>
            <a:prstGeom prst="roundRect">
              <a:avLst>
                <a:gd fmla="val 10000" name="adj"/>
              </a:avLst>
            </a:prstGeom>
            <a:solidFill>
              <a:srgbClr val="BBD6EE"/>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g114005b7e15_0_1021"/>
            <p:cNvSpPr txBox="1"/>
            <p:nvPr/>
          </p:nvSpPr>
          <p:spPr>
            <a:xfrm>
              <a:off x="26756" y="1398802"/>
              <a:ext cx="7490400" cy="86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2</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3</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4 </a:t>
              </a:r>
              <a:r>
                <a:rPr b="0" lang="en-US" sz="2800">
                  <a:solidFill>
                    <a:srgbClr val="002060"/>
                  </a:solidFill>
                  <a:latin typeface="Times New Roman"/>
                  <a:ea typeface="Times New Roman"/>
                  <a:cs typeface="Times New Roman"/>
                  <a:sym typeface="Times New Roman"/>
                </a:rPr>
                <a:t> là tập chia hết ít nhất 1 trong 3 số</a:t>
              </a:r>
              <a:endParaRPr b="0" sz="2800">
                <a:solidFill>
                  <a:srgbClr val="002060"/>
                </a:solidFill>
                <a:latin typeface="Times New Roman"/>
                <a:ea typeface="Times New Roman"/>
                <a:cs typeface="Times New Roman"/>
                <a:sym typeface="Times New Roman"/>
              </a:endParaRPr>
            </a:p>
          </p:txBody>
        </p:sp>
        <p:sp>
          <p:nvSpPr>
            <p:cNvPr id="632" name="Google Shape;632;g114005b7e15_0_1021"/>
            <p:cNvSpPr/>
            <p:nvPr/>
          </p:nvSpPr>
          <p:spPr>
            <a:xfrm rot="5400000">
              <a:off x="3600639" y="2308447"/>
              <a:ext cx="342600" cy="411000"/>
            </a:xfrm>
            <a:prstGeom prst="rightArrow">
              <a:avLst>
                <a:gd fmla="val 60000" name="adj1"/>
                <a:gd fmla="val 50000" name="adj2"/>
              </a:avLst>
            </a:prstGeom>
            <a:solidFill>
              <a:srgbClr val="B3CA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114005b7e15_0_1021"/>
            <p:cNvSpPr txBox="1"/>
            <p:nvPr/>
          </p:nvSpPr>
          <p:spPr>
            <a:xfrm>
              <a:off x="3648577" y="2342648"/>
              <a:ext cx="246600" cy="239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b="0" sz="2800">
                <a:solidFill>
                  <a:srgbClr val="002060"/>
                </a:solidFill>
                <a:latin typeface="Times New Roman"/>
                <a:ea typeface="Times New Roman"/>
                <a:cs typeface="Times New Roman"/>
                <a:sym typeface="Times New Roman"/>
              </a:endParaRPr>
            </a:p>
          </p:txBody>
        </p:sp>
        <p:sp>
          <p:nvSpPr>
            <p:cNvPr id="634" name="Google Shape;634;g114005b7e15_0_1021"/>
            <p:cNvSpPr/>
            <p:nvPr/>
          </p:nvSpPr>
          <p:spPr>
            <a:xfrm>
              <a:off x="0" y="2742307"/>
              <a:ext cx="7543800" cy="913500"/>
            </a:xfrm>
            <a:prstGeom prst="roundRect">
              <a:avLst>
                <a:gd fmla="val 10000" name="adj"/>
              </a:avLst>
            </a:prstGeom>
            <a:solidFill>
              <a:srgbClr val="BBD6EE"/>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g114005b7e15_0_1021"/>
            <p:cNvSpPr txBox="1"/>
            <p:nvPr/>
          </p:nvSpPr>
          <p:spPr>
            <a:xfrm>
              <a:off x="26756" y="2769063"/>
              <a:ext cx="7490400" cy="86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lang="en-US" sz="2800">
                  <a:solidFill>
                    <a:srgbClr val="002060"/>
                  </a:solidFill>
                  <a:latin typeface="Times New Roman"/>
                  <a:ea typeface="Times New Roman"/>
                  <a:cs typeface="Times New Roman"/>
                  <a:sym typeface="Times New Roman"/>
                </a:rPr>
                <a:t>N (X) - N(A</a:t>
              </a:r>
              <a:r>
                <a:rPr b="0" baseline="-25000" lang="en-US" sz="2800">
                  <a:solidFill>
                    <a:srgbClr val="002060"/>
                  </a:solidFill>
                  <a:latin typeface="Times New Roman"/>
                  <a:ea typeface="Times New Roman"/>
                  <a:cs typeface="Times New Roman"/>
                  <a:sym typeface="Times New Roman"/>
                </a:rPr>
                <a:t>2</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3</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4</a:t>
              </a:r>
              <a:r>
                <a:rPr b="0" lang="en-US" sz="2800">
                  <a:solidFill>
                    <a:srgbClr val="002060"/>
                  </a:solidFill>
                  <a:latin typeface="Times New Roman"/>
                  <a:ea typeface="Times New Roman"/>
                  <a:cs typeface="Times New Roman"/>
                  <a:sym typeface="Times New Roman"/>
                </a:rPr>
                <a:t>) = N- (N</a:t>
              </a:r>
              <a:r>
                <a:rPr b="0" baseline="-25000" lang="en-US" sz="2800">
                  <a:solidFill>
                    <a:srgbClr val="002060"/>
                  </a:solidFill>
                  <a:latin typeface="Times New Roman"/>
                  <a:ea typeface="Times New Roman"/>
                  <a:cs typeface="Times New Roman"/>
                  <a:sym typeface="Times New Roman"/>
                </a:rPr>
                <a:t>1</a:t>
              </a:r>
              <a:r>
                <a:rPr b="0" lang="en-US" sz="2800">
                  <a:solidFill>
                    <a:srgbClr val="002060"/>
                  </a:solidFill>
                  <a:latin typeface="Times New Roman"/>
                  <a:ea typeface="Times New Roman"/>
                  <a:cs typeface="Times New Roman"/>
                  <a:sym typeface="Times New Roman"/>
                </a:rPr>
                <a:t> - N</a:t>
              </a:r>
              <a:r>
                <a:rPr b="0" baseline="-25000" lang="en-US" sz="2800">
                  <a:solidFill>
                    <a:srgbClr val="002060"/>
                  </a:solidFill>
                  <a:latin typeface="Times New Roman"/>
                  <a:ea typeface="Times New Roman"/>
                  <a:cs typeface="Times New Roman"/>
                  <a:sym typeface="Times New Roman"/>
                </a:rPr>
                <a:t>2</a:t>
              </a:r>
              <a:r>
                <a:rPr b="0" lang="en-US" sz="2800">
                  <a:solidFill>
                    <a:srgbClr val="002060"/>
                  </a:solidFill>
                  <a:latin typeface="Times New Roman"/>
                  <a:ea typeface="Times New Roman"/>
                  <a:cs typeface="Times New Roman"/>
                  <a:sym typeface="Times New Roman"/>
                </a:rPr>
                <a:t> + N</a:t>
              </a:r>
              <a:r>
                <a:rPr b="0" baseline="-25000" lang="en-US" sz="2800">
                  <a:solidFill>
                    <a:srgbClr val="002060"/>
                  </a:solidFill>
                  <a:latin typeface="Times New Roman"/>
                  <a:ea typeface="Times New Roman"/>
                  <a:cs typeface="Times New Roman"/>
                  <a:sym typeface="Times New Roman"/>
                </a:rPr>
                <a:t>3</a:t>
              </a:r>
              <a:r>
                <a:rPr b="0" lang="en-US" sz="2800">
                  <a:solidFill>
                    <a:srgbClr val="002060"/>
                  </a:solidFill>
                  <a:latin typeface="Times New Roman"/>
                  <a:ea typeface="Times New Roman"/>
                  <a:cs typeface="Times New Roman"/>
                  <a:sym typeface="Times New Roman"/>
                </a:rPr>
                <a:t> )</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114005b7e15_0_1051"/>
          <p:cNvSpPr txBox="1"/>
          <p:nvPr>
            <p:ph type="title"/>
          </p:nvPr>
        </p:nvSpPr>
        <p:spPr>
          <a:xfrm>
            <a:off x="425200" y="1001022"/>
            <a:ext cx="7850100" cy="698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42" name="Google Shape;642;g114005b7e15_0_105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177800" lvl="0" marL="0" rtl="0" algn="l">
              <a:lnSpc>
                <a:spcPct val="100000"/>
              </a:lnSpc>
              <a:spcBef>
                <a:spcPts val="0"/>
              </a:spcBef>
              <a:spcAft>
                <a:spcPts val="0"/>
              </a:spcAft>
              <a:buClr>
                <a:srgbClr val="002060"/>
              </a:buClr>
              <a:buSzPts val="2800"/>
              <a:buChar char="•"/>
            </a:pPr>
            <a:r>
              <a:rPr lang="en-US" sz="2800">
                <a:solidFill>
                  <a:srgbClr val="002060"/>
                </a:solidFill>
              </a:rPr>
              <a:t>   N  = 50 số. </a:t>
            </a:r>
            <a:endParaRPr sz="1400">
              <a:solidFill>
                <a:srgbClr val="000000"/>
              </a:solidFill>
              <a:latin typeface="Arial"/>
              <a:ea typeface="Arial"/>
              <a:cs typeface="Arial"/>
              <a:sym typeface="Arial"/>
            </a:endParaRPr>
          </a:p>
          <a:p>
            <a:pPr indent="-177800" lvl="0" marL="0" rtl="0" algn="l">
              <a:lnSpc>
                <a:spcPct val="100000"/>
              </a:lnSpc>
              <a:spcBef>
                <a:spcPts val="0"/>
              </a:spcBef>
              <a:spcAft>
                <a:spcPts val="0"/>
              </a:spcAft>
              <a:buClr>
                <a:srgbClr val="002060"/>
              </a:buClr>
              <a:buSzPts val="2800"/>
              <a:buChar char="•"/>
            </a:pPr>
            <a:r>
              <a:rPr lang="en-US" sz="2800">
                <a:solidFill>
                  <a:srgbClr val="002060"/>
                </a:solidFill>
              </a:rPr>
              <a:t>   N</a:t>
            </a:r>
            <a:r>
              <a:rPr baseline="-25000" lang="en-US" sz="2800">
                <a:solidFill>
                  <a:srgbClr val="002060"/>
                </a:solidFill>
              </a:rPr>
              <a:t>1 </a:t>
            </a:r>
            <a:r>
              <a:rPr lang="en-US" sz="2800">
                <a:solidFill>
                  <a:srgbClr val="002060"/>
                </a:solidFill>
              </a:rPr>
              <a:t>= N(A</a:t>
            </a:r>
            <a:r>
              <a:rPr baseline="-25000" lang="en-US" sz="2800">
                <a:solidFill>
                  <a:srgbClr val="002060"/>
                </a:solidFill>
              </a:rPr>
              <a:t>2</a:t>
            </a:r>
            <a:r>
              <a:rPr lang="en-US" sz="2800">
                <a:solidFill>
                  <a:srgbClr val="002060"/>
                </a:solidFill>
              </a:rPr>
              <a:t>) + N(A</a:t>
            </a:r>
            <a:r>
              <a:rPr baseline="-25000" lang="en-US" sz="2800">
                <a:solidFill>
                  <a:srgbClr val="002060"/>
                </a:solidFill>
              </a:rPr>
              <a:t>3</a:t>
            </a:r>
            <a:r>
              <a:rPr lang="en-US" sz="2800">
                <a:solidFill>
                  <a:srgbClr val="002060"/>
                </a:solidFill>
              </a:rPr>
              <a:t>) + N(A</a:t>
            </a:r>
            <a:r>
              <a:rPr baseline="-25000" lang="en-US" sz="2800">
                <a:solidFill>
                  <a:srgbClr val="002060"/>
                </a:solidFill>
              </a:rPr>
              <a:t>4</a:t>
            </a:r>
            <a:r>
              <a:rPr lang="en-US" sz="2800">
                <a:solidFill>
                  <a:srgbClr val="002060"/>
                </a:solidFil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 [50/2] + [50/3] + [50/4] = 25 + 16 + 12 =53. </a:t>
            </a:r>
            <a:r>
              <a:rPr baseline="-25000" lang="en-US" sz="2800">
                <a:solidFill>
                  <a:srgbClr val="002060"/>
                </a:solidFill>
              </a:rPr>
              <a:t> </a:t>
            </a:r>
            <a:endParaRPr sz="1400">
              <a:solidFill>
                <a:srgbClr val="000000"/>
              </a:solidFill>
              <a:latin typeface="Arial"/>
              <a:ea typeface="Arial"/>
              <a:cs typeface="Arial"/>
              <a:sym typeface="Arial"/>
            </a:endParaRPr>
          </a:p>
          <a:p>
            <a:pPr indent="-177800" lvl="0" marL="0" rtl="0" algn="l">
              <a:lnSpc>
                <a:spcPct val="100000"/>
              </a:lnSpc>
              <a:spcBef>
                <a:spcPts val="0"/>
              </a:spcBef>
              <a:spcAft>
                <a:spcPts val="0"/>
              </a:spcAft>
              <a:buClr>
                <a:srgbClr val="002060"/>
              </a:buClr>
              <a:buSzPts val="2800"/>
              <a:buChar char="•"/>
            </a:pPr>
            <a:r>
              <a:rPr baseline="-25000" lang="en-US" sz="2800">
                <a:solidFill>
                  <a:srgbClr val="002060"/>
                </a:solidFill>
              </a:rPr>
              <a:t>     </a:t>
            </a:r>
            <a:r>
              <a:rPr lang="en-US" sz="2800">
                <a:solidFill>
                  <a:srgbClr val="002060"/>
                </a:solidFill>
              </a:rPr>
              <a:t>N</a:t>
            </a:r>
            <a:r>
              <a:rPr baseline="-25000" lang="en-US" sz="2800">
                <a:solidFill>
                  <a:srgbClr val="002060"/>
                </a:solidFill>
              </a:rPr>
              <a:t>2 </a:t>
            </a:r>
            <a:r>
              <a:rPr lang="en-US" sz="2800">
                <a:solidFill>
                  <a:srgbClr val="002060"/>
                </a:solidFill>
              </a:rPr>
              <a:t>= N(A</a:t>
            </a:r>
            <a:r>
              <a:rPr baseline="-25000" lang="en-US" sz="2800">
                <a:solidFill>
                  <a:srgbClr val="002060"/>
                </a:solidFill>
              </a:rPr>
              <a:t>2</a:t>
            </a:r>
            <a:r>
              <a:rPr lang="en-US" sz="2800">
                <a:solidFill>
                  <a:srgbClr val="002060"/>
                </a:solidFill>
              </a:rPr>
              <a:t> ∩ A</a:t>
            </a:r>
            <a:r>
              <a:rPr baseline="-25000" lang="en-US" sz="2800">
                <a:solidFill>
                  <a:srgbClr val="002060"/>
                </a:solidFill>
              </a:rPr>
              <a:t>3</a:t>
            </a:r>
            <a:r>
              <a:rPr lang="en-US" sz="2800">
                <a:solidFill>
                  <a:srgbClr val="002060"/>
                </a:solidFill>
              </a:rPr>
              <a:t>) + N(A</a:t>
            </a:r>
            <a:r>
              <a:rPr baseline="-25000" lang="en-US" sz="2800">
                <a:solidFill>
                  <a:srgbClr val="002060"/>
                </a:solidFill>
              </a:rPr>
              <a:t>3</a:t>
            </a:r>
            <a:r>
              <a:rPr lang="en-US" sz="2800">
                <a:solidFill>
                  <a:srgbClr val="002060"/>
                </a:solidFill>
              </a:rPr>
              <a:t> ∩ A</a:t>
            </a:r>
            <a:r>
              <a:rPr baseline="-25000" lang="en-US" sz="2800">
                <a:solidFill>
                  <a:srgbClr val="002060"/>
                </a:solidFill>
              </a:rPr>
              <a:t>4</a:t>
            </a:r>
            <a:r>
              <a:rPr lang="en-US" sz="2800">
                <a:solidFill>
                  <a:srgbClr val="002060"/>
                </a:solidFill>
              </a:rPr>
              <a:t>)  + N(A</a:t>
            </a:r>
            <a:r>
              <a:rPr baseline="-25000" lang="en-US" sz="2800">
                <a:solidFill>
                  <a:srgbClr val="002060"/>
                </a:solidFill>
              </a:rPr>
              <a:t>2</a:t>
            </a:r>
            <a:r>
              <a:rPr lang="en-US" sz="2800">
                <a:solidFill>
                  <a:srgbClr val="002060"/>
                </a:solidFill>
              </a:rPr>
              <a:t> ∩ A</a:t>
            </a:r>
            <a:r>
              <a:rPr baseline="-25000" lang="en-US" sz="2800">
                <a:solidFill>
                  <a:srgbClr val="002060"/>
                </a:solidFill>
              </a:rPr>
              <a:t>4</a:t>
            </a:r>
            <a:r>
              <a:rPr lang="en-US" sz="2800">
                <a:solidFill>
                  <a:srgbClr val="002060"/>
                </a:solidFil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 [50/6] + [50/12] + [50/4] = 8 + 4 + 12  = 24.  </a:t>
            </a:r>
            <a:endParaRPr baseline="-25000" sz="2800">
              <a:solidFill>
                <a:srgbClr val="002060"/>
              </a:solidFill>
            </a:endParaRPr>
          </a:p>
          <a:p>
            <a:pPr indent="-177800" lvl="0" marL="0" rtl="0" algn="l">
              <a:lnSpc>
                <a:spcPct val="100000"/>
              </a:lnSpc>
              <a:spcBef>
                <a:spcPts val="0"/>
              </a:spcBef>
              <a:spcAft>
                <a:spcPts val="0"/>
              </a:spcAft>
              <a:buClr>
                <a:srgbClr val="002060"/>
              </a:buClr>
              <a:buSzPts val="2800"/>
              <a:buChar char="•"/>
            </a:pPr>
            <a:r>
              <a:rPr baseline="-25000" lang="en-US" sz="2800">
                <a:solidFill>
                  <a:srgbClr val="002060"/>
                </a:solidFill>
              </a:rPr>
              <a:t> </a:t>
            </a:r>
            <a:r>
              <a:rPr lang="en-US" sz="2800">
                <a:solidFill>
                  <a:srgbClr val="002060"/>
                </a:solidFill>
              </a:rPr>
              <a:t>   N</a:t>
            </a:r>
            <a:r>
              <a:rPr baseline="-25000" lang="en-US" sz="2800">
                <a:solidFill>
                  <a:srgbClr val="002060"/>
                </a:solidFill>
              </a:rPr>
              <a:t>3</a:t>
            </a:r>
            <a:r>
              <a:rPr lang="en-US" sz="2800">
                <a:solidFill>
                  <a:srgbClr val="002060"/>
                </a:solidFill>
              </a:rPr>
              <a:t> = N(A</a:t>
            </a:r>
            <a:r>
              <a:rPr baseline="-25000" lang="en-US" sz="2800">
                <a:solidFill>
                  <a:srgbClr val="002060"/>
                </a:solidFill>
              </a:rPr>
              <a:t>2</a:t>
            </a:r>
            <a:r>
              <a:rPr lang="en-US" sz="2800">
                <a:solidFill>
                  <a:srgbClr val="002060"/>
                </a:solidFill>
              </a:rPr>
              <a:t> ∩ A</a:t>
            </a:r>
            <a:r>
              <a:rPr baseline="-25000" lang="en-US" sz="2800">
                <a:solidFill>
                  <a:srgbClr val="002060"/>
                </a:solidFill>
              </a:rPr>
              <a:t>3</a:t>
            </a:r>
            <a:r>
              <a:rPr lang="en-US" sz="2800">
                <a:solidFill>
                  <a:srgbClr val="002060"/>
                </a:solidFill>
              </a:rPr>
              <a:t> ∩ A</a:t>
            </a:r>
            <a:r>
              <a:rPr baseline="-25000" lang="en-US" sz="2800">
                <a:solidFill>
                  <a:srgbClr val="002060"/>
                </a:solidFill>
              </a:rPr>
              <a:t>4</a:t>
            </a:r>
            <a:r>
              <a:rPr lang="en-US" sz="2800">
                <a:solidFill>
                  <a:srgbClr val="002060"/>
                </a:solidFil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 [50/12] = 4. </a:t>
            </a:r>
            <a:endParaRPr sz="1400">
              <a:solidFill>
                <a:srgbClr val="000000"/>
              </a:solidFill>
              <a:latin typeface="Arial"/>
              <a:ea typeface="Arial"/>
              <a:cs typeface="Arial"/>
              <a:sym typeface="Arial"/>
            </a:endParaRPr>
          </a:p>
          <a:p>
            <a:pPr indent="-177800" lvl="0" marL="0" rtl="0" algn="l">
              <a:lnSpc>
                <a:spcPct val="100000"/>
              </a:lnSpc>
              <a:spcBef>
                <a:spcPts val="0"/>
              </a:spcBef>
              <a:spcAft>
                <a:spcPts val="0"/>
              </a:spcAft>
              <a:buClr>
                <a:srgbClr val="002060"/>
              </a:buClr>
              <a:buSzPts val="2800"/>
              <a:buChar char="•"/>
            </a:pPr>
            <a:r>
              <a:rPr lang="en-US" sz="2800">
                <a:solidFill>
                  <a:srgbClr val="002060"/>
                </a:solidFill>
              </a:rPr>
              <a:t>   Kết quả:</a:t>
            </a:r>
            <a:endParaRPr sz="2800">
              <a:solidFill>
                <a:srgbClr val="002060"/>
              </a:solidFil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50 – ( 53 – 24 + 4 ) = 17 số.</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t/>
            </a:r>
            <a:endParaRPr sz="2800">
              <a:solidFill>
                <a:srgbClr val="002060"/>
              </a:solidFill>
            </a:endParaRPr>
          </a:p>
          <a:p>
            <a:pPr indent="0" lvl="0" marL="0" rtl="0" algn="l">
              <a:spcBef>
                <a:spcPts val="60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114005b7e15_0_1039"/>
          <p:cNvSpPr txBox="1"/>
          <p:nvPr>
            <p:ph type="title"/>
          </p:nvPr>
        </p:nvSpPr>
        <p:spPr>
          <a:xfrm>
            <a:off x="425200" y="1001022"/>
            <a:ext cx="7850100" cy="698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49" name="Google Shape;649;g114005b7e15_0_1039"/>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650" name="Google Shape;650;g114005b7e15_0_1039"/>
          <p:cNvSpPr txBox="1"/>
          <p:nvPr/>
        </p:nvSpPr>
        <p:spPr>
          <a:xfrm>
            <a:off x="559900" y="2254025"/>
            <a:ext cx="7580700" cy="1447800"/>
          </a:xfrm>
          <a:prstGeom prst="rect">
            <a:avLst/>
          </a:prstGeom>
          <a:solidFill>
            <a:srgbClr val="EBEBEB"/>
          </a:solid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2400">
                <a:latin typeface="Times New Roman"/>
                <a:ea typeface="Times New Roman"/>
                <a:cs typeface="Times New Roman"/>
                <a:sym typeface="Times New Roman"/>
              </a:rPr>
              <a:t>Xác suất để không một lá thư bỏ trúng địa chỉ. Cho</a:t>
            </a:r>
            <a:r>
              <a:rPr lang="en-US" sz="2400">
                <a:solidFill>
                  <a:srgbClr val="000000"/>
                </a:solidFill>
                <a:latin typeface="Times New Roman"/>
                <a:ea typeface="Times New Roman"/>
                <a:cs typeface="Times New Roman"/>
                <a:sym typeface="Times New Roman"/>
              </a:rPr>
              <a:t> n lá thư và n phong bì ghi </a:t>
            </a:r>
            <a:r>
              <a:rPr lang="en-US" sz="2400">
                <a:latin typeface="Times New Roman"/>
                <a:ea typeface="Times New Roman"/>
                <a:cs typeface="Times New Roman"/>
                <a:sym typeface="Times New Roman"/>
              </a:rPr>
              <a:t>sẵn</a:t>
            </a:r>
            <a:r>
              <a:rPr lang="en-US" sz="2400">
                <a:solidFill>
                  <a:srgbClr val="000000"/>
                </a:solidFill>
                <a:latin typeface="Times New Roman"/>
                <a:ea typeface="Times New Roman"/>
                <a:cs typeface="Times New Roman"/>
                <a:sym typeface="Times New Roman"/>
              </a:rPr>
              <a:t> địa chỉ. Bỏ ngẫu nhiên các lá thư vào phong bì.</a:t>
            </a:r>
            <a:endParaRPr sz="2800">
              <a:solidFill>
                <a:srgbClr val="000000"/>
              </a:solidFill>
              <a:latin typeface="Times New Roman"/>
              <a:ea typeface="Times New Roman"/>
              <a:cs typeface="Times New Roman"/>
              <a:sym typeface="Times New Roman"/>
            </a:endParaRPr>
          </a:p>
        </p:txBody>
      </p:sp>
      <p:sp>
        <p:nvSpPr>
          <p:cNvPr id="651" name="Google Shape;651;g114005b7e15_0_1039"/>
          <p:cNvSpPr/>
          <p:nvPr/>
        </p:nvSpPr>
        <p:spPr>
          <a:xfrm>
            <a:off x="571500" y="4555775"/>
            <a:ext cx="7580700" cy="1323300"/>
          </a:xfrm>
          <a:prstGeom prst="rect">
            <a:avLst/>
          </a:prstGeom>
          <a:noFill/>
          <a:ln>
            <a:noFill/>
          </a:ln>
        </p:spPr>
        <p:txBody>
          <a:bodyPr anchorCtr="0" anchor="t" bIns="45700" lIns="91425" spcFirstLastPara="1" rIns="91425" wrap="square" tIns="45700">
            <a:noAutofit/>
          </a:bodyPr>
          <a:lstStyle/>
          <a:p>
            <a:pPr indent="0" lvl="1" marL="0" marR="0" rtl="0" algn="l">
              <a:spcBef>
                <a:spcPts val="0"/>
              </a:spcBef>
              <a:spcAft>
                <a:spcPts val="0"/>
              </a:spcAft>
              <a:buNone/>
            </a:pPr>
            <a:r>
              <a:t/>
            </a:r>
            <a:endParaRPr sz="1300"/>
          </a:p>
          <a:p>
            <a:pPr indent="0" lvl="0" marL="0" marR="0" rtl="0" algn="l">
              <a:spcBef>
                <a:spcPts val="0"/>
              </a:spcBef>
              <a:spcAft>
                <a:spcPts val="0"/>
              </a:spcAft>
              <a:buClr>
                <a:srgbClr val="002060"/>
              </a:buClr>
              <a:buSzPts val="2800"/>
              <a:buFont typeface="Times New Roman"/>
              <a:buNone/>
            </a:pPr>
            <a:r>
              <a:rPr b="1" lang="en-US" sz="2700">
                <a:solidFill>
                  <a:srgbClr val="002060"/>
                </a:solidFill>
                <a:latin typeface="Times New Roman"/>
                <a:ea typeface="Times New Roman"/>
                <a:cs typeface="Times New Roman"/>
                <a:sym typeface="Times New Roman"/>
              </a:rPr>
              <a:t>             </a:t>
            </a:r>
            <a:r>
              <a:rPr lang="en-US" sz="2700">
                <a:solidFill>
                  <a:srgbClr val="002060"/>
                </a:solidFill>
                <a:latin typeface="Times New Roman"/>
                <a:ea typeface="Times New Roman"/>
                <a:cs typeface="Times New Roman"/>
                <a:sym typeface="Times New Roman"/>
              </a:rPr>
              <a:t>X – là tập hợp tất cả các cách bỏ thư.</a:t>
            </a:r>
            <a:endParaRPr sz="1300"/>
          </a:p>
          <a:p>
            <a:pPr indent="0" lvl="0" marL="0" marR="0" rtl="0" algn="l">
              <a:spcBef>
                <a:spcPts val="0"/>
              </a:spcBef>
              <a:spcAft>
                <a:spcPts val="0"/>
              </a:spcAft>
              <a:buClr>
                <a:srgbClr val="002060"/>
              </a:buClr>
              <a:buSzPts val="2800"/>
              <a:buFont typeface="Times New Roman"/>
              <a:buNone/>
            </a:pPr>
            <a:r>
              <a:rPr lang="en-US" sz="2700">
                <a:solidFill>
                  <a:srgbClr val="002060"/>
                </a:solidFill>
                <a:latin typeface="Times New Roman"/>
                <a:ea typeface="Times New Roman"/>
                <a:cs typeface="Times New Roman"/>
                <a:sym typeface="Times New Roman"/>
              </a:rPr>
              <a:t>             A</a:t>
            </a:r>
            <a:r>
              <a:rPr baseline="-25000" lang="en-US" sz="2700">
                <a:solidFill>
                  <a:srgbClr val="002060"/>
                </a:solidFill>
                <a:latin typeface="Times New Roman"/>
                <a:ea typeface="Times New Roman"/>
                <a:cs typeface="Times New Roman"/>
                <a:sym typeface="Times New Roman"/>
              </a:rPr>
              <a:t> k</a:t>
            </a:r>
            <a:r>
              <a:rPr lang="en-US" sz="2700">
                <a:solidFill>
                  <a:srgbClr val="002060"/>
                </a:solidFill>
                <a:latin typeface="Times New Roman"/>
                <a:ea typeface="Times New Roman"/>
                <a:cs typeface="Times New Roman"/>
                <a:sym typeface="Times New Roman"/>
              </a:rPr>
              <a:t> – là tính chất lá thư thứ k bỏ đúng địa chỉ.</a:t>
            </a:r>
            <a:endParaRPr sz="13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114005b7e15_0_1063"/>
          <p:cNvSpPr txBox="1"/>
          <p:nvPr>
            <p:ph type="title"/>
          </p:nvPr>
        </p:nvSpPr>
        <p:spPr>
          <a:xfrm>
            <a:off x="425200" y="1001022"/>
            <a:ext cx="7850100" cy="698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58" name="Google Shape;658;g114005b7e15_0_1063"/>
          <p:cNvSpPr txBox="1"/>
          <p:nvPr>
            <p:ph idx="1" type="body"/>
          </p:nvPr>
        </p:nvSpPr>
        <p:spPr>
          <a:xfrm>
            <a:off x="425200" y="1853525"/>
            <a:ext cx="8193600" cy="42999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659" name="Google Shape;659;g114005b7e15_0_1063"/>
          <p:cNvSpPr txBox="1"/>
          <p:nvPr/>
        </p:nvSpPr>
        <p:spPr>
          <a:xfrm>
            <a:off x="559900" y="2254025"/>
            <a:ext cx="7950900" cy="1144200"/>
          </a:xfrm>
          <a:prstGeom prst="rect">
            <a:avLst/>
          </a:prstGeom>
          <a:solidFill>
            <a:srgbClr val="EBEBEB"/>
          </a:solid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2400">
                <a:latin typeface="Times New Roman"/>
                <a:ea typeface="Times New Roman"/>
                <a:cs typeface="Times New Roman"/>
                <a:sym typeface="Times New Roman"/>
              </a:rPr>
              <a:t>Xác suất để không một lá thư bỏ trúng địa chỉ. Cho</a:t>
            </a:r>
            <a:r>
              <a:rPr lang="en-US" sz="2400">
                <a:solidFill>
                  <a:srgbClr val="000000"/>
                </a:solidFill>
                <a:latin typeface="Times New Roman"/>
                <a:ea typeface="Times New Roman"/>
                <a:cs typeface="Times New Roman"/>
                <a:sym typeface="Times New Roman"/>
              </a:rPr>
              <a:t> n lá thư và n phong bì ghi </a:t>
            </a:r>
            <a:r>
              <a:rPr lang="en-US" sz="2400">
                <a:latin typeface="Times New Roman"/>
                <a:ea typeface="Times New Roman"/>
                <a:cs typeface="Times New Roman"/>
                <a:sym typeface="Times New Roman"/>
              </a:rPr>
              <a:t>sẵn</a:t>
            </a:r>
            <a:r>
              <a:rPr lang="en-US" sz="2400">
                <a:solidFill>
                  <a:srgbClr val="000000"/>
                </a:solidFill>
                <a:latin typeface="Times New Roman"/>
                <a:ea typeface="Times New Roman"/>
                <a:cs typeface="Times New Roman"/>
                <a:sym typeface="Times New Roman"/>
              </a:rPr>
              <a:t> địa chỉ. Bỏ ngẫu nhiên các lá thư vào phong bì.</a:t>
            </a:r>
            <a:endParaRPr sz="2800">
              <a:solidFill>
                <a:srgbClr val="000000"/>
              </a:solidFill>
              <a:latin typeface="Times New Roman"/>
              <a:ea typeface="Times New Roman"/>
              <a:cs typeface="Times New Roman"/>
              <a:sym typeface="Times New Roman"/>
            </a:endParaRPr>
          </a:p>
        </p:txBody>
      </p:sp>
      <p:sp>
        <p:nvSpPr>
          <p:cNvPr id="660" name="Google Shape;660;g114005b7e15_0_1063"/>
          <p:cNvSpPr/>
          <p:nvPr/>
        </p:nvSpPr>
        <p:spPr>
          <a:xfrm>
            <a:off x="4693300" y="4216775"/>
            <a:ext cx="4010400" cy="205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2060"/>
              </a:buClr>
              <a:buSzPts val="2800"/>
              <a:buFont typeface="Times New Roman"/>
              <a:buNone/>
            </a:pPr>
            <a:r>
              <a:rPr b="1" lang="en-US" sz="27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X – tập hợp tất cả các cách bỏ thư.</a:t>
            </a:r>
            <a:endParaRPr sz="1000"/>
          </a:p>
          <a:p>
            <a:pPr indent="0" lvl="0" marL="0" marR="0" rtl="0" algn="l">
              <a:spcBef>
                <a:spcPts val="0"/>
              </a:spcBef>
              <a:spcAft>
                <a:spcPts val="0"/>
              </a:spcAft>
              <a:buClr>
                <a:srgbClr val="002060"/>
              </a:buClr>
              <a:buSzPts val="2800"/>
              <a:buFont typeface="Times New Roman"/>
              <a:buNone/>
            </a:pPr>
            <a:r>
              <a:rPr lang="en-US" sz="2400">
                <a:solidFill>
                  <a:srgbClr val="002060"/>
                </a:solidFill>
                <a:latin typeface="Times New Roman"/>
                <a:ea typeface="Times New Roman"/>
                <a:cs typeface="Times New Roman"/>
                <a:sym typeface="Times New Roman"/>
              </a:rPr>
              <a:t> A</a:t>
            </a:r>
            <a:r>
              <a:rPr baseline="-25000" lang="en-US" sz="2400">
                <a:solidFill>
                  <a:srgbClr val="002060"/>
                </a:solidFill>
                <a:latin typeface="Times New Roman"/>
                <a:ea typeface="Times New Roman"/>
                <a:cs typeface="Times New Roman"/>
                <a:sym typeface="Times New Roman"/>
              </a:rPr>
              <a:t> k</a:t>
            </a:r>
            <a:r>
              <a:rPr lang="en-US" sz="2400">
                <a:solidFill>
                  <a:srgbClr val="002060"/>
                </a:solidFill>
                <a:latin typeface="Times New Roman"/>
                <a:ea typeface="Times New Roman"/>
                <a:cs typeface="Times New Roman"/>
                <a:sym typeface="Times New Roman"/>
              </a:rPr>
              <a:t> – tính chất lá thư thứ k bỏ đúng địa chỉ.</a:t>
            </a:r>
            <a:endParaRPr sz="1000"/>
          </a:p>
        </p:txBody>
      </p:sp>
      <p:grpSp>
        <p:nvGrpSpPr>
          <p:cNvPr id="661" name="Google Shape;661;g114005b7e15_0_1063"/>
          <p:cNvGrpSpPr/>
          <p:nvPr/>
        </p:nvGrpSpPr>
        <p:grpSpPr>
          <a:xfrm>
            <a:off x="682767" y="3373329"/>
            <a:ext cx="4010532" cy="2780107"/>
            <a:chOff x="759992" y="2826029"/>
            <a:chExt cx="4010532" cy="2780107"/>
          </a:xfrm>
        </p:grpSpPr>
        <p:pic>
          <p:nvPicPr>
            <p:cNvPr id="662" name="Google Shape;662;g114005b7e15_0_1063"/>
            <p:cNvPicPr preferRelativeResize="0"/>
            <p:nvPr/>
          </p:nvPicPr>
          <p:blipFill rotWithShape="1">
            <a:blip r:embed="rId3">
              <a:alphaModFix/>
            </a:blip>
            <a:srcRect b="0" l="0" r="0" t="0"/>
            <a:stretch/>
          </p:blipFill>
          <p:spPr>
            <a:xfrm>
              <a:off x="759992" y="2826029"/>
              <a:ext cx="2286000" cy="1471611"/>
            </a:xfrm>
            <a:prstGeom prst="rect">
              <a:avLst/>
            </a:prstGeom>
            <a:noFill/>
            <a:ln>
              <a:noFill/>
            </a:ln>
          </p:spPr>
        </p:pic>
        <p:pic>
          <p:nvPicPr>
            <p:cNvPr id="663" name="Google Shape;663;g114005b7e15_0_1063"/>
            <p:cNvPicPr preferRelativeResize="0"/>
            <p:nvPr/>
          </p:nvPicPr>
          <p:blipFill rotWithShape="1">
            <a:blip r:embed="rId3">
              <a:alphaModFix/>
            </a:blip>
            <a:srcRect b="0" l="0" r="0" t="0"/>
            <a:stretch/>
          </p:blipFill>
          <p:spPr>
            <a:xfrm>
              <a:off x="1676400" y="3359430"/>
              <a:ext cx="2286000" cy="1471611"/>
            </a:xfrm>
            <a:prstGeom prst="rect">
              <a:avLst/>
            </a:prstGeom>
            <a:noFill/>
            <a:ln>
              <a:noFill/>
            </a:ln>
          </p:spPr>
        </p:pic>
        <p:pic>
          <p:nvPicPr>
            <p:cNvPr id="664" name="Google Shape;664;g114005b7e15_0_1063"/>
            <p:cNvPicPr preferRelativeResize="0"/>
            <p:nvPr/>
          </p:nvPicPr>
          <p:blipFill rotWithShape="1">
            <a:blip r:embed="rId3">
              <a:alphaModFix/>
            </a:blip>
            <a:srcRect b="0" l="0" r="0" t="0"/>
            <a:stretch/>
          </p:blipFill>
          <p:spPr>
            <a:xfrm>
              <a:off x="2484524" y="4134525"/>
              <a:ext cx="2286000" cy="1471611"/>
            </a:xfrm>
            <a:prstGeom prst="rect">
              <a:avLst/>
            </a:prstGeom>
            <a:noFill/>
            <a:ln>
              <a:noFill/>
            </a:ln>
          </p:spPr>
        </p:pic>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g114005b7e15_0_1076"/>
          <p:cNvSpPr txBox="1"/>
          <p:nvPr>
            <p:ph type="title"/>
          </p:nvPr>
        </p:nvSpPr>
        <p:spPr>
          <a:xfrm>
            <a:off x="425200" y="1001022"/>
            <a:ext cx="7850100" cy="558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71" name="Google Shape;671;g114005b7e15_0_1076"/>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42900" lvl="0" marL="342900" rtl="0" algn="l">
              <a:lnSpc>
                <a:spcPct val="100000"/>
              </a:lnSpc>
              <a:spcBef>
                <a:spcPts val="560"/>
              </a:spcBef>
              <a:spcAft>
                <a:spcPts val="0"/>
              </a:spcAft>
              <a:buClr>
                <a:srgbClr val="002060"/>
              </a:buClr>
              <a:buSzPts val="2800"/>
              <a:buChar char="•"/>
            </a:pPr>
            <a:r>
              <a:rPr lang="en-US" sz="2800">
                <a:solidFill>
                  <a:srgbClr val="002060"/>
                </a:solidFill>
              </a:rPr>
              <a:t>N</a:t>
            </a:r>
            <a:r>
              <a:rPr baseline="-25000" lang="en-US" sz="2800">
                <a:solidFill>
                  <a:srgbClr val="002060"/>
                </a:solidFill>
              </a:rPr>
              <a:t>k </a:t>
            </a:r>
            <a:r>
              <a:rPr lang="en-US" sz="2800">
                <a:solidFill>
                  <a:srgbClr val="002060"/>
                </a:solidFill>
              </a:rPr>
              <a:t> - số cách bỏ n lá thư sao cho có ít nhất k lá thư đúng địa chỉ.</a:t>
            </a:r>
            <a:endParaRPr sz="2800">
              <a:solidFill>
                <a:srgbClr val="000000"/>
              </a:solidFill>
            </a:endParaRPr>
          </a:p>
          <a:p>
            <a:pPr indent="-342900" lvl="0" marL="342900" rtl="0" algn="l">
              <a:lnSpc>
                <a:spcPct val="100000"/>
              </a:lnSpc>
              <a:spcBef>
                <a:spcPts val="560"/>
              </a:spcBef>
              <a:spcAft>
                <a:spcPts val="0"/>
              </a:spcAft>
              <a:buNone/>
            </a:pPr>
            <a:r>
              <a:rPr lang="en-US" sz="2800">
                <a:solidFill>
                  <a:srgbClr val="002060"/>
                </a:solidFill>
              </a:rPr>
              <a:t>           N</a:t>
            </a:r>
            <a:r>
              <a:rPr baseline="-25000" lang="en-US" sz="2800">
                <a:solidFill>
                  <a:srgbClr val="002060"/>
                </a:solidFill>
              </a:rPr>
              <a:t>k</a:t>
            </a:r>
            <a:r>
              <a:rPr lang="en-US" sz="2800">
                <a:solidFill>
                  <a:srgbClr val="002060"/>
                </a:solidFill>
              </a:rPr>
              <a:t> = C</a:t>
            </a:r>
            <a:r>
              <a:rPr baseline="30000" lang="en-US" sz="2800">
                <a:solidFill>
                  <a:srgbClr val="002060"/>
                </a:solidFill>
              </a:rPr>
              <a:t>k</a:t>
            </a:r>
            <a:r>
              <a:rPr baseline="-25000" lang="en-US" sz="2800">
                <a:solidFill>
                  <a:srgbClr val="002060"/>
                </a:solidFill>
              </a:rPr>
              <a:t>n</a:t>
            </a:r>
            <a:r>
              <a:rPr lang="en-US" sz="2800">
                <a:solidFill>
                  <a:srgbClr val="002060"/>
                </a:solidFill>
              </a:rPr>
              <a:t> (n-k)! = n!/k!</a:t>
            </a:r>
            <a:endParaRPr sz="2800">
              <a:solidFill>
                <a:srgbClr val="002060"/>
              </a:solidFill>
            </a:endParaRPr>
          </a:p>
          <a:p>
            <a:pPr indent="-406400" lvl="0" marL="457200" rtl="0" algn="l">
              <a:lnSpc>
                <a:spcPct val="100000"/>
              </a:lnSpc>
              <a:spcBef>
                <a:spcPts val="560"/>
              </a:spcBef>
              <a:spcAft>
                <a:spcPts val="0"/>
              </a:spcAft>
              <a:buClr>
                <a:srgbClr val="002060"/>
              </a:buClr>
              <a:buSzPts val="2800"/>
              <a:buChar char="•"/>
            </a:pPr>
            <a:r>
              <a:rPr lang="en-US" sz="2800">
                <a:solidFill>
                  <a:srgbClr val="002060"/>
                </a:solidFill>
              </a:rPr>
              <a:t>Số cách bỏ để không lá thư nào đúng địa chỉ</a:t>
            </a:r>
            <a:endParaRPr sz="2800">
              <a:solidFill>
                <a:srgbClr val="002060"/>
              </a:solidFill>
            </a:endParaRPr>
          </a:p>
          <a:p>
            <a:pPr indent="-342900" lvl="0" marL="342900" rtl="0" algn="l">
              <a:lnSpc>
                <a:spcPct val="100000"/>
              </a:lnSpc>
              <a:spcBef>
                <a:spcPts val="560"/>
              </a:spcBef>
              <a:spcAft>
                <a:spcPts val="0"/>
              </a:spcAft>
              <a:buClr>
                <a:srgbClr val="002060"/>
              </a:buClr>
              <a:buSzPts val="2800"/>
              <a:buFont typeface="Arial"/>
              <a:buNone/>
            </a:pPr>
            <a:r>
              <a:rPr lang="en-US" sz="2800">
                <a:solidFill>
                  <a:srgbClr val="002060"/>
                </a:solidFill>
              </a:rPr>
              <a:t>           n! - (n!/1! – n!/2! + … +(-1)</a:t>
            </a:r>
            <a:r>
              <a:rPr baseline="30000" lang="en-US" sz="2800">
                <a:solidFill>
                  <a:srgbClr val="002060"/>
                </a:solidFill>
              </a:rPr>
              <a:t>n-1 </a:t>
            </a:r>
            <a:r>
              <a:rPr lang="en-US" sz="2800">
                <a:solidFill>
                  <a:srgbClr val="002060"/>
                </a:solidFill>
              </a:rPr>
              <a:t>n!/n!</a:t>
            </a:r>
            <a:r>
              <a:rPr baseline="-25000" lang="en-US" sz="2800">
                <a:solidFill>
                  <a:srgbClr val="002060"/>
                </a:solidFill>
              </a:rPr>
              <a:t> </a:t>
            </a:r>
            <a:r>
              <a:rPr lang="en-US" sz="2800">
                <a:solidFill>
                  <a:srgbClr val="002060"/>
                </a:solidFill>
              </a:rPr>
              <a:t>)</a:t>
            </a:r>
            <a:endParaRPr sz="2800">
              <a:solidFill>
                <a:srgbClr val="000000"/>
              </a:solidFill>
            </a:endParaRPr>
          </a:p>
          <a:p>
            <a:pPr indent="-342900" lvl="0" marL="342900" rtl="0" algn="l">
              <a:lnSpc>
                <a:spcPct val="100000"/>
              </a:lnSpc>
              <a:spcBef>
                <a:spcPts val="560"/>
              </a:spcBef>
              <a:spcAft>
                <a:spcPts val="0"/>
              </a:spcAft>
              <a:buClr>
                <a:srgbClr val="002060"/>
              </a:buClr>
              <a:buSzPts val="2800"/>
              <a:buFont typeface="Arial"/>
              <a:buNone/>
            </a:pPr>
            <a:r>
              <a:rPr lang="en-US" sz="2800">
                <a:solidFill>
                  <a:srgbClr val="002060"/>
                </a:solidFill>
              </a:rPr>
              <a:t>           = n!(1 - 1/1! +1/2! + … -(-1)</a:t>
            </a:r>
            <a:r>
              <a:rPr baseline="30000" lang="en-US" sz="2800">
                <a:solidFill>
                  <a:srgbClr val="002060"/>
                </a:solidFill>
              </a:rPr>
              <a:t>n-1</a:t>
            </a:r>
            <a:r>
              <a:rPr lang="en-US" sz="2800">
                <a:solidFill>
                  <a:srgbClr val="002060"/>
                </a:solidFill>
              </a:rPr>
              <a:t>/n!</a:t>
            </a:r>
            <a:r>
              <a:rPr baseline="-25000" lang="en-US" sz="2800">
                <a:solidFill>
                  <a:srgbClr val="002060"/>
                </a:solidFill>
              </a:rPr>
              <a:t> </a:t>
            </a:r>
            <a:r>
              <a:rPr lang="en-US" sz="2800">
                <a:solidFill>
                  <a:srgbClr val="002060"/>
                </a:solidFill>
              </a:rPr>
              <a:t>)</a:t>
            </a:r>
            <a:endParaRPr sz="2800">
              <a:solidFill>
                <a:srgbClr val="000000"/>
              </a:solidFill>
            </a:endParaRPr>
          </a:p>
          <a:p>
            <a:pPr indent="-342900" lvl="0" marL="342900" rtl="0" algn="l">
              <a:lnSpc>
                <a:spcPct val="100000"/>
              </a:lnSpc>
              <a:spcBef>
                <a:spcPts val="560"/>
              </a:spcBef>
              <a:spcAft>
                <a:spcPts val="0"/>
              </a:spcAft>
              <a:buClr>
                <a:srgbClr val="002060"/>
              </a:buClr>
              <a:buSzPts val="2800"/>
              <a:buChar char="•"/>
            </a:pPr>
            <a:r>
              <a:rPr lang="en-US" sz="2800">
                <a:solidFill>
                  <a:srgbClr val="002060"/>
                </a:solidFill>
              </a:rPr>
              <a:t>Kết quả xác suất:</a:t>
            </a:r>
            <a:endParaRPr sz="2800">
              <a:solidFill>
                <a:srgbClr val="000000"/>
              </a:solidFill>
            </a:endParaRPr>
          </a:p>
          <a:p>
            <a:pPr indent="-342900" lvl="0" marL="342900" rtl="0" algn="l">
              <a:lnSpc>
                <a:spcPct val="100000"/>
              </a:lnSpc>
              <a:spcBef>
                <a:spcPts val="560"/>
              </a:spcBef>
              <a:spcAft>
                <a:spcPts val="0"/>
              </a:spcAft>
              <a:buClr>
                <a:srgbClr val="002060"/>
              </a:buClr>
              <a:buSzPts val="2800"/>
              <a:buFont typeface="Arial"/>
              <a:buNone/>
            </a:pPr>
            <a:r>
              <a:rPr lang="en-US" sz="2800">
                <a:solidFill>
                  <a:srgbClr val="002060"/>
                </a:solidFill>
              </a:rPr>
              <a:t>                        1 - 1/1! +1/2! + … -(-1)</a:t>
            </a:r>
            <a:r>
              <a:rPr baseline="30000" lang="en-US" sz="2800">
                <a:solidFill>
                  <a:srgbClr val="002060"/>
                </a:solidFill>
              </a:rPr>
              <a:t>n-1</a:t>
            </a:r>
            <a:r>
              <a:rPr lang="en-US" sz="2800">
                <a:solidFill>
                  <a:srgbClr val="002060"/>
                </a:solidFill>
              </a:rPr>
              <a:t>/n!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114005b7e15_1_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Tóm lại</a:t>
            </a:r>
            <a:endParaRPr/>
          </a:p>
        </p:txBody>
      </p:sp>
      <p:sp>
        <p:nvSpPr>
          <p:cNvPr id="678" name="Google Shape;678;g114005b7e15_1_0"/>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560"/>
              </a:spcBef>
              <a:spcAft>
                <a:spcPts val="0"/>
              </a:spcAft>
              <a:buClr>
                <a:srgbClr val="000000"/>
              </a:buClr>
              <a:buSzPts val="2400"/>
              <a:buChar char="●"/>
            </a:pPr>
            <a:r>
              <a:rPr lang="en-US" sz="2400">
                <a:latin typeface="Arial"/>
                <a:ea typeface="Arial"/>
                <a:cs typeface="Arial"/>
                <a:sym typeface="Arial"/>
              </a:rPr>
              <a:t>Nguyên lý cộng - Nguyên lý nhân</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Chỉnh hợp lặp -Chỉnh hợp không lặp</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Hoán vị - </a:t>
            </a:r>
            <a:r>
              <a:rPr lang="en-US" sz="2400">
                <a:latin typeface="Arial"/>
                <a:ea typeface="Arial"/>
                <a:cs typeface="Arial"/>
                <a:sym typeface="Arial"/>
              </a:rPr>
              <a:t>Hoán vị lặp</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Tổ hợp -</a:t>
            </a:r>
            <a:r>
              <a:rPr lang="en-US" sz="2400">
                <a:latin typeface="Arial"/>
                <a:ea typeface="Arial"/>
                <a:cs typeface="Arial"/>
                <a:sym typeface="Arial"/>
              </a:rPr>
              <a:t>Tổ hợp lặp</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Nguyên lý bù trừ.</a:t>
            </a:r>
            <a:endParaRPr sz="2400">
              <a:latin typeface="Arial"/>
              <a:ea typeface="Arial"/>
              <a:cs typeface="Arial"/>
              <a:sym typeface="Arial"/>
            </a:endParaRPr>
          </a:p>
          <a:p>
            <a:pPr indent="0" lvl="0" marL="457200" rtl="0" algn="l">
              <a:spcBef>
                <a:spcPts val="560"/>
              </a:spcBef>
              <a:spcAft>
                <a:spcPts val="0"/>
              </a:spcAft>
              <a:buNone/>
            </a:pPr>
            <a:r>
              <a:t/>
            </a:r>
            <a:endParaRPr sz="2400">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2" name="Shape 682"/>
        <p:cNvGrpSpPr/>
        <p:nvPr/>
      </p:nvGrpSpPr>
      <p:grpSpPr>
        <a:xfrm>
          <a:off x="0" y="0"/>
          <a:ext cx="0" cy="0"/>
          <a:chOff x="0" y="0"/>
          <a:chExt cx="0" cy="0"/>
        </a:xfrm>
      </p:grpSpPr>
      <p:sp>
        <p:nvSpPr>
          <p:cNvPr id="683" name="Google Shape;683;g81753c9695_0_62"/>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84" name="Google Shape;684;g81753c9695_0_62"/>
          <p:cNvSpPr/>
          <p:nvPr/>
        </p:nvSpPr>
        <p:spPr>
          <a:xfrm>
            <a:off x="1860650" y="2882350"/>
            <a:ext cx="4482956" cy="774807"/>
          </a:xfrm>
          <a:prstGeom prst="rect">
            <a:avLst/>
          </a:prstGeom>
        </p:spPr>
        <p:txBody>
          <a:bodyPr>
            <a:prstTxWarp prst="textPlain"/>
          </a:bodyPr>
          <a:lstStyle/>
          <a:p>
            <a:pPr lvl="0" algn="ctr"/>
            <a:r>
              <a:rPr b="1" i="1">
                <a:ln cap="flat" cmpd="sng" w="28575">
                  <a:solidFill>
                    <a:schemeClr val="lt1"/>
                  </a:solidFill>
                  <a:prstDash val="solid"/>
                  <a:round/>
                  <a:headEnd len="sm" w="sm" type="none"/>
                  <a:tailEnd len="sm" w="sm" type="none"/>
                </a:ln>
                <a:solidFill>
                  <a:schemeClr val="dk1"/>
                </a:solidFill>
                <a:latin typeface="Arial"/>
              </a:rPr>
              <a:t>Cảm Ơn!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2019-04-04T19:20:28Z</dcterms:created>
  <dc:creator>Division of University Communications</dc:creator>
</cp:coreProperties>
</file>