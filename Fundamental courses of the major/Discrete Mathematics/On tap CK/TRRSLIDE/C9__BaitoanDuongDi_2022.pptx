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y="6858000" cx="9144000"/>
  <p:notesSz cx="6858000" cy="9144000"/>
  <p:embeddedFontLst>
    <p:embeddedFont>
      <p:font typeface="Book Antiqua"/>
      <p:regular r:id="rId60"/>
      <p:bold r:id="rId61"/>
      <p:italic r:id="rId62"/>
      <p:boldItalic r:id="rId63"/>
    </p:embeddedFont>
    <p:embeddedFont>
      <p:font typeface="Noto Sans Symbols"/>
      <p:regular r:id="rId64"/>
      <p:bold r:id="rId65"/>
    </p:embeddedFont>
    <p:embeddedFont>
      <p:font typeface="Cambria Math"/>
      <p:regular r:id="rId6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67" roundtripDataSignature="AMtx7mgdC8dnqu4X8xDqzSe634tbiilG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8EAFFC7-EDB0-443D-8FE1-40579736F1DA}">
  <a:tblStyle styleId="{58EAFFC7-EDB0-443D-8FE1-40579736F1D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BookAntiqua-italic.fntdata"/><Relationship Id="rId61" Type="http://schemas.openxmlformats.org/officeDocument/2006/relationships/font" Target="fonts/BookAntiqua-bold.fntdata"/><Relationship Id="rId20" Type="http://schemas.openxmlformats.org/officeDocument/2006/relationships/slide" Target="slides/slide14.xml"/><Relationship Id="rId64" Type="http://schemas.openxmlformats.org/officeDocument/2006/relationships/font" Target="fonts/NotoSansSymbols-regular.fntdata"/><Relationship Id="rId63" Type="http://schemas.openxmlformats.org/officeDocument/2006/relationships/font" Target="fonts/BookAntiqua-boldItalic.fntdata"/><Relationship Id="rId22" Type="http://schemas.openxmlformats.org/officeDocument/2006/relationships/slide" Target="slides/slide16.xml"/><Relationship Id="rId66" Type="http://schemas.openxmlformats.org/officeDocument/2006/relationships/font" Target="fonts/CambriaMath-regular.fntdata"/><Relationship Id="rId21" Type="http://schemas.openxmlformats.org/officeDocument/2006/relationships/slide" Target="slides/slide15.xml"/><Relationship Id="rId65" Type="http://schemas.openxmlformats.org/officeDocument/2006/relationships/font" Target="fonts/NotoSansSymbols-bold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7" Type="http://customschemas.google.com/relationships/presentationmetadata" Target="metadata"/><Relationship Id="rId60" Type="http://schemas.openxmlformats.org/officeDocument/2006/relationships/font" Target="fonts/BookAntiqua-regular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Quan hệ một một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Quan hệ một nhiều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Quan hệ nhiều nhiều</a:t>
            </a:r>
            <a:endParaRPr/>
          </a:p>
        </p:txBody>
      </p:sp>
      <p:sp>
        <p:nvSpPr>
          <p:cNvPr id="120" name="Google Shape;120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Không tồn tại chu trình âm: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+ Đồ thị vô hướng không tồn tại</a:t>
            </a:r>
            <a:endParaRPr/>
          </a:p>
        </p:txBody>
      </p:sp>
      <p:sp>
        <p:nvSpPr>
          <p:cNvPr id="131" name="Google Shape;131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Không tồn tại chu trình âm: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+ Đồ thị vô hướng không tồn tại</a:t>
            </a:r>
            <a:endParaRPr/>
          </a:p>
        </p:txBody>
      </p:sp>
      <p:sp>
        <p:nvSpPr>
          <p:cNvPr id="159" name="Google Shape;159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Không tồn tại chu trình âm: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+ Đồ thị vô hướng không tồn tại</a:t>
            </a:r>
            <a:endParaRPr/>
          </a:p>
        </p:txBody>
      </p:sp>
      <p:sp>
        <p:nvSpPr>
          <p:cNvPr id="168" name="Google Shape;168;p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P(x) là đỉnh trước x trên đường đi ngắn nhất từ a đến 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P(z) giúp lần ngược các điểm ghi nhớ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Z1=P(z),Z2=P(Z1),….,Zn=P(Zn-1), a= P(Z)</a:t>
            </a:r>
            <a:endParaRPr/>
          </a:p>
        </p:txBody>
      </p:sp>
      <p:sp>
        <p:nvSpPr>
          <p:cNvPr id="187" name="Google Shape;187;p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+ Khảo sát các cạnh ở step 4 – S</a:t>
            </a:r>
            <a:r>
              <a:rPr lang="en-US"/>
              <a:t>ố </a:t>
            </a:r>
            <a:r>
              <a:rPr lang="en-US"/>
              <a:t>lần khảo s</a:t>
            </a:r>
            <a:r>
              <a:rPr lang="en-US"/>
              <a:t>át </a:t>
            </a:r>
            <a:r>
              <a:rPr lang="en-US"/>
              <a:t> các cạnh tối đa là n-1 (vì có n đỉnh)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+ step 4 vòng lặp chứa step 2 đến step 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   - Vòng lặp thực hiện đến khi z không thuộc T. Nên số vòng lặp xử lý xấu nhất là n (vì T có n đỉnh)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   - f(n) = n*(n-1) &lt;= n*n</a:t>
            </a:r>
            <a:endParaRPr/>
          </a:p>
        </p:txBody>
      </p:sp>
      <p:sp>
        <p:nvSpPr>
          <p:cNvPr id="197" name="Google Shape;197;p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0" name="Google Shape;59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Không tồn tại chu trình âm: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+ Đồ thị vô hướng không tồn tại</a:t>
            </a:r>
            <a:endParaRPr/>
          </a:p>
        </p:txBody>
      </p:sp>
      <p:sp>
        <p:nvSpPr>
          <p:cNvPr id="591" name="Google Shape;591;p2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9" name="Google Shape;62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2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8" name="Google Shape;668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2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6" name="Google Shape;68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Không tồn tại chu trình âm: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+ Đồ thị vô hướng không tồn tại</a:t>
            </a:r>
            <a:endParaRPr/>
          </a:p>
        </p:txBody>
      </p:sp>
      <p:sp>
        <p:nvSpPr>
          <p:cNvPr id="687" name="Google Shape;687;p2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5" name="Google Shape;695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P(x) là đỉnh trước x trên đường đi ngắn nhất từ a đến 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2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5" name="Google Shape;705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P(z) giúp lần ngược các điểm ghi nhớ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Z1=P(z),Z2=P(Z1),….,Zn=P(Zn-1), a= P(Z)</a:t>
            </a:r>
            <a:endParaRPr/>
          </a:p>
        </p:txBody>
      </p:sp>
      <p:sp>
        <p:nvSpPr>
          <p:cNvPr id="706" name="Google Shape;706;p2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5" name="Google Shape;715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2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3" name="Google Shape;733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2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3" name="Google Shape;773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3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2" name="Google Shape;782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Không tồn tại chu trình âm: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+ Đồ thị vô hướng không tồn tại</a:t>
            </a:r>
            <a:endParaRPr/>
          </a:p>
        </p:txBody>
      </p:sp>
      <p:sp>
        <p:nvSpPr>
          <p:cNvPr id="783" name="Google Shape;783;p3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1" name="Google Shape;791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3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0" name="Google Shape;800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lt1"/>
                </a:solidFill>
              </a:rPr>
              <a:t>// Khởi tạo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lt1"/>
                </a:solidFill>
              </a:rPr>
              <a:t>For i:=1 to n do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lt1"/>
                </a:solidFill>
              </a:rPr>
              <a:t>     For j:=1 to n do{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lt1"/>
                </a:solidFill>
              </a:rPr>
              <a:t>         d[i,j] := a[i,j];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lt1"/>
                </a:solidFill>
              </a:rPr>
              <a:t>         p[i,j] := i;     }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lt1"/>
                </a:solidFill>
              </a:rPr>
              <a:t>// Bước lặp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lt1"/>
                </a:solidFill>
              </a:rPr>
              <a:t>For k:=1 to n do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lt1"/>
                </a:solidFill>
              </a:rPr>
              <a:t>   For i:=1 to n do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lt1"/>
                </a:solidFill>
              </a:rPr>
              <a:t>      For j:=1 to n do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lt1"/>
                </a:solidFill>
              </a:rPr>
              <a:t>        If(d[i,j]&gt;d[i,k]+d[k,j]){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lt1"/>
                </a:solidFill>
              </a:rPr>
              <a:t>             d[i,j] := d[i,k] + d[k,j];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lt1"/>
                </a:solidFill>
              </a:rPr>
              <a:t>     	p[i,j] := p[k,j];     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lt1"/>
                </a:solidFill>
              </a:rPr>
              <a:t>	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3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1" name="Google Shape;811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3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1" name="Google Shape;821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3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5" name="Google Shape;855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3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2" name="Google Shape;892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3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3" name="Google Shape;933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3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8" name="Google Shape;968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4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4" name="Google Shape;1014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4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048" name="Google Shape;1048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4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081" name="Google Shape;1081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2" name="Google Shape;1082;p4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114" name="Google Shape;1114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5" name="Google Shape;1115;p4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147" name="Google Shape;1147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8" name="Google Shape;1148;p4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p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180" name="Google Shape;1180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1" name="Google Shape;1181;p4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p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221" name="Google Shape;1221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2" name="Google Shape;1222;p4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4" name="Google Shape;1254;p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0" name="Google Shape;1260;p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4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6" name="Google Shape;1266;p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2" name="Google Shape;1272;p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8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0" name="Google Shape;1300;p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6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Google Shape;1308;p5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án Rời Rạc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5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5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55"/>
          <p:cNvSpPr txBox="1"/>
          <p:nvPr>
            <p:ph idx="10" type="dt"/>
          </p:nvPr>
        </p:nvSpPr>
        <p:spPr>
          <a:xfrm>
            <a:off x="3810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5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5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5" name="Google Shape;25;p5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6" name="Google Shape;26;p5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7" name="Google Shape;27;p5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8" name="Google Shape;28;p5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6"/>
          <p:cNvSpPr txBox="1"/>
          <p:nvPr>
            <p:ph idx="11" type="ftr"/>
          </p:nvPr>
        </p:nvSpPr>
        <p:spPr>
          <a:xfrm>
            <a:off x="3048000" y="6492875"/>
            <a:ext cx="3733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6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4" name="Google Shape;34;p5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5" name="Google Shape;35;p5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7"/>
          <p:cNvSpPr txBox="1"/>
          <p:nvPr>
            <p:ph idx="11" type="ftr"/>
          </p:nvPr>
        </p:nvSpPr>
        <p:spPr>
          <a:xfrm>
            <a:off x="3048000" y="65532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7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8"/>
          <p:cNvSpPr txBox="1"/>
          <p:nvPr>
            <p:ph idx="1" type="subTitle"/>
          </p:nvPr>
        </p:nvSpPr>
        <p:spPr>
          <a:xfrm>
            <a:off x="1371600" y="39624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1" name="Google Shape;41;p5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8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p58"/>
          <p:cNvSpPr txBox="1"/>
          <p:nvPr>
            <p:ph idx="11" type="ftr"/>
          </p:nvPr>
        </p:nvSpPr>
        <p:spPr>
          <a:xfrm>
            <a:off x="2514600" y="6536938"/>
            <a:ext cx="34290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9"/>
          <p:cNvSpPr txBox="1"/>
          <p:nvPr>
            <p:ph idx="11" type="ftr"/>
          </p:nvPr>
        </p:nvSpPr>
        <p:spPr>
          <a:xfrm>
            <a:off x="2971800" y="6492875"/>
            <a:ext cx="3505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9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2" name="Google Shape;52;p60"/>
          <p:cNvSpPr txBox="1"/>
          <p:nvPr>
            <p:ph idx="10" type="dt"/>
          </p:nvPr>
        </p:nvSpPr>
        <p:spPr>
          <a:xfrm>
            <a:off x="2286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0"/>
          <p:cNvSpPr txBox="1"/>
          <p:nvPr>
            <p:ph idx="11" type="ftr"/>
          </p:nvPr>
        </p:nvSpPr>
        <p:spPr>
          <a:xfrm>
            <a:off x="2743200" y="6553200"/>
            <a:ext cx="3581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60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6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6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61"/>
          <p:cNvSpPr txBox="1"/>
          <p:nvPr>
            <p:ph idx="11" type="ftr"/>
          </p:nvPr>
        </p:nvSpPr>
        <p:spPr>
          <a:xfrm>
            <a:off x="2667000" y="6477000"/>
            <a:ext cx="3352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1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62"/>
          <p:cNvSpPr txBox="1"/>
          <p:nvPr>
            <p:ph idx="11" type="ftr"/>
          </p:nvPr>
        </p:nvSpPr>
        <p:spPr>
          <a:xfrm>
            <a:off x="2895600" y="6553200"/>
            <a:ext cx="3581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62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6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7" name="Google Shape;67;p6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8" name="Google Shape;68;p6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63"/>
          <p:cNvSpPr txBox="1"/>
          <p:nvPr>
            <p:ph idx="11" type="ftr"/>
          </p:nvPr>
        </p:nvSpPr>
        <p:spPr>
          <a:xfrm>
            <a:off x="2819400" y="6492875"/>
            <a:ext cx="3429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63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6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4" name="Google Shape;74;p6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5" name="Google Shape;75;p6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64"/>
          <p:cNvSpPr txBox="1"/>
          <p:nvPr>
            <p:ph idx="11" type="ftr"/>
          </p:nvPr>
        </p:nvSpPr>
        <p:spPr>
          <a:xfrm>
            <a:off x="2895600" y="6613525"/>
            <a:ext cx="34290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64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2 Content">
  <p:cSld name="Title, Text, and 2 Conten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5"/>
          <p:cNvSpPr txBox="1"/>
          <p:nvPr>
            <p:ph idx="1" type="body"/>
          </p:nvPr>
        </p:nvSpPr>
        <p:spPr>
          <a:xfrm>
            <a:off x="304800" y="381000"/>
            <a:ext cx="3962400" cy="58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65"/>
          <p:cNvSpPr txBox="1"/>
          <p:nvPr>
            <p:ph idx="2" type="body"/>
          </p:nvPr>
        </p:nvSpPr>
        <p:spPr>
          <a:xfrm>
            <a:off x="4419600" y="381000"/>
            <a:ext cx="39624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65"/>
          <p:cNvSpPr txBox="1"/>
          <p:nvPr>
            <p:ph idx="3" type="body"/>
          </p:nvPr>
        </p:nvSpPr>
        <p:spPr>
          <a:xfrm>
            <a:off x="4419600" y="3390900"/>
            <a:ext cx="39624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6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65"/>
          <p:cNvSpPr txBox="1"/>
          <p:nvPr>
            <p:ph idx="11" type="ftr"/>
          </p:nvPr>
        </p:nvSpPr>
        <p:spPr>
          <a:xfrm>
            <a:off x="2743200" y="6492875"/>
            <a:ext cx="396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65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1" name="Google Shape;11;p5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" name="Google Shape;12;p5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3" name="Google Shape;13;p5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4" name="Google Shape;14;p5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Picture1.png" id="15" name="Google Shape;15;p5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175" y="0"/>
            <a:ext cx="9137650" cy="685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nvhieuqt@dut.udn.vn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Relationship Id="rId4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16.png"/><Relationship Id="rId6" Type="http://schemas.openxmlformats.org/officeDocument/2006/relationships/image" Target="../media/image13.png"/><Relationship Id="rId7" Type="http://schemas.openxmlformats.org/officeDocument/2006/relationships/image" Target="../media/image19.png"/><Relationship Id="rId8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1" Type="http://schemas.openxmlformats.org/officeDocument/2006/relationships/image" Target="../media/image29.png"/><Relationship Id="rId10" Type="http://schemas.openxmlformats.org/officeDocument/2006/relationships/image" Target="../media/image27.png"/><Relationship Id="rId13" Type="http://schemas.openxmlformats.org/officeDocument/2006/relationships/image" Target="../media/image22.png"/><Relationship Id="rId1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9" Type="http://schemas.openxmlformats.org/officeDocument/2006/relationships/image" Target="../media/image38.png"/><Relationship Id="rId5" Type="http://schemas.openxmlformats.org/officeDocument/2006/relationships/image" Target="../media/image3.png"/><Relationship Id="rId6" Type="http://schemas.openxmlformats.org/officeDocument/2006/relationships/image" Target="../media/image23.png"/><Relationship Id="rId7" Type="http://schemas.openxmlformats.org/officeDocument/2006/relationships/image" Target="../media/image33.png"/><Relationship Id="rId8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1" Type="http://schemas.openxmlformats.org/officeDocument/2006/relationships/image" Target="../media/image24.png"/><Relationship Id="rId10" Type="http://schemas.openxmlformats.org/officeDocument/2006/relationships/image" Target="../media/image31.png"/><Relationship Id="rId12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9" Type="http://schemas.openxmlformats.org/officeDocument/2006/relationships/image" Target="../media/image30.png"/><Relationship Id="rId5" Type="http://schemas.openxmlformats.org/officeDocument/2006/relationships/image" Target="../media/image32.png"/><Relationship Id="rId6" Type="http://schemas.openxmlformats.org/officeDocument/2006/relationships/image" Target="../media/image41.png"/><Relationship Id="rId7" Type="http://schemas.openxmlformats.org/officeDocument/2006/relationships/image" Target="../media/image35.png"/><Relationship Id="rId8" Type="http://schemas.openxmlformats.org/officeDocument/2006/relationships/image" Target="../media/image38.png"/></Relationships>
</file>

<file path=ppt/slides/_rels/slide17.xml.rels><?xml version="1.0" encoding="UTF-8" standalone="yes"?><Relationships xmlns="http://schemas.openxmlformats.org/package/2006/relationships"><Relationship Id="rId11" Type="http://schemas.openxmlformats.org/officeDocument/2006/relationships/image" Target="../media/image36.png"/><Relationship Id="rId10" Type="http://schemas.openxmlformats.org/officeDocument/2006/relationships/image" Target="../media/image42.png"/><Relationship Id="rId12" Type="http://schemas.openxmlformats.org/officeDocument/2006/relationships/image" Target="../media/image45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8.png"/><Relationship Id="rId4" Type="http://schemas.openxmlformats.org/officeDocument/2006/relationships/image" Target="../media/image30.png"/><Relationship Id="rId9" Type="http://schemas.openxmlformats.org/officeDocument/2006/relationships/image" Target="../media/image44.png"/><Relationship Id="rId5" Type="http://schemas.openxmlformats.org/officeDocument/2006/relationships/image" Target="../media/image34.png"/><Relationship Id="rId6" Type="http://schemas.openxmlformats.org/officeDocument/2006/relationships/image" Target="../media/image24.png"/><Relationship Id="rId7" Type="http://schemas.openxmlformats.org/officeDocument/2006/relationships/image" Target="../media/image22.png"/><Relationship Id="rId8" Type="http://schemas.openxmlformats.org/officeDocument/2006/relationships/image" Target="../media/image43.png"/></Relationships>
</file>

<file path=ppt/slides/_rels/slide18.xml.rels><?xml version="1.0" encoding="UTF-8" standalone="yes"?><Relationships xmlns="http://schemas.openxmlformats.org/package/2006/relationships"><Relationship Id="rId11" Type="http://schemas.openxmlformats.org/officeDocument/2006/relationships/image" Target="../media/image40.png"/><Relationship Id="rId10" Type="http://schemas.openxmlformats.org/officeDocument/2006/relationships/image" Target="../media/image56.png"/><Relationship Id="rId12" Type="http://schemas.openxmlformats.org/officeDocument/2006/relationships/image" Target="../media/image49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8.png"/><Relationship Id="rId4" Type="http://schemas.openxmlformats.org/officeDocument/2006/relationships/image" Target="../media/image30.png"/><Relationship Id="rId9" Type="http://schemas.openxmlformats.org/officeDocument/2006/relationships/image" Target="../media/image46.png"/><Relationship Id="rId5" Type="http://schemas.openxmlformats.org/officeDocument/2006/relationships/image" Target="../media/image34.png"/><Relationship Id="rId6" Type="http://schemas.openxmlformats.org/officeDocument/2006/relationships/image" Target="../media/image39.png"/><Relationship Id="rId7" Type="http://schemas.openxmlformats.org/officeDocument/2006/relationships/image" Target="../media/image47.png"/><Relationship Id="rId8" Type="http://schemas.openxmlformats.org/officeDocument/2006/relationships/image" Target="../media/image37.png"/></Relationships>
</file>

<file path=ppt/slides/_rels/slide19.xml.rels><?xml version="1.0" encoding="UTF-8" standalone="yes"?><Relationships xmlns="http://schemas.openxmlformats.org/package/2006/relationships"><Relationship Id="rId11" Type="http://schemas.openxmlformats.org/officeDocument/2006/relationships/image" Target="../media/image50.png"/><Relationship Id="rId10" Type="http://schemas.openxmlformats.org/officeDocument/2006/relationships/image" Target="../media/image68.png"/><Relationship Id="rId12" Type="http://schemas.openxmlformats.org/officeDocument/2006/relationships/image" Target="../media/image59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8.png"/><Relationship Id="rId4" Type="http://schemas.openxmlformats.org/officeDocument/2006/relationships/image" Target="../media/image30.png"/><Relationship Id="rId9" Type="http://schemas.openxmlformats.org/officeDocument/2006/relationships/image" Target="../media/image62.png"/><Relationship Id="rId5" Type="http://schemas.openxmlformats.org/officeDocument/2006/relationships/image" Target="../media/image34.png"/><Relationship Id="rId6" Type="http://schemas.openxmlformats.org/officeDocument/2006/relationships/image" Target="../media/image39.png"/><Relationship Id="rId7" Type="http://schemas.openxmlformats.org/officeDocument/2006/relationships/image" Target="../media/image53.png"/><Relationship Id="rId8" Type="http://schemas.openxmlformats.org/officeDocument/2006/relationships/image" Target="../media/image7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4.png"/><Relationship Id="rId4" Type="http://schemas.openxmlformats.org/officeDocument/2006/relationships/image" Target="../media/image5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0.png"/><Relationship Id="rId4" Type="http://schemas.openxmlformats.org/officeDocument/2006/relationships/image" Target="../media/image6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73.png"/><Relationship Id="rId4" Type="http://schemas.openxmlformats.org/officeDocument/2006/relationships/image" Target="../media/image76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73.png"/><Relationship Id="rId4" Type="http://schemas.openxmlformats.org/officeDocument/2006/relationships/image" Target="../media/image7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75.png"/><Relationship Id="rId4" Type="http://schemas.openxmlformats.org/officeDocument/2006/relationships/image" Target="../media/image7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75.png"/><Relationship Id="rId4" Type="http://schemas.openxmlformats.org/officeDocument/2006/relationships/image" Target="../media/image72.png"/><Relationship Id="rId5" Type="http://schemas.openxmlformats.org/officeDocument/2006/relationships/image" Target="../media/image78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80.png"/><Relationship Id="rId4" Type="http://schemas.openxmlformats.org/officeDocument/2006/relationships/image" Target="../media/image6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80.png"/><Relationship Id="rId4" Type="http://schemas.openxmlformats.org/officeDocument/2006/relationships/image" Target="../media/image66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80.png"/><Relationship Id="rId4" Type="http://schemas.openxmlformats.org/officeDocument/2006/relationships/image" Target="../media/image66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80.png"/><Relationship Id="rId4" Type="http://schemas.openxmlformats.org/officeDocument/2006/relationships/image" Target="../media/image66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79.png"/><Relationship Id="rId4" Type="http://schemas.openxmlformats.org/officeDocument/2006/relationships/image" Target="../media/image85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79.png"/><Relationship Id="rId4" Type="http://schemas.openxmlformats.org/officeDocument/2006/relationships/image" Target="../media/image85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82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83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87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8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BÀI 9</a:t>
            </a:r>
            <a:endParaRPr/>
          </a:p>
        </p:txBody>
      </p:sp>
      <p:sp>
        <p:nvSpPr>
          <p:cNvPr id="90" name="Google Shape;90;p1"/>
          <p:cNvSpPr txBox="1"/>
          <p:nvPr>
            <p:ph idx="1" type="body"/>
          </p:nvPr>
        </p:nvSpPr>
        <p:spPr>
          <a:xfrm>
            <a:off x="1066800" y="2057400"/>
            <a:ext cx="6858000" cy="2133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b="1" lang="en-US" sz="3600"/>
              <a:t>BÀI TOÁN ĐƯỜNG ĐI NGẮN NHẤT TRÊN ĐỒ THỊ</a:t>
            </a:r>
            <a:endParaRPr/>
          </a:p>
        </p:txBody>
      </p:sp>
      <p:sp>
        <p:nvSpPr>
          <p:cNvPr id="91" name="Google Shape;91;p1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4876800" y="4572000"/>
            <a:ext cx="3581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Giáo viên:  TS. </a:t>
            </a:r>
            <a:r>
              <a:rPr b="1" i="0" lang="en-US" sz="1600" u="none" cap="none" strike="noStrike">
                <a:solidFill>
                  <a:srgbClr val="002060"/>
                </a:solidFill>
                <a:latin typeface="Book Antiqua"/>
                <a:ea typeface="Book Antiqua"/>
                <a:cs typeface="Book Antiqua"/>
                <a:sym typeface="Book Antiqua"/>
              </a:rPr>
              <a:t>Nguyễn Văn Hiệu</a:t>
            </a:r>
            <a:endParaRPr b="1" i="0" sz="2000" u="none" cap="none" strike="noStrike">
              <a:solidFill>
                <a:srgbClr val="002060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002060"/>
                </a:solidFill>
                <a:latin typeface="Book Antiqua"/>
                <a:ea typeface="Book Antiqua"/>
                <a:cs typeface="Book Antiqua"/>
                <a:sym typeface="Book Antiqua"/>
              </a:rPr>
              <a:t>Email: </a:t>
            </a:r>
            <a:r>
              <a:rPr b="0" i="0" lang="en-US" sz="2000" u="sng" cap="none" strike="noStrike">
                <a:solidFill>
                  <a:srgbClr val="002060"/>
                </a:solidFill>
                <a:latin typeface="Book Antiqua"/>
                <a:ea typeface="Book Antiqua"/>
                <a:cs typeface="Book Antiqua"/>
                <a:sym typeface="Book Antiqu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nvhieuqt@dut.udn.vn</a:t>
            </a:r>
            <a:endParaRPr b="0" i="0" sz="2000" u="none" cap="none" strike="noStrike">
              <a:solidFill>
                <a:srgbClr val="002060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70C0"/>
                </a:solidFill>
              </a:rPr>
              <a:t>Nội dung</a:t>
            </a:r>
            <a:endParaRPr/>
          </a:p>
        </p:txBody>
      </p:sp>
      <p:sp>
        <p:nvSpPr>
          <p:cNvPr id="98" name="Google Shape;98;p2"/>
          <p:cNvSpPr txBox="1"/>
          <p:nvPr>
            <p:ph idx="1" type="body"/>
          </p:nvPr>
        </p:nvSpPr>
        <p:spPr>
          <a:xfrm>
            <a:off x="685800" y="1600200"/>
            <a:ext cx="80010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sz="2800"/>
              <a:t> Giới thiệu 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sz="2800"/>
              <a:t> Bài toán</a:t>
            </a:r>
            <a:endParaRPr sz="28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sz="2800"/>
              <a:t> Thuật toán Dijkstra</a:t>
            </a:r>
            <a:endParaRPr sz="28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sz="2800"/>
              <a:t> Thuật toán Bellman-Ford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sz="2800"/>
              <a:t> Thuật toán Floyd – Warshall</a:t>
            </a:r>
            <a:endParaRPr sz="28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sz="2800"/>
              <a:t> Ứng dụng</a:t>
            </a:r>
            <a:endParaRPr sz="2800"/>
          </a:p>
        </p:txBody>
      </p:sp>
      <p:sp>
        <p:nvSpPr>
          <p:cNvPr id="99" name="Google Shape;99;p2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2014, Discrete Mathematics</a:t>
            </a:r>
            <a:endParaRPr/>
          </a:p>
        </p:txBody>
      </p:sp>
      <p:sp>
        <p:nvSpPr>
          <p:cNvPr id="100" name="Google Shape;100;p2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>
            <p:ph type="title"/>
          </p:nvPr>
        </p:nvSpPr>
        <p:spPr>
          <a:xfrm>
            <a:off x="609600" y="381000"/>
            <a:ext cx="8077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B050"/>
                </a:solidFill>
              </a:rPr>
              <a:t>Giới thiệu</a:t>
            </a:r>
            <a:endParaRPr b="1" sz="3600">
              <a:solidFill>
                <a:srgbClr val="00B050"/>
              </a:solidFill>
            </a:endParaRPr>
          </a:p>
        </p:txBody>
      </p:sp>
      <p:sp>
        <p:nvSpPr>
          <p:cNvPr id="106" name="Google Shape;106;p3"/>
          <p:cNvSpPr txBox="1"/>
          <p:nvPr>
            <p:ph idx="1" type="body"/>
          </p:nvPr>
        </p:nvSpPr>
        <p:spPr>
          <a:xfrm>
            <a:off x="990600" y="1600200"/>
            <a:ext cx="7543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❑"/>
            </a:pPr>
            <a:r>
              <a:rPr b="1" lang="en-US"/>
              <a:t>Đồ thị trọng số </a:t>
            </a:r>
            <a:r>
              <a:rPr lang="en-US"/>
              <a:t>là đồ thị có gắn </a:t>
            </a:r>
            <a:r>
              <a:rPr b="1" lang="en-US"/>
              <a:t>một </a:t>
            </a:r>
            <a:r>
              <a:rPr b="1" lang="en-US"/>
              <a:t>giá trị </a:t>
            </a:r>
            <a:r>
              <a:rPr lang="en-US"/>
              <a:t>cho mỗi cạnh hoặc mỗi cung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❑"/>
            </a:pPr>
            <a:r>
              <a:rPr lang="en-US"/>
              <a:t>Giá trị là số</a:t>
            </a:r>
            <a:r>
              <a:rPr lang="en-US"/>
              <a:t> nguyên </a:t>
            </a:r>
            <a:r>
              <a:rPr lang="en-US"/>
              <a:t>hoặc</a:t>
            </a:r>
            <a:r>
              <a:rPr lang="en-US"/>
              <a:t> số thực, </a:t>
            </a:r>
            <a:r>
              <a:rPr lang="en-US"/>
              <a:t>giá trị mang ý nghĩa thực tế: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Char char="★"/>
            </a:pPr>
            <a:r>
              <a:rPr lang="en-US">
                <a:solidFill>
                  <a:srgbClr val="FF0000"/>
                </a:solidFill>
              </a:rPr>
              <a:t> giá trị có thể là </a:t>
            </a:r>
            <a:r>
              <a:rPr lang="en-US">
                <a:solidFill>
                  <a:srgbClr val="FF0000"/>
                </a:solidFill>
              </a:rPr>
              <a:t>thời gian;</a:t>
            </a:r>
            <a:endParaRPr>
              <a:solidFill>
                <a:srgbClr val="FF0000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Char char="★"/>
            </a:pPr>
            <a:r>
              <a:rPr lang="en-US">
                <a:solidFill>
                  <a:srgbClr val="FF0000"/>
                </a:solidFill>
              </a:rPr>
              <a:t> </a:t>
            </a:r>
            <a:r>
              <a:rPr lang="en-US">
                <a:solidFill>
                  <a:srgbClr val="FF0000"/>
                </a:solidFill>
              </a:rPr>
              <a:t>giá trị có thể là </a:t>
            </a:r>
            <a:r>
              <a:rPr lang="en-US">
                <a:solidFill>
                  <a:srgbClr val="FF0000"/>
                </a:solidFill>
              </a:rPr>
              <a:t>chi phí;</a:t>
            </a:r>
            <a:endParaRPr>
              <a:solidFill>
                <a:srgbClr val="FF0000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Char char="★"/>
            </a:pPr>
            <a:r>
              <a:rPr lang="en-US">
                <a:solidFill>
                  <a:srgbClr val="FF0000"/>
                </a:solidFill>
              </a:rPr>
              <a:t> </a:t>
            </a:r>
            <a:r>
              <a:rPr lang="en-US">
                <a:solidFill>
                  <a:srgbClr val="FF0000"/>
                </a:solidFill>
              </a:rPr>
              <a:t>giá trị có thể là</a:t>
            </a:r>
            <a:r>
              <a:rPr lang="en-US">
                <a:solidFill>
                  <a:srgbClr val="FF0000"/>
                </a:solidFill>
              </a:rPr>
              <a:t> tốc độ;</a:t>
            </a:r>
            <a:endParaRPr>
              <a:solidFill>
                <a:srgbClr val="FF0000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Char char="★"/>
            </a:pPr>
            <a:r>
              <a:rPr lang="en-US" sz="2800">
                <a:solidFill>
                  <a:srgbClr val="FF0000"/>
                </a:solidFill>
              </a:rPr>
              <a:t> giá trị có thể là </a:t>
            </a:r>
            <a:r>
              <a:rPr lang="en-US" sz="2800">
                <a:solidFill>
                  <a:srgbClr val="FF0000"/>
                </a:solidFill>
              </a:rPr>
              <a:t>cự ly.</a:t>
            </a:r>
            <a:endParaRPr/>
          </a:p>
        </p:txBody>
      </p:sp>
      <p:sp>
        <p:nvSpPr>
          <p:cNvPr id="107" name="Google Shape;107;p3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108" name="Google Shape;108;p3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>
            <p:ph type="title"/>
          </p:nvPr>
        </p:nvSpPr>
        <p:spPr>
          <a:xfrm>
            <a:off x="609600" y="381000"/>
            <a:ext cx="8077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B050"/>
                </a:solidFill>
              </a:rPr>
              <a:t>Bài toán</a:t>
            </a:r>
            <a:endParaRPr b="1" sz="3600">
              <a:solidFill>
                <a:srgbClr val="00B050"/>
              </a:solidFill>
            </a:endParaRPr>
          </a:p>
        </p:txBody>
      </p:sp>
      <p:sp>
        <p:nvSpPr>
          <p:cNvPr id="114" name="Google Shape;114;p4"/>
          <p:cNvSpPr txBox="1"/>
          <p:nvPr>
            <p:ph idx="1" type="body"/>
          </p:nvPr>
        </p:nvSpPr>
        <p:spPr>
          <a:xfrm>
            <a:off x="838200" y="1600200"/>
            <a:ext cx="7620000" cy="452596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839" r="0" t="-188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115" name="Google Shape;115;p4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116" name="Google Shape;116;p4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B050"/>
                </a:solidFill>
              </a:rPr>
              <a:t>Bài toán</a:t>
            </a:r>
            <a:endParaRPr b="1" sz="3600">
              <a:solidFill>
                <a:srgbClr val="00B050"/>
              </a:solidFill>
            </a:endParaRPr>
          </a:p>
        </p:txBody>
      </p:sp>
      <p:sp>
        <p:nvSpPr>
          <p:cNvPr id="123" name="Google Shape;123;p5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124" name="Google Shape;124;p5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5" name="Google Shape;125;p5"/>
          <p:cNvSpPr txBox="1"/>
          <p:nvPr/>
        </p:nvSpPr>
        <p:spPr>
          <a:xfrm>
            <a:off x="762000" y="1524000"/>
            <a:ext cx="7315200" cy="1077218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Bài toán 1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:Tìm đường đi ngắn nhất từ đỉnh a và đỉnh z</a:t>
            </a:r>
            <a:endParaRPr/>
          </a:p>
        </p:txBody>
      </p:sp>
      <p:sp>
        <p:nvSpPr>
          <p:cNvPr id="126" name="Google Shape;126;p5"/>
          <p:cNvSpPr txBox="1"/>
          <p:nvPr/>
        </p:nvSpPr>
        <p:spPr>
          <a:xfrm>
            <a:off x="762000" y="2819400"/>
            <a:ext cx="7315200" cy="1077218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Bài toán 2</a:t>
            </a: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Tìm đường đi ngắn nhất từ đỉnh a đến tất cả các đỉnh còn lại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5"/>
          <p:cNvSpPr txBox="1"/>
          <p:nvPr/>
        </p:nvSpPr>
        <p:spPr>
          <a:xfrm>
            <a:off x="762000" y="4191000"/>
            <a:ext cx="7315200" cy="1077218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Bài toán 3: </a:t>
            </a: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Tìm đường đi ngắn nhất giữa mọi cặp đỉnh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"/>
          <p:cNvSpPr txBox="1"/>
          <p:nvPr>
            <p:ph type="title"/>
          </p:nvPr>
        </p:nvSpPr>
        <p:spPr>
          <a:xfrm>
            <a:off x="609600" y="381000"/>
            <a:ext cx="8077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B050"/>
                </a:solidFill>
              </a:rPr>
              <a:t>Bài toán</a:t>
            </a:r>
            <a:endParaRPr b="1" sz="3600">
              <a:solidFill>
                <a:srgbClr val="00B050"/>
              </a:solidFill>
            </a:endParaRPr>
          </a:p>
        </p:txBody>
      </p:sp>
      <p:sp>
        <p:nvSpPr>
          <p:cNvPr id="134" name="Google Shape;134;p6"/>
          <p:cNvSpPr txBox="1"/>
          <p:nvPr>
            <p:ph idx="1" type="body"/>
          </p:nvPr>
        </p:nvSpPr>
        <p:spPr>
          <a:xfrm>
            <a:off x="838200" y="1600200"/>
            <a:ext cx="7467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oto Sans Symbols"/>
              <a:buChar char="❑"/>
            </a:pPr>
            <a:r>
              <a:rPr lang="en-US">
                <a:solidFill>
                  <a:schemeClr val="dk2"/>
                </a:solidFill>
              </a:rPr>
              <a:t> Để chắc chắn tìm được đường đi ngắn nhất thì điều kiện</a:t>
            </a:r>
            <a:endParaRPr>
              <a:solidFill>
                <a:schemeClr val="dk2"/>
              </a:solidFill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oto Sans Symbols"/>
              <a:buChar char="❑"/>
            </a:pPr>
            <a:r>
              <a:rPr lang="en-US">
                <a:solidFill>
                  <a:schemeClr val="dk2"/>
                </a:solidFill>
              </a:rPr>
              <a:t> Phải tồn tại đường đi:</a:t>
            </a:r>
            <a:endParaRPr>
              <a:solidFill>
                <a:schemeClr val="dk2"/>
              </a:solidFill>
            </a:endParaRPr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❑"/>
            </a:pPr>
            <a:r>
              <a:rPr lang="en-US">
                <a:solidFill>
                  <a:schemeClr val="dk2"/>
                </a:solidFill>
              </a:rPr>
              <a:t> Đồ thị vô hướng </a:t>
            </a:r>
            <a:r>
              <a:rPr b="1" lang="en-US">
                <a:solidFill>
                  <a:schemeClr val="dk2"/>
                </a:solidFill>
              </a:rPr>
              <a:t>liên thông.</a:t>
            </a:r>
            <a:endParaRPr b="1">
              <a:solidFill>
                <a:schemeClr val="dk2"/>
              </a:solidFill>
            </a:endParaRPr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❑"/>
            </a:pPr>
            <a:r>
              <a:rPr lang="en-US">
                <a:solidFill>
                  <a:schemeClr val="dk2"/>
                </a:solidFill>
              </a:rPr>
              <a:t> </a:t>
            </a:r>
            <a:r>
              <a:rPr lang="en-US">
                <a:solidFill>
                  <a:schemeClr val="dk2"/>
                </a:solidFill>
              </a:rPr>
              <a:t>Đồ</a:t>
            </a:r>
            <a:r>
              <a:rPr lang="en-US">
                <a:solidFill>
                  <a:schemeClr val="dk2"/>
                </a:solidFill>
              </a:rPr>
              <a:t> thị có hướng </a:t>
            </a:r>
            <a:r>
              <a:rPr b="1" lang="en-US">
                <a:solidFill>
                  <a:schemeClr val="dk2"/>
                </a:solidFill>
              </a:rPr>
              <a:t>liên thông mạnh.</a:t>
            </a:r>
            <a:endParaRPr b="1">
              <a:solidFill>
                <a:schemeClr val="dk2"/>
              </a:solidFill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oto Sans Symbols"/>
              <a:buChar char="❑"/>
            </a:pPr>
            <a:r>
              <a:rPr lang="en-US">
                <a:solidFill>
                  <a:schemeClr val="dk2"/>
                </a:solidFill>
              </a:rPr>
              <a:t> Không tồn tại chu trình âm </a:t>
            </a:r>
            <a:r>
              <a:rPr lang="en-US">
                <a:solidFill>
                  <a:schemeClr val="dk2"/>
                </a:solidFill>
              </a:rPr>
              <a:t>và cạnh âm: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❑"/>
            </a:pPr>
            <a:r>
              <a:rPr lang="en-US">
                <a:solidFill>
                  <a:schemeClr val="dk2"/>
                </a:solidFill>
              </a:rPr>
              <a:t> Đồ thị </a:t>
            </a:r>
            <a:r>
              <a:rPr lang="en-US">
                <a:solidFill>
                  <a:schemeClr val="dk2"/>
                </a:solidFill>
              </a:rPr>
              <a:t>có </a:t>
            </a:r>
            <a:r>
              <a:rPr lang="en-US">
                <a:solidFill>
                  <a:schemeClr val="dk2"/>
                </a:solidFill>
              </a:rPr>
              <a:t>hướng không tồn tại </a:t>
            </a:r>
            <a:r>
              <a:rPr b="1" lang="en-US">
                <a:solidFill>
                  <a:schemeClr val="dk2"/>
                </a:solidFill>
              </a:rPr>
              <a:t>chu trình âm.</a:t>
            </a:r>
            <a:endParaRPr b="1">
              <a:solidFill>
                <a:schemeClr val="dk2"/>
              </a:solidFill>
            </a:endParaRPr>
          </a:p>
          <a:p>
            <a:pPr indent="-228600" lvl="2" marL="11430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❑"/>
            </a:pPr>
            <a:r>
              <a:rPr lang="en-US">
                <a:solidFill>
                  <a:schemeClr val="dk2"/>
                </a:solidFill>
              </a:rPr>
              <a:t> </a:t>
            </a:r>
            <a:r>
              <a:rPr lang="en-US">
                <a:solidFill>
                  <a:schemeClr val="dk2"/>
                </a:solidFill>
              </a:rPr>
              <a:t>Đồ thị vô hướng không tồn tại </a:t>
            </a:r>
            <a:r>
              <a:rPr b="1" lang="en-US">
                <a:solidFill>
                  <a:schemeClr val="dk2"/>
                </a:solidFill>
              </a:rPr>
              <a:t>cạnh âm.</a:t>
            </a:r>
            <a:endParaRPr b="1">
              <a:solidFill>
                <a:schemeClr val="dk2"/>
              </a:solidFill>
            </a:endParaRPr>
          </a:p>
          <a:p>
            <a:pPr indent="0" lvl="2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1079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35" name="Google Shape;135;p6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136" name="Google Shape;136;p6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70C0"/>
                </a:solidFill>
              </a:rPr>
              <a:t>Bài toán</a:t>
            </a:r>
            <a:endParaRPr b="1" sz="3600">
              <a:solidFill>
                <a:srgbClr val="0070C0"/>
              </a:solidFill>
            </a:endParaRPr>
          </a:p>
        </p:txBody>
      </p:sp>
      <p:sp>
        <p:nvSpPr>
          <p:cNvPr id="142" name="Google Shape;142;p7"/>
          <p:cNvSpPr txBox="1"/>
          <p:nvPr>
            <p:ph idx="1" type="body"/>
          </p:nvPr>
        </p:nvSpPr>
        <p:spPr>
          <a:xfrm>
            <a:off x="457200" y="1295400"/>
            <a:ext cx="8229600" cy="4830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sz="2800"/>
              <a:t>Đường đi ngắn nhất từ Etna đến Oldtown là:</a:t>
            </a:r>
            <a:endParaRPr/>
          </a:p>
          <a:p>
            <a:pPr indent="0" lvl="0" marL="0" rt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Etna – Bangor – Orono – </a:t>
            </a:r>
            <a:r>
              <a:rPr lang="en-US" sz="2400"/>
              <a:t>Old Town</a:t>
            </a:r>
            <a:endParaRPr sz="24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sz="2800"/>
              <a:t>Đường đi ngắn nhất từ Hermae đến Etna là:</a:t>
            </a:r>
            <a:endParaRPr/>
          </a:p>
          <a:p>
            <a:pPr indent="0" lvl="0" marL="0" rt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Hermae – Hampdea – Bangor - Etn</a:t>
            </a:r>
            <a:r>
              <a:rPr lang="en-US" sz="1800"/>
              <a:t>a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144" name="Google Shape;144;p7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5" name="Google Shape;14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258529"/>
            <a:ext cx="7239000" cy="289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7"/>
          <p:cNvSpPr/>
          <p:nvPr/>
        </p:nvSpPr>
        <p:spPr>
          <a:xfrm>
            <a:off x="2971800" y="1265903"/>
            <a:ext cx="457200" cy="76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5715000" y="1251155"/>
            <a:ext cx="838200" cy="4571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"/>
          <p:cNvSpPr txBox="1"/>
          <p:nvPr>
            <p:ph type="title"/>
          </p:nvPr>
        </p:nvSpPr>
        <p:spPr>
          <a:xfrm>
            <a:off x="457200" y="274638"/>
            <a:ext cx="8229600" cy="944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B0F0"/>
                </a:solidFill>
              </a:rPr>
              <a:t>Bài toán</a:t>
            </a:r>
            <a:endParaRPr sz="3600"/>
          </a:p>
        </p:txBody>
      </p:sp>
      <p:pic>
        <p:nvPicPr>
          <p:cNvPr id="153" name="Google Shape;15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0" y="1295401"/>
            <a:ext cx="7010400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0600" y="2895600"/>
            <a:ext cx="7010400" cy="2019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8"/>
          <p:cNvSpPr txBox="1"/>
          <p:nvPr/>
        </p:nvSpPr>
        <p:spPr>
          <a:xfrm>
            <a:off x="2209800" y="5181600"/>
            <a:ext cx="4572000" cy="1323439"/>
          </a:xfrm>
          <a:prstGeom prst="rect">
            <a:avLst/>
          </a:prstGeom>
          <a:solidFill>
            <a:srgbClr val="0000C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If ( </a:t>
            </a:r>
            <a:r>
              <a:rPr b="1" lang="en-US" sz="20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d[v] &gt; d[u] + c[u,v]) </a:t>
            </a:r>
            <a:r>
              <a:rPr b="1"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lang="en-US" sz="20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d[v] = d[u] + c[u,v];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	T[v] = u;</a:t>
            </a:r>
            <a:r>
              <a:rPr b="1"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"/>
          <p:cNvSpPr txBox="1"/>
          <p:nvPr>
            <p:ph type="title"/>
          </p:nvPr>
        </p:nvSpPr>
        <p:spPr>
          <a:xfrm>
            <a:off x="609600" y="381000"/>
            <a:ext cx="8077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B050"/>
                </a:solidFill>
              </a:rPr>
              <a:t>Thuật toán Dijkstra </a:t>
            </a:r>
            <a:endParaRPr/>
          </a:p>
        </p:txBody>
      </p:sp>
      <p:sp>
        <p:nvSpPr>
          <p:cNvPr id="162" name="Google Shape;162;p9"/>
          <p:cNvSpPr txBox="1"/>
          <p:nvPr>
            <p:ph idx="1" type="body"/>
          </p:nvPr>
        </p:nvSpPr>
        <p:spPr>
          <a:xfrm>
            <a:off x="838200" y="1242476"/>
            <a:ext cx="7467600" cy="48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oto Sans Symbols"/>
              <a:buChar char="❑"/>
            </a:pPr>
            <a:r>
              <a:rPr lang="en-US">
                <a:solidFill>
                  <a:schemeClr val="dk2"/>
                </a:solidFill>
              </a:rPr>
              <a:t> </a:t>
            </a:r>
            <a:r>
              <a:rPr lang="en-US" sz="3000">
                <a:solidFill>
                  <a:schemeClr val="dk2"/>
                </a:solidFill>
              </a:rPr>
              <a:t>Mục tiêu: Tìm đường đi ngắn nhất từ đỉnh a đến đỉnh z.</a:t>
            </a:r>
            <a:endParaRPr sz="3000"/>
          </a:p>
          <a:p>
            <a:pPr indent="-3302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Noto Sans Symbols"/>
              <a:buChar char="❑"/>
            </a:pPr>
            <a:r>
              <a:rPr lang="en-US" sz="3000">
                <a:solidFill>
                  <a:schemeClr val="dk2"/>
                </a:solidFill>
              </a:rPr>
              <a:t> </a:t>
            </a:r>
            <a:r>
              <a:rPr b="1" lang="en-US" sz="3000">
                <a:solidFill>
                  <a:schemeClr val="dk2"/>
                </a:solidFill>
              </a:rPr>
              <a:t>Điều kiện</a:t>
            </a:r>
            <a:r>
              <a:rPr lang="en-US" sz="3000">
                <a:solidFill>
                  <a:schemeClr val="dk2"/>
                </a:solidFill>
              </a:rPr>
              <a:t>: </a:t>
            </a:r>
            <a:r>
              <a:rPr lang="en-US" sz="3000">
                <a:solidFill>
                  <a:schemeClr val="dk2"/>
                </a:solidFill>
              </a:rPr>
              <a:t>w(u,v)&gt; 0 </a:t>
            </a:r>
            <a:r>
              <a:rPr lang="en-US" sz="3000">
                <a:solidFill>
                  <a:schemeClr val="dk2"/>
                </a:solidFill>
              </a:rPr>
              <a:t>với mọi (u,v) </a:t>
            </a:r>
            <a:r>
              <a:rPr lang="en-US" sz="3000">
                <a:solidFill>
                  <a:schemeClr val="dk2"/>
                </a:solidFill>
              </a:rPr>
              <a:t>thuộc E:</a:t>
            </a:r>
            <a:endParaRPr sz="3000">
              <a:solidFill>
                <a:schemeClr val="dk2"/>
              </a:solidFill>
            </a:endParaRPr>
          </a:p>
          <a:p>
            <a:pPr indent="-273050" lvl="1" marL="74295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1600"/>
              <a:buChar char="–"/>
            </a:pPr>
            <a:r>
              <a:rPr lang="en-US" sz="2600">
                <a:solidFill>
                  <a:schemeClr val="dk2"/>
                </a:solidFill>
              </a:rPr>
              <a:t>Nếu đồ thị có hướng cung dương</a:t>
            </a:r>
            <a:endParaRPr sz="2600">
              <a:solidFill>
                <a:schemeClr val="dk2"/>
              </a:solidFill>
            </a:endParaRPr>
          </a:p>
          <a:p>
            <a:pPr indent="-273050" lvl="1" marL="74295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1600"/>
              <a:buChar char="–"/>
            </a:pPr>
            <a:r>
              <a:rPr lang="en-US" sz="2600">
                <a:solidFill>
                  <a:schemeClr val="dk2"/>
                </a:solidFill>
              </a:rPr>
              <a:t>Nếu đồ thị vô hướng cạnh dương</a:t>
            </a:r>
            <a:endParaRPr sz="2600">
              <a:solidFill>
                <a:schemeClr val="dk2"/>
              </a:solidFill>
            </a:endParaRPr>
          </a:p>
          <a:p>
            <a:pPr indent="-3302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Noto Sans Symbols"/>
              <a:buChar char="❑"/>
            </a:pPr>
            <a:r>
              <a:rPr lang="en-US" sz="3000">
                <a:solidFill>
                  <a:schemeClr val="dk2"/>
                </a:solidFill>
              </a:rPr>
              <a:t> </a:t>
            </a:r>
            <a:r>
              <a:rPr b="1" lang="en-US" sz="3000">
                <a:solidFill>
                  <a:schemeClr val="dk2"/>
                </a:solidFill>
              </a:rPr>
              <a:t>L(u)</a:t>
            </a:r>
            <a:r>
              <a:rPr lang="en-US" sz="3000">
                <a:solidFill>
                  <a:schemeClr val="dk2"/>
                </a:solidFill>
              </a:rPr>
              <a:t> - chiều dài ngắn nhất từ a đến u.</a:t>
            </a:r>
            <a:endParaRPr sz="3000"/>
          </a:p>
          <a:p>
            <a:pPr indent="-3302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Noto Sans Symbols"/>
              <a:buChar char="❑"/>
            </a:pPr>
            <a:r>
              <a:rPr lang="en-US" sz="3000">
                <a:solidFill>
                  <a:schemeClr val="dk2"/>
                </a:solidFill>
              </a:rPr>
              <a:t> Thuật toán kết thúc </a:t>
            </a:r>
            <a:r>
              <a:rPr lang="en-US" sz="3000">
                <a:solidFill>
                  <a:schemeClr val="dk2"/>
                </a:solidFill>
              </a:rPr>
              <a:t>khi xác định được </a:t>
            </a:r>
            <a:r>
              <a:rPr b="1" lang="en-US" sz="3000">
                <a:solidFill>
                  <a:schemeClr val="dk2"/>
                </a:solidFill>
              </a:rPr>
              <a:t>L(z)</a:t>
            </a:r>
            <a:endParaRPr b="1" sz="3000"/>
          </a:p>
          <a:p>
            <a:pPr indent="0" lvl="1" marL="4572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63" name="Google Shape;163;p9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164" name="Google Shape;164;p9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"/>
          <p:cNvSpPr txBox="1"/>
          <p:nvPr>
            <p:ph type="title"/>
          </p:nvPr>
        </p:nvSpPr>
        <p:spPr>
          <a:xfrm>
            <a:off x="609600" y="381000"/>
            <a:ext cx="8077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B050"/>
                </a:solidFill>
              </a:rPr>
              <a:t>Thuật toán Dijkstra </a:t>
            </a:r>
            <a:endParaRPr/>
          </a:p>
        </p:txBody>
      </p:sp>
      <p:sp>
        <p:nvSpPr>
          <p:cNvPr id="171" name="Google Shape;171;p10"/>
          <p:cNvSpPr txBox="1"/>
          <p:nvPr>
            <p:ph idx="1" type="body"/>
          </p:nvPr>
        </p:nvSpPr>
        <p:spPr>
          <a:xfrm>
            <a:off x="838200" y="1600200"/>
            <a:ext cx="7467600" cy="452596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877" r="0" t="-188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172" name="Google Shape;172;p10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173" name="Google Shape;173;p10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1"/>
          <p:cNvSpPr txBox="1"/>
          <p:nvPr>
            <p:ph type="title"/>
          </p:nvPr>
        </p:nvSpPr>
        <p:spPr>
          <a:xfrm>
            <a:off x="609600" y="381000"/>
            <a:ext cx="8077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B050"/>
                </a:solidFill>
              </a:rPr>
              <a:t>Thuật toán Dijkstra </a:t>
            </a:r>
            <a:endParaRPr/>
          </a:p>
        </p:txBody>
      </p:sp>
      <p:sp>
        <p:nvSpPr>
          <p:cNvPr id="180" name="Google Shape;180;p11"/>
          <p:cNvSpPr txBox="1"/>
          <p:nvPr>
            <p:ph idx="1" type="body"/>
          </p:nvPr>
        </p:nvSpPr>
        <p:spPr>
          <a:xfrm>
            <a:off x="838200" y="1295401"/>
            <a:ext cx="7467600" cy="1676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815" l="-1712" r="0" t="-363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181" name="Google Shape;181;p11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182" name="Google Shape;182;p11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3" name="Google Shape;183;p11"/>
          <p:cNvSpPr/>
          <p:nvPr/>
        </p:nvSpPr>
        <p:spPr>
          <a:xfrm>
            <a:off x="838200" y="3200400"/>
            <a:ext cx="7391400" cy="323165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451" l="-1731" r="0" t="-188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/>
          <p:nvPr>
            <p:ph type="title"/>
          </p:nvPr>
        </p:nvSpPr>
        <p:spPr>
          <a:xfrm>
            <a:off x="609600" y="381000"/>
            <a:ext cx="8077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B050"/>
                </a:solidFill>
              </a:rPr>
              <a:t>Thuật toán Dijkstra </a:t>
            </a:r>
            <a:endParaRPr/>
          </a:p>
        </p:txBody>
      </p:sp>
      <p:sp>
        <p:nvSpPr>
          <p:cNvPr id="190" name="Google Shape;190;p12"/>
          <p:cNvSpPr txBox="1"/>
          <p:nvPr>
            <p:ph idx="1" type="body"/>
          </p:nvPr>
        </p:nvSpPr>
        <p:spPr>
          <a:xfrm>
            <a:off x="838200" y="1295401"/>
            <a:ext cx="7391400" cy="1905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8971" l="-1731" r="0" t="-320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191" name="Google Shape;191;p12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192" name="Google Shape;192;p12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3" name="Google Shape;193;p12"/>
          <p:cNvSpPr/>
          <p:nvPr/>
        </p:nvSpPr>
        <p:spPr>
          <a:xfrm>
            <a:off x="853440" y="3429000"/>
            <a:ext cx="7391400" cy="267765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5238" l="-1648" r="0" t="-227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3"/>
          <p:cNvSpPr txBox="1"/>
          <p:nvPr>
            <p:ph type="title"/>
          </p:nvPr>
        </p:nvSpPr>
        <p:spPr>
          <a:xfrm>
            <a:off x="609600" y="381000"/>
            <a:ext cx="8077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B050"/>
                </a:solidFill>
              </a:rPr>
              <a:t>Thuật toán Dijkstra </a:t>
            </a:r>
            <a:endParaRPr/>
          </a:p>
        </p:txBody>
      </p:sp>
      <p:sp>
        <p:nvSpPr>
          <p:cNvPr id="200" name="Google Shape;200;p13"/>
          <p:cNvSpPr txBox="1"/>
          <p:nvPr>
            <p:ph idx="1" type="body"/>
          </p:nvPr>
        </p:nvSpPr>
        <p:spPr>
          <a:xfrm>
            <a:off x="838200" y="1295400"/>
            <a:ext cx="7391400" cy="2133599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rPr lang="en-US" sz="2800" u="sng">
                <a:solidFill>
                  <a:schemeClr val="dk2"/>
                </a:solidFill>
              </a:rPr>
              <a:t>Độ phức tạp của thuật toán: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rPr b="1" lang="en-US" sz="2800">
                <a:solidFill>
                  <a:schemeClr val="dk2"/>
                </a:solidFill>
              </a:rPr>
              <a:t>                        f(n) = 0(n*n)</a:t>
            </a:r>
            <a:endParaRPr b="1" sz="2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rPr b="1" lang="en-US" sz="2800">
                <a:solidFill>
                  <a:schemeClr val="dk2"/>
                </a:solidFill>
              </a:rPr>
              <a:t>f(n) - số lần duyệt cạnh/ cung của thuật toán</a:t>
            </a:r>
            <a:endParaRPr b="1" sz="2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 sz="2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>
              <a:solidFill>
                <a:schemeClr val="dk2"/>
              </a:solidFill>
            </a:endParaRPr>
          </a:p>
        </p:txBody>
      </p:sp>
      <p:sp>
        <p:nvSpPr>
          <p:cNvPr id="201" name="Google Shape;201;p13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202" name="Google Shape;202;p13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3" name="Google Shape;203;p13"/>
          <p:cNvSpPr txBox="1"/>
          <p:nvPr/>
        </p:nvSpPr>
        <p:spPr>
          <a:xfrm>
            <a:off x="838200" y="3581400"/>
            <a:ext cx="7391400" cy="25908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lang="en-US" sz="2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Thuật toán Dijkstra là tối ưu</a:t>
            </a:r>
            <a:endParaRPr b="1" sz="2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aseline="-25000" lang="en-US" sz="2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- có số cạnh là n(n-1)/2</a:t>
            </a:r>
            <a:endParaRPr/>
          </a:p>
          <a:p>
            <a:pPr indent="0" lvl="0" marL="0" marR="0" rtl="0" algn="l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Tìm đường đi ngắn nhất từ a đến z phải khảo sát qua mỗi cạnh một lần.</a:t>
            </a:r>
            <a:endParaRPr/>
          </a:p>
          <a:p>
            <a:pPr indent="0" lvl="0" marL="0" marR="0" rtl="0" algn="l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Thuật giải khảo sát ít nhất 0(n*n)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8" name="Google Shape;208;p14"/>
          <p:cNvCxnSpPr/>
          <p:nvPr/>
        </p:nvCxnSpPr>
        <p:spPr>
          <a:xfrm flipH="1" rot="10800000">
            <a:off x="1107972" y="2491248"/>
            <a:ext cx="424631" cy="999818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209" name="Google Shape;209;p14"/>
          <p:cNvCxnSpPr/>
          <p:nvPr/>
        </p:nvCxnSpPr>
        <p:spPr>
          <a:xfrm>
            <a:off x="1524000" y="2514600"/>
            <a:ext cx="1279423" cy="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210" name="Google Shape;210;p14"/>
          <p:cNvCxnSpPr/>
          <p:nvPr/>
        </p:nvCxnSpPr>
        <p:spPr>
          <a:xfrm rot="10800000">
            <a:off x="1524000" y="2514600"/>
            <a:ext cx="479323" cy="1890252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211" name="Google Shape;211;p14"/>
          <p:cNvCxnSpPr/>
          <p:nvPr/>
        </p:nvCxnSpPr>
        <p:spPr>
          <a:xfrm>
            <a:off x="1066800" y="3491066"/>
            <a:ext cx="914400" cy="913786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212" name="Google Shape;212;p14"/>
          <p:cNvCxnSpPr/>
          <p:nvPr/>
        </p:nvCxnSpPr>
        <p:spPr>
          <a:xfrm>
            <a:off x="2003323" y="4404852"/>
            <a:ext cx="1273277" cy="14749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213" name="Google Shape;213;p14"/>
          <p:cNvCxnSpPr/>
          <p:nvPr/>
        </p:nvCxnSpPr>
        <p:spPr>
          <a:xfrm flipH="1" rot="10800000">
            <a:off x="2003323" y="2538566"/>
            <a:ext cx="800100" cy="19050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214" name="Google Shape;214;p14"/>
          <p:cNvCxnSpPr/>
          <p:nvPr/>
        </p:nvCxnSpPr>
        <p:spPr>
          <a:xfrm>
            <a:off x="2893142" y="2491248"/>
            <a:ext cx="838200" cy="931606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215" name="Google Shape;215;p14"/>
          <p:cNvCxnSpPr/>
          <p:nvPr/>
        </p:nvCxnSpPr>
        <p:spPr>
          <a:xfrm rot="10800000">
            <a:off x="2895600" y="2491248"/>
            <a:ext cx="416642" cy="1913604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216" name="Google Shape;216;p14"/>
          <p:cNvCxnSpPr/>
          <p:nvPr/>
        </p:nvCxnSpPr>
        <p:spPr>
          <a:xfrm flipH="1" rot="10800000">
            <a:off x="3352800" y="3467100"/>
            <a:ext cx="394519" cy="937752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217" name="Google Shape;217;p14"/>
          <p:cNvSpPr/>
          <p:nvPr/>
        </p:nvSpPr>
        <p:spPr>
          <a:xfrm>
            <a:off x="964022" y="3422853"/>
            <a:ext cx="287900" cy="257481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/>
          </a:p>
        </p:txBody>
      </p:sp>
      <p:sp>
        <p:nvSpPr>
          <p:cNvPr id="218" name="Google Shape;218;p14"/>
          <p:cNvSpPr/>
          <p:nvPr/>
        </p:nvSpPr>
        <p:spPr>
          <a:xfrm>
            <a:off x="1380050" y="2385859"/>
            <a:ext cx="287900" cy="257481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sp>
        <p:nvSpPr>
          <p:cNvPr id="219" name="Google Shape;219;p14"/>
          <p:cNvSpPr/>
          <p:nvPr/>
        </p:nvSpPr>
        <p:spPr>
          <a:xfrm>
            <a:off x="2749192" y="2409825"/>
            <a:ext cx="287900" cy="257481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  <p:sp>
        <p:nvSpPr>
          <p:cNvPr id="220" name="Google Shape;220;p14"/>
          <p:cNvSpPr/>
          <p:nvPr/>
        </p:nvSpPr>
        <p:spPr>
          <a:xfrm>
            <a:off x="3603369" y="3317772"/>
            <a:ext cx="287900" cy="257481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endParaRPr/>
          </a:p>
        </p:txBody>
      </p:sp>
      <p:sp>
        <p:nvSpPr>
          <p:cNvPr id="221" name="Google Shape;221;p14"/>
          <p:cNvSpPr/>
          <p:nvPr/>
        </p:nvSpPr>
        <p:spPr>
          <a:xfrm>
            <a:off x="1875811" y="4314825"/>
            <a:ext cx="287900" cy="257481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/>
          </a:p>
        </p:txBody>
      </p:sp>
      <p:sp>
        <p:nvSpPr>
          <p:cNvPr id="222" name="Google Shape;222;p14"/>
          <p:cNvSpPr/>
          <p:nvPr/>
        </p:nvSpPr>
        <p:spPr>
          <a:xfrm>
            <a:off x="3168292" y="4283485"/>
            <a:ext cx="287900" cy="257481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/>
          </a:p>
        </p:txBody>
      </p:sp>
      <p:sp>
        <p:nvSpPr>
          <p:cNvPr id="223" name="Google Shape;223;p14"/>
          <p:cNvSpPr txBox="1"/>
          <p:nvPr/>
        </p:nvSpPr>
        <p:spPr>
          <a:xfrm>
            <a:off x="1251922" y="3005569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224" name="Google Shape;224;p14"/>
          <p:cNvSpPr txBox="1"/>
          <p:nvPr/>
        </p:nvSpPr>
        <p:spPr>
          <a:xfrm>
            <a:off x="1738782" y="3218205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225" name="Google Shape;225;p14"/>
          <p:cNvSpPr txBox="1"/>
          <p:nvPr/>
        </p:nvSpPr>
        <p:spPr>
          <a:xfrm>
            <a:off x="1230009" y="3772203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226" name="Google Shape;226;p14"/>
          <p:cNvSpPr txBox="1"/>
          <p:nvPr/>
        </p:nvSpPr>
        <p:spPr>
          <a:xfrm>
            <a:off x="2003323" y="2538566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227" name="Google Shape;227;p14"/>
          <p:cNvSpPr txBox="1"/>
          <p:nvPr/>
        </p:nvSpPr>
        <p:spPr>
          <a:xfrm>
            <a:off x="3425115" y="2807403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sp>
        <p:nvSpPr>
          <p:cNvPr id="228" name="Google Shape;228;p14"/>
          <p:cNvSpPr txBox="1"/>
          <p:nvPr/>
        </p:nvSpPr>
        <p:spPr>
          <a:xfrm>
            <a:off x="3581301" y="3763293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229" name="Google Shape;229;p14"/>
          <p:cNvSpPr txBox="1"/>
          <p:nvPr/>
        </p:nvSpPr>
        <p:spPr>
          <a:xfrm>
            <a:off x="3156110" y="3402871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230" name="Google Shape;230;p14"/>
          <p:cNvSpPr txBox="1"/>
          <p:nvPr/>
        </p:nvSpPr>
        <p:spPr>
          <a:xfrm>
            <a:off x="2525770" y="4450014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/>
          </a:p>
        </p:txBody>
      </p:sp>
      <p:sp>
        <p:nvSpPr>
          <p:cNvPr id="231" name="Google Shape;231;p14"/>
          <p:cNvSpPr txBox="1"/>
          <p:nvPr/>
        </p:nvSpPr>
        <p:spPr>
          <a:xfrm>
            <a:off x="2412390" y="3446512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cxnSp>
        <p:nvCxnSpPr>
          <p:cNvPr id="232" name="Google Shape;232;p14"/>
          <p:cNvCxnSpPr/>
          <p:nvPr/>
        </p:nvCxnSpPr>
        <p:spPr>
          <a:xfrm flipH="1" rot="10800000">
            <a:off x="5286576" y="2466672"/>
            <a:ext cx="424631" cy="999818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233" name="Google Shape;233;p14"/>
          <p:cNvCxnSpPr/>
          <p:nvPr/>
        </p:nvCxnSpPr>
        <p:spPr>
          <a:xfrm>
            <a:off x="5702604" y="2490024"/>
            <a:ext cx="1279423" cy="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234" name="Google Shape;234;p14"/>
          <p:cNvCxnSpPr/>
          <p:nvPr/>
        </p:nvCxnSpPr>
        <p:spPr>
          <a:xfrm rot="10800000">
            <a:off x="5702604" y="2490024"/>
            <a:ext cx="479323" cy="1890252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235" name="Google Shape;235;p14"/>
          <p:cNvCxnSpPr/>
          <p:nvPr/>
        </p:nvCxnSpPr>
        <p:spPr>
          <a:xfrm>
            <a:off x="5245404" y="3466490"/>
            <a:ext cx="914400" cy="913786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236" name="Google Shape;236;p14"/>
          <p:cNvCxnSpPr/>
          <p:nvPr/>
        </p:nvCxnSpPr>
        <p:spPr>
          <a:xfrm>
            <a:off x="6181927" y="4380276"/>
            <a:ext cx="1273277" cy="14749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237" name="Google Shape;237;p14"/>
          <p:cNvCxnSpPr/>
          <p:nvPr/>
        </p:nvCxnSpPr>
        <p:spPr>
          <a:xfrm flipH="1" rot="10800000">
            <a:off x="6181927" y="2513990"/>
            <a:ext cx="800100" cy="19050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238" name="Google Shape;238;p14"/>
          <p:cNvCxnSpPr/>
          <p:nvPr/>
        </p:nvCxnSpPr>
        <p:spPr>
          <a:xfrm>
            <a:off x="7071746" y="2466672"/>
            <a:ext cx="838200" cy="931606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239" name="Google Shape;239;p14"/>
          <p:cNvCxnSpPr/>
          <p:nvPr/>
        </p:nvCxnSpPr>
        <p:spPr>
          <a:xfrm rot="10800000">
            <a:off x="7074204" y="2466672"/>
            <a:ext cx="416642" cy="1913604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240" name="Google Shape;240;p14"/>
          <p:cNvCxnSpPr/>
          <p:nvPr/>
        </p:nvCxnSpPr>
        <p:spPr>
          <a:xfrm flipH="1" rot="10800000">
            <a:off x="7531404" y="3442524"/>
            <a:ext cx="394519" cy="937752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241" name="Google Shape;241;p14"/>
          <p:cNvSpPr/>
          <p:nvPr/>
        </p:nvSpPr>
        <p:spPr>
          <a:xfrm>
            <a:off x="5142626" y="3398277"/>
            <a:ext cx="287900" cy="257481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/>
          </a:p>
        </p:txBody>
      </p:sp>
      <p:sp>
        <p:nvSpPr>
          <p:cNvPr id="242" name="Google Shape;242;p14"/>
          <p:cNvSpPr/>
          <p:nvPr/>
        </p:nvSpPr>
        <p:spPr>
          <a:xfrm>
            <a:off x="5558654" y="2361283"/>
            <a:ext cx="287900" cy="257481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sp>
        <p:nvSpPr>
          <p:cNvPr id="243" name="Google Shape;243;p14"/>
          <p:cNvSpPr/>
          <p:nvPr/>
        </p:nvSpPr>
        <p:spPr>
          <a:xfrm>
            <a:off x="6927796" y="2385249"/>
            <a:ext cx="287900" cy="257481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  <p:sp>
        <p:nvSpPr>
          <p:cNvPr id="244" name="Google Shape;244;p14"/>
          <p:cNvSpPr/>
          <p:nvPr/>
        </p:nvSpPr>
        <p:spPr>
          <a:xfrm>
            <a:off x="7781973" y="3293196"/>
            <a:ext cx="287900" cy="257481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endParaRPr/>
          </a:p>
        </p:txBody>
      </p:sp>
      <p:sp>
        <p:nvSpPr>
          <p:cNvPr id="245" name="Google Shape;245;p14"/>
          <p:cNvSpPr/>
          <p:nvPr/>
        </p:nvSpPr>
        <p:spPr>
          <a:xfrm>
            <a:off x="6054415" y="4290249"/>
            <a:ext cx="287900" cy="257481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/>
          </a:p>
        </p:txBody>
      </p:sp>
      <p:sp>
        <p:nvSpPr>
          <p:cNvPr id="246" name="Google Shape;246;p14"/>
          <p:cNvSpPr/>
          <p:nvPr/>
        </p:nvSpPr>
        <p:spPr>
          <a:xfrm>
            <a:off x="7346896" y="4258909"/>
            <a:ext cx="287900" cy="257481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/>
          </a:p>
        </p:txBody>
      </p:sp>
      <p:sp>
        <p:nvSpPr>
          <p:cNvPr id="247" name="Google Shape;247;p14"/>
          <p:cNvSpPr txBox="1"/>
          <p:nvPr/>
        </p:nvSpPr>
        <p:spPr>
          <a:xfrm>
            <a:off x="5430526" y="2980993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248" name="Google Shape;248;p14"/>
          <p:cNvSpPr txBox="1"/>
          <p:nvPr/>
        </p:nvSpPr>
        <p:spPr>
          <a:xfrm>
            <a:off x="5917386" y="3193629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249" name="Google Shape;249;p14"/>
          <p:cNvSpPr txBox="1"/>
          <p:nvPr/>
        </p:nvSpPr>
        <p:spPr>
          <a:xfrm>
            <a:off x="5408613" y="3747627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250" name="Google Shape;250;p14"/>
          <p:cNvSpPr txBox="1"/>
          <p:nvPr/>
        </p:nvSpPr>
        <p:spPr>
          <a:xfrm>
            <a:off x="6181927" y="2513990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251" name="Google Shape;251;p14"/>
          <p:cNvSpPr txBox="1"/>
          <p:nvPr/>
        </p:nvSpPr>
        <p:spPr>
          <a:xfrm>
            <a:off x="7603719" y="2782827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sp>
        <p:nvSpPr>
          <p:cNvPr id="252" name="Google Shape;252;p14"/>
          <p:cNvSpPr txBox="1"/>
          <p:nvPr/>
        </p:nvSpPr>
        <p:spPr>
          <a:xfrm>
            <a:off x="7759905" y="3738717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253" name="Google Shape;253;p14"/>
          <p:cNvSpPr txBox="1"/>
          <p:nvPr/>
        </p:nvSpPr>
        <p:spPr>
          <a:xfrm>
            <a:off x="7334714" y="3378295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254" name="Google Shape;254;p14"/>
          <p:cNvSpPr txBox="1"/>
          <p:nvPr/>
        </p:nvSpPr>
        <p:spPr>
          <a:xfrm>
            <a:off x="6704374" y="4425438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/>
          </a:p>
        </p:txBody>
      </p:sp>
      <p:sp>
        <p:nvSpPr>
          <p:cNvPr id="255" name="Google Shape;255;p14"/>
          <p:cNvSpPr txBox="1"/>
          <p:nvPr/>
        </p:nvSpPr>
        <p:spPr>
          <a:xfrm>
            <a:off x="6590994" y="3421936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256" name="Google Shape;256;p14"/>
          <p:cNvSpPr txBox="1"/>
          <p:nvPr/>
        </p:nvSpPr>
        <p:spPr>
          <a:xfrm>
            <a:off x="4766186" y="3680334"/>
            <a:ext cx="608013" cy="36933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6666" l="-8998" r="0" t="-833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257" name="Google Shape;257;p14"/>
          <p:cNvSpPr txBox="1"/>
          <p:nvPr/>
        </p:nvSpPr>
        <p:spPr>
          <a:xfrm>
            <a:off x="5286576" y="1905000"/>
            <a:ext cx="608013" cy="3693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4999" l="0" r="0" t="-833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258" name="Google Shape;258;p14"/>
          <p:cNvSpPr txBox="1"/>
          <p:nvPr/>
        </p:nvSpPr>
        <p:spPr>
          <a:xfrm>
            <a:off x="6882833" y="1897626"/>
            <a:ext cx="608013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4589" l="0" r="0" t="-819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259" name="Google Shape;259;p14"/>
          <p:cNvSpPr txBox="1"/>
          <p:nvPr/>
        </p:nvSpPr>
        <p:spPr>
          <a:xfrm>
            <a:off x="5733891" y="4634680"/>
            <a:ext cx="608013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4589" l="0" r="0" t="-819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260" name="Google Shape;260;p14"/>
          <p:cNvSpPr txBox="1"/>
          <p:nvPr/>
        </p:nvSpPr>
        <p:spPr>
          <a:xfrm>
            <a:off x="7424656" y="4610104"/>
            <a:ext cx="608013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24589" l="0" r="0" t="-819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261" name="Google Shape;261;p14"/>
          <p:cNvSpPr txBox="1"/>
          <p:nvPr/>
        </p:nvSpPr>
        <p:spPr>
          <a:xfrm>
            <a:off x="8069873" y="3220974"/>
            <a:ext cx="608013" cy="36933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24589" l="0" r="0" t="-819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262" name="Google Shape;262;p14"/>
          <p:cNvSpPr txBox="1"/>
          <p:nvPr>
            <p:ph type="title"/>
          </p:nvPr>
        </p:nvSpPr>
        <p:spPr>
          <a:xfrm>
            <a:off x="609600" y="381000"/>
            <a:ext cx="8077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B050"/>
                </a:solidFill>
              </a:rPr>
              <a:t>Ví dụ thuật toán Dijkstra (1)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7" name="Google Shape;267;p15"/>
          <p:cNvCxnSpPr/>
          <p:nvPr/>
        </p:nvCxnSpPr>
        <p:spPr>
          <a:xfrm flipH="1" rot="10800000">
            <a:off x="1009656" y="2673144"/>
            <a:ext cx="424631" cy="999818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268" name="Google Shape;268;p15"/>
          <p:cNvCxnSpPr/>
          <p:nvPr/>
        </p:nvCxnSpPr>
        <p:spPr>
          <a:xfrm>
            <a:off x="1425684" y="2696496"/>
            <a:ext cx="1279423" cy="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269" name="Google Shape;269;p15"/>
          <p:cNvCxnSpPr/>
          <p:nvPr/>
        </p:nvCxnSpPr>
        <p:spPr>
          <a:xfrm rot="10800000">
            <a:off x="1425684" y="2696496"/>
            <a:ext cx="479323" cy="1890252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270" name="Google Shape;270;p15"/>
          <p:cNvCxnSpPr/>
          <p:nvPr/>
        </p:nvCxnSpPr>
        <p:spPr>
          <a:xfrm>
            <a:off x="968484" y="3672962"/>
            <a:ext cx="914400" cy="913786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271" name="Google Shape;271;p15"/>
          <p:cNvCxnSpPr/>
          <p:nvPr/>
        </p:nvCxnSpPr>
        <p:spPr>
          <a:xfrm>
            <a:off x="1905007" y="4586748"/>
            <a:ext cx="1273277" cy="14749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272" name="Google Shape;272;p15"/>
          <p:cNvCxnSpPr/>
          <p:nvPr/>
        </p:nvCxnSpPr>
        <p:spPr>
          <a:xfrm flipH="1" rot="10800000">
            <a:off x="1905007" y="2720462"/>
            <a:ext cx="800100" cy="19050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273" name="Google Shape;273;p15"/>
          <p:cNvCxnSpPr/>
          <p:nvPr/>
        </p:nvCxnSpPr>
        <p:spPr>
          <a:xfrm>
            <a:off x="2794826" y="2673144"/>
            <a:ext cx="838200" cy="931606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274" name="Google Shape;274;p15"/>
          <p:cNvCxnSpPr/>
          <p:nvPr/>
        </p:nvCxnSpPr>
        <p:spPr>
          <a:xfrm rot="10800000">
            <a:off x="2797284" y="2673144"/>
            <a:ext cx="416642" cy="1913604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275" name="Google Shape;275;p15"/>
          <p:cNvCxnSpPr/>
          <p:nvPr/>
        </p:nvCxnSpPr>
        <p:spPr>
          <a:xfrm flipH="1" rot="10800000">
            <a:off x="3254484" y="3648996"/>
            <a:ext cx="394519" cy="937752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276" name="Google Shape;276;p15"/>
          <p:cNvSpPr/>
          <p:nvPr/>
        </p:nvSpPr>
        <p:spPr>
          <a:xfrm>
            <a:off x="865706" y="3604749"/>
            <a:ext cx="287900" cy="257481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/>
          </a:p>
        </p:txBody>
      </p:sp>
      <p:sp>
        <p:nvSpPr>
          <p:cNvPr id="277" name="Google Shape;277;p15"/>
          <p:cNvSpPr/>
          <p:nvPr/>
        </p:nvSpPr>
        <p:spPr>
          <a:xfrm>
            <a:off x="1281734" y="2567755"/>
            <a:ext cx="287900" cy="257481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sp>
        <p:nvSpPr>
          <p:cNvPr id="278" name="Google Shape;278;p15"/>
          <p:cNvSpPr/>
          <p:nvPr/>
        </p:nvSpPr>
        <p:spPr>
          <a:xfrm>
            <a:off x="2650876" y="2591721"/>
            <a:ext cx="287900" cy="257481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  <p:sp>
        <p:nvSpPr>
          <p:cNvPr id="279" name="Google Shape;279;p15"/>
          <p:cNvSpPr/>
          <p:nvPr/>
        </p:nvSpPr>
        <p:spPr>
          <a:xfrm>
            <a:off x="3505053" y="3499668"/>
            <a:ext cx="287900" cy="257481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endParaRPr/>
          </a:p>
        </p:txBody>
      </p:sp>
      <p:sp>
        <p:nvSpPr>
          <p:cNvPr id="280" name="Google Shape;280;p15"/>
          <p:cNvSpPr/>
          <p:nvPr/>
        </p:nvSpPr>
        <p:spPr>
          <a:xfrm>
            <a:off x="1777495" y="4496721"/>
            <a:ext cx="287900" cy="257481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/>
          </a:p>
        </p:txBody>
      </p:sp>
      <p:sp>
        <p:nvSpPr>
          <p:cNvPr id="281" name="Google Shape;281;p15"/>
          <p:cNvSpPr/>
          <p:nvPr/>
        </p:nvSpPr>
        <p:spPr>
          <a:xfrm>
            <a:off x="3069976" y="4465381"/>
            <a:ext cx="287900" cy="257481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/>
          </a:p>
        </p:txBody>
      </p:sp>
      <p:sp>
        <p:nvSpPr>
          <p:cNvPr id="282" name="Google Shape;282;p15"/>
          <p:cNvSpPr txBox="1"/>
          <p:nvPr/>
        </p:nvSpPr>
        <p:spPr>
          <a:xfrm>
            <a:off x="1153606" y="3187465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283" name="Google Shape;283;p15"/>
          <p:cNvSpPr txBox="1"/>
          <p:nvPr/>
        </p:nvSpPr>
        <p:spPr>
          <a:xfrm>
            <a:off x="1640466" y="3400101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284" name="Google Shape;284;p15"/>
          <p:cNvSpPr txBox="1"/>
          <p:nvPr/>
        </p:nvSpPr>
        <p:spPr>
          <a:xfrm>
            <a:off x="1131693" y="3954099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285" name="Google Shape;285;p15"/>
          <p:cNvSpPr txBox="1"/>
          <p:nvPr/>
        </p:nvSpPr>
        <p:spPr>
          <a:xfrm>
            <a:off x="1905007" y="2720462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286" name="Google Shape;286;p15"/>
          <p:cNvSpPr txBox="1"/>
          <p:nvPr/>
        </p:nvSpPr>
        <p:spPr>
          <a:xfrm>
            <a:off x="3326799" y="2989299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sp>
        <p:nvSpPr>
          <p:cNvPr id="287" name="Google Shape;287;p15"/>
          <p:cNvSpPr txBox="1"/>
          <p:nvPr/>
        </p:nvSpPr>
        <p:spPr>
          <a:xfrm>
            <a:off x="3482985" y="3945189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288" name="Google Shape;288;p15"/>
          <p:cNvSpPr txBox="1"/>
          <p:nvPr/>
        </p:nvSpPr>
        <p:spPr>
          <a:xfrm>
            <a:off x="3057794" y="3584767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289" name="Google Shape;289;p15"/>
          <p:cNvSpPr txBox="1"/>
          <p:nvPr/>
        </p:nvSpPr>
        <p:spPr>
          <a:xfrm>
            <a:off x="2427454" y="4631910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/>
          </a:p>
        </p:txBody>
      </p:sp>
      <p:sp>
        <p:nvSpPr>
          <p:cNvPr id="290" name="Google Shape;290;p15"/>
          <p:cNvSpPr txBox="1"/>
          <p:nvPr/>
        </p:nvSpPr>
        <p:spPr>
          <a:xfrm>
            <a:off x="2314074" y="3628408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291" name="Google Shape;291;p15"/>
          <p:cNvSpPr txBox="1"/>
          <p:nvPr/>
        </p:nvSpPr>
        <p:spPr>
          <a:xfrm>
            <a:off x="489266" y="3886806"/>
            <a:ext cx="608013" cy="36933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6666" l="-7998" r="0" t="-833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292" name="Google Shape;292;p15"/>
          <p:cNvSpPr txBox="1"/>
          <p:nvPr/>
        </p:nvSpPr>
        <p:spPr>
          <a:xfrm>
            <a:off x="1009656" y="2111472"/>
            <a:ext cx="608013" cy="3693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4589" l="0" r="0" t="-819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293" name="Google Shape;293;p15"/>
          <p:cNvSpPr txBox="1"/>
          <p:nvPr/>
        </p:nvSpPr>
        <p:spPr>
          <a:xfrm>
            <a:off x="2605913" y="2104098"/>
            <a:ext cx="608013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4589" l="0" r="0" t="-819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294" name="Google Shape;294;p15"/>
          <p:cNvSpPr txBox="1"/>
          <p:nvPr/>
        </p:nvSpPr>
        <p:spPr>
          <a:xfrm>
            <a:off x="1456971" y="4841152"/>
            <a:ext cx="608013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4589" l="0" r="0" t="-819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295" name="Google Shape;295;p15"/>
          <p:cNvSpPr txBox="1"/>
          <p:nvPr/>
        </p:nvSpPr>
        <p:spPr>
          <a:xfrm>
            <a:off x="3147736" y="4816576"/>
            <a:ext cx="608013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24589" l="0" r="0" t="-819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296" name="Google Shape;296;p15"/>
          <p:cNvSpPr txBox="1"/>
          <p:nvPr/>
        </p:nvSpPr>
        <p:spPr>
          <a:xfrm>
            <a:off x="3792953" y="3427446"/>
            <a:ext cx="608013" cy="36933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24589" l="0" r="0" t="-819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cxnSp>
        <p:nvCxnSpPr>
          <p:cNvPr id="297" name="Google Shape;297;p15"/>
          <p:cNvCxnSpPr/>
          <p:nvPr/>
        </p:nvCxnSpPr>
        <p:spPr>
          <a:xfrm flipH="1" rot="10800000">
            <a:off x="5203008" y="2560080"/>
            <a:ext cx="424631" cy="999818"/>
          </a:xfrm>
          <a:prstGeom prst="straightConnector1">
            <a:avLst/>
          </a:prstGeom>
          <a:noFill/>
          <a:ln cap="flat" cmpd="sng" w="12700">
            <a:solidFill>
              <a:srgbClr val="00B05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298" name="Google Shape;298;p15"/>
          <p:cNvCxnSpPr/>
          <p:nvPr/>
        </p:nvCxnSpPr>
        <p:spPr>
          <a:xfrm>
            <a:off x="5619036" y="2583432"/>
            <a:ext cx="1279423" cy="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299" name="Google Shape;299;p15"/>
          <p:cNvCxnSpPr/>
          <p:nvPr/>
        </p:nvCxnSpPr>
        <p:spPr>
          <a:xfrm rot="10800000">
            <a:off x="5619036" y="2583432"/>
            <a:ext cx="479323" cy="1890252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300" name="Google Shape;300;p15"/>
          <p:cNvCxnSpPr/>
          <p:nvPr/>
        </p:nvCxnSpPr>
        <p:spPr>
          <a:xfrm>
            <a:off x="5161836" y="3559898"/>
            <a:ext cx="914400" cy="913786"/>
          </a:xfrm>
          <a:prstGeom prst="straightConnector1">
            <a:avLst/>
          </a:prstGeom>
          <a:noFill/>
          <a:ln cap="flat" cmpd="sng" w="12700">
            <a:solidFill>
              <a:srgbClr val="00B05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301" name="Google Shape;301;p15"/>
          <p:cNvCxnSpPr/>
          <p:nvPr/>
        </p:nvCxnSpPr>
        <p:spPr>
          <a:xfrm>
            <a:off x="6098359" y="4473684"/>
            <a:ext cx="1273277" cy="14749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302" name="Google Shape;302;p15"/>
          <p:cNvCxnSpPr/>
          <p:nvPr/>
        </p:nvCxnSpPr>
        <p:spPr>
          <a:xfrm flipH="1" rot="10800000">
            <a:off x="6098359" y="2607398"/>
            <a:ext cx="800100" cy="19050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303" name="Google Shape;303;p15"/>
          <p:cNvCxnSpPr/>
          <p:nvPr/>
        </p:nvCxnSpPr>
        <p:spPr>
          <a:xfrm>
            <a:off x="6988178" y="2560080"/>
            <a:ext cx="838200" cy="931606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304" name="Google Shape;304;p15"/>
          <p:cNvCxnSpPr/>
          <p:nvPr/>
        </p:nvCxnSpPr>
        <p:spPr>
          <a:xfrm rot="10800000">
            <a:off x="6990636" y="2560080"/>
            <a:ext cx="416642" cy="1913604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305" name="Google Shape;305;p15"/>
          <p:cNvCxnSpPr/>
          <p:nvPr/>
        </p:nvCxnSpPr>
        <p:spPr>
          <a:xfrm flipH="1" rot="10800000">
            <a:off x="7447836" y="3535932"/>
            <a:ext cx="394519" cy="937752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306" name="Google Shape;306;p15"/>
          <p:cNvSpPr/>
          <p:nvPr/>
        </p:nvSpPr>
        <p:spPr>
          <a:xfrm>
            <a:off x="5059058" y="3491685"/>
            <a:ext cx="287900" cy="257481"/>
          </a:xfrm>
          <a:prstGeom prst="ellipse">
            <a:avLst/>
          </a:prstGeom>
          <a:solidFill>
            <a:srgbClr val="00B05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/>
          </a:p>
        </p:txBody>
      </p:sp>
      <p:sp>
        <p:nvSpPr>
          <p:cNvPr id="307" name="Google Shape;307;p15"/>
          <p:cNvSpPr/>
          <p:nvPr/>
        </p:nvSpPr>
        <p:spPr>
          <a:xfrm>
            <a:off x="5475086" y="2454691"/>
            <a:ext cx="287900" cy="257481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sp>
        <p:nvSpPr>
          <p:cNvPr id="308" name="Google Shape;308;p15"/>
          <p:cNvSpPr/>
          <p:nvPr/>
        </p:nvSpPr>
        <p:spPr>
          <a:xfrm>
            <a:off x="6844228" y="2478657"/>
            <a:ext cx="287900" cy="257481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  <p:sp>
        <p:nvSpPr>
          <p:cNvPr id="309" name="Google Shape;309;p15"/>
          <p:cNvSpPr/>
          <p:nvPr/>
        </p:nvSpPr>
        <p:spPr>
          <a:xfrm>
            <a:off x="7698405" y="3386604"/>
            <a:ext cx="287900" cy="257481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endParaRPr/>
          </a:p>
        </p:txBody>
      </p:sp>
      <p:sp>
        <p:nvSpPr>
          <p:cNvPr id="310" name="Google Shape;310;p15"/>
          <p:cNvSpPr/>
          <p:nvPr/>
        </p:nvSpPr>
        <p:spPr>
          <a:xfrm>
            <a:off x="5970847" y="4383657"/>
            <a:ext cx="287900" cy="257481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/>
          </a:p>
        </p:txBody>
      </p:sp>
      <p:sp>
        <p:nvSpPr>
          <p:cNvPr id="311" name="Google Shape;311;p15"/>
          <p:cNvSpPr/>
          <p:nvPr/>
        </p:nvSpPr>
        <p:spPr>
          <a:xfrm>
            <a:off x="7263328" y="4352317"/>
            <a:ext cx="287900" cy="257481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/>
          </a:p>
        </p:txBody>
      </p:sp>
      <p:sp>
        <p:nvSpPr>
          <p:cNvPr id="312" name="Google Shape;312;p15"/>
          <p:cNvSpPr txBox="1"/>
          <p:nvPr/>
        </p:nvSpPr>
        <p:spPr>
          <a:xfrm>
            <a:off x="5346958" y="3074401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313" name="Google Shape;313;p15"/>
          <p:cNvSpPr txBox="1"/>
          <p:nvPr/>
        </p:nvSpPr>
        <p:spPr>
          <a:xfrm>
            <a:off x="5833818" y="3287037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314" name="Google Shape;314;p15"/>
          <p:cNvSpPr txBox="1"/>
          <p:nvPr/>
        </p:nvSpPr>
        <p:spPr>
          <a:xfrm>
            <a:off x="5325045" y="3841035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315" name="Google Shape;315;p15"/>
          <p:cNvSpPr txBox="1"/>
          <p:nvPr/>
        </p:nvSpPr>
        <p:spPr>
          <a:xfrm>
            <a:off x="6098359" y="2607398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316" name="Google Shape;316;p15"/>
          <p:cNvSpPr txBox="1"/>
          <p:nvPr/>
        </p:nvSpPr>
        <p:spPr>
          <a:xfrm>
            <a:off x="7520151" y="2876235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sp>
        <p:nvSpPr>
          <p:cNvPr id="317" name="Google Shape;317;p15"/>
          <p:cNvSpPr txBox="1"/>
          <p:nvPr/>
        </p:nvSpPr>
        <p:spPr>
          <a:xfrm>
            <a:off x="7676337" y="3832125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318" name="Google Shape;318;p15"/>
          <p:cNvSpPr txBox="1"/>
          <p:nvPr/>
        </p:nvSpPr>
        <p:spPr>
          <a:xfrm>
            <a:off x="7251146" y="3471703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319" name="Google Shape;319;p15"/>
          <p:cNvSpPr txBox="1"/>
          <p:nvPr/>
        </p:nvSpPr>
        <p:spPr>
          <a:xfrm>
            <a:off x="6620806" y="4518846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/>
          </a:p>
        </p:txBody>
      </p:sp>
      <p:sp>
        <p:nvSpPr>
          <p:cNvPr id="320" name="Google Shape;320;p15"/>
          <p:cNvSpPr txBox="1"/>
          <p:nvPr/>
        </p:nvSpPr>
        <p:spPr>
          <a:xfrm>
            <a:off x="6507426" y="3515344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321" name="Google Shape;321;p15"/>
          <p:cNvSpPr txBox="1"/>
          <p:nvPr/>
        </p:nvSpPr>
        <p:spPr>
          <a:xfrm>
            <a:off x="4682618" y="3773742"/>
            <a:ext cx="608013" cy="36933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24589" l="-7998" r="0" t="-819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322" name="Google Shape;322;p15"/>
          <p:cNvSpPr txBox="1"/>
          <p:nvPr/>
        </p:nvSpPr>
        <p:spPr>
          <a:xfrm>
            <a:off x="5203008" y="1998408"/>
            <a:ext cx="608013" cy="369332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-26666" l="0" r="0" t="-833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323" name="Google Shape;323;p15"/>
          <p:cNvSpPr txBox="1"/>
          <p:nvPr/>
        </p:nvSpPr>
        <p:spPr>
          <a:xfrm>
            <a:off x="6799265" y="1991034"/>
            <a:ext cx="608013" cy="369332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-26666" l="0" r="0" t="-833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324" name="Google Shape;324;p15"/>
          <p:cNvSpPr txBox="1"/>
          <p:nvPr/>
        </p:nvSpPr>
        <p:spPr>
          <a:xfrm>
            <a:off x="5650323" y="4728088"/>
            <a:ext cx="60801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2,a</a:t>
            </a:r>
            <a:endParaRPr/>
          </a:p>
        </p:txBody>
      </p:sp>
      <p:sp>
        <p:nvSpPr>
          <p:cNvPr id="325" name="Google Shape;325;p15"/>
          <p:cNvSpPr txBox="1"/>
          <p:nvPr/>
        </p:nvSpPr>
        <p:spPr>
          <a:xfrm>
            <a:off x="7341088" y="4703512"/>
            <a:ext cx="608013" cy="369332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-26666" l="0" r="0" t="-833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326" name="Google Shape;326;p15"/>
          <p:cNvSpPr txBox="1"/>
          <p:nvPr/>
        </p:nvSpPr>
        <p:spPr>
          <a:xfrm>
            <a:off x="7986305" y="3314382"/>
            <a:ext cx="608013" cy="369332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-26666" l="0" r="0" t="-833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327" name="Google Shape;327;p15"/>
          <p:cNvSpPr txBox="1"/>
          <p:nvPr>
            <p:ph type="title"/>
          </p:nvPr>
        </p:nvSpPr>
        <p:spPr>
          <a:xfrm>
            <a:off x="609600" y="381000"/>
            <a:ext cx="8077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B050"/>
                </a:solidFill>
              </a:rPr>
              <a:t>Ví dụ thuật toán Dijkstra(2)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2" name="Google Shape;332;p16"/>
          <p:cNvCxnSpPr/>
          <p:nvPr/>
        </p:nvCxnSpPr>
        <p:spPr>
          <a:xfrm flipH="1" rot="10800000">
            <a:off x="1309536" y="2619072"/>
            <a:ext cx="424631" cy="999818"/>
          </a:xfrm>
          <a:prstGeom prst="straightConnector1">
            <a:avLst/>
          </a:prstGeom>
          <a:noFill/>
          <a:ln cap="flat" cmpd="sng" w="12700">
            <a:solidFill>
              <a:srgbClr val="00B05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333" name="Google Shape;333;p16"/>
          <p:cNvCxnSpPr/>
          <p:nvPr/>
        </p:nvCxnSpPr>
        <p:spPr>
          <a:xfrm>
            <a:off x="1725564" y="2642424"/>
            <a:ext cx="1279423" cy="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334" name="Google Shape;334;p16"/>
          <p:cNvCxnSpPr/>
          <p:nvPr/>
        </p:nvCxnSpPr>
        <p:spPr>
          <a:xfrm rot="10800000">
            <a:off x="1725564" y="2642424"/>
            <a:ext cx="479323" cy="1890252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335" name="Google Shape;335;p16"/>
          <p:cNvCxnSpPr/>
          <p:nvPr/>
        </p:nvCxnSpPr>
        <p:spPr>
          <a:xfrm>
            <a:off x="1268364" y="3618890"/>
            <a:ext cx="914400" cy="913786"/>
          </a:xfrm>
          <a:prstGeom prst="straightConnector1">
            <a:avLst/>
          </a:prstGeom>
          <a:noFill/>
          <a:ln cap="flat" cmpd="sng" w="12700">
            <a:solidFill>
              <a:srgbClr val="00B05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336" name="Google Shape;336;p16"/>
          <p:cNvCxnSpPr/>
          <p:nvPr/>
        </p:nvCxnSpPr>
        <p:spPr>
          <a:xfrm>
            <a:off x="2204887" y="4532676"/>
            <a:ext cx="1273277" cy="14749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337" name="Google Shape;337;p16"/>
          <p:cNvCxnSpPr/>
          <p:nvPr/>
        </p:nvCxnSpPr>
        <p:spPr>
          <a:xfrm flipH="1" rot="10800000">
            <a:off x="2204887" y="2666390"/>
            <a:ext cx="800100" cy="19050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338" name="Google Shape;338;p16"/>
          <p:cNvCxnSpPr/>
          <p:nvPr/>
        </p:nvCxnSpPr>
        <p:spPr>
          <a:xfrm>
            <a:off x="3094706" y="2619072"/>
            <a:ext cx="838200" cy="931606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339" name="Google Shape;339;p16"/>
          <p:cNvCxnSpPr/>
          <p:nvPr/>
        </p:nvCxnSpPr>
        <p:spPr>
          <a:xfrm rot="10800000">
            <a:off x="3097164" y="2619072"/>
            <a:ext cx="416642" cy="1913604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340" name="Google Shape;340;p16"/>
          <p:cNvCxnSpPr/>
          <p:nvPr/>
        </p:nvCxnSpPr>
        <p:spPr>
          <a:xfrm flipH="1" rot="10800000">
            <a:off x="3554364" y="3594924"/>
            <a:ext cx="394519" cy="937752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341" name="Google Shape;341;p16"/>
          <p:cNvSpPr/>
          <p:nvPr/>
        </p:nvSpPr>
        <p:spPr>
          <a:xfrm>
            <a:off x="1165586" y="3550677"/>
            <a:ext cx="287900" cy="257481"/>
          </a:xfrm>
          <a:prstGeom prst="ellipse">
            <a:avLst/>
          </a:prstGeom>
          <a:solidFill>
            <a:srgbClr val="00B05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/>
          </a:p>
        </p:txBody>
      </p:sp>
      <p:sp>
        <p:nvSpPr>
          <p:cNvPr id="342" name="Google Shape;342;p16"/>
          <p:cNvSpPr/>
          <p:nvPr/>
        </p:nvSpPr>
        <p:spPr>
          <a:xfrm>
            <a:off x="1581614" y="2513683"/>
            <a:ext cx="287900" cy="257481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sp>
        <p:nvSpPr>
          <p:cNvPr id="343" name="Google Shape;343;p16"/>
          <p:cNvSpPr/>
          <p:nvPr/>
        </p:nvSpPr>
        <p:spPr>
          <a:xfrm>
            <a:off x="2950756" y="2537649"/>
            <a:ext cx="287900" cy="257481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  <p:sp>
        <p:nvSpPr>
          <p:cNvPr id="344" name="Google Shape;344;p16"/>
          <p:cNvSpPr/>
          <p:nvPr/>
        </p:nvSpPr>
        <p:spPr>
          <a:xfrm>
            <a:off x="3804933" y="3445596"/>
            <a:ext cx="287900" cy="257481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endParaRPr/>
          </a:p>
        </p:txBody>
      </p:sp>
      <p:sp>
        <p:nvSpPr>
          <p:cNvPr id="345" name="Google Shape;345;p16"/>
          <p:cNvSpPr/>
          <p:nvPr/>
        </p:nvSpPr>
        <p:spPr>
          <a:xfrm>
            <a:off x="2077375" y="4442649"/>
            <a:ext cx="287900" cy="257481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/>
          </a:p>
        </p:txBody>
      </p:sp>
      <p:sp>
        <p:nvSpPr>
          <p:cNvPr id="346" name="Google Shape;346;p16"/>
          <p:cNvSpPr/>
          <p:nvPr/>
        </p:nvSpPr>
        <p:spPr>
          <a:xfrm>
            <a:off x="3369856" y="4411309"/>
            <a:ext cx="287900" cy="257481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/>
          </a:p>
        </p:txBody>
      </p:sp>
      <p:sp>
        <p:nvSpPr>
          <p:cNvPr id="347" name="Google Shape;347;p16"/>
          <p:cNvSpPr txBox="1"/>
          <p:nvPr/>
        </p:nvSpPr>
        <p:spPr>
          <a:xfrm>
            <a:off x="1453486" y="3133393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348" name="Google Shape;348;p16"/>
          <p:cNvSpPr txBox="1"/>
          <p:nvPr/>
        </p:nvSpPr>
        <p:spPr>
          <a:xfrm>
            <a:off x="1940346" y="3346029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349" name="Google Shape;349;p16"/>
          <p:cNvSpPr txBox="1"/>
          <p:nvPr/>
        </p:nvSpPr>
        <p:spPr>
          <a:xfrm>
            <a:off x="1431573" y="3900027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350" name="Google Shape;350;p16"/>
          <p:cNvSpPr txBox="1"/>
          <p:nvPr/>
        </p:nvSpPr>
        <p:spPr>
          <a:xfrm>
            <a:off x="2204887" y="2666390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351" name="Google Shape;351;p16"/>
          <p:cNvSpPr txBox="1"/>
          <p:nvPr/>
        </p:nvSpPr>
        <p:spPr>
          <a:xfrm>
            <a:off x="3626679" y="2935227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sp>
        <p:nvSpPr>
          <p:cNvPr id="352" name="Google Shape;352;p16"/>
          <p:cNvSpPr txBox="1"/>
          <p:nvPr/>
        </p:nvSpPr>
        <p:spPr>
          <a:xfrm>
            <a:off x="3782865" y="3891117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353" name="Google Shape;353;p16"/>
          <p:cNvSpPr txBox="1"/>
          <p:nvPr/>
        </p:nvSpPr>
        <p:spPr>
          <a:xfrm>
            <a:off x="3357674" y="3530695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354" name="Google Shape;354;p16"/>
          <p:cNvSpPr txBox="1"/>
          <p:nvPr/>
        </p:nvSpPr>
        <p:spPr>
          <a:xfrm>
            <a:off x="2727334" y="4577838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/>
          </a:p>
        </p:txBody>
      </p:sp>
      <p:sp>
        <p:nvSpPr>
          <p:cNvPr id="355" name="Google Shape;355;p16"/>
          <p:cNvSpPr txBox="1"/>
          <p:nvPr/>
        </p:nvSpPr>
        <p:spPr>
          <a:xfrm>
            <a:off x="2613954" y="3574336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356" name="Google Shape;356;p16"/>
          <p:cNvSpPr txBox="1"/>
          <p:nvPr/>
        </p:nvSpPr>
        <p:spPr>
          <a:xfrm>
            <a:off x="789146" y="3832734"/>
            <a:ext cx="608013" cy="36933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6666" l="-7998" r="0" t="-833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357" name="Google Shape;357;p16"/>
          <p:cNvSpPr txBox="1"/>
          <p:nvPr/>
        </p:nvSpPr>
        <p:spPr>
          <a:xfrm>
            <a:off x="1309536" y="2057400"/>
            <a:ext cx="608013" cy="3693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4999" l="0" r="0" t="-833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358" name="Google Shape;358;p16"/>
          <p:cNvSpPr txBox="1"/>
          <p:nvPr/>
        </p:nvSpPr>
        <p:spPr>
          <a:xfrm>
            <a:off x="2905793" y="2050026"/>
            <a:ext cx="608013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4589" l="0" r="0" t="-819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359" name="Google Shape;359;p16"/>
          <p:cNvSpPr txBox="1"/>
          <p:nvPr/>
        </p:nvSpPr>
        <p:spPr>
          <a:xfrm>
            <a:off x="1756851" y="4787080"/>
            <a:ext cx="60801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2,a</a:t>
            </a:r>
            <a:endParaRPr/>
          </a:p>
        </p:txBody>
      </p:sp>
      <p:sp>
        <p:nvSpPr>
          <p:cNvPr id="360" name="Google Shape;360;p16"/>
          <p:cNvSpPr txBox="1"/>
          <p:nvPr/>
        </p:nvSpPr>
        <p:spPr>
          <a:xfrm>
            <a:off x="3447616" y="4762504"/>
            <a:ext cx="608013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4589" l="0" r="0" t="-819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361" name="Google Shape;361;p16"/>
          <p:cNvSpPr txBox="1"/>
          <p:nvPr/>
        </p:nvSpPr>
        <p:spPr>
          <a:xfrm>
            <a:off x="4092833" y="3373374"/>
            <a:ext cx="608013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24589" l="0" r="0" t="-819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cxnSp>
        <p:nvCxnSpPr>
          <p:cNvPr id="362" name="Google Shape;362;p16"/>
          <p:cNvCxnSpPr/>
          <p:nvPr/>
        </p:nvCxnSpPr>
        <p:spPr>
          <a:xfrm flipH="1" rot="10800000">
            <a:off x="5203008" y="2560080"/>
            <a:ext cx="424631" cy="999818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363" name="Google Shape;363;p16"/>
          <p:cNvCxnSpPr/>
          <p:nvPr/>
        </p:nvCxnSpPr>
        <p:spPr>
          <a:xfrm>
            <a:off x="5619036" y="2583432"/>
            <a:ext cx="1279423" cy="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364" name="Google Shape;364;p16"/>
          <p:cNvCxnSpPr/>
          <p:nvPr/>
        </p:nvCxnSpPr>
        <p:spPr>
          <a:xfrm rot="10800000">
            <a:off x="5619036" y="2583432"/>
            <a:ext cx="479323" cy="1890252"/>
          </a:xfrm>
          <a:prstGeom prst="straightConnector1">
            <a:avLst/>
          </a:prstGeom>
          <a:noFill/>
          <a:ln cap="flat" cmpd="sng" w="12700">
            <a:solidFill>
              <a:srgbClr val="00B05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365" name="Google Shape;365;p16"/>
          <p:cNvCxnSpPr/>
          <p:nvPr/>
        </p:nvCxnSpPr>
        <p:spPr>
          <a:xfrm>
            <a:off x="5161836" y="3559898"/>
            <a:ext cx="914400" cy="913786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366" name="Google Shape;366;p16"/>
          <p:cNvCxnSpPr/>
          <p:nvPr/>
        </p:nvCxnSpPr>
        <p:spPr>
          <a:xfrm>
            <a:off x="6098359" y="4473684"/>
            <a:ext cx="1273277" cy="14749"/>
          </a:xfrm>
          <a:prstGeom prst="straightConnector1">
            <a:avLst/>
          </a:prstGeom>
          <a:noFill/>
          <a:ln cap="flat" cmpd="sng" w="12700">
            <a:solidFill>
              <a:srgbClr val="00B05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367" name="Google Shape;367;p16"/>
          <p:cNvCxnSpPr/>
          <p:nvPr/>
        </p:nvCxnSpPr>
        <p:spPr>
          <a:xfrm flipH="1" rot="10800000">
            <a:off x="6098359" y="2607398"/>
            <a:ext cx="800100" cy="1905000"/>
          </a:xfrm>
          <a:prstGeom prst="straightConnector1">
            <a:avLst/>
          </a:prstGeom>
          <a:noFill/>
          <a:ln cap="flat" cmpd="sng" w="12700">
            <a:solidFill>
              <a:srgbClr val="00B05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368" name="Google Shape;368;p16"/>
          <p:cNvCxnSpPr/>
          <p:nvPr/>
        </p:nvCxnSpPr>
        <p:spPr>
          <a:xfrm>
            <a:off x="6988178" y="2560080"/>
            <a:ext cx="838200" cy="931606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369" name="Google Shape;369;p16"/>
          <p:cNvCxnSpPr/>
          <p:nvPr/>
        </p:nvCxnSpPr>
        <p:spPr>
          <a:xfrm rot="10800000">
            <a:off x="6990636" y="2560080"/>
            <a:ext cx="416642" cy="1913604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370" name="Google Shape;370;p16"/>
          <p:cNvCxnSpPr/>
          <p:nvPr/>
        </p:nvCxnSpPr>
        <p:spPr>
          <a:xfrm flipH="1" rot="10800000">
            <a:off x="7447836" y="3535932"/>
            <a:ext cx="394519" cy="937752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371" name="Google Shape;371;p16"/>
          <p:cNvSpPr/>
          <p:nvPr/>
        </p:nvSpPr>
        <p:spPr>
          <a:xfrm>
            <a:off x="5059058" y="3491685"/>
            <a:ext cx="287900" cy="257481"/>
          </a:xfrm>
          <a:prstGeom prst="ellipse">
            <a:avLst/>
          </a:prstGeom>
          <a:solidFill>
            <a:srgbClr val="00B05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/>
          </a:p>
        </p:txBody>
      </p:sp>
      <p:sp>
        <p:nvSpPr>
          <p:cNvPr id="372" name="Google Shape;372;p16"/>
          <p:cNvSpPr/>
          <p:nvPr/>
        </p:nvSpPr>
        <p:spPr>
          <a:xfrm>
            <a:off x="5475086" y="2454691"/>
            <a:ext cx="287900" cy="257481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sp>
        <p:nvSpPr>
          <p:cNvPr id="373" name="Google Shape;373;p16"/>
          <p:cNvSpPr/>
          <p:nvPr/>
        </p:nvSpPr>
        <p:spPr>
          <a:xfrm>
            <a:off x="6844228" y="2478657"/>
            <a:ext cx="287900" cy="257481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  <p:sp>
        <p:nvSpPr>
          <p:cNvPr id="374" name="Google Shape;374;p16"/>
          <p:cNvSpPr/>
          <p:nvPr/>
        </p:nvSpPr>
        <p:spPr>
          <a:xfrm>
            <a:off x="7698405" y="3386604"/>
            <a:ext cx="287900" cy="257481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endParaRPr/>
          </a:p>
        </p:txBody>
      </p:sp>
      <p:sp>
        <p:nvSpPr>
          <p:cNvPr id="375" name="Google Shape;375;p16"/>
          <p:cNvSpPr/>
          <p:nvPr/>
        </p:nvSpPr>
        <p:spPr>
          <a:xfrm>
            <a:off x="5970847" y="4383657"/>
            <a:ext cx="287900" cy="257481"/>
          </a:xfrm>
          <a:prstGeom prst="ellipse">
            <a:avLst/>
          </a:prstGeom>
          <a:solidFill>
            <a:srgbClr val="00B05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/>
          </a:p>
        </p:txBody>
      </p:sp>
      <p:sp>
        <p:nvSpPr>
          <p:cNvPr id="376" name="Google Shape;376;p16"/>
          <p:cNvSpPr/>
          <p:nvPr/>
        </p:nvSpPr>
        <p:spPr>
          <a:xfrm>
            <a:off x="7263328" y="4352317"/>
            <a:ext cx="287900" cy="257481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/>
          </a:p>
        </p:txBody>
      </p:sp>
      <p:sp>
        <p:nvSpPr>
          <p:cNvPr id="377" name="Google Shape;377;p16"/>
          <p:cNvSpPr txBox="1"/>
          <p:nvPr/>
        </p:nvSpPr>
        <p:spPr>
          <a:xfrm>
            <a:off x="5346958" y="3074401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378" name="Google Shape;378;p16"/>
          <p:cNvSpPr txBox="1"/>
          <p:nvPr/>
        </p:nvSpPr>
        <p:spPr>
          <a:xfrm>
            <a:off x="5833818" y="3287037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379" name="Google Shape;379;p16"/>
          <p:cNvSpPr txBox="1"/>
          <p:nvPr/>
        </p:nvSpPr>
        <p:spPr>
          <a:xfrm>
            <a:off x="5325045" y="3841035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380" name="Google Shape;380;p16"/>
          <p:cNvSpPr txBox="1"/>
          <p:nvPr/>
        </p:nvSpPr>
        <p:spPr>
          <a:xfrm>
            <a:off x="6098359" y="2607398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381" name="Google Shape;381;p16"/>
          <p:cNvSpPr txBox="1"/>
          <p:nvPr/>
        </p:nvSpPr>
        <p:spPr>
          <a:xfrm>
            <a:off x="7520151" y="2876235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sp>
        <p:nvSpPr>
          <p:cNvPr id="382" name="Google Shape;382;p16"/>
          <p:cNvSpPr txBox="1"/>
          <p:nvPr/>
        </p:nvSpPr>
        <p:spPr>
          <a:xfrm>
            <a:off x="7676337" y="3832125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383" name="Google Shape;383;p16"/>
          <p:cNvSpPr txBox="1"/>
          <p:nvPr/>
        </p:nvSpPr>
        <p:spPr>
          <a:xfrm>
            <a:off x="7251146" y="3471703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384" name="Google Shape;384;p16"/>
          <p:cNvSpPr txBox="1"/>
          <p:nvPr/>
        </p:nvSpPr>
        <p:spPr>
          <a:xfrm>
            <a:off x="6620806" y="4518846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/>
          </a:p>
        </p:txBody>
      </p:sp>
      <p:sp>
        <p:nvSpPr>
          <p:cNvPr id="385" name="Google Shape;385;p16"/>
          <p:cNvSpPr txBox="1"/>
          <p:nvPr/>
        </p:nvSpPr>
        <p:spPr>
          <a:xfrm>
            <a:off x="6507426" y="3515344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386" name="Google Shape;386;p16"/>
          <p:cNvSpPr txBox="1"/>
          <p:nvPr/>
        </p:nvSpPr>
        <p:spPr>
          <a:xfrm>
            <a:off x="4682618" y="3773742"/>
            <a:ext cx="608013" cy="36933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24589" l="-7998" r="0" t="-819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387" name="Google Shape;387;p16"/>
          <p:cNvSpPr txBox="1"/>
          <p:nvPr/>
        </p:nvSpPr>
        <p:spPr>
          <a:xfrm>
            <a:off x="5203008" y="1998408"/>
            <a:ext cx="608013" cy="36933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26666" l="0" r="0" t="-999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388" name="Google Shape;388;p16"/>
          <p:cNvSpPr txBox="1"/>
          <p:nvPr/>
        </p:nvSpPr>
        <p:spPr>
          <a:xfrm>
            <a:off x="6799265" y="1991034"/>
            <a:ext cx="870927" cy="369332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-26666" l="0" r="0" t="-833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389" name="Google Shape;389;p16"/>
          <p:cNvSpPr txBox="1"/>
          <p:nvPr/>
        </p:nvSpPr>
        <p:spPr>
          <a:xfrm>
            <a:off x="5650323" y="4728088"/>
            <a:ext cx="60801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2,a</a:t>
            </a:r>
            <a:endParaRPr/>
          </a:p>
        </p:txBody>
      </p:sp>
      <p:sp>
        <p:nvSpPr>
          <p:cNvPr id="390" name="Google Shape;390;p16"/>
          <p:cNvSpPr txBox="1"/>
          <p:nvPr/>
        </p:nvSpPr>
        <p:spPr>
          <a:xfrm>
            <a:off x="7341088" y="4703512"/>
            <a:ext cx="645217" cy="369332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-26666" l="0" r="0" t="-833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391" name="Google Shape;391;p16"/>
          <p:cNvSpPr txBox="1"/>
          <p:nvPr/>
        </p:nvSpPr>
        <p:spPr>
          <a:xfrm>
            <a:off x="7986305" y="3314382"/>
            <a:ext cx="608013" cy="369332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-26666" l="0" r="0" t="-833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392" name="Google Shape;392;p16"/>
          <p:cNvSpPr txBox="1"/>
          <p:nvPr>
            <p:ph type="title"/>
          </p:nvPr>
        </p:nvSpPr>
        <p:spPr>
          <a:xfrm>
            <a:off x="609600" y="381000"/>
            <a:ext cx="8077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B050"/>
                </a:solidFill>
              </a:rPr>
              <a:t>Ví dụ thuật toán Dijkstra (3) 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7" name="Google Shape;397;p17"/>
          <p:cNvCxnSpPr/>
          <p:nvPr/>
        </p:nvCxnSpPr>
        <p:spPr>
          <a:xfrm flipH="1" rot="10800000">
            <a:off x="5203008" y="2560080"/>
            <a:ext cx="424631" cy="999818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398" name="Google Shape;398;p17"/>
          <p:cNvCxnSpPr/>
          <p:nvPr/>
        </p:nvCxnSpPr>
        <p:spPr>
          <a:xfrm>
            <a:off x="5619036" y="2583432"/>
            <a:ext cx="1279423" cy="0"/>
          </a:xfrm>
          <a:prstGeom prst="straightConnector1">
            <a:avLst/>
          </a:prstGeom>
          <a:noFill/>
          <a:ln cap="flat" cmpd="sng" w="12700">
            <a:solidFill>
              <a:srgbClr val="00B05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399" name="Google Shape;399;p17"/>
          <p:cNvCxnSpPr/>
          <p:nvPr/>
        </p:nvCxnSpPr>
        <p:spPr>
          <a:xfrm rot="10800000">
            <a:off x="5619036" y="2583432"/>
            <a:ext cx="479323" cy="1890252"/>
          </a:xfrm>
          <a:prstGeom prst="straightConnector1">
            <a:avLst/>
          </a:prstGeom>
          <a:noFill/>
          <a:ln cap="flat" cmpd="sng" w="12700">
            <a:solidFill>
              <a:srgbClr val="00B05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400" name="Google Shape;400;p17"/>
          <p:cNvCxnSpPr/>
          <p:nvPr/>
        </p:nvCxnSpPr>
        <p:spPr>
          <a:xfrm>
            <a:off x="5161836" y="3559898"/>
            <a:ext cx="914400" cy="913786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401" name="Google Shape;401;p17"/>
          <p:cNvCxnSpPr/>
          <p:nvPr/>
        </p:nvCxnSpPr>
        <p:spPr>
          <a:xfrm>
            <a:off x="6098359" y="4473684"/>
            <a:ext cx="1273277" cy="14749"/>
          </a:xfrm>
          <a:prstGeom prst="straightConnector1">
            <a:avLst/>
          </a:prstGeom>
          <a:noFill/>
          <a:ln cap="flat" cmpd="sng" w="12700">
            <a:solidFill>
              <a:srgbClr val="00B05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402" name="Google Shape;402;p17"/>
          <p:cNvCxnSpPr/>
          <p:nvPr/>
        </p:nvCxnSpPr>
        <p:spPr>
          <a:xfrm flipH="1" rot="10800000">
            <a:off x="6098359" y="2607398"/>
            <a:ext cx="800100" cy="19050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403" name="Google Shape;403;p17"/>
          <p:cNvCxnSpPr/>
          <p:nvPr/>
        </p:nvCxnSpPr>
        <p:spPr>
          <a:xfrm>
            <a:off x="6988178" y="2560080"/>
            <a:ext cx="838200" cy="931606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404" name="Google Shape;404;p17"/>
          <p:cNvCxnSpPr/>
          <p:nvPr/>
        </p:nvCxnSpPr>
        <p:spPr>
          <a:xfrm rot="10800000">
            <a:off x="6990636" y="2560080"/>
            <a:ext cx="416642" cy="1913604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405" name="Google Shape;405;p17"/>
          <p:cNvCxnSpPr/>
          <p:nvPr/>
        </p:nvCxnSpPr>
        <p:spPr>
          <a:xfrm flipH="1" rot="10800000">
            <a:off x="7447836" y="3535932"/>
            <a:ext cx="394519" cy="937752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406" name="Google Shape;406;p17"/>
          <p:cNvSpPr/>
          <p:nvPr/>
        </p:nvSpPr>
        <p:spPr>
          <a:xfrm>
            <a:off x="5059058" y="3491685"/>
            <a:ext cx="287900" cy="257481"/>
          </a:xfrm>
          <a:prstGeom prst="ellipse">
            <a:avLst/>
          </a:prstGeom>
          <a:solidFill>
            <a:srgbClr val="00B05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/>
          </a:p>
        </p:txBody>
      </p:sp>
      <p:sp>
        <p:nvSpPr>
          <p:cNvPr id="407" name="Google Shape;407;p17"/>
          <p:cNvSpPr/>
          <p:nvPr/>
        </p:nvSpPr>
        <p:spPr>
          <a:xfrm>
            <a:off x="5475086" y="2454691"/>
            <a:ext cx="287900" cy="257481"/>
          </a:xfrm>
          <a:prstGeom prst="ellipse">
            <a:avLst/>
          </a:prstGeom>
          <a:solidFill>
            <a:srgbClr val="00B05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sp>
        <p:nvSpPr>
          <p:cNvPr id="408" name="Google Shape;408;p17"/>
          <p:cNvSpPr/>
          <p:nvPr/>
        </p:nvSpPr>
        <p:spPr>
          <a:xfrm>
            <a:off x="6844228" y="2478657"/>
            <a:ext cx="287900" cy="257481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  <p:sp>
        <p:nvSpPr>
          <p:cNvPr id="409" name="Google Shape;409;p17"/>
          <p:cNvSpPr/>
          <p:nvPr/>
        </p:nvSpPr>
        <p:spPr>
          <a:xfrm>
            <a:off x="7698405" y="3386604"/>
            <a:ext cx="287900" cy="257481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endParaRPr/>
          </a:p>
        </p:txBody>
      </p:sp>
      <p:sp>
        <p:nvSpPr>
          <p:cNvPr id="410" name="Google Shape;410;p17"/>
          <p:cNvSpPr/>
          <p:nvPr/>
        </p:nvSpPr>
        <p:spPr>
          <a:xfrm>
            <a:off x="5970847" y="4383657"/>
            <a:ext cx="287900" cy="257481"/>
          </a:xfrm>
          <a:prstGeom prst="ellipse">
            <a:avLst/>
          </a:prstGeom>
          <a:solidFill>
            <a:srgbClr val="00B05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/>
          </a:p>
        </p:txBody>
      </p:sp>
      <p:sp>
        <p:nvSpPr>
          <p:cNvPr id="411" name="Google Shape;411;p17"/>
          <p:cNvSpPr/>
          <p:nvPr/>
        </p:nvSpPr>
        <p:spPr>
          <a:xfrm>
            <a:off x="7263328" y="4352317"/>
            <a:ext cx="287900" cy="257481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/>
          </a:p>
        </p:txBody>
      </p:sp>
      <p:sp>
        <p:nvSpPr>
          <p:cNvPr id="412" name="Google Shape;412;p17"/>
          <p:cNvSpPr txBox="1"/>
          <p:nvPr/>
        </p:nvSpPr>
        <p:spPr>
          <a:xfrm>
            <a:off x="5346958" y="3074401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413" name="Google Shape;413;p17"/>
          <p:cNvSpPr txBox="1"/>
          <p:nvPr/>
        </p:nvSpPr>
        <p:spPr>
          <a:xfrm>
            <a:off x="5833818" y="3287037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414" name="Google Shape;414;p17"/>
          <p:cNvSpPr txBox="1"/>
          <p:nvPr/>
        </p:nvSpPr>
        <p:spPr>
          <a:xfrm>
            <a:off x="5325045" y="3841035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415" name="Google Shape;415;p17"/>
          <p:cNvSpPr txBox="1"/>
          <p:nvPr/>
        </p:nvSpPr>
        <p:spPr>
          <a:xfrm>
            <a:off x="6098359" y="2607398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416" name="Google Shape;416;p17"/>
          <p:cNvSpPr txBox="1"/>
          <p:nvPr/>
        </p:nvSpPr>
        <p:spPr>
          <a:xfrm>
            <a:off x="7520151" y="2876235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sp>
        <p:nvSpPr>
          <p:cNvPr id="417" name="Google Shape;417;p17"/>
          <p:cNvSpPr txBox="1"/>
          <p:nvPr/>
        </p:nvSpPr>
        <p:spPr>
          <a:xfrm>
            <a:off x="7676337" y="3832125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418" name="Google Shape;418;p17"/>
          <p:cNvSpPr txBox="1"/>
          <p:nvPr/>
        </p:nvSpPr>
        <p:spPr>
          <a:xfrm>
            <a:off x="7251146" y="3471703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419" name="Google Shape;419;p17"/>
          <p:cNvSpPr txBox="1"/>
          <p:nvPr/>
        </p:nvSpPr>
        <p:spPr>
          <a:xfrm>
            <a:off x="6620806" y="4518846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/>
          </a:p>
        </p:txBody>
      </p:sp>
      <p:sp>
        <p:nvSpPr>
          <p:cNvPr id="420" name="Google Shape;420;p17"/>
          <p:cNvSpPr txBox="1"/>
          <p:nvPr/>
        </p:nvSpPr>
        <p:spPr>
          <a:xfrm>
            <a:off x="6507426" y="3515344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421" name="Google Shape;421;p17"/>
          <p:cNvSpPr txBox="1"/>
          <p:nvPr/>
        </p:nvSpPr>
        <p:spPr>
          <a:xfrm>
            <a:off x="4682618" y="3773742"/>
            <a:ext cx="608013" cy="36933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4589" l="-7998" r="0" t="-819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422" name="Google Shape;422;p17"/>
          <p:cNvSpPr txBox="1"/>
          <p:nvPr/>
        </p:nvSpPr>
        <p:spPr>
          <a:xfrm>
            <a:off x="5203008" y="1998408"/>
            <a:ext cx="608013" cy="3693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6666" l="0" r="0" t="-999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423" name="Google Shape;423;p17"/>
          <p:cNvSpPr txBox="1"/>
          <p:nvPr/>
        </p:nvSpPr>
        <p:spPr>
          <a:xfrm>
            <a:off x="6799265" y="1991034"/>
            <a:ext cx="870927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6666" l="0" r="0" t="-833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424" name="Google Shape;424;p17"/>
          <p:cNvSpPr txBox="1"/>
          <p:nvPr/>
        </p:nvSpPr>
        <p:spPr>
          <a:xfrm>
            <a:off x="5650323" y="4728088"/>
            <a:ext cx="60801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2,a</a:t>
            </a:r>
            <a:endParaRPr/>
          </a:p>
        </p:txBody>
      </p:sp>
      <p:sp>
        <p:nvSpPr>
          <p:cNvPr id="425" name="Google Shape;425;p17"/>
          <p:cNvSpPr txBox="1"/>
          <p:nvPr/>
        </p:nvSpPr>
        <p:spPr>
          <a:xfrm>
            <a:off x="7341088" y="4703512"/>
            <a:ext cx="645217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6666" l="0" r="0" t="-833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426" name="Google Shape;426;p17"/>
          <p:cNvSpPr txBox="1"/>
          <p:nvPr/>
        </p:nvSpPr>
        <p:spPr>
          <a:xfrm>
            <a:off x="7986305" y="3314382"/>
            <a:ext cx="608013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26666" l="0" r="0" t="-833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cxnSp>
        <p:nvCxnSpPr>
          <p:cNvPr id="427" name="Google Shape;427;p17"/>
          <p:cNvCxnSpPr/>
          <p:nvPr/>
        </p:nvCxnSpPr>
        <p:spPr>
          <a:xfrm flipH="1" rot="10800000">
            <a:off x="1196472" y="2712480"/>
            <a:ext cx="424631" cy="999818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428" name="Google Shape;428;p17"/>
          <p:cNvCxnSpPr/>
          <p:nvPr/>
        </p:nvCxnSpPr>
        <p:spPr>
          <a:xfrm>
            <a:off x="1612500" y="2735832"/>
            <a:ext cx="1279423" cy="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429" name="Google Shape;429;p17"/>
          <p:cNvCxnSpPr/>
          <p:nvPr/>
        </p:nvCxnSpPr>
        <p:spPr>
          <a:xfrm rot="10800000">
            <a:off x="1612500" y="2735832"/>
            <a:ext cx="479323" cy="1890252"/>
          </a:xfrm>
          <a:prstGeom prst="straightConnector1">
            <a:avLst/>
          </a:prstGeom>
          <a:noFill/>
          <a:ln cap="flat" cmpd="sng" w="12700">
            <a:solidFill>
              <a:srgbClr val="00B05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430" name="Google Shape;430;p17"/>
          <p:cNvCxnSpPr/>
          <p:nvPr/>
        </p:nvCxnSpPr>
        <p:spPr>
          <a:xfrm>
            <a:off x="1155300" y="3712298"/>
            <a:ext cx="914400" cy="913786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431" name="Google Shape;431;p17"/>
          <p:cNvCxnSpPr/>
          <p:nvPr/>
        </p:nvCxnSpPr>
        <p:spPr>
          <a:xfrm>
            <a:off x="2091823" y="4626084"/>
            <a:ext cx="1273277" cy="14749"/>
          </a:xfrm>
          <a:prstGeom prst="straightConnector1">
            <a:avLst/>
          </a:prstGeom>
          <a:noFill/>
          <a:ln cap="flat" cmpd="sng" w="12700">
            <a:solidFill>
              <a:srgbClr val="00B05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432" name="Google Shape;432;p17"/>
          <p:cNvCxnSpPr/>
          <p:nvPr/>
        </p:nvCxnSpPr>
        <p:spPr>
          <a:xfrm flipH="1" rot="10800000">
            <a:off x="2091823" y="2759798"/>
            <a:ext cx="800100" cy="1905000"/>
          </a:xfrm>
          <a:prstGeom prst="straightConnector1">
            <a:avLst/>
          </a:prstGeom>
          <a:noFill/>
          <a:ln cap="flat" cmpd="sng" w="12700">
            <a:solidFill>
              <a:srgbClr val="00B05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433" name="Google Shape;433;p17"/>
          <p:cNvCxnSpPr/>
          <p:nvPr/>
        </p:nvCxnSpPr>
        <p:spPr>
          <a:xfrm>
            <a:off x="2981642" y="2712480"/>
            <a:ext cx="838200" cy="931606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434" name="Google Shape;434;p17"/>
          <p:cNvCxnSpPr/>
          <p:nvPr/>
        </p:nvCxnSpPr>
        <p:spPr>
          <a:xfrm rot="10800000">
            <a:off x="2984100" y="2712480"/>
            <a:ext cx="416642" cy="1913604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435" name="Google Shape;435;p17"/>
          <p:cNvCxnSpPr/>
          <p:nvPr/>
        </p:nvCxnSpPr>
        <p:spPr>
          <a:xfrm flipH="1" rot="10800000">
            <a:off x="3441300" y="3688332"/>
            <a:ext cx="394519" cy="937752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436" name="Google Shape;436;p17"/>
          <p:cNvSpPr/>
          <p:nvPr/>
        </p:nvSpPr>
        <p:spPr>
          <a:xfrm>
            <a:off x="1052522" y="3644085"/>
            <a:ext cx="287900" cy="257481"/>
          </a:xfrm>
          <a:prstGeom prst="ellipse">
            <a:avLst/>
          </a:prstGeom>
          <a:solidFill>
            <a:srgbClr val="00B05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/>
          </a:p>
        </p:txBody>
      </p:sp>
      <p:sp>
        <p:nvSpPr>
          <p:cNvPr id="437" name="Google Shape;437;p17"/>
          <p:cNvSpPr/>
          <p:nvPr/>
        </p:nvSpPr>
        <p:spPr>
          <a:xfrm>
            <a:off x="1468550" y="2607091"/>
            <a:ext cx="287900" cy="257481"/>
          </a:xfrm>
          <a:prstGeom prst="ellipse">
            <a:avLst/>
          </a:prstGeom>
          <a:solidFill>
            <a:srgbClr val="FFC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sp>
        <p:nvSpPr>
          <p:cNvPr id="438" name="Google Shape;438;p17"/>
          <p:cNvSpPr/>
          <p:nvPr/>
        </p:nvSpPr>
        <p:spPr>
          <a:xfrm>
            <a:off x="2837692" y="2631057"/>
            <a:ext cx="287900" cy="257481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  <p:sp>
        <p:nvSpPr>
          <p:cNvPr id="439" name="Google Shape;439;p17"/>
          <p:cNvSpPr/>
          <p:nvPr/>
        </p:nvSpPr>
        <p:spPr>
          <a:xfrm>
            <a:off x="3691869" y="3539004"/>
            <a:ext cx="287900" cy="257481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endParaRPr/>
          </a:p>
        </p:txBody>
      </p:sp>
      <p:sp>
        <p:nvSpPr>
          <p:cNvPr id="440" name="Google Shape;440;p17"/>
          <p:cNvSpPr/>
          <p:nvPr/>
        </p:nvSpPr>
        <p:spPr>
          <a:xfrm>
            <a:off x="1964311" y="4536057"/>
            <a:ext cx="287900" cy="257481"/>
          </a:xfrm>
          <a:prstGeom prst="ellipse">
            <a:avLst/>
          </a:prstGeom>
          <a:solidFill>
            <a:srgbClr val="00B05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/>
          </a:p>
        </p:txBody>
      </p:sp>
      <p:sp>
        <p:nvSpPr>
          <p:cNvPr id="441" name="Google Shape;441;p17"/>
          <p:cNvSpPr/>
          <p:nvPr/>
        </p:nvSpPr>
        <p:spPr>
          <a:xfrm>
            <a:off x="3256792" y="4504717"/>
            <a:ext cx="287900" cy="257481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/>
          </a:p>
        </p:txBody>
      </p:sp>
      <p:sp>
        <p:nvSpPr>
          <p:cNvPr id="442" name="Google Shape;442;p17"/>
          <p:cNvSpPr txBox="1"/>
          <p:nvPr/>
        </p:nvSpPr>
        <p:spPr>
          <a:xfrm>
            <a:off x="1340422" y="3226801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443" name="Google Shape;443;p17"/>
          <p:cNvSpPr txBox="1"/>
          <p:nvPr/>
        </p:nvSpPr>
        <p:spPr>
          <a:xfrm>
            <a:off x="1827282" y="3439437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444" name="Google Shape;444;p17"/>
          <p:cNvSpPr txBox="1"/>
          <p:nvPr/>
        </p:nvSpPr>
        <p:spPr>
          <a:xfrm>
            <a:off x="1318509" y="3993435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445" name="Google Shape;445;p17"/>
          <p:cNvSpPr txBox="1"/>
          <p:nvPr/>
        </p:nvSpPr>
        <p:spPr>
          <a:xfrm>
            <a:off x="2091823" y="2759798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446" name="Google Shape;446;p17"/>
          <p:cNvSpPr txBox="1"/>
          <p:nvPr/>
        </p:nvSpPr>
        <p:spPr>
          <a:xfrm>
            <a:off x="3513615" y="3028635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sp>
        <p:nvSpPr>
          <p:cNvPr id="447" name="Google Shape;447;p17"/>
          <p:cNvSpPr txBox="1"/>
          <p:nvPr/>
        </p:nvSpPr>
        <p:spPr>
          <a:xfrm>
            <a:off x="3669801" y="3984525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448" name="Google Shape;448;p17"/>
          <p:cNvSpPr txBox="1"/>
          <p:nvPr/>
        </p:nvSpPr>
        <p:spPr>
          <a:xfrm>
            <a:off x="3244610" y="3624103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449" name="Google Shape;449;p17"/>
          <p:cNvSpPr txBox="1"/>
          <p:nvPr/>
        </p:nvSpPr>
        <p:spPr>
          <a:xfrm>
            <a:off x="2614270" y="4671246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/>
          </a:p>
        </p:txBody>
      </p:sp>
      <p:sp>
        <p:nvSpPr>
          <p:cNvPr id="450" name="Google Shape;450;p17"/>
          <p:cNvSpPr txBox="1"/>
          <p:nvPr/>
        </p:nvSpPr>
        <p:spPr>
          <a:xfrm>
            <a:off x="2500890" y="3667744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451" name="Google Shape;451;p17"/>
          <p:cNvSpPr txBox="1"/>
          <p:nvPr/>
        </p:nvSpPr>
        <p:spPr>
          <a:xfrm>
            <a:off x="676082" y="3926142"/>
            <a:ext cx="608013" cy="36933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24589" l="-8998" r="0" t="-819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452" name="Google Shape;452;p17"/>
          <p:cNvSpPr txBox="1"/>
          <p:nvPr/>
        </p:nvSpPr>
        <p:spPr>
          <a:xfrm>
            <a:off x="1196472" y="2150808"/>
            <a:ext cx="608013" cy="36933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26666" l="0" r="0" t="-833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453" name="Google Shape;453;p17"/>
          <p:cNvSpPr txBox="1"/>
          <p:nvPr/>
        </p:nvSpPr>
        <p:spPr>
          <a:xfrm>
            <a:off x="2792729" y="2143434"/>
            <a:ext cx="870927" cy="369332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-26666" l="0" r="0" t="-833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454" name="Google Shape;454;p17"/>
          <p:cNvSpPr txBox="1"/>
          <p:nvPr/>
        </p:nvSpPr>
        <p:spPr>
          <a:xfrm>
            <a:off x="1643787" y="4880488"/>
            <a:ext cx="60801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2,a</a:t>
            </a:r>
            <a:endParaRPr/>
          </a:p>
        </p:txBody>
      </p:sp>
      <p:sp>
        <p:nvSpPr>
          <p:cNvPr id="455" name="Google Shape;455;p17"/>
          <p:cNvSpPr txBox="1"/>
          <p:nvPr/>
        </p:nvSpPr>
        <p:spPr>
          <a:xfrm>
            <a:off x="3334552" y="4855912"/>
            <a:ext cx="645217" cy="369332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-26666" l="0" r="0" t="-833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456" name="Google Shape;456;p17"/>
          <p:cNvSpPr txBox="1"/>
          <p:nvPr/>
        </p:nvSpPr>
        <p:spPr>
          <a:xfrm>
            <a:off x="3979769" y="3466782"/>
            <a:ext cx="608013" cy="369332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-26666" l="0" r="0" t="-833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457" name="Google Shape;457;p17"/>
          <p:cNvSpPr txBox="1"/>
          <p:nvPr>
            <p:ph type="title"/>
          </p:nvPr>
        </p:nvSpPr>
        <p:spPr>
          <a:xfrm>
            <a:off x="609600" y="381000"/>
            <a:ext cx="8077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B050"/>
                </a:solidFill>
              </a:rPr>
              <a:t>Ví dụ thuật toán Dijkstra (4) 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2" name="Google Shape;462;p18"/>
          <p:cNvCxnSpPr/>
          <p:nvPr/>
        </p:nvCxnSpPr>
        <p:spPr>
          <a:xfrm flipH="1" rot="10800000">
            <a:off x="5203008" y="2560080"/>
            <a:ext cx="424631" cy="999818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463" name="Google Shape;463;p18"/>
          <p:cNvCxnSpPr/>
          <p:nvPr/>
        </p:nvCxnSpPr>
        <p:spPr>
          <a:xfrm>
            <a:off x="5619036" y="2583432"/>
            <a:ext cx="1279423" cy="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464" name="Google Shape;464;p18"/>
          <p:cNvCxnSpPr/>
          <p:nvPr/>
        </p:nvCxnSpPr>
        <p:spPr>
          <a:xfrm rot="10800000">
            <a:off x="5619036" y="2583432"/>
            <a:ext cx="479323" cy="1890252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465" name="Google Shape;465;p18"/>
          <p:cNvCxnSpPr/>
          <p:nvPr/>
        </p:nvCxnSpPr>
        <p:spPr>
          <a:xfrm>
            <a:off x="5161836" y="3559898"/>
            <a:ext cx="914400" cy="913786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466" name="Google Shape;466;p18"/>
          <p:cNvCxnSpPr/>
          <p:nvPr/>
        </p:nvCxnSpPr>
        <p:spPr>
          <a:xfrm>
            <a:off x="6098359" y="4473684"/>
            <a:ext cx="1273277" cy="14749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467" name="Google Shape;467;p18"/>
          <p:cNvCxnSpPr/>
          <p:nvPr/>
        </p:nvCxnSpPr>
        <p:spPr>
          <a:xfrm flipH="1" rot="10800000">
            <a:off x="6098359" y="2607398"/>
            <a:ext cx="800100" cy="19050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468" name="Google Shape;468;p18"/>
          <p:cNvCxnSpPr/>
          <p:nvPr/>
        </p:nvCxnSpPr>
        <p:spPr>
          <a:xfrm>
            <a:off x="6988178" y="2560080"/>
            <a:ext cx="838200" cy="931606"/>
          </a:xfrm>
          <a:prstGeom prst="straightConnector1">
            <a:avLst/>
          </a:prstGeom>
          <a:noFill/>
          <a:ln cap="flat" cmpd="sng" w="12700">
            <a:solidFill>
              <a:srgbClr val="00B05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469" name="Google Shape;469;p18"/>
          <p:cNvCxnSpPr/>
          <p:nvPr/>
        </p:nvCxnSpPr>
        <p:spPr>
          <a:xfrm rot="10800000">
            <a:off x="6990636" y="2560080"/>
            <a:ext cx="416642" cy="1913604"/>
          </a:xfrm>
          <a:prstGeom prst="straightConnector1">
            <a:avLst/>
          </a:prstGeom>
          <a:noFill/>
          <a:ln cap="flat" cmpd="sng" w="12700">
            <a:solidFill>
              <a:srgbClr val="00B05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470" name="Google Shape;470;p18"/>
          <p:cNvCxnSpPr/>
          <p:nvPr/>
        </p:nvCxnSpPr>
        <p:spPr>
          <a:xfrm flipH="1" rot="10800000">
            <a:off x="7447836" y="3535932"/>
            <a:ext cx="394519" cy="937752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471" name="Google Shape;471;p18"/>
          <p:cNvSpPr/>
          <p:nvPr/>
        </p:nvSpPr>
        <p:spPr>
          <a:xfrm>
            <a:off x="5059058" y="3491685"/>
            <a:ext cx="287900" cy="257481"/>
          </a:xfrm>
          <a:prstGeom prst="ellipse">
            <a:avLst/>
          </a:prstGeom>
          <a:solidFill>
            <a:srgbClr val="00B05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/>
          </a:p>
        </p:txBody>
      </p:sp>
      <p:sp>
        <p:nvSpPr>
          <p:cNvPr id="472" name="Google Shape;472;p18"/>
          <p:cNvSpPr/>
          <p:nvPr/>
        </p:nvSpPr>
        <p:spPr>
          <a:xfrm>
            <a:off x="5475086" y="2454691"/>
            <a:ext cx="287900" cy="257481"/>
          </a:xfrm>
          <a:prstGeom prst="ellipse">
            <a:avLst/>
          </a:prstGeom>
          <a:solidFill>
            <a:srgbClr val="00B05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sp>
        <p:nvSpPr>
          <p:cNvPr id="473" name="Google Shape;473;p18"/>
          <p:cNvSpPr/>
          <p:nvPr/>
        </p:nvSpPr>
        <p:spPr>
          <a:xfrm>
            <a:off x="6844228" y="2478657"/>
            <a:ext cx="287900" cy="257481"/>
          </a:xfrm>
          <a:prstGeom prst="ellipse">
            <a:avLst/>
          </a:prstGeom>
          <a:solidFill>
            <a:srgbClr val="00B05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  <p:sp>
        <p:nvSpPr>
          <p:cNvPr id="474" name="Google Shape;474;p18"/>
          <p:cNvSpPr/>
          <p:nvPr/>
        </p:nvSpPr>
        <p:spPr>
          <a:xfrm>
            <a:off x="7698405" y="3386604"/>
            <a:ext cx="287900" cy="257481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endParaRPr/>
          </a:p>
        </p:txBody>
      </p:sp>
      <p:sp>
        <p:nvSpPr>
          <p:cNvPr id="475" name="Google Shape;475;p18"/>
          <p:cNvSpPr/>
          <p:nvPr/>
        </p:nvSpPr>
        <p:spPr>
          <a:xfrm>
            <a:off x="5970847" y="4383657"/>
            <a:ext cx="287900" cy="257481"/>
          </a:xfrm>
          <a:prstGeom prst="ellipse">
            <a:avLst/>
          </a:prstGeom>
          <a:solidFill>
            <a:srgbClr val="00B05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/>
          </a:p>
        </p:txBody>
      </p:sp>
      <p:sp>
        <p:nvSpPr>
          <p:cNvPr id="476" name="Google Shape;476;p18"/>
          <p:cNvSpPr/>
          <p:nvPr/>
        </p:nvSpPr>
        <p:spPr>
          <a:xfrm>
            <a:off x="7263328" y="4352317"/>
            <a:ext cx="287900" cy="257481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/>
          </a:p>
        </p:txBody>
      </p:sp>
      <p:sp>
        <p:nvSpPr>
          <p:cNvPr id="477" name="Google Shape;477;p18"/>
          <p:cNvSpPr txBox="1"/>
          <p:nvPr/>
        </p:nvSpPr>
        <p:spPr>
          <a:xfrm>
            <a:off x="5346958" y="3074401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478" name="Google Shape;478;p18"/>
          <p:cNvSpPr txBox="1"/>
          <p:nvPr/>
        </p:nvSpPr>
        <p:spPr>
          <a:xfrm>
            <a:off x="5833818" y="3287037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479" name="Google Shape;479;p18"/>
          <p:cNvSpPr txBox="1"/>
          <p:nvPr/>
        </p:nvSpPr>
        <p:spPr>
          <a:xfrm>
            <a:off x="5325045" y="3841035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480" name="Google Shape;480;p18"/>
          <p:cNvSpPr txBox="1"/>
          <p:nvPr/>
        </p:nvSpPr>
        <p:spPr>
          <a:xfrm>
            <a:off x="6098359" y="2607398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481" name="Google Shape;481;p18"/>
          <p:cNvSpPr txBox="1"/>
          <p:nvPr/>
        </p:nvSpPr>
        <p:spPr>
          <a:xfrm>
            <a:off x="7520151" y="2876235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sp>
        <p:nvSpPr>
          <p:cNvPr id="482" name="Google Shape;482;p18"/>
          <p:cNvSpPr txBox="1"/>
          <p:nvPr/>
        </p:nvSpPr>
        <p:spPr>
          <a:xfrm>
            <a:off x="7676337" y="3832125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483" name="Google Shape;483;p18"/>
          <p:cNvSpPr txBox="1"/>
          <p:nvPr/>
        </p:nvSpPr>
        <p:spPr>
          <a:xfrm>
            <a:off x="7251146" y="3471703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484" name="Google Shape;484;p18"/>
          <p:cNvSpPr txBox="1"/>
          <p:nvPr/>
        </p:nvSpPr>
        <p:spPr>
          <a:xfrm>
            <a:off x="6620806" y="4518846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/>
          </a:p>
        </p:txBody>
      </p:sp>
      <p:sp>
        <p:nvSpPr>
          <p:cNvPr id="485" name="Google Shape;485;p18"/>
          <p:cNvSpPr txBox="1"/>
          <p:nvPr/>
        </p:nvSpPr>
        <p:spPr>
          <a:xfrm>
            <a:off x="6507426" y="3515344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486" name="Google Shape;486;p18"/>
          <p:cNvSpPr txBox="1"/>
          <p:nvPr/>
        </p:nvSpPr>
        <p:spPr>
          <a:xfrm>
            <a:off x="4682618" y="3773742"/>
            <a:ext cx="608013" cy="36933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4589" l="-7998" r="0" t="-819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487" name="Google Shape;487;p18"/>
          <p:cNvSpPr txBox="1"/>
          <p:nvPr/>
        </p:nvSpPr>
        <p:spPr>
          <a:xfrm>
            <a:off x="5203008" y="1998408"/>
            <a:ext cx="608013" cy="3693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6666" l="0" r="0" t="-999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488" name="Google Shape;488;p18"/>
          <p:cNvSpPr txBox="1"/>
          <p:nvPr/>
        </p:nvSpPr>
        <p:spPr>
          <a:xfrm>
            <a:off x="6799265" y="1991034"/>
            <a:ext cx="870927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6666" l="0" r="0" t="-833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489" name="Google Shape;489;p18"/>
          <p:cNvSpPr txBox="1"/>
          <p:nvPr/>
        </p:nvSpPr>
        <p:spPr>
          <a:xfrm>
            <a:off x="5650323" y="4728088"/>
            <a:ext cx="60801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2,a</a:t>
            </a:r>
            <a:endParaRPr/>
          </a:p>
        </p:txBody>
      </p:sp>
      <p:sp>
        <p:nvSpPr>
          <p:cNvPr id="490" name="Google Shape;490;p18"/>
          <p:cNvSpPr txBox="1"/>
          <p:nvPr/>
        </p:nvSpPr>
        <p:spPr>
          <a:xfrm>
            <a:off x="7341088" y="4703512"/>
            <a:ext cx="645217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6666" l="0" r="0" t="-833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491" name="Google Shape;491;p18"/>
          <p:cNvSpPr txBox="1"/>
          <p:nvPr/>
        </p:nvSpPr>
        <p:spPr>
          <a:xfrm>
            <a:off x="7986305" y="3314382"/>
            <a:ext cx="608013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cxnSp>
        <p:nvCxnSpPr>
          <p:cNvPr id="492" name="Google Shape;492;p18"/>
          <p:cNvCxnSpPr/>
          <p:nvPr/>
        </p:nvCxnSpPr>
        <p:spPr>
          <a:xfrm flipH="1" rot="10800000">
            <a:off x="1093236" y="2712480"/>
            <a:ext cx="424631" cy="999818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493" name="Google Shape;493;p18"/>
          <p:cNvCxnSpPr/>
          <p:nvPr/>
        </p:nvCxnSpPr>
        <p:spPr>
          <a:xfrm>
            <a:off x="1509264" y="2735832"/>
            <a:ext cx="1279423" cy="0"/>
          </a:xfrm>
          <a:prstGeom prst="straightConnector1">
            <a:avLst/>
          </a:prstGeom>
          <a:noFill/>
          <a:ln cap="flat" cmpd="sng" w="12700">
            <a:solidFill>
              <a:srgbClr val="00B05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494" name="Google Shape;494;p18"/>
          <p:cNvCxnSpPr/>
          <p:nvPr/>
        </p:nvCxnSpPr>
        <p:spPr>
          <a:xfrm rot="10800000">
            <a:off x="1509264" y="2735832"/>
            <a:ext cx="479323" cy="1890252"/>
          </a:xfrm>
          <a:prstGeom prst="straightConnector1">
            <a:avLst/>
          </a:prstGeom>
          <a:noFill/>
          <a:ln cap="flat" cmpd="sng" w="12700">
            <a:solidFill>
              <a:srgbClr val="00B05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495" name="Google Shape;495;p18"/>
          <p:cNvCxnSpPr/>
          <p:nvPr/>
        </p:nvCxnSpPr>
        <p:spPr>
          <a:xfrm>
            <a:off x="1052064" y="3712298"/>
            <a:ext cx="914400" cy="913786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496" name="Google Shape;496;p18"/>
          <p:cNvCxnSpPr/>
          <p:nvPr/>
        </p:nvCxnSpPr>
        <p:spPr>
          <a:xfrm>
            <a:off x="1988587" y="4626084"/>
            <a:ext cx="1273277" cy="14749"/>
          </a:xfrm>
          <a:prstGeom prst="straightConnector1">
            <a:avLst/>
          </a:prstGeom>
          <a:noFill/>
          <a:ln cap="flat" cmpd="sng" w="12700">
            <a:solidFill>
              <a:srgbClr val="00B05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497" name="Google Shape;497;p18"/>
          <p:cNvCxnSpPr/>
          <p:nvPr/>
        </p:nvCxnSpPr>
        <p:spPr>
          <a:xfrm flipH="1" rot="10800000">
            <a:off x="1988587" y="2759798"/>
            <a:ext cx="800100" cy="19050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498" name="Google Shape;498;p18"/>
          <p:cNvCxnSpPr/>
          <p:nvPr/>
        </p:nvCxnSpPr>
        <p:spPr>
          <a:xfrm>
            <a:off x="2878406" y="2712480"/>
            <a:ext cx="838200" cy="931606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499" name="Google Shape;499;p18"/>
          <p:cNvCxnSpPr/>
          <p:nvPr/>
        </p:nvCxnSpPr>
        <p:spPr>
          <a:xfrm rot="10800000">
            <a:off x="2880864" y="2712480"/>
            <a:ext cx="416642" cy="1913604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500" name="Google Shape;500;p18"/>
          <p:cNvCxnSpPr/>
          <p:nvPr/>
        </p:nvCxnSpPr>
        <p:spPr>
          <a:xfrm flipH="1" rot="10800000">
            <a:off x="3338064" y="3688332"/>
            <a:ext cx="394519" cy="937752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501" name="Google Shape;501;p18"/>
          <p:cNvSpPr/>
          <p:nvPr/>
        </p:nvSpPr>
        <p:spPr>
          <a:xfrm>
            <a:off x="949286" y="3644085"/>
            <a:ext cx="287900" cy="257481"/>
          </a:xfrm>
          <a:prstGeom prst="ellipse">
            <a:avLst/>
          </a:prstGeom>
          <a:solidFill>
            <a:srgbClr val="00B05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/>
          </a:p>
        </p:txBody>
      </p:sp>
      <p:sp>
        <p:nvSpPr>
          <p:cNvPr id="502" name="Google Shape;502;p18"/>
          <p:cNvSpPr/>
          <p:nvPr/>
        </p:nvSpPr>
        <p:spPr>
          <a:xfrm>
            <a:off x="1365314" y="2607091"/>
            <a:ext cx="287900" cy="257481"/>
          </a:xfrm>
          <a:prstGeom prst="ellipse">
            <a:avLst/>
          </a:prstGeom>
          <a:solidFill>
            <a:srgbClr val="00B05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sp>
        <p:nvSpPr>
          <p:cNvPr id="503" name="Google Shape;503;p18"/>
          <p:cNvSpPr/>
          <p:nvPr/>
        </p:nvSpPr>
        <p:spPr>
          <a:xfrm>
            <a:off x="2734456" y="2631057"/>
            <a:ext cx="287900" cy="257481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  <p:sp>
        <p:nvSpPr>
          <p:cNvPr id="504" name="Google Shape;504;p18"/>
          <p:cNvSpPr/>
          <p:nvPr/>
        </p:nvSpPr>
        <p:spPr>
          <a:xfrm>
            <a:off x="3588633" y="3539004"/>
            <a:ext cx="287900" cy="257481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endParaRPr/>
          </a:p>
        </p:txBody>
      </p:sp>
      <p:sp>
        <p:nvSpPr>
          <p:cNvPr id="505" name="Google Shape;505;p18"/>
          <p:cNvSpPr/>
          <p:nvPr/>
        </p:nvSpPr>
        <p:spPr>
          <a:xfrm>
            <a:off x="1861075" y="4536057"/>
            <a:ext cx="287900" cy="257481"/>
          </a:xfrm>
          <a:prstGeom prst="ellipse">
            <a:avLst/>
          </a:prstGeom>
          <a:solidFill>
            <a:srgbClr val="00B05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/>
          </a:p>
        </p:txBody>
      </p:sp>
      <p:sp>
        <p:nvSpPr>
          <p:cNvPr id="506" name="Google Shape;506;p18"/>
          <p:cNvSpPr/>
          <p:nvPr/>
        </p:nvSpPr>
        <p:spPr>
          <a:xfrm>
            <a:off x="3153556" y="4504717"/>
            <a:ext cx="287900" cy="257481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/>
          </a:p>
        </p:txBody>
      </p:sp>
      <p:sp>
        <p:nvSpPr>
          <p:cNvPr id="507" name="Google Shape;507;p18"/>
          <p:cNvSpPr txBox="1"/>
          <p:nvPr/>
        </p:nvSpPr>
        <p:spPr>
          <a:xfrm>
            <a:off x="1237186" y="3226801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508" name="Google Shape;508;p18"/>
          <p:cNvSpPr txBox="1"/>
          <p:nvPr/>
        </p:nvSpPr>
        <p:spPr>
          <a:xfrm>
            <a:off x="1724046" y="3439437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509" name="Google Shape;509;p18"/>
          <p:cNvSpPr txBox="1"/>
          <p:nvPr/>
        </p:nvSpPr>
        <p:spPr>
          <a:xfrm>
            <a:off x="1215273" y="3993435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510" name="Google Shape;510;p18"/>
          <p:cNvSpPr txBox="1"/>
          <p:nvPr/>
        </p:nvSpPr>
        <p:spPr>
          <a:xfrm>
            <a:off x="1988587" y="2759798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511" name="Google Shape;511;p18"/>
          <p:cNvSpPr txBox="1"/>
          <p:nvPr/>
        </p:nvSpPr>
        <p:spPr>
          <a:xfrm>
            <a:off x="3410379" y="3028635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sp>
        <p:nvSpPr>
          <p:cNvPr id="512" name="Google Shape;512;p18"/>
          <p:cNvSpPr txBox="1"/>
          <p:nvPr/>
        </p:nvSpPr>
        <p:spPr>
          <a:xfrm>
            <a:off x="3566565" y="3984525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513" name="Google Shape;513;p18"/>
          <p:cNvSpPr txBox="1"/>
          <p:nvPr/>
        </p:nvSpPr>
        <p:spPr>
          <a:xfrm>
            <a:off x="3141374" y="3624103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514" name="Google Shape;514;p18"/>
          <p:cNvSpPr txBox="1"/>
          <p:nvPr/>
        </p:nvSpPr>
        <p:spPr>
          <a:xfrm>
            <a:off x="2511034" y="4671246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/>
          </a:p>
        </p:txBody>
      </p:sp>
      <p:sp>
        <p:nvSpPr>
          <p:cNvPr id="515" name="Google Shape;515;p18"/>
          <p:cNvSpPr txBox="1"/>
          <p:nvPr/>
        </p:nvSpPr>
        <p:spPr>
          <a:xfrm>
            <a:off x="2397654" y="3667744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516" name="Google Shape;516;p18"/>
          <p:cNvSpPr txBox="1"/>
          <p:nvPr/>
        </p:nvSpPr>
        <p:spPr>
          <a:xfrm>
            <a:off x="572846" y="3926142"/>
            <a:ext cx="608013" cy="36933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24589" l="-8998" r="0" t="-819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517" name="Google Shape;517;p18"/>
          <p:cNvSpPr txBox="1"/>
          <p:nvPr/>
        </p:nvSpPr>
        <p:spPr>
          <a:xfrm>
            <a:off x="1093236" y="2150808"/>
            <a:ext cx="608013" cy="36933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26666" l="0" r="0" t="-833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518" name="Google Shape;518;p18"/>
          <p:cNvSpPr txBox="1"/>
          <p:nvPr/>
        </p:nvSpPr>
        <p:spPr>
          <a:xfrm>
            <a:off x="2689493" y="2143434"/>
            <a:ext cx="870927" cy="369332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-26666" l="0" r="0" t="-833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519" name="Google Shape;519;p18"/>
          <p:cNvSpPr txBox="1"/>
          <p:nvPr/>
        </p:nvSpPr>
        <p:spPr>
          <a:xfrm>
            <a:off x="1540551" y="4880488"/>
            <a:ext cx="60801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2,a</a:t>
            </a:r>
            <a:endParaRPr/>
          </a:p>
        </p:txBody>
      </p:sp>
      <p:sp>
        <p:nvSpPr>
          <p:cNvPr id="520" name="Google Shape;520;p18"/>
          <p:cNvSpPr txBox="1"/>
          <p:nvPr/>
        </p:nvSpPr>
        <p:spPr>
          <a:xfrm>
            <a:off x="3231316" y="4855912"/>
            <a:ext cx="645217" cy="369332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-26666" l="0" r="0" t="-833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521" name="Google Shape;521;p18"/>
          <p:cNvSpPr txBox="1"/>
          <p:nvPr/>
        </p:nvSpPr>
        <p:spPr>
          <a:xfrm>
            <a:off x="3876533" y="3466782"/>
            <a:ext cx="608013" cy="369332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-26666" l="0" r="0" t="-833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522" name="Google Shape;522;p18"/>
          <p:cNvSpPr txBox="1"/>
          <p:nvPr>
            <p:ph type="title"/>
          </p:nvPr>
        </p:nvSpPr>
        <p:spPr>
          <a:xfrm>
            <a:off x="609600" y="381000"/>
            <a:ext cx="8077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B050"/>
                </a:solidFill>
              </a:rPr>
              <a:t>Ví dụ thuật toán Dijkstra(5)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7" name="Google Shape;527;p19"/>
          <p:cNvCxnSpPr/>
          <p:nvPr/>
        </p:nvCxnSpPr>
        <p:spPr>
          <a:xfrm flipH="1" rot="10800000">
            <a:off x="5203008" y="2560080"/>
            <a:ext cx="424631" cy="999818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528" name="Google Shape;528;p19"/>
          <p:cNvCxnSpPr/>
          <p:nvPr/>
        </p:nvCxnSpPr>
        <p:spPr>
          <a:xfrm>
            <a:off x="5619036" y="2583432"/>
            <a:ext cx="1279423" cy="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529" name="Google Shape;529;p19"/>
          <p:cNvCxnSpPr/>
          <p:nvPr/>
        </p:nvCxnSpPr>
        <p:spPr>
          <a:xfrm rot="10800000">
            <a:off x="5619036" y="2583432"/>
            <a:ext cx="479323" cy="1890252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530" name="Google Shape;530;p19"/>
          <p:cNvCxnSpPr/>
          <p:nvPr/>
        </p:nvCxnSpPr>
        <p:spPr>
          <a:xfrm>
            <a:off x="5161836" y="3559898"/>
            <a:ext cx="914400" cy="913786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531" name="Google Shape;531;p19"/>
          <p:cNvCxnSpPr/>
          <p:nvPr/>
        </p:nvCxnSpPr>
        <p:spPr>
          <a:xfrm>
            <a:off x="6098359" y="4473684"/>
            <a:ext cx="1273277" cy="14749"/>
          </a:xfrm>
          <a:prstGeom prst="straightConnector1">
            <a:avLst/>
          </a:prstGeom>
          <a:noFill/>
          <a:ln cap="flat" cmpd="sng" w="12700">
            <a:solidFill>
              <a:srgbClr val="00B05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532" name="Google Shape;532;p19"/>
          <p:cNvCxnSpPr/>
          <p:nvPr/>
        </p:nvCxnSpPr>
        <p:spPr>
          <a:xfrm flipH="1" rot="10800000">
            <a:off x="6098359" y="2607398"/>
            <a:ext cx="800100" cy="19050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533" name="Google Shape;533;p19"/>
          <p:cNvCxnSpPr/>
          <p:nvPr/>
        </p:nvCxnSpPr>
        <p:spPr>
          <a:xfrm>
            <a:off x="6988178" y="2560080"/>
            <a:ext cx="838200" cy="931606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534" name="Google Shape;534;p19"/>
          <p:cNvCxnSpPr/>
          <p:nvPr/>
        </p:nvCxnSpPr>
        <p:spPr>
          <a:xfrm rot="10800000">
            <a:off x="6990636" y="2560080"/>
            <a:ext cx="416642" cy="1913604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535" name="Google Shape;535;p19"/>
          <p:cNvCxnSpPr/>
          <p:nvPr/>
        </p:nvCxnSpPr>
        <p:spPr>
          <a:xfrm flipH="1" rot="10800000">
            <a:off x="7447836" y="3535932"/>
            <a:ext cx="394519" cy="937752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536" name="Google Shape;536;p19"/>
          <p:cNvSpPr/>
          <p:nvPr/>
        </p:nvSpPr>
        <p:spPr>
          <a:xfrm>
            <a:off x="5059058" y="3491685"/>
            <a:ext cx="287900" cy="257481"/>
          </a:xfrm>
          <a:prstGeom prst="ellipse">
            <a:avLst/>
          </a:prstGeom>
          <a:solidFill>
            <a:srgbClr val="00B05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/>
          </a:p>
        </p:txBody>
      </p:sp>
      <p:sp>
        <p:nvSpPr>
          <p:cNvPr id="537" name="Google Shape;537;p19"/>
          <p:cNvSpPr/>
          <p:nvPr/>
        </p:nvSpPr>
        <p:spPr>
          <a:xfrm>
            <a:off x="5475086" y="2454691"/>
            <a:ext cx="287900" cy="257481"/>
          </a:xfrm>
          <a:prstGeom prst="ellipse">
            <a:avLst/>
          </a:prstGeom>
          <a:solidFill>
            <a:srgbClr val="00B05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sp>
        <p:nvSpPr>
          <p:cNvPr id="538" name="Google Shape;538;p19"/>
          <p:cNvSpPr/>
          <p:nvPr/>
        </p:nvSpPr>
        <p:spPr>
          <a:xfrm>
            <a:off x="6844228" y="2478657"/>
            <a:ext cx="287900" cy="257481"/>
          </a:xfrm>
          <a:prstGeom prst="ellipse">
            <a:avLst/>
          </a:prstGeom>
          <a:solidFill>
            <a:srgbClr val="00B05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  <p:sp>
        <p:nvSpPr>
          <p:cNvPr id="539" name="Google Shape;539;p19"/>
          <p:cNvSpPr/>
          <p:nvPr/>
        </p:nvSpPr>
        <p:spPr>
          <a:xfrm>
            <a:off x="7698405" y="3386604"/>
            <a:ext cx="287900" cy="257481"/>
          </a:xfrm>
          <a:prstGeom prst="ellipse">
            <a:avLst/>
          </a:prstGeom>
          <a:solidFill>
            <a:srgbClr val="00B05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endParaRPr/>
          </a:p>
        </p:txBody>
      </p:sp>
      <p:sp>
        <p:nvSpPr>
          <p:cNvPr id="540" name="Google Shape;540;p19"/>
          <p:cNvSpPr/>
          <p:nvPr/>
        </p:nvSpPr>
        <p:spPr>
          <a:xfrm>
            <a:off x="5970847" y="4383657"/>
            <a:ext cx="287900" cy="257481"/>
          </a:xfrm>
          <a:prstGeom prst="ellipse">
            <a:avLst/>
          </a:prstGeom>
          <a:solidFill>
            <a:srgbClr val="00B05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/>
          </a:p>
        </p:txBody>
      </p:sp>
      <p:sp>
        <p:nvSpPr>
          <p:cNvPr id="541" name="Google Shape;541;p19"/>
          <p:cNvSpPr/>
          <p:nvPr/>
        </p:nvSpPr>
        <p:spPr>
          <a:xfrm>
            <a:off x="7263328" y="4352317"/>
            <a:ext cx="287900" cy="257481"/>
          </a:xfrm>
          <a:prstGeom prst="ellipse">
            <a:avLst/>
          </a:prstGeom>
          <a:solidFill>
            <a:srgbClr val="00B05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/>
          </a:p>
        </p:txBody>
      </p:sp>
      <p:sp>
        <p:nvSpPr>
          <p:cNvPr id="542" name="Google Shape;542;p19"/>
          <p:cNvSpPr txBox="1"/>
          <p:nvPr/>
        </p:nvSpPr>
        <p:spPr>
          <a:xfrm>
            <a:off x="5346958" y="3074401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543" name="Google Shape;543;p19"/>
          <p:cNvSpPr txBox="1"/>
          <p:nvPr/>
        </p:nvSpPr>
        <p:spPr>
          <a:xfrm>
            <a:off x="5833818" y="3287037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544" name="Google Shape;544;p19"/>
          <p:cNvSpPr txBox="1"/>
          <p:nvPr/>
        </p:nvSpPr>
        <p:spPr>
          <a:xfrm>
            <a:off x="5325045" y="3841035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545" name="Google Shape;545;p19"/>
          <p:cNvSpPr txBox="1"/>
          <p:nvPr/>
        </p:nvSpPr>
        <p:spPr>
          <a:xfrm>
            <a:off x="6098359" y="2607398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546" name="Google Shape;546;p19"/>
          <p:cNvSpPr txBox="1"/>
          <p:nvPr/>
        </p:nvSpPr>
        <p:spPr>
          <a:xfrm>
            <a:off x="7520151" y="2876235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sp>
        <p:nvSpPr>
          <p:cNvPr id="547" name="Google Shape;547;p19"/>
          <p:cNvSpPr txBox="1"/>
          <p:nvPr/>
        </p:nvSpPr>
        <p:spPr>
          <a:xfrm>
            <a:off x="7676337" y="3832125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548" name="Google Shape;548;p19"/>
          <p:cNvSpPr txBox="1"/>
          <p:nvPr/>
        </p:nvSpPr>
        <p:spPr>
          <a:xfrm>
            <a:off x="7251146" y="3471703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549" name="Google Shape;549;p19"/>
          <p:cNvSpPr txBox="1"/>
          <p:nvPr/>
        </p:nvSpPr>
        <p:spPr>
          <a:xfrm>
            <a:off x="6620806" y="4518846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/>
          </a:p>
        </p:txBody>
      </p:sp>
      <p:sp>
        <p:nvSpPr>
          <p:cNvPr id="550" name="Google Shape;550;p19"/>
          <p:cNvSpPr txBox="1"/>
          <p:nvPr/>
        </p:nvSpPr>
        <p:spPr>
          <a:xfrm>
            <a:off x="6507426" y="3515344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551" name="Google Shape;551;p19"/>
          <p:cNvSpPr txBox="1"/>
          <p:nvPr/>
        </p:nvSpPr>
        <p:spPr>
          <a:xfrm>
            <a:off x="4682618" y="3773742"/>
            <a:ext cx="608013" cy="36933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4589" l="-7998" r="0" t="-819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552" name="Google Shape;552;p19"/>
          <p:cNvSpPr txBox="1"/>
          <p:nvPr/>
        </p:nvSpPr>
        <p:spPr>
          <a:xfrm>
            <a:off x="5203008" y="1998408"/>
            <a:ext cx="608013" cy="3693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6666" l="0" r="0" t="-999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553" name="Google Shape;553;p19"/>
          <p:cNvSpPr txBox="1"/>
          <p:nvPr/>
        </p:nvSpPr>
        <p:spPr>
          <a:xfrm>
            <a:off x="6799265" y="1991034"/>
            <a:ext cx="870927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6666" l="0" r="0" t="-833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554" name="Google Shape;554;p19"/>
          <p:cNvSpPr txBox="1"/>
          <p:nvPr/>
        </p:nvSpPr>
        <p:spPr>
          <a:xfrm>
            <a:off x="5650323" y="4728088"/>
            <a:ext cx="60801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2,a</a:t>
            </a:r>
            <a:endParaRPr/>
          </a:p>
        </p:txBody>
      </p:sp>
      <p:sp>
        <p:nvSpPr>
          <p:cNvPr id="555" name="Google Shape;555;p19"/>
          <p:cNvSpPr txBox="1"/>
          <p:nvPr/>
        </p:nvSpPr>
        <p:spPr>
          <a:xfrm>
            <a:off x="7341088" y="4703512"/>
            <a:ext cx="645217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6666" l="0" r="0" t="-833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556" name="Google Shape;556;p19"/>
          <p:cNvSpPr txBox="1"/>
          <p:nvPr/>
        </p:nvSpPr>
        <p:spPr>
          <a:xfrm>
            <a:off x="7986305" y="3314382"/>
            <a:ext cx="608013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-998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cxnSp>
        <p:nvCxnSpPr>
          <p:cNvPr id="557" name="Google Shape;557;p19"/>
          <p:cNvCxnSpPr/>
          <p:nvPr/>
        </p:nvCxnSpPr>
        <p:spPr>
          <a:xfrm flipH="1" rot="10800000">
            <a:off x="1152228" y="2712480"/>
            <a:ext cx="424631" cy="999818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558" name="Google Shape;558;p19"/>
          <p:cNvCxnSpPr/>
          <p:nvPr/>
        </p:nvCxnSpPr>
        <p:spPr>
          <a:xfrm>
            <a:off x="1568256" y="2735832"/>
            <a:ext cx="1279423" cy="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559" name="Google Shape;559;p19"/>
          <p:cNvCxnSpPr/>
          <p:nvPr/>
        </p:nvCxnSpPr>
        <p:spPr>
          <a:xfrm rot="10800000">
            <a:off x="1568256" y="2735832"/>
            <a:ext cx="479323" cy="1890252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560" name="Google Shape;560;p19"/>
          <p:cNvCxnSpPr/>
          <p:nvPr/>
        </p:nvCxnSpPr>
        <p:spPr>
          <a:xfrm>
            <a:off x="1111056" y="3712298"/>
            <a:ext cx="914400" cy="913786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561" name="Google Shape;561;p19"/>
          <p:cNvCxnSpPr/>
          <p:nvPr/>
        </p:nvCxnSpPr>
        <p:spPr>
          <a:xfrm>
            <a:off x="2047579" y="4626084"/>
            <a:ext cx="1273277" cy="14749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562" name="Google Shape;562;p19"/>
          <p:cNvCxnSpPr/>
          <p:nvPr/>
        </p:nvCxnSpPr>
        <p:spPr>
          <a:xfrm flipH="1" rot="10800000">
            <a:off x="2047579" y="2759798"/>
            <a:ext cx="800100" cy="19050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563" name="Google Shape;563;p19"/>
          <p:cNvCxnSpPr/>
          <p:nvPr/>
        </p:nvCxnSpPr>
        <p:spPr>
          <a:xfrm>
            <a:off x="2937398" y="2712480"/>
            <a:ext cx="838200" cy="931606"/>
          </a:xfrm>
          <a:prstGeom prst="straightConnector1">
            <a:avLst/>
          </a:prstGeom>
          <a:noFill/>
          <a:ln cap="flat" cmpd="sng" w="12700">
            <a:solidFill>
              <a:srgbClr val="00B05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564" name="Google Shape;564;p19"/>
          <p:cNvCxnSpPr/>
          <p:nvPr/>
        </p:nvCxnSpPr>
        <p:spPr>
          <a:xfrm rot="10800000">
            <a:off x="2939856" y="2712480"/>
            <a:ext cx="416642" cy="1913604"/>
          </a:xfrm>
          <a:prstGeom prst="straightConnector1">
            <a:avLst/>
          </a:prstGeom>
          <a:noFill/>
          <a:ln cap="flat" cmpd="sng" w="12700">
            <a:solidFill>
              <a:srgbClr val="00B05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565" name="Google Shape;565;p19"/>
          <p:cNvCxnSpPr/>
          <p:nvPr/>
        </p:nvCxnSpPr>
        <p:spPr>
          <a:xfrm flipH="1" rot="10800000">
            <a:off x="3397056" y="3688332"/>
            <a:ext cx="394519" cy="937752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566" name="Google Shape;566;p19"/>
          <p:cNvSpPr/>
          <p:nvPr/>
        </p:nvSpPr>
        <p:spPr>
          <a:xfrm>
            <a:off x="1008278" y="3644085"/>
            <a:ext cx="287900" cy="257481"/>
          </a:xfrm>
          <a:prstGeom prst="ellipse">
            <a:avLst/>
          </a:prstGeom>
          <a:solidFill>
            <a:srgbClr val="00B05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/>
          </a:p>
        </p:txBody>
      </p:sp>
      <p:sp>
        <p:nvSpPr>
          <p:cNvPr id="567" name="Google Shape;567;p19"/>
          <p:cNvSpPr/>
          <p:nvPr/>
        </p:nvSpPr>
        <p:spPr>
          <a:xfrm>
            <a:off x="1424306" y="2607091"/>
            <a:ext cx="287900" cy="257481"/>
          </a:xfrm>
          <a:prstGeom prst="ellipse">
            <a:avLst/>
          </a:prstGeom>
          <a:solidFill>
            <a:srgbClr val="00B05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sp>
        <p:nvSpPr>
          <p:cNvPr id="568" name="Google Shape;568;p19"/>
          <p:cNvSpPr/>
          <p:nvPr/>
        </p:nvSpPr>
        <p:spPr>
          <a:xfrm>
            <a:off x="2793448" y="2631057"/>
            <a:ext cx="287900" cy="257481"/>
          </a:xfrm>
          <a:prstGeom prst="ellipse">
            <a:avLst/>
          </a:prstGeom>
          <a:solidFill>
            <a:srgbClr val="00B05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  <p:sp>
        <p:nvSpPr>
          <p:cNvPr id="569" name="Google Shape;569;p19"/>
          <p:cNvSpPr/>
          <p:nvPr/>
        </p:nvSpPr>
        <p:spPr>
          <a:xfrm>
            <a:off x="3647625" y="3539004"/>
            <a:ext cx="287900" cy="257481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endParaRPr/>
          </a:p>
        </p:txBody>
      </p:sp>
      <p:sp>
        <p:nvSpPr>
          <p:cNvPr id="570" name="Google Shape;570;p19"/>
          <p:cNvSpPr/>
          <p:nvPr/>
        </p:nvSpPr>
        <p:spPr>
          <a:xfrm>
            <a:off x="1920067" y="4536057"/>
            <a:ext cx="287900" cy="257481"/>
          </a:xfrm>
          <a:prstGeom prst="ellipse">
            <a:avLst/>
          </a:prstGeom>
          <a:solidFill>
            <a:srgbClr val="00B05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/>
          </a:p>
        </p:txBody>
      </p:sp>
      <p:sp>
        <p:nvSpPr>
          <p:cNvPr id="571" name="Google Shape;571;p19"/>
          <p:cNvSpPr/>
          <p:nvPr/>
        </p:nvSpPr>
        <p:spPr>
          <a:xfrm>
            <a:off x="3212548" y="4504717"/>
            <a:ext cx="287900" cy="257481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/>
          </a:p>
        </p:txBody>
      </p:sp>
      <p:sp>
        <p:nvSpPr>
          <p:cNvPr id="572" name="Google Shape;572;p19"/>
          <p:cNvSpPr txBox="1"/>
          <p:nvPr/>
        </p:nvSpPr>
        <p:spPr>
          <a:xfrm>
            <a:off x="1296178" y="3226801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573" name="Google Shape;573;p19"/>
          <p:cNvSpPr txBox="1"/>
          <p:nvPr/>
        </p:nvSpPr>
        <p:spPr>
          <a:xfrm>
            <a:off x="1783038" y="3439437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574" name="Google Shape;574;p19"/>
          <p:cNvSpPr txBox="1"/>
          <p:nvPr/>
        </p:nvSpPr>
        <p:spPr>
          <a:xfrm>
            <a:off x="1274265" y="3993435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575" name="Google Shape;575;p19"/>
          <p:cNvSpPr txBox="1"/>
          <p:nvPr/>
        </p:nvSpPr>
        <p:spPr>
          <a:xfrm>
            <a:off x="2047579" y="2759798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576" name="Google Shape;576;p19"/>
          <p:cNvSpPr txBox="1"/>
          <p:nvPr/>
        </p:nvSpPr>
        <p:spPr>
          <a:xfrm>
            <a:off x="3469371" y="3028635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sp>
        <p:nvSpPr>
          <p:cNvPr id="577" name="Google Shape;577;p19"/>
          <p:cNvSpPr txBox="1"/>
          <p:nvPr/>
        </p:nvSpPr>
        <p:spPr>
          <a:xfrm>
            <a:off x="3625557" y="3984525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578" name="Google Shape;578;p19"/>
          <p:cNvSpPr txBox="1"/>
          <p:nvPr/>
        </p:nvSpPr>
        <p:spPr>
          <a:xfrm>
            <a:off x="3200366" y="3624103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579" name="Google Shape;579;p19"/>
          <p:cNvSpPr txBox="1"/>
          <p:nvPr/>
        </p:nvSpPr>
        <p:spPr>
          <a:xfrm>
            <a:off x="2570026" y="4671246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/>
          </a:p>
        </p:txBody>
      </p:sp>
      <p:sp>
        <p:nvSpPr>
          <p:cNvPr id="580" name="Google Shape;580;p19"/>
          <p:cNvSpPr txBox="1"/>
          <p:nvPr/>
        </p:nvSpPr>
        <p:spPr>
          <a:xfrm>
            <a:off x="2456646" y="3667744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581" name="Google Shape;581;p19"/>
          <p:cNvSpPr txBox="1"/>
          <p:nvPr/>
        </p:nvSpPr>
        <p:spPr>
          <a:xfrm>
            <a:off x="631838" y="3926142"/>
            <a:ext cx="608013" cy="36933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24589" l="-9090" r="0" t="-819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582" name="Google Shape;582;p19"/>
          <p:cNvSpPr txBox="1"/>
          <p:nvPr/>
        </p:nvSpPr>
        <p:spPr>
          <a:xfrm>
            <a:off x="1152228" y="2150808"/>
            <a:ext cx="608013" cy="36933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26666" l="0" r="0" t="-833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583" name="Google Shape;583;p19"/>
          <p:cNvSpPr txBox="1"/>
          <p:nvPr/>
        </p:nvSpPr>
        <p:spPr>
          <a:xfrm>
            <a:off x="2748485" y="2143434"/>
            <a:ext cx="870927" cy="369332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-26666" l="0" r="0" t="-833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584" name="Google Shape;584;p19"/>
          <p:cNvSpPr txBox="1"/>
          <p:nvPr/>
        </p:nvSpPr>
        <p:spPr>
          <a:xfrm>
            <a:off x="1599543" y="4880488"/>
            <a:ext cx="60801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2,a</a:t>
            </a:r>
            <a:endParaRPr/>
          </a:p>
        </p:txBody>
      </p:sp>
      <p:sp>
        <p:nvSpPr>
          <p:cNvPr id="585" name="Google Shape;585;p19"/>
          <p:cNvSpPr txBox="1"/>
          <p:nvPr/>
        </p:nvSpPr>
        <p:spPr>
          <a:xfrm>
            <a:off x="3290308" y="4855912"/>
            <a:ext cx="645217" cy="369332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-26666" l="0" r="0" t="-833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586" name="Google Shape;586;p19"/>
          <p:cNvSpPr txBox="1"/>
          <p:nvPr/>
        </p:nvSpPr>
        <p:spPr>
          <a:xfrm>
            <a:off x="3935525" y="3466782"/>
            <a:ext cx="608013" cy="369332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587" name="Google Shape;587;p19"/>
          <p:cNvSpPr txBox="1"/>
          <p:nvPr>
            <p:ph type="title"/>
          </p:nvPr>
        </p:nvSpPr>
        <p:spPr>
          <a:xfrm>
            <a:off x="609600" y="381000"/>
            <a:ext cx="8077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B050"/>
                </a:solidFill>
              </a:rPr>
              <a:t>Ví dụ thuật toán Dijkstra (6)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20"/>
          <p:cNvSpPr txBox="1"/>
          <p:nvPr>
            <p:ph type="title"/>
          </p:nvPr>
        </p:nvSpPr>
        <p:spPr>
          <a:xfrm>
            <a:off x="609600" y="381000"/>
            <a:ext cx="8077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B050"/>
                </a:solidFill>
              </a:rPr>
              <a:t>Phương pháp lập bảng ghi nhãn</a:t>
            </a:r>
            <a:endParaRPr b="1" sz="3600">
              <a:solidFill>
                <a:srgbClr val="00B050"/>
              </a:solidFill>
            </a:endParaRPr>
          </a:p>
        </p:txBody>
      </p:sp>
      <p:sp>
        <p:nvSpPr>
          <p:cNvPr id="594" name="Google Shape;594;p20"/>
          <p:cNvSpPr txBox="1"/>
          <p:nvPr>
            <p:ph idx="1" type="body"/>
          </p:nvPr>
        </p:nvSpPr>
        <p:spPr>
          <a:xfrm>
            <a:off x="838200" y="1600200"/>
            <a:ext cx="7467600" cy="452596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oto Sans Symbols"/>
              <a:buChar char="❑"/>
            </a:pPr>
            <a:r>
              <a:rPr lang="en-US">
                <a:solidFill>
                  <a:schemeClr val="dk2"/>
                </a:solidFill>
              </a:rPr>
              <a:t> Bản chất  </a:t>
            </a:r>
            <a:r>
              <a:rPr lang="en-US">
                <a:solidFill>
                  <a:schemeClr val="dk2"/>
                </a:solidFill>
              </a:rPr>
              <a:t>như </a:t>
            </a:r>
            <a:r>
              <a:rPr lang="en-US">
                <a:solidFill>
                  <a:schemeClr val="dk2"/>
                </a:solidFill>
              </a:rPr>
              <a:t>thuật</a:t>
            </a:r>
            <a:r>
              <a:rPr lang="en-US">
                <a:solidFill>
                  <a:schemeClr val="dk2"/>
                </a:solidFill>
              </a:rPr>
              <a:t> toán Dijkstra</a:t>
            </a:r>
            <a:endParaRPr>
              <a:solidFill>
                <a:schemeClr val="dk2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oto Sans Symbols"/>
              <a:buChar char="❑"/>
            </a:pPr>
            <a:r>
              <a:rPr lang="en-US">
                <a:solidFill>
                  <a:schemeClr val="dk2"/>
                </a:solidFill>
              </a:rPr>
              <a:t> Các cột tương ứng với các đỉnh</a:t>
            </a:r>
            <a:endParaRPr>
              <a:solidFill>
                <a:schemeClr val="dk2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oto Sans Symbols"/>
              <a:buChar char="❑"/>
            </a:pPr>
            <a:r>
              <a:rPr lang="en-US">
                <a:solidFill>
                  <a:schemeClr val="dk2"/>
                </a:solidFill>
              </a:rPr>
              <a:t> Các hàng tương ứng với số lần tính nhãn (bước 4)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oto Sans Symbols"/>
              <a:buChar char="❑"/>
            </a:pPr>
            <a:r>
              <a:rPr lang="en-US">
                <a:solidFill>
                  <a:schemeClr val="dk2"/>
                </a:solidFill>
              </a:rPr>
              <a:t> Các nhãn “gạch dưới” tương ứng với nhãn nhỏ nhất ở (bước 2)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oto Sans Symbols"/>
              <a:buChar char="❑"/>
            </a:pPr>
            <a:r>
              <a:rPr lang="en-US">
                <a:solidFill>
                  <a:schemeClr val="dk2"/>
                </a:solidFill>
              </a:rPr>
              <a:t> Số đỉnh được cố định chính là số đỉnh loại ra (bước 2)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595" name="Google Shape;595;p20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596" name="Google Shape;596;p20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1" name="Google Shape;601;p21"/>
          <p:cNvCxnSpPr/>
          <p:nvPr/>
        </p:nvCxnSpPr>
        <p:spPr>
          <a:xfrm flipH="1" rot="10800000">
            <a:off x="506822" y="1609720"/>
            <a:ext cx="424631" cy="999818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602" name="Google Shape;602;p21"/>
          <p:cNvCxnSpPr/>
          <p:nvPr/>
        </p:nvCxnSpPr>
        <p:spPr>
          <a:xfrm>
            <a:off x="922850" y="1633072"/>
            <a:ext cx="1279423" cy="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603" name="Google Shape;603;p21"/>
          <p:cNvCxnSpPr/>
          <p:nvPr/>
        </p:nvCxnSpPr>
        <p:spPr>
          <a:xfrm rot="10800000">
            <a:off x="922850" y="1633072"/>
            <a:ext cx="479323" cy="1890252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604" name="Google Shape;604;p21"/>
          <p:cNvCxnSpPr/>
          <p:nvPr/>
        </p:nvCxnSpPr>
        <p:spPr>
          <a:xfrm>
            <a:off x="465650" y="2609538"/>
            <a:ext cx="914400" cy="913786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605" name="Google Shape;605;p21"/>
          <p:cNvCxnSpPr/>
          <p:nvPr/>
        </p:nvCxnSpPr>
        <p:spPr>
          <a:xfrm>
            <a:off x="1402173" y="3523324"/>
            <a:ext cx="1273277" cy="14749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606" name="Google Shape;606;p21"/>
          <p:cNvCxnSpPr/>
          <p:nvPr/>
        </p:nvCxnSpPr>
        <p:spPr>
          <a:xfrm flipH="1" rot="10800000">
            <a:off x="1402173" y="1657038"/>
            <a:ext cx="800100" cy="19050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607" name="Google Shape;607;p21"/>
          <p:cNvCxnSpPr/>
          <p:nvPr/>
        </p:nvCxnSpPr>
        <p:spPr>
          <a:xfrm>
            <a:off x="2291992" y="1609720"/>
            <a:ext cx="838200" cy="931606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608" name="Google Shape;608;p21"/>
          <p:cNvCxnSpPr/>
          <p:nvPr/>
        </p:nvCxnSpPr>
        <p:spPr>
          <a:xfrm rot="10800000">
            <a:off x="2294450" y="1609720"/>
            <a:ext cx="416642" cy="1913604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609" name="Google Shape;609;p21"/>
          <p:cNvCxnSpPr/>
          <p:nvPr/>
        </p:nvCxnSpPr>
        <p:spPr>
          <a:xfrm flipH="1" rot="10800000">
            <a:off x="2751650" y="2585572"/>
            <a:ext cx="394519" cy="937752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610" name="Google Shape;610;p21"/>
          <p:cNvSpPr/>
          <p:nvPr/>
        </p:nvSpPr>
        <p:spPr>
          <a:xfrm>
            <a:off x="362872" y="2541325"/>
            <a:ext cx="287900" cy="257481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/>
          </a:p>
        </p:txBody>
      </p:sp>
      <p:sp>
        <p:nvSpPr>
          <p:cNvPr id="611" name="Google Shape;611;p21"/>
          <p:cNvSpPr/>
          <p:nvPr/>
        </p:nvSpPr>
        <p:spPr>
          <a:xfrm>
            <a:off x="778900" y="1504331"/>
            <a:ext cx="287900" cy="257481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sp>
        <p:nvSpPr>
          <p:cNvPr id="612" name="Google Shape;612;p21"/>
          <p:cNvSpPr/>
          <p:nvPr/>
        </p:nvSpPr>
        <p:spPr>
          <a:xfrm>
            <a:off x="2148042" y="1528297"/>
            <a:ext cx="287900" cy="257481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  <p:sp>
        <p:nvSpPr>
          <p:cNvPr id="613" name="Google Shape;613;p21"/>
          <p:cNvSpPr/>
          <p:nvPr/>
        </p:nvSpPr>
        <p:spPr>
          <a:xfrm>
            <a:off x="3002219" y="2436244"/>
            <a:ext cx="287900" cy="257481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endParaRPr/>
          </a:p>
        </p:txBody>
      </p:sp>
      <p:sp>
        <p:nvSpPr>
          <p:cNvPr id="614" name="Google Shape;614;p21"/>
          <p:cNvSpPr/>
          <p:nvPr/>
        </p:nvSpPr>
        <p:spPr>
          <a:xfrm>
            <a:off x="1274661" y="3433297"/>
            <a:ext cx="287900" cy="257481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/>
          </a:p>
        </p:txBody>
      </p:sp>
      <p:sp>
        <p:nvSpPr>
          <p:cNvPr id="615" name="Google Shape;615;p21"/>
          <p:cNvSpPr/>
          <p:nvPr/>
        </p:nvSpPr>
        <p:spPr>
          <a:xfrm>
            <a:off x="2567142" y="3401957"/>
            <a:ext cx="287900" cy="257481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/>
          </a:p>
        </p:txBody>
      </p:sp>
      <p:sp>
        <p:nvSpPr>
          <p:cNvPr id="616" name="Google Shape;616;p21"/>
          <p:cNvSpPr txBox="1"/>
          <p:nvPr/>
        </p:nvSpPr>
        <p:spPr>
          <a:xfrm>
            <a:off x="650772" y="2124041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617" name="Google Shape;617;p21"/>
          <p:cNvSpPr txBox="1"/>
          <p:nvPr/>
        </p:nvSpPr>
        <p:spPr>
          <a:xfrm>
            <a:off x="1137632" y="2336677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618" name="Google Shape;618;p21"/>
          <p:cNvSpPr txBox="1"/>
          <p:nvPr/>
        </p:nvSpPr>
        <p:spPr>
          <a:xfrm>
            <a:off x="628859" y="2890675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619" name="Google Shape;619;p21"/>
          <p:cNvSpPr txBox="1"/>
          <p:nvPr/>
        </p:nvSpPr>
        <p:spPr>
          <a:xfrm>
            <a:off x="1402173" y="1657038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620" name="Google Shape;620;p21"/>
          <p:cNvSpPr txBox="1"/>
          <p:nvPr/>
        </p:nvSpPr>
        <p:spPr>
          <a:xfrm>
            <a:off x="2823965" y="1925875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sp>
        <p:nvSpPr>
          <p:cNvPr id="621" name="Google Shape;621;p21"/>
          <p:cNvSpPr txBox="1"/>
          <p:nvPr/>
        </p:nvSpPr>
        <p:spPr>
          <a:xfrm>
            <a:off x="2980151" y="2881765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622" name="Google Shape;622;p21"/>
          <p:cNvSpPr txBox="1"/>
          <p:nvPr/>
        </p:nvSpPr>
        <p:spPr>
          <a:xfrm>
            <a:off x="2554960" y="2521343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623" name="Google Shape;623;p21"/>
          <p:cNvSpPr txBox="1"/>
          <p:nvPr/>
        </p:nvSpPr>
        <p:spPr>
          <a:xfrm>
            <a:off x="1924620" y="3568486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/>
          </a:p>
        </p:txBody>
      </p:sp>
      <p:sp>
        <p:nvSpPr>
          <p:cNvPr id="624" name="Google Shape;624;p21"/>
          <p:cNvSpPr txBox="1"/>
          <p:nvPr/>
        </p:nvSpPr>
        <p:spPr>
          <a:xfrm>
            <a:off x="1811240" y="2564984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625" name="Google Shape;625;p21"/>
          <p:cNvSpPr txBox="1"/>
          <p:nvPr>
            <p:ph type="title"/>
          </p:nvPr>
        </p:nvSpPr>
        <p:spPr>
          <a:xfrm>
            <a:off x="609600" y="381000"/>
            <a:ext cx="8077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B050"/>
                </a:solidFill>
              </a:rPr>
              <a:t>Ví dụ lập bảng tính nhãn (1)</a:t>
            </a:r>
            <a:endParaRPr/>
          </a:p>
        </p:txBody>
      </p:sp>
      <p:graphicFrame>
        <p:nvGraphicFramePr>
          <p:cNvPr id="626" name="Google Shape;626;p21"/>
          <p:cNvGraphicFramePr/>
          <p:nvPr/>
        </p:nvGraphicFramePr>
        <p:xfrm>
          <a:off x="3505200" y="15043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{58EAFFC7-EDB0-443D-8FE1-40579736F1DA}</a:tableStyleId>
              </a:tblPr>
              <a:tblGrid>
                <a:gridCol w="291100"/>
                <a:gridCol w="583275"/>
                <a:gridCol w="725525"/>
                <a:gridCol w="706925"/>
                <a:gridCol w="697625"/>
                <a:gridCol w="706925"/>
                <a:gridCol w="706925"/>
                <a:gridCol w="706925"/>
              </a:tblGrid>
              <a:tr h="560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b="1"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 b="1"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 b="1"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endParaRPr b="1"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</a:t>
                      </a:r>
                      <a:endParaRPr b="1"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</a:t>
                      </a:r>
                      <a:endParaRPr b="1"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1" sz="2000" u="none" cap="none" strike="noStrike">
                        <a:solidFill>
                          <a:schemeClr val="dk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mbria Math"/>
                        <a:buNone/>
                      </a:pPr>
                      <a:r>
                        <a:rPr b="1" i="1" lang="en-US" sz="20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a</a:t>
                      </a:r>
                      <a:endParaRPr b="1" i="1"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0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mbria Math"/>
                        <a:buNone/>
                      </a:pPr>
                      <a:r>
                        <a:rPr b="1" i="1" lang="en-US" sz="20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d</a:t>
                      </a:r>
                      <a:endParaRPr b="1" i="1"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0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0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-</a:t>
                      </a:r>
                      <a:endParaRPr b="1" i="1"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0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3,d</a:t>
                      </a:r>
                      <a:endParaRPr b="1" i="1"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0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10,d</a:t>
                      </a:r>
                      <a:endParaRPr b="1" i="1"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0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-</a:t>
                      </a:r>
                      <a:endParaRPr b="1" i="1"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0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12,d</a:t>
                      </a:r>
                      <a:endParaRPr b="1" i="1"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0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b</a:t>
                      </a:r>
                      <a:endParaRPr b="1" i="1"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0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0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-</a:t>
                      </a:r>
                      <a:endParaRPr b="1" i="1"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0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-</a:t>
                      </a:r>
                      <a:endParaRPr b="1" i="1"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0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8,b</a:t>
                      </a:r>
                      <a:endParaRPr b="1" i="1"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0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-</a:t>
                      </a:r>
                      <a:endParaRPr b="1" i="1"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0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12,d</a:t>
                      </a:r>
                      <a:endParaRPr b="1" i="1"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0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c</a:t>
                      </a:r>
                      <a:endParaRPr b="1" i="1"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mbria Math"/>
                        <a:buNone/>
                      </a:pPr>
                      <a:r>
                        <a:rPr b="1" i="1" lang="en-US" sz="20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-</a:t>
                      </a:r>
                      <a:endParaRPr b="1"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1"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0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-</a:t>
                      </a:r>
                      <a:endParaRPr b="1" i="1"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0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-</a:t>
                      </a:r>
                      <a:endParaRPr b="1" i="1"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0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-</a:t>
                      </a:r>
                      <a:endParaRPr b="1" i="1"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0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10.c</a:t>
                      </a:r>
                      <a:endParaRPr b="1" i="1"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0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14,c</a:t>
                      </a:r>
                      <a:endParaRPr b="1" i="1"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0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e</a:t>
                      </a:r>
                      <a:endParaRPr b="1" i="1"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0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0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-</a:t>
                      </a:r>
                      <a:endParaRPr b="1" i="1"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0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-</a:t>
                      </a:r>
                      <a:endParaRPr b="1" i="1"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0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-</a:t>
                      </a:r>
                      <a:endParaRPr b="1" i="1"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0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-</a:t>
                      </a:r>
                      <a:endParaRPr b="1" i="1"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0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-</a:t>
                      </a:r>
                      <a:endParaRPr b="1" i="1"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0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13,e</a:t>
                      </a:r>
                      <a:endParaRPr b="1" i="1"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0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z</a:t>
                      </a:r>
                      <a:endParaRPr b="1" i="1"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0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0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-</a:t>
                      </a:r>
                      <a:endParaRPr b="1" i="1"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0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-</a:t>
                      </a:r>
                      <a:endParaRPr b="1" i="1"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0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-</a:t>
                      </a:r>
                      <a:endParaRPr b="1" i="1"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0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-</a:t>
                      </a:r>
                      <a:endParaRPr b="1" i="1"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0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-</a:t>
                      </a:r>
                      <a:endParaRPr b="1" i="1"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0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-</a:t>
                      </a:r>
                      <a:endParaRPr b="1" i="1"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1" sz="200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2" name="Google Shape;632;p22"/>
          <p:cNvGraphicFramePr/>
          <p:nvPr/>
        </p:nvGraphicFramePr>
        <p:xfrm>
          <a:off x="1397767" y="31495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{58EAFFC7-EDB0-443D-8FE1-40579736F1DA}</a:tableStyleId>
              </a:tblPr>
              <a:tblGrid>
                <a:gridCol w="466550"/>
                <a:gridCol w="876525"/>
                <a:gridCol w="1098875"/>
                <a:gridCol w="1098875"/>
                <a:gridCol w="1274700"/>
                <a:gridCol w="1133075"/>
                <a:gridCol w="1133075"/>
              </a:tblGrid>
              <a:tr h="499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FFFF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</a:t>
                      </a:r>
                      <a:endParaRPr/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FFFF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FFFF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FFFF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FFFF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FFFF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FFFF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</a:tr>
              <a:tr h="571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4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0,o</a:t>
                      </a:r>
                      <a:endParaRPr/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oo,o</a:t>
                      </a:r>
                      <a:endParaRPr b="1" sz="24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400"/>
                        <a:buFont typeface="Calibri"/>
                        <a:buNone/>
                      </a:pPr>
                      <a:r>
                        <a:rPr b="1" lang="en-US" sz="24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oo,o</a:t>
                      </a:r>
                      <a:endParaRPr b="1" sz="24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400"/>
                        <a:buFont typeface="Calibri"/>
                        <a:buNone/>
                      </a:pPr>
                      <a:r>
                        <a:rPr b="1" lang="en-US" sz="24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oo,o</a:t>
                      </a:r>
                      <a:endParaRPr b="1" sz="24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400"/>
                        <a:buFont typeface="Calibri"/>
                        <a:buNone/>
                      </a:pPr>
                      <a:r>
                        <a:rPr b="1" lang="en-US" sz="24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oo,o</a:t>
                      </a:r>
                      <a:endParaRPr b="1" sz="24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400"/>
                        <a:buFont typeface="Calibri"/>
                        <a:buNone/>
                      </a:pPr>
                      <a:r>
                        <a:rPr b="1" lang="en-US" sz="24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oo,o</a:t>
                      </a:r>
                      <a:endParaRPr b="1" sz="24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</a:tr>
              <a:tr h="507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/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1,1</a:t>
                      </a:r>
                      <a:endParaRPr/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400"/>
                        <a:buFont typeface="Calibri"/>
                        <a:buNone/>
                      </a:pPr>
                      <a:r>
                        <a:rPr b="1" lang="en-US" sz="24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oo,o</a:t>
                      </a:r>
                      <a:endParaRPr b="1" sz="24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2,1</a:t>
                      </a:r>
                      <a:endParaRPr/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400"/>
                        <a:buFont typeface="Calibri"/>
                        <a:buNone/>
                      </a:pPr>
                      <a:r>
                        <a:rPr b="1" lang="en-US" sz="24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oo,o</a:t>
                      </a:r>
                      <a:endParaRPr b="1" sz="24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400"/>
                        <a:buFont typeface="Calibri"/>
                        <a:buNone/>
                      </a:pPr>
                      <a:r>
                        <a:rPr b="1" lang="en-US" sz="24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oo,o</a:t>
                      </a:r>
                      <a:endParaRPr b="1" sz="24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</a:tr>
              <a:tr h="499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4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/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6,2</a:t>
                      </a:r>
                      <a:endParaRPr/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2,1</a:t>
                      </a:r>
                      <a:endParaRPr b="1" sz="24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oo,o</a:t>
                      </a:r>
                      <a:endParaRPr b="1" sz="24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8,2</a:t>
                      </a:r>
                      <a:endParaRPr/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</a:tr>
              <a:tr h="499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4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4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3,4</a:t>
                      </a:r>
                      <a:endParaRPr/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/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6,4</a:t>
                      </a:r>
                      <a:endParaRPr b="1" sz="24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8,2</a:t>
                      </a:r>
                      <a:endParaRPr/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</a:tr>
              <a:tr h="499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4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4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1" sz="24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4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6,4</a:t>
                      </a:r>
                      <a:endParaRPr b="1" sz="24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4,3</a:t>
                      </a:r>
                      <a:endParaRPr/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</a:tr>
              <a:tr h="499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4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4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4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4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4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6,4</a:t>
                      </a:r>
                      <a:endParaRPr/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/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</a:tr>
            </a:tbl>
          </a:graphicData>
        </a:graphic>
      </p:graphicFrame>
      <p:sp>
        <p:nvSpPr>
          <p:cNvPr id="633" name="Google Shape;633;p22"/>
          <p:cNvSpPr txBox="1"/>
          <p:nvPr>
            <p:ph type="title"/>
          </p:nvPr>
        </p:nvSpPr>
        <p:spPr>
          <a:xfrm>
            <a:off x="609600" y="381000"/>
            <a:ext cx="8077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B050"/>
                </a:solidFill>
              </a:rPr>
              <a:t>Ví dụ lập bảng tính nhãn (2)</a:t>
            </a:r>
            <a:endParaRPr/>
          </a:p>
        </p:txBody>
      </p:sp>
      <p:cxnSp>
        <p:nvCxnSpPr>
          <p:cNvPr id="634" name="Google Shape;634;p22"/>
          <p:cNvCxnSpPr>
            <a:endCxn id="635" idx="3"/>
          </p:cNvCxnSpPr>
          <p:nvPr/>
        </p:nvCxnSpPr>
        <p:spPr>
          <a:xfrm flipH="1" rot="10800000">
            <a:off x="1268962" y="1327865"/>
            <a:ext cx="314100" cy="8853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36" name="Google Shape;636;p22"/>
          <p:cNvCxnSpPr>
            <a:endCxn id="637" idx="2"/>
          </p:cNvCxnSpPr>
          <p:nvPr/>
        </p:nvCxnSpPr>
        <p:spPr>
          <a:xfrm>
            <a:off x="1684842" y="1236798"/>
            <a:ext cx="1225200" cy="240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38" name="Google Shape;638;p22"/>
          <p:cNvCxnSpPr>
            <a:stCxn id="639" idx="0"/>
            <a:endCxn id="635" idx="4"/>
          </p:cNvCxnSpPr>
          <p:nvPr/>
        </p:nvCxnSpPr>
        <p:spPr>
          <a:xfrm rot="10800000">
            <a:off x="1684850" y="1365669"/>
            <a:ext cx="457200" cy="14163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640" name="Google Shape;640;p22"/>
          <p:cNvCxnSpPr>
            <a:endCxn id="639" idx="2"/>
          </p:cNvCxnSpPr>
          <p:nvPr/>
        </p:nvCxnSpPr>
        <p:spPr>
          <a:xfrm>
            <a:off x="1227700" y="2213209"/>
            <a:ext cx="770400" cy="6975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641" name="Google Shape;641;p22"/>
          <p:cNvCxnSpPr>
            <a:stCxn id="639" idx="5"/>
            <a:endCxn id="642" idx="2"/>
          </p:cNvCxnSpPr>
          <p:nvPr/>
        </p:nvCxnSpPr>
        <p:spPr>
          <a:xfrm flipH="1" rot="10800000">
            <a:off x="2243838" y="2881743"/>
            <a:ext cx="1229400" cy="1200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643" name="Google Shape;643;p22"/>
          <p:cNvCxnSpPr>
            <a:stCxn id="639" idx="7"/>
            <a:endCxn id="637" idx="4"/>
          </p:cNvCxnSpPr>
          <p:nvPr/>
        </p:nvCxnSpPr>
        <p:spPr>
          <a:xfrm flipH="1" rot="10800000">
            <a:off x="2243838" y="1389576"/>
            <a:ext cx="810300" cy="14301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44" name="Google Shape;644;p22"/>
          <p:cNvCxnSpPr>
            <a:stCxn id="637" idx="6"/>
            <a:endCxn id="645" idx="1"/>
          </p:cNvCxnSpPr>
          <p:nvPr/>
        </p:nvCxnSpPr>
        <p:spPr>
          <a:xfrm>
            <a:off x="3197942" y="1260798"/>
            <a:ext cx="896400" cy="3342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46" name="Google Shape;646;p22"/>
          <p:cNvCxnSpPr>
            <a:stCxn id="645" idx="2"/>
            <a:endCxn id="635" idx="5"/>
          </p:cNvCxnSpPr>
          <p:nvPr/>
        </p:nvCxnSpPr>
        <p:spPr>
          <a:xfrm rot="10800000">
            <a:off x="1786519" y="1327854"/>
            <a:ext cx="2265600" cy="3582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647" name="Google Shape;647;p22"/>
          <p:cNvCxnSpPr>
            <a:stCxn id="642" idx="7"/>
            <a:endCxn id="645" idx="3"/>
          </p:cNvCxnSpPr>
          <p:nvPr/>
        </p:nvCxnSpPr>
        <p:spPr>
          <a:xfrm flipH="1" rot="10800000">
            <a:off x="3718830" y="1777103"/>
            <a:ext cx="375600" cy="10137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648" name="Google Shape;648;p22"/>
          <p:cNvSpPr/>
          <p:nvPr/>
        </p:nvSpPr>
        <p:spPr>
          <a:xfrm>
            <a:off x="1124872" y="2145085"/>
            <a:ext cx="287900" cy="257481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635" name="Google Shape;635;p22"/>
          <p:cNvSpPr/>
          <p:nvPr/>
        </p:nvSpPr>
        <p:spPr>
          <a:xfrm>
            <a:off x="1540900" y="1108091"/>
            <a:ext cx="287900" cy="257481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637" name="Google Shape;637;p22"/>
          <p:cNvSpPr/>
          <p:nvPr/>
        </p:nvSpPr>
        <p:spPr>
          <a:xfrm>
            <a:off x="2910042" y="1132057"/>
            <a:ext cx="287900" cy="257481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645" name="Google Shape;645;p22"/>
          <p:cNvSpPr/>
          <p:nvPr/>
        </p:nvSpPr>
        <p:spPr>
          <a:xfrm>
            <a:off x="4052119" y="1557314"/>
            <a:ext cx="287900" cy="257481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sp>
        <p:nvSpPr>
          <p:cNvPr id="639" name="Google Shape;639;p22"/>
          <p:cNvSpPr/>
          <p:nvPr/>
        </p:nvSpPr>
        <p:spPr>
          <a:xfrm>
            <a:off x="1998100" y="2781969"/>
            <a:ext cx="287900" cy="257481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642" name="Google Shape;642;p22"/>
          <p:cNvSpPr/>
          <p:nvPr/>
        </p:nvSpPr>
        <p:spPr>
          <a:xfrm>
            <a:off x="3473092" y="2753096"/>
            <a:ext cx="287900" cy="257481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649" name="Google Shape;649;p22"/>
          <p:cNvSpPr txBox="1"/>
          <p:nvPr/>
        </p:nvSpPr>
        <p:spPr>
          <a:xfrm>
            <a:off x="1412772" y="1727801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650" name="Google Shape;650;p22"/>
          <p:cNvSpPr txBox="1"/>
          <p:nvPr/>
        </p:nvSpPr>
        <p:spPr>
          <a:xfrm>
            <a:off x="3424095" y="1316723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651" name="Google Shape;651;p22"/>
          <p:cNvSpPr txBox="1"/>
          <p:nvPr/>
        </p:nvSpPr>
        <p:spPr>
          <a:xfrm>
            <a:off x="1390859" y="2494435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652" name="Google Shape;652;p22"/>
          <p:cNvSpPr txBox="1"/>
          <p:nvPr/>
        </p:nvSpPr>
        <p:spPr>
          <a:xfrm>
            <a:off x="2414182" y="1168620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653" name="Google Shape;653;p22"/>
          <p:cNvSpPr txBox="1"/>
          <p:nvPr/>
        </p:nvSpPr>
        <p:spPr>
          <a:xfrm>
            <a:off x="3047901" y="2632411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654" name="Google Shape;654;p22"/>
          <p:cNvSpPr txBox="1"/>
          <p:nvPr/>
        </p:nvSpPr>
        <p:spPr>
          <a:xfrm>
            <a:off x="2609960" y="2004666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655" name="Google Shape;655;p22"/>
          <p:cNvSpPr txBox="1"/>
          <p:nvPr/>
        </p:nvSpPr>
        <p:spPr>
          <a:xfrm>
            <a:off x="1898036" y="1770581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656" name="Google Shape;656;p22"/>
          <p:cNvSpPr txBox="1"/>
          <p:nvPr/>
        </p:nvSpPr>
        <p:spPr>
          <a:xfrm>
            <a:off x="2952077" y="2263079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657" name="Google Shape;657;p22"/>
          <p:cNvSpPr txBox="1"/>
          <p:nvPr/>
        </p:nvSpPr>
        <p:spPr>
          <a:xfrm>
            <a:off x="3102118" y="1557314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/>
          </a:p>
        </p:txBody>
      </p:sp>
      <p:cxnSp>
        <p:nvCxnSpPr>
          <p:cNvPr id="658" name="Google Shape;658;p22"/>
          <p:cNvCxnSpPr>
            <a:stCxn id="639" idx="6"/>
            <a:endCxn id="642" idx="1"/>
          </p:cNvCxnSpPr>
          <p:nvPr/>
        </p:nvCxnSpPr>
        <p:spPr>
          <a:xfrm flipH="1" rot="10800000">
            <a:off x="2286000" y="2790709"/>
            <a:ext cx="1229400" cy="120000"/>
          </a:xfrm>
          <a:prstGeom prst="curvedConnector4">
            <a:avLst>
              <a:gd fmla="val 48279" name="adj1"/>
              <a:gd fmla="val 321845" name="adj2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59" name="Google Shape;659;p22"/>
          <p:cNvSpPr txBox="1"/>
          <p:nvPr/>
        </p:nvSpPr>
        <p:spPr>
          <a:xfrm>
            <a:off x="4027723" y="2189332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4" name="Google Shape;66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0200" y="1371600"/>
            <a:ext cx="5562600" cy="4014626"/>
          </a:xfrm>
          <a:prstGeom prst="rect">
            <a:avLst/>
          </a:prstGeom>
          <a:noFill/>
          <a:ln>
            <a:noFill/>
          </a:ln>
        </p:spPr>
      </p:pic>
      <p:sp>
        <p:nvSpPr>
          <p:cNvPr id="665" name="Google Shape;665;p23"/>
          <p:cNvSpPr txBox="1"/>
          <p:nvPr>
            <p:ph type="title"/>
          </p:nvPr>
        </p:nvSpPr>
        <p:spPr>
          <a:xfrm>
            <a:off x="609600" y="381000"/>
            <a:ext cx="8077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B050"/>
                </a:solidFill>
              </a:rPr>
              <a:t>Ví dụ lập bảng tính nhãn (3)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24"/>
          <p:cNvSpPr txBox="1"/>
          <p:nvPr>
            <p:ph type="title"/>
          </p:nvPr>
        </p:nvSpPr>
        <p:spPr>
          <a:xfrm>
            <a:off x="609600" y="381000"/>
            <a:ext cx="8077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B050"/>
                </a:solidFill>
              </a:rPr>
              <a:t>Thuật toán  Bellman-Ford </a:t>
            </a:r>
            <a:endParaRPr/>
          </a:p>
        </p:txBody>
      </p:sp>
      <p:sp>
        <p:nvSpPr>
          <p:cNvPr id="672" name="Google Shape;672;p24"/>
          <p:cNvSpPr txBox="1"/>
          <p:nvPr>
            <p:ph idx="1" type="body"/>
          </p:nvPr>
        </p:nvSpPr>
        <p:spPr>
          <a:xfrm>
            <a:off x="838200" y="1600200"/>
            <a:ext cx="7467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Noto Sans Symbols"/>
              <a:buChar char="❑"/>
            </a:pPr>
            <a:r>
              <a:rPr lang="en-US" sz="2800">
                <a:solidFill>
                  <a:srgbClr val="002060"/>
                </a:solidFill>
              </a:rPr>
              <a:t> Dijkstra cho kết quả sai nếu đồ thị có trọng số âm</a:t>
            </a:r>
            <a:endParaRPr sz="2800">
              <a:solidFill>
                <a:srgbClr val="002060"/>
              </a:solidFill>
            </a:endParaRPr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rgbClr val="002060"/>
              </a:solidFill>
            </a:endParaRPr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rgbClr val="002060"/>
              </a:solidFill>
            </a:endParaRPr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rgbClr val="002060"/>
              </a:solidFill>
            </a:endParaRPr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rgbClr val="002060"/>
              </a:solidFill>
            </a:endParaRPr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Noto Sans Symbols"/>
              <a:buChar char="❑"/>
            </a:pPr>
            <a:r>
              <a:rPr lang="en-US" sz="2800">
                <a:solidFill>
                  <a:srgbClr val="002060"/>
                </a:solidFill>
              </a:rPr>
              <a:t> Bellman-Ford khắc phục kết quả trên</a:t>
            </a:r>
            <a:endParaRPr sz="2800">
              <a:solidFill>
                <a:srgbClr val="002060"/>
              </a:solidFill>
            </a:endParaRPr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Noto Sans Symbols"/>
              <a:buChar char="❑"/>
            </a:pPr>
            <a:r>
              <a:rPr lang="en-US" sz="2800">
                <a:solidFill>
                  <a:srgbClr val="002060"/>
                </a:solidFill>
              </a:rPr>
              <a:t> </a:t>
            </a:r>
            <a:r>
              <a:rPr lang="en-US" sz="2800">
                <a:solidFill>
                  <a:srgbClr val="002060"/>
                </a:solidFill>
              </a:rPr>
              <a:t>Bellman</a:t>
            </a:r>
            <a:r>
              <a:rPr lang="en-US" sz="2800">
                <a:solidFill>
                  <a:srgbClr val="002060"/>
                </a:solidFill>
              </a:rPr>
              <a:t>-Ford giúp xác định đồ thị có chu trình âm hay không</a:t>
            </a:r>
            <a:endParaRPr sz="2800">
              <a:solidFill>
                <a:srgbClr val="002060"/>
              </a:solidFill>
            </a:endParaRPr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673" name="Google Shape;673;p24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674" name="Google Shape;674;p24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75" name="Google Shape;675;p24"/>
          <p:cNvCxnSpPr>
            <a:stCxn id="676" idx="0"/>
            <a:endCxn id="677" idx="2"/>
          </p:cNvCxnSpPr>
          <p:nvPr/>
        </p:nvCxnSpPr>
        <p:spPr>
          <a:xfrm flipH="1" rot="10800000">
            <a:off x="2562532" y="2666942"/>
            <a:ext cx="1285500" cy="873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78" name="Google Shape;678;p24"/>
          <p:cNvCxnSpPr/>
          <p:nvPr/>
        </p:nvCxnSpPr>
        <p:spPr>
          <a:xfrm>
            <a:off x="2676832" y="3733800"/>
            <a:ext cx="2276168" cy="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79" name="Google Shape;679;p24"/>
          <p:cNvCxnSpPr>
            <a:endCxn id="680" idx="0"/>
          </p:cNvCxnSpPr>
          <p:nvPr/>
        </p:nvCxnSpPr>
        <p:spPr>
          <a:xfrm>
            <a:off x="4076603" y="2623853"/>
            <a:ext cx="961200" cy="909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676" name="Google Shape;676;p24"/>
          <p:cNvSpPr/>
          <p:nvPr/>
        </p:nvSpPr>
        <p:spPr>
          <a:xfrm>
            <a:off x="2448232" y="3540842"/>
            <a:ext cx="228600" cy="345358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/>
          </a:p>
        </p:txBody>
      </p:sp>
      <p:sp>
        <p:nvSpPr>
          <p:cNvPr id="677" name="Google Shape;677;p24"/>
          <p:cNvSpPr/>
          <p:nvPr/>
        </p:nvSpPr>
        <p:spPr>
          <a:xfrm>
            <a:off x="3848100" y="2494321"/>
            <a:ext cx="228600" cy="345358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sp>
        <p:nvSpPr>
          <p:cNvPr id="680" name="Google Shape;680;p24"/>
          <p:cNvSpPr/>
          <p:nvPr/>
        </p:nvSpPr>
        <p:spPr>
          <a:xfrm>
            <a:off x="4923503" y="3532853"/>
            <a:ext cx="228600" cy="345358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endParaRPr/>
          </a:p>
        </p:txBody>
      </p:sp>
      <p:sp>
        <p:nvSpPr>
          <p:cNvPr id="681" name="Google Shape;681;p24"/>
          <p:cNvSpPr txBox="1"/>
          <p:nvPr/>
        </p:nvSpPr>
        <p:spPr>
          <a:xfrm>
            <a:off x="3004795" y="2734589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682" name="Google Shape;682;p24"/>
          <p:cNvSpPr txBox="1"/>
          <p:nvPr/>
        </p:nvSpPr>
        <p:spPr>
          <a:xfrm>
            <a:off x="3593294" y="3701534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683" name="Google Shape;683;p24"/>
          <p:cNvSpPr txBox="1"/>
          <p:nvPr/>
        </p:nvSpPr>
        <p:spPr>
          <a:xfrm>
            <a:off x="4440022" y="2734589"/>
            <a:ext cx="37702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-2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25"/>
          <p:cNvSpPr txBox="1"/>
          <p:nvPr>
            <p:ph type="title"/>
          </p:nvPr>
        </p:nvSpPr>
        <p:spPr>
          <a:xfrm>
            <a:off x="609600" y="381000"/>
            <a:ext cx="8077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B050"/>
                </a:solidFill>
              </a:rPr>
              <a:t>Thuật toán  Bellman-Ford </a:t>
            </a:r>
            <a:endParaRPr/>
          </a:p>
        </p:txBody>
      </p:sp>
      <p:sp>
        <p:nvSpPr>
          <p:cNvPr id="690" name="Google Shape;690;p25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691" name="Google Shape;691;p25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92" name="Google Shape;692;p25"/>
          <p:cNvSpPr txBox="1"/>
          <p:nvPr>
            <p:ph idx="1" type="body"/>
          </p:nvPr>
        </p:nvSpPr>
        <p:spPr>
          <a:xfrm>
            <a:off x="838200" y="1600200"/>
            <a:ext cx="7467600" cy="452596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7545" l="-1877" r="0" t="-188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26"/>
          <p:cNvSpPr txBox="1"/>
          <p:nvPr>
            <p:ph idx="1" type="body"/>
          </p:nvPr>
        </p:nvSpPr>
        <p:spPr>
          <a:xfrm>
            <a:off x="838200" y="1295401"/>
            <a:ext cx="7467600" cy="1676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815" l="-1712" r="0" t="-363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699" name="Google Shape;699;p26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700" name="Google Shape;700;p26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01" name="Google Shape;701;p26"/>
          <p:cNvSpPr/>
          <p:nvPr/>
        </p:nvSpPr>
        <p:spPr>
          <a:xfrm>
            <a:off x="838200" y="3200400"/>
            <a:ext cx="7391400" cy="3108543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4507" l="-1731" r="0" t="-196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702" name="Google Shape;702;p26"/>
          <p:cNvSpPr txBox="1"/>
          <p:nvPr>
            <p:ph type="title"/>
          </p:nvPr>
        </p:nvSpPr>
        <p:spPr>
          <a:xfrm>
            <a:off x="609600" y="381000"/>
            <a:ext cx="8077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B050"/>
                </a:solidFill>
              </a:rPr>
              <a:t>Thuật toán  Bellman-Ford 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27"/>
          <p:cNvSpPr txBox="1"/>
          <p:nvPr>
            <p:ph idx="1" type="body"/>
          </p:nvPr>
        </p:nvSpPr>
        <p:spPr>
          <a:xfrm>
            <a:off x="838200" y="1295400"/>
            <a:ext cx="7543800" cy="350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4694" l="-1697" r="0" t="-173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709" name="Google Shape;709;p27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710" name="Google Shape;710;p27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11" name="Google Shape;711;p27"/>
          <p:cNvSpPr txBox="1"/>
          <p:nvPr>
            <p:ph type="title"/>
          </p:nvPr>
        </p:nvSpPr>
        <p:spPr>
          <a:xfrm>
            <a:off x="609600" y="381000"/>
            <a:ext cx="8077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B050"/>
                </a:solidFill>
              </a:rPr>
              <a:t>Thuật toán  Bellman-Ford </a:t>
            </a:r>
            <a:endParaRPr/>
          </a:p>
        </p:txBody>
      </p:sp>
      <p:sp>
        <p:nvSpPr>
          <p:cNvPr id="712" name="Google Shape;712;p27"/>
          <p:cNvSpPr txBox="1"/>
          <p:nvPr/>
        </p:nvSpPr>
        <p:spPr>
          <a:xfrm>
            <a:off x="867696" y="5034120"/>
            <a:ext cx="7543800" cy="12954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US" sz="2800" u="sng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Độ phức tạp của thuật toán Bellman – Ford</a:t>
            </a:r>
            <a:endParaRPr/>
          </a:p>
          <a:p>
            <a:pPr indent="0" lvl="0" marL="0" marR="0" rtl="0" algn="ctr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lang="en-US" sz="2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0(n*m)</a:t>
            </a:r>
            <a:endParaRPr/>
          </a:p>
          <a:p>
            <a:pPr indent="0" lvl="0" marL="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28"/>
          <p:cNvSpPr txBox="1"/>
          <p:nvPr>
            <p:ph type="title"/>
          </p:nvPr>
        </p:nvSpPr>
        <p:spPr>
          <a:xfrm>
            <a:off x="609600" y="381000"/>
            <a:ext cx="8077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B050"/>
                </a:solidFill>
              </a:rPr>
              <a:t>Thuật toán  Bellman-Ford </a:t>
            </a:r>
            <a:endParaRPr/>
          </a:p>
        </p:txBody>
      </p:sp>
      <p:sp>
        <p:nvSpPr>
          <p:cNvPr id="719" name="Google Shape;719;p28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720" name="Google Shape;720;p28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21" name="Google Shape;721;p28"/>
          <p:cNvCxnSpPr>
            <a:stCxn id="722" idx="0"/>
            <a:endCxn id="723" idx="2"/>
          </p:cNvCxnSpPr>
          <p:nvPr/>
        </p:nvCxnSpPr>
        <p:spPr>
          <a:xfrm flipH="1" rot="10800000">
            <a:off x="2688726" y="1440794"/>
            <a:ext cx="1285500" cy="873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24" name="Google Shape;724;p28"/>
          <p:cNvCxnSpPr/>
          <p:nvPr/>
        </p:nvCxnSpPr>
        <p:spPr>
          <a:xfrm>
            <a:off x="2803026" y="2507652"/>
            <a:ext cx="2276168" cy="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25" name="Google Shape;725;p28"/>
          <p:cNvCxnSpPr>
            <a:stCxn id="723" idx="6"/>
            <a:endCxn id="726" idx="0"/>
          </p:cNvCxnSpPr>
          <p:nvPr/>
        </p:nvCxnSpPr>
        <p:spPr>
          <a:xfrm>
            <a:off x="4202894" y="1440852"/>
            <a:ext cx="961200" cy="865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722" name="Google Shape;722;p28"/>
          <p:cNvSpPr/>
          <p:nvPr/>
        </p:nvSpPr>
        <p:spPr>
          <a:xfrm>
            <a:off x="2574426" y="2314694"/>
            <a:ext cx="228600" cy="345358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/>
          </a:p>
        </p:txBody>
      </p:sp>
      <p:sp>
        <p:nvSpPr>
          <p:cNvPr id="723" name="Google Shape;723;p28"/>
          <p:cNvSpPr/>
          <p:nvPr/>
        </p:nvSpPr>
        <p:spPr>
          <a:xfrm>
            <a:off x="3974294" y="1268173"/>
            <a:ext cx="228600" cy="345358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sp>
        <p:nvSpPr>
          <p:cNvPr id="726" name="Google Shape;726;p28"/>
          <p:cNvSpPr/>
          <p:nvPr/>
        </p:nvSpPr>
        <p:spPr>
          <a:xfrm>
            <a:off x="5049697" y="2306705"/>
            <a:ext cx="228600" cy="345358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endParaRPr/>
          </a:p>
        </p:txBody>
      </p:sp>
      <p:sp>
        <p:nvSpPr>
          <p:cNvPr id="727" name="Google Shape;727;p28"/>
          <p:cNvSpPr txBox="1"/>
          <p:nvPr/>
        </p:nvSpPr>
        <p:spPr>
          <a:xfrm>
            <a:off x="3130989" y="1508441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728" name="Google Shape;728;p28"/>
          <p:cNvSpPr txBox="1"/>
          <p:nvPr/>
        </p:nvSpPr>
        <p:spPr>
          <a:xfrm>
            <a:off x="3719488" y="2475386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729" name="Google Shape;729;p28"/>
          <p:cNvSpPr txBox="1"/>
          <p:nvPr/>
        </p:nvSpPr>
        <p:spPr>
          <a:xfrm>
            <a:off x="4671987" y="1613531"/>
            <a:ext cx="37702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-2</a:t>
            </a:r>
            <a:endParaRPr/>
          </a:p>
        </p:txBody>
      </p:sp>
      <p:graphicFrame>
        <p:nvGraphicFramePr>
          <p:cNvPr id="730" name="Google Shape;730;p28"/>
          <p:cNvGraphicFramePr/>
          <p:nvPr/>
        </p:nvGraphicFramePr>
        <p:xfrm>
          <a:off x="1905000" y="3048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{58EAFFC7-EDB0-443D-8FE1-40579736F1DA}</a:tableStyleId>
              </a:tblPr>
              <a:tblGrid>
                <a:gridCol w="838200"/>
                <a:gridCol w="851400"/>
                <a:gridCol w="1305825"/>
                <a:gridCol w="1272325"/>
              </a:tblGrid>
              <a:tr h="49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FFFF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Bước </a:t>
                      </a:r>
                      <a:endParaRPr b="1" sz="3200">
                        <a:solidFill>
                          <a:srgbClr val="FFFF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FFFF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</a:t>
                      </a:r>
                      <a:endParaRPr b="1" sz="2400">
                        <a:solidFill>
                          <a:srgbClr val="FFFF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FFFF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 b="1" sz="2400">
                        <a:solidFill>
                          <a:srgbClr val="FFFF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FFFF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</a:t>
                      </a:r>
                      <a:endParaRPr b="1" sz="2400">
                        <a:solidFill>
                          <a:srgbClr val="FFFF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</a:tr>
              <a:tr h="522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1</a:t>
                      </a:r>
                      <a:endParaRPr b="1" sz="20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b="1" sz="32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lt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+∞</a:t>
                      </a:r>
                      <a:r>
                        <a:rPr b="1" lang="en-US" sz="24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,nil</a:t>
                      </a:r>
                      <a:endParaRPr b="1" sz="32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</a:tr>
              <a:tr h="560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b="0" sz="2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b="1" sz="32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3,s</a:t>
                      </a:r>
                      <a:endParaRPr b="1" sz="32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lt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2</a:t>
                      </a:r>
                      <a:r>
                        <a:rPr b="1" lang="en-US" sz="24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,s</a:t>
                      </a:r>
                      <a:endParaRPr b="1" sz="32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</a:tr>
              <a:tr h="560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2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b="0" sz="2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3,s</a:t>
                      </a:r>
                      <a:endParaRPr b="0" sz="2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1,b</a:t>
                      </a:r>
                      <a:endParaRPr b="0" sz="2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</a:tr>
              <a:tr h="560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b="0" sz="2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36" name="Google Shape;736;p29"/>
          <p:cNvGraphicFramePr/>
          <p:nvPr/>
        </p:nvGraphicFramePr>
        <p:xfrm>
          <a:off x="4365524" y="303944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{58EAFFC7-EDB0-443D-8FE1-40579736F1DA}</a:tableStyleId>
              </a:tblPr>
              <a:tblGrid>
                <a:gridCol w="355600"/>
                <a:gridCol w="659925"/>
                <a:gridCol w="820900"/>
                <a:gridCol w="799850"/>
                <a:gridCol w="789325"/>
                <a:gridCol w="799850"/>
              </a:tblGrid>
              <a:tr h="498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FFFF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</a:t>
                      </a:r>
                      <a:endParaRPr b="1" sz="3200">
                        <a:solidFill>
                          <a:srgbClr val="FFFF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FFFF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FFFF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FFFF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</a:tr>
              <a:tr h="521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0,O</a:t>
                      </a:r>
                      <a:endParaRPr b="1" sz="32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1,O</a:t>
                      </a:r>
                      <a:endParaRPr b="1" sz="32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lt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∞</a:t>
                      </a:r>
                      <a:r>
                        <a:rPr b="1" lang="en-US" sz="24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,O</a:t>
                      </a:r>
                      <a:endParaRPr b="1" sz="32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lt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∞</a:t>
                      </a:r>
                      <a:r>
                        <a:rPr b="1" lang="en-US" sz="24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,O</a:t>
                      </a:r>
                      <a:endParaRPr b="1" sz="32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3,O</a:t>
                      </a:r>
                      <a:endParaRPr b="1" sz="32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</a:tr>
              <a:tr h="498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b="1" sz="32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</a:tr>
              <a:tr h="498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b="1" sz="32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</a:tr>
              <a:tr h="64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b="1" sz="24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</a:tr>
              <a:tr h="498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4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6650" marB="66650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</a:tr>
            </a:tbl>
          </a:graphicData>
        </a:graphic>
      </p:graphicFrame>
      <p:sp>
        <p:nvSpPr>
          <p:cNvPr id="737" name="Google Shape;737;p29"/>
          <p:cNvSpPr txBox="1"/>
          <p:nvPr>
            <p:ph type="title"/>
          </p:nvPr>
        </p:nvSpPr>
        <p:spPr>
          <a:xfrm>
            <a:off x="609600" y="381000"/>
            <a:ext cx="8077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B050"/>
                </a:solidFill>
              </a:rPr>
              <a:t>Ví dụ thuật toán  Bellman-Ford </a:t>
            </a:r>
            <a:endParaRPr/>
          </a:p>
        </p:txBody>
      </p:sp>
      <p:cxnSp>
        <p:nvCxnSpPr>
          <p:cNvPr id="738" name="Google Shape;738;p29"/>
          <p:cNvCxnSpPr>
            <a:endCxn id="739" idx="3"/>
          </p:cNvCxnSpPr>
          <p:nvPr/>
        </p:nvCxnSpPr>
        <p:spPr>
          <a:xfrm flipH="1" rot="10800000">
            <a:off x="1062262" y="1327865"/>
            <a:ext cx="520800" cy="9471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40" name="Google Shape;740;p29"/>
          <p:cNvCxnSpPr>
            <a:endCxn id="741" idx="2"/>
          </p:cNvCxnSpPr>
          <p:nvPr/>
        </p:nvCxnSpPr>
        <p:spPr>
          <a:xfrm>
            <a:off x="1684842" y="1236798"/>
            <a:ext cx="1225200" cy="240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42" name="Google Shape;742;p29"/>
          <p:cNvCxnSpPr/>
          <p:nvPr/>
        </p:nvCxnSpPr>
        <p:spPr>
          <a:xfrm rot="10800000">
            <a:off x="1771890" y="1365573"/>
            <a:ext cx="228600" cy="1545137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743" name="Google Shape;743;p29"/>
          <p:cNvCxnSpPr>
            <a:endCxn id="744" idx="2"/>
          </p:cNvCxnSpPr>
          <p:nvPr/>
        </p:nvCxnSpPr>
        <p:spPr>
          <a:xfrm>
            <a:off x="1094943" y="2404350"/>
            <a:ext cx="791400" cy="6351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diamond"/>
            <a:tailEnd len="med" w="med" type="triangle"/>
          </a:ln>
        </p:spPr>
      </p:cxnSp>
      <p:cxnSp>
        <p:nvCxnSpPr>
          <p:cNvPr id="745" name="Google Shape;745;p29"/>
          <p:cNvCxnSpPr>
            <a:endCxn id="746" idx="3"/>
          </p:cNvCxnSpPr>
          <p:nvPr/>
        </p:nvCxnSpPr>
        <p:spPr>
          <a:xfrm flipH="1" rot="10800000">
            <a:off x="2148454" y="2972870"/>
            <a:ext cx="1366800" cy="1266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47" name="Google Shape;747;p29"/>
          <p:cNvCxnSpPr>
            <a:stCxn id="744" idx="7"/>
            <a:endCxn id="741" idx="3"/>
          </p:cNvCxnSpPr>
          <p:nvPr/>
        </p:nvCxnSpPr>
        <p:spPr>
          <a:xfrm flipH="1" rot="10800000">
            <a:off x="2132081" y="1351817"/>
            <a:ext cx="820200" cy="15966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748" name="Google Shape;748;p29"/>
          <p:cNvCxnSpPr>
            <a:stCxn id="746" idx="1"/>
            <a:endCxn id="739" idx="5"/>
          </p:cNvCxnSpPr>
          <p:nvPr/>
        </p:nvCxnSpPr>
        <p:spPr>
          <a:xfrm rot="10800000">
            <a:off x="1786654" y="1328003"/>
            <a:ext cx="1728600" cy="14628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749" name="Google Shape;749;p29"/>
          <p:cNvCxnSpPr>
            <a:stCxn id="746" idx="0"/>
            <a:endCxn id="741" idx="5"/>
          </p:cNvCxnSpPr>
          <p:nvPr/>
        </p:nvCxnSpPr>
        <p:spPr>
          <a:xfrm rot="10800000">
            <a:off x="3155642" y="1351796"/>
            <a:ext cx="461400" cy="14013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750" name="Google Shape;750;p29"/>
          <p:cNvSpPr/>
          <p:nvPr/>
        </p:nvSpPr>
        <p:spPr>
          <a:xfrm>
            <a:off x="826734" y="2211243"/>
            <a:ext cx="287900" cy="257481"/>
          </a:xfrm>
          <a:prstGeom prst="ellipse">
            <a:avLst/>
          </a:prstGeom>
          <a:solidFill>
            <a:srgbClr val="00B05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739" name="Google Shape;739;p29"/>
          <p:cNvSpPr/>
          <p:nvPr/>
        </p:nvSpPr>
        <p:spPr>
          <a:xfrm>
            <a:off x="1540900" y="1108091"/>
            <a:ext cx="287900" cy="257481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741" name="Google Shape;741;p29"/>
          <p:cNvSpPr/>
          <p:nvPr/>
        </p:nvSpPr>
        <p:spPr>
          <a:xfrm>
            <a:off x="2910042" y="1132057"/>
            <a:ext cx="287900" cy="257481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746" name="Google Shape;746;p29"/>
          <p:cNvSpPr/>
          <p:nvPr/>
        </p:nvSpPr>
        <p:spPr>
          <a:xfrm>
            <a:off x="3473092" y="2753096"/>
            <a:ext cx="287900" cy="257481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751" name="Google Shape;751;p29"/>
          <p:cNvSpPr txBox="1"/>
          <p:nvPr/>
        </p:nvSpPr>
        <p:spPr>
          <a:xfrm>
            <a:off x="1022614" y="1616752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752" name="Google Shape;752;p29"/>
          <p:cNvSpPr txBox="1"/>
          <p:nvPr/>
        </p:nvSpPr>
        <p:spPr>
          <a:xfrm>
            <a:off x="3718831" y="1675334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753" name="Google Shape;753;p29"/>
          <p:cNvSpPr txBox="1"/>
          <p:nvPr/>
        </p:nvSpPr>
        <p:spPr>
          <a:xfrm>
            <a:off x="1114634" y="2632411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754" name="Google Shape;754;p29"/>
          <p:cNvSpPr txBox="1"/>
          <p:nvPr/>
        </p:nvSpPr>
        <p:spPr>
          <a:xfrm>
            <a:off x="2297446" y="1199690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755" name="Google Shape;755;p29"/>
          <p:cNvSpPr txBox="1"/>
          <p:nvPr/>
        </p:nvSpPr>
        <p:spPr>
          <a:xfrm>
            <a:off x="2597528" y="2782218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756" name="Google Shape;756;p29"/>
          <p:cNvSpPr txBox="1"/>
          <p:nvPr/>
        </p:nvSpPr>
        <p:spPr>
          <a:xfrm>
            <a:off x="2081907" y="2155317"/>
            <a:ext cx="37702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-5</a:t>
            </a:r>
            <a:endParaRPr/>
          </a:p>
        </p:txBody>
      </p:sp>
      <p:sp>
        <p:nvSpPr>
          <p:cNvPr id="757" name="Google Shape;757;p29"/>
          <p:cNvSpPr txBox="1"/>
          <p:nvPr/>
        </p:nvSpPr>
        <p:spPr>
          <a:xfrm>
            <a:off x="1636597" y="2005441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758" name="Google Shape;758;p29"/>
          <p:cNvSpPr txBox="1"/>
          <p:nvPr/>
        </p:nvSpPr>
        <p:spPr>
          <a:xfrm>
            <a:off x="2952077" y="2122378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759" name="Google Shape;759;p29"/>
          <p:cNvSpPr txBox="1"/>
          <p:nvPr/>
        </p:nvSpPr>
        <p:spPr>
          <a:xfrm>
            <a:off x="3138256" y="1753046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744" name="Google Shape;744;p29"/>
          <p:cNvSpPr/>
          <p:nvPr/>
        </p:nvSpPr>
        <p:spPr>
          <a:xfrm>
            <a:off x="1886343" y="2910710"/>
            <a:ext cx="287900" cy="257481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cxnSp>
        <p:nvCxnSpPr>
          <p:cNvPr id="760" name="Google Shape;760;p29"/>
          <p:cNvCxnSpPr>
            <a:stCxn id="746" idx="7"/>
            <a:endCxn id="741" idx="6"/>
          </p:cNvCxnSpPr>
          <p:nvPr/>
        </p:nvCxnSpPr>
        <p:spPr>
          <a:xfrm flipH="1" rot="5400000">
            <a:off x="2693430" y="1765403"/>
            <a:ext cx="1530000" cy="520800"/>
          </a:xfrm>
          <a:prstGeom prst="curvedConnector2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30"/>
          <p:cNvSpPr txBox="1"/>
          <p:nvPr>
            <p:ph idx="1" type="body"/>
          </p:nvPr>
        </p:nvSpPr>
        <p:spPr>
          <a:xfrm>
            <a:off x="457200" y="1600200"/>
            <a:ext cx="38100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651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766" name="Google Shape;766;p30"/>
          <p:cNvSpPr txBox="1"/>
          <p:nvPr>
            <p:ph idx="2" type="body"/>
          </p:nvPr>
        </p:nvSpPr>
        <p:spPr>
          <a:xfrm>
            <a:off x="4267200" y="1600200"/>
            <a:ext cx="441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651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graphicFrame>
        <p:nvGraphicFramePr>
          <p:cNvPr id="767" name="Google Shape;767;p30"/>
          <p:cNvGraphicFramePr/>
          <p:nvPr/>
        </p:nvGraphicFramePr>
        <p:xfrm>
          <a:off x="4279500" y="17304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{58EAFFC7-EDB0-443D-8FE1-40579736F1DA}</a:tableStyleId>
              </a:tblPr>
              <a:tblGrid>
                <a:gridCol w="355600"/>
                <a:gridCol w="583450"/>
                <a:gridCol w="725750"/>
                <a:gridCol w="707125"/>
                <a:gridCol w="697825"/>
                <a:gridCol w="707125"/>
                <a:gridCol w="707125"/>
              </a:tblGrid>
              <a:tr h="49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FFFF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</a:t>
                      </a:r>
                      <a:endParaRPr b="1" sz="3200">
                        <a:solidFill>
                          <a:srgbClr val="FFFF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FFFF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FFFF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FFFF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FFFF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FFFF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FFFF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</a:tr>
              <a:tr h="522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0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0,O</a:t>
                      </a:r>
                      <a:endParaRPr b="1" sz="32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1,O</a:t>
                      </a:r>
                      <a:endParaRPr b="1" sz="32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lt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∞</a:t>
                      </a:r>
                      <a:r>
                        <a:rPr b="1" lang="en-US" sz="24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,O</a:t>
                      </a:r>
                      <a:endParaRPr b="1" sz="32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lt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∞</a:t>
                      </a:r>
                      <a:r>
                        <a:rPr b="1" lang="en-US" sz="24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,O</a:t>
                      </a:r>
                      <a:endParaRPr b="1" sz="32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lt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∞</a:t>
                      </a:r>
                      <a:r>
                        <a:rPr b="1" lang="en-US" sz="24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,O</a:t>
                      </a:r>
                      <a:endParaRPr b="1" sz="32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lt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∞</a:t>
                      </a:r>
                      <a:r>
                        <a:rPr b="1" lang="en-US" sz="24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,O</a:t>
                      </a:r>
                      <a:endParaRPr/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</a:tr>
              <a:tr h="49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b="1" sz="32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</a:tr>
              <a:tr h="49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b="1" sz="32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</a:tr>
              <a:tr h="49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b="1" sz="32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</a:tr>
              <a:tr h="49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</a:tr>
              <a:tr h="49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b="1" sz="24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</a:tr>
              <a:tr h="49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b="1" sz="24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6675" marB="66675" marR="66675" marL="6667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</a:tr>
            </a:tbl>
          </a:graphicData>
        </a:graphic>
      </p:graphicFrame>
      <p:pic>
        <p:nvPicPr>
          <p:cNvPr id="768" name="Google Shape;76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371575"/>
            <a:ext cx="3594100" cy="3067050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30"/>
          <p:cNvSpPr txBox="1"/>
          <p:nvPr/>
        </p:nvSpPr>
        <p:spPr>
          <a:xfrm>
            <a:off x="444500" y="4114800"/>
            <a:ext cx="9271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= 1</a:t>
            </a:r>
            <a:endParaRPr/>
          </a:p>
        </p:txBody>
      </p:sp>
      <p:sp>
        <p:nvSpPr>
          <p:cNvPr id="770" name="Google Shape;770;p30"/>
          <p:cNvSpPr txBox="1"/>
          <p:nvPr>
            <p:ph type="title"/>
          </p:nvPr>
        </p:nvSpPr>
        <p:spPr>
          <a:xfrm>
            <a:off x="609600" y="381000"/>
            <a:ext cx="8077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B050"/>
                </a:solidFill>
              </a:rPr>
              <a:t>Ví dụ thuật toán  Bellman-Ford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31"/>
          <p:cNvSpPr txBox="1"/>
          <p:nvPr>
            <p:ph type="title"/>
          </p:nvPr>
        </p:nvSpPr>
        <p:spPr>
          <a:xfrm>
            <a:off x="609600" y="381000"/>
            <a:ext cx="8077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B050"/>
                </a:solidFill>
              </a:rPr>
              <a:t>Thuật toán Floyd- Warshall </a:t>
            </a:r>
            <a:endParaRPr/>
          </a:p>
        </p:txBody>
      </p:sp>
      <p:sp>
        <p:nvSpPr>
          <p:cNvPr id="777" name="Google Shape;777;p31"/>
          <p:cNvSpPr txBox="1"/>
          <p:nvPr>
            <p:ph idx="1" type="body"/>
          </p:nvPr>
        </p:nvSpPr>
        <p:spPr>
          <a:xfrm>
            <a:off x="838200" y="1600200"/>
            <a:ext cx="7467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oto Sans Symbols"/>
              <a:buChar char="❑"/>
            </a:pPr>
            <a:r>
              <a:rPr lang="en-US">
                <a:solidFill>
                  <a:schemeClr val="dk2"/>
                </a:solidFill>
              </a:rPr>
              <a:t> Mục tiêu: Tìm đường đi ngắn nhất giữa mọi cặp đỉnh của đồ thị (có hướng) có trọng số</a:t>
            </a:r>
            <a:endParaRPr>
              <a:solidFill>
                <a:schemeClr val="dk2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oto Sans Symbols"/>
              <a:buChar char="❑"/>
            </a:pPr>
            <a:r>
              <a:rPr lang="en-US">
                <a:solidFill>
                  <a:schemeClr val="dk2"/>
                </a:solidFill>
              </a:rPr>
              <a:t> Giải pháp</a:t>
            </a:r>
            <a:endParaRPr>
              <a:solidFill>
                <a:schemeClr val="dk2"/>
              </a:solidFill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Dijkstra nhiều lần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Floyd - Warshall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778" name="Google Shape;778;p31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779" name="Google Shape;779;p31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32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786" name="Google Shape;786;p32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7" name="Google Shape;787;p32"/>
          <p:cNvSpPr txBox="1"/>
          <p:nvPr>
            <p:ph idx="1" type="body"/>
          </p:nvPr>
        </p:nvSpPr>
        <p:spPr>
          <a:xfrm>
            <a:off x="838200" y="1295400"/>
            <a:ext cx="7467600" cy="51054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oto Sans Symbols"/>
              <a:buChar char="❑"/>
            </a:pPr>
            <a:r>
              <a:rPr lang="en-US">
                <a:solidFill>
                  <a:schemeClr val="dk2"/>
                </a:solidFill>
              </a:rPr>
              <a:t> Input:  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</a:pPr>
            <a:r>
              <a:rPr lang="en-US">
                <a:solidFill>
                  <a:schemeClr val="dk2"/>
                </a:solidFill>
              </a:rPr>
              <a:t>         G = (V, E, W), V = {1,2,…,n}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oto Sans Symbols"/>
              <a:buChar char="❑"/>
            </a:pPr>
            <a:r>
              <a:rPr lang="en-US">
                <a:solidFill>
                  <a:schemeClr val="dk2"/>
                </a:solidFill>
              </a:rPr>
              <a:t>Output: 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</a:pPr>
            <a:r>
              <a:rPr lang="en-US">
                <a:solidFill>
                  <a:schemeClr val="dk2"/>
                </a:solidFill>
              </a:rPr>
              <a:t>       D = {d[i,j]}</a:t>
            </a:r>
            <a:r>
              <a:rPr baseline="-25000" lang="en-US">
                <a:solidFill>
                  <a:schemeClr val="dk2"/>
                </a:solidFill>
              </a:rPr>
              <a:t>nxn</a:t>
            </a:r>
            <a:r>
              <a:rPr lang="en-US">
                <a:solidFill>
                  <a:schemeClr val="dk2"/>
                </a:solidFill>
              </a:rPr>
              <a:t>, 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</a:pPr>
            <a:r>
              <a:rPr lang="en-US">
                <a:solidFill>
                  <a:schemeClr val="dk2"/>
                </a:solidFill>
              </a:rPr>
              <a:t>           </a:t>
            </a:r>
            <a:r>
              <a:rPr lang="en-US" sz="2400"/>
              <a:t>d[i,j]  độ dài đường đi ngắn nhất từ i đến j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</a:pPr>
            <a:r>
              <a:rPr lang="en-US">
                <a:solidFill>
                  <a:schemeClr val="dk2"/>
                </a:solidFill>
              </a:rPr>
              <a:t>       P = {p[i,j]}</a:t>
            </a:r>
            <a:r>
              <a:rPr baseline="-25000" lang="en-US">
                <a:solidFill>
                  <a:schemeClr val="dk2"/>
                </a:solidFill>
              </a:rPr>
              <a:t>nxn,</a:t>
            </a:r>
            <a:r>
              <a:rPr lang="en-US">
                <a:solidFill>
                  <a:schemeClr val="dk2"/>
                </a:solidFill>
              </a:rPr>
              <a:t>,</a:t>
            </a:r>
            <a:endParaRPr/>
          </a:p>
          <a:p>
            <a:pPr indent="0" lvl="1" marL="0" rtl="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lang="en-US" sz="2400">
                <a:solidFill>
                  <a:srgbClr val="002060"/>
                </a:solidFill>
              </a:rPr>
              <a:t>               </a:t>
            </a:r>
            <a:r>
              <a:rPr lang="en-US" sz="2400"/>
              <a:t>p[i,j] –  đỉnh đi trước j trên đường đi </a:t>
            </a:r>
            <a:endParaRPr/>
          </a:p>
          <a:p>
            <a:pPr indent="0" lvl="1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                           ngắn nhất từ i đến j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788" name="Google Shape;788;p32"/>
          <p:cNvSpPr txBox="1"/>
          <p:nvPr>
            <p:ph type="title"/>
          </p:nvPr>
        </p:nvSpPr>
        <p:spPr>
          <a:xfrm>
            <a:off x="609600" y="381000"/>
            <a:ext cx="8077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B050"/>
                </a:solidFill>
              </a:rPr>
              <a:t>Thuật toán Floyd- Warshall 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33"/>
          <p:cNvSpPr txBox="1"/>
          <p:nvPr>
            <p:ph idx="1" type="body"/>
          </p:nvPr>
        </p:nvSpPr>
        <p:spPr>
          <a:xfrm>
            <a:off x="762000" y="1524000"/>
            <a:ext cx="7467600" cy="259079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632" r="0" t="-235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795" name="Google Shape;795;p33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796" name="Google Shape;796;p33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97" name="Google Shape;797;p33"/>
          <p:cNvSpPr txBox="1"/>
          <p:nvPr>
            <p:ph type="title"/>
          </p:nvPr>
        </p:nvSpPr>
        <p:spPr>
          <a:xfrm>
            <a:off x="609600" y="381000"/>
            <a:ext cx="8077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B050"/>
                </a:solidFill>
              </a:rPr>
              <a:t>Thuật toán Floyd- Warshall 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34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804" name="Google Shape;804;p34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05" name="Google Shape;805;p34"/>
          <p:cNvSpPr/>
          <p:nvPr/>
        </p:nvSpPr>
        <p:spPr>
          <a:xfrm>
            <a:off x="762000" y="1164134"/>
            <a:ext cx="7391400" cy="489364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 u="sng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k:=1 to n do // |V| = 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// Tính D</a:t>
            </a:r>
            <a:r>
              <a:rPr baseline="-25000"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và P</a:t>
            </a:r>
            <a:r>
              <a:rPr baseline="-25000"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theo D</a:t>
            </a:r>
            <a:r>
              <a:rPr baseline="-25000"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k-1</a:t>
            </a: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P</a:t>
            </a:r>
            <a:r>
              <a:rPr baseline="-25000"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k-1</a:t>
            </a: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For n:=1 to n do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For m:=1 to n do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if d</a:t>
            </a:r>
            <a:r>
              <a:rPr baseline="-25000"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 -1</a:t>
            </a: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[i,j]&gt; d</a:t>
            </a:r>
            <a:r>
              <a:rPr baseline="-25000"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 -1</a:t>
            </a: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[i,k]+ d</a:t>
            </a:r>
            <a:r>
              <a:rPr baseline="-25000"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 -1</a:t>
            </a: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[k,j] then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d</a:t>
            </a:r>
            <a:r>
              <a:rPr baseline="-25000"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[i,j]=d</a:t>
            </a:r>
            <a:r>
              <a:rPr baseline="-25000"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 -1</a:t>
            </a: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[i,k]+d</a:t>
            </a:r>
            <a:r>
              <a:rPr baseline="-25000"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 -1</a:t>
            </a: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[k,j];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p</a:t>
            </a:r>
            <a:r>
              <a:rPr baseline="-25000"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[i,j]= p</a:t>
            </a:r>
            <a:r>
              <a:rPr baseline="-25000"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 -1</a:t>
            </a: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[i,k];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else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d</a:t>
            </a:r>
            <a:r>
              <a:rPr baseline="-25000"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[i,j]=d</a:t>
            </a:r>
            <a:r>
              <a:rPr baseline="-25000"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 -1</a:t>
            </a: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[i,j]; p</a:t>
            </a:r>
            <a:r>
              <a:rPr baseline="-25000"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[i,j]= p</a:t>
            </a:r>
            <a:r>
              <a:rPr baseline="-25000"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 -1</a:t>
            </a: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[i,j];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}                                                </a:t>
            </a:r>
            <a:endParaRPr/>
          </a:p>
        </p:txBody>
      </p:sp>
      <p:sp>
        <p:nvSpPr>
          <p:cNvPr id="806" name="Google Shape;806;p34"/>
          <p:cNvSpPr txBox="1"/>
          <p:nvPr>
            <p:ph type="title"/>
          </p:nvPr>
        </p:nvSpPr>
        <p:spPr>
          <a:xfrm>
            <a:off x="609600" y="381000"/>
            <a:ext cx="8077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B050"/>
                </a:solidFill>
              </a:rPr>
              <a:t>Thuật toán Floyd- Warshall </a:t>
            </a:r>
            <a:endParaRPr/>
          </a:p>
        </p:txBody>
      </p:sp>
      <p:sp>
        <p:nvSpPr>
          <p:cNvPr id="807" name="Google Shape;807;p34"/>
          <p:cNvSpPr/>
          <p:nvPr/>
        </p:nvSpPr>
        <p:spPr>
          <a:xfrm>
            <a:off x="4457700" y="2514600"/>
            <a:ext cx="266700" cy="5334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8" name="Google Shape;808;p34"/>
          <p:cNvSpPr txBox="1"/>
          <p:nvPr/>
        </p:nvSpPr>
        <p:spPr>
          <a:xfrm>
            <a:off x="4862051" y="2598781"/>
            <a:ext cx="2224549" cy="36933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4589" l="-2465" r="0" t="-819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35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815" name="Google Shape;815;p35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16" name="Google Shape;816;p35"/>
          <p:cNvSpPr/>
          <p:nvPr/>
        </p:nvSpPr>
        <p:spPr>
          <a:xfrm>
            <a:off x="762000" y="1164134"/>
            <a:ext cx="7772400" cy="329320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703" l="-1332" r="0" t="-166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817" name="Google Shape;817;p35"/>
          <p:cNvSpPr txBox="1"/>
          <p:nvPr>
            <p:ph type="title"/>
          </p:nvPr>
        </p:nvSpPr>
        <p:spPr>
          <a:xfrm>
            <a:off x="609600" y="381000"/>
            <a:ext cx="8077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B050"/>
                </a:solidFill>
              </a:rPr>
              <a:t>Thuật toán Floyd- Warshall </a:t>
            </a:r>
            <a:endParaRPr/>
          </a:p>
        </p:txBody>
      </p:sp>
      <p:sp>
        <p:nvSpPr>
          <p:cNvPr id="818" name="Google Shape;818;p35"/>
          <p:cNvSpPr txBox="1"/>
          <p:nvPr/>
        </p:nvSpPr>
        <p:spPr>
          <a:xfrm>
            <a:off x="867696" y="5034120"/>
            <a:ext cx="7543800" cy="12954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US" sz="2800" u="sng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Độ phức tạp của thuật Floyd Warshall</a:t>
            </a:r>
            <a:endParaRPr sz="2800" u="sng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lang="en-US" sz="2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0(n*n*n)</a:t>
            </a:r>
            <a:endParaRPr/>
          </a:p>
          <a:p>
            <a:pPr indent="0" lvl="0" marL="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36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825" name="Google Shape;825;p36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6" name="Google Shape;826;p36"/>
          <p:cNvSpPr txBox="1"/>
          <p:nvPr>
            <p:ph type="title"/>
          </p:nvPr>
        </p:nvSpPr>
        <p:spPr>
          <a:xfrm>
            <a:off x="609600" y="381000"/>
            <a:ext cx="8077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B050"/>
                </a:solidFill>
              </a:rPr>
              <a:t>Ví dụ thuật toán Floyd- Warshall (1) </a:t>
            </a:r>
            <a:endParaRPr/>
          </a:p>
        </p:txBody>
      </p:sp>
      <p:cxnSp>
        <p:nvCxnSpPr>
          <p:cNvPr id="827" name="Google Shape;827;p36"/>
          <p:cNvCxnSpPr>
            <a:endCxn id="828" idx="7"/>
          </p:cNvCxnSpPr>
          <p:nvPr/>
        </p:nvCxnSpPr>
        <p:spPr>
          <a:xfrm rot="10800000">
            <a:off x="3185667" y="1890412"/>
            <a:ext cx="2744400" cy="354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29" name="Google Shape;829;p36"/>
          <p:cNvCxnSpPr>
            <a:stCxn id="830" idx="2"/>
            <a:endCxn id="831" idx="7"/>
          </p:cNvCxnSpPr>
          <p:nvPr/>
        </p:nvCxnSpPr>
        <p:spPr>
          <a:xfrm flipH="1">
            <a:off x="4816606" y="1925733"/>
            <a:ext cx="1119600" cy="6375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32" name="Google Shape;832;p36"/>
          <p:cNvCxnSpPr>
            <a:stCxn id="833" idx="0"/>
            <a:endCxn id="831" idx="4"/>
          </p:cNvCxnSpPr>
          <p:nvPr/>
        </p:nvCxnSpPr>
        <p:spPr>
          <a:xfrm flipH="1" rot="10800000">
            <a:off x="4040737" y="2783261"/>
            <a:ext cx="674100" cy="9465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834" name="Google Shape;834;p36"/>
          <p:cNvCxnSpPr>
            <a:endCxn id="828" idx="6"/>
          </p:cNvCxnSpPr>
          <p:nvPr/>
        </p:nvCxnSpPr>
        <p:spPr>
          <a:xfrm rot="10800000">
            <a:off x="3227829" y="1981446"/>
            <a:ext cx="1360800" cy="5727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35" name="Google Shape;835;p36"/>
          <p:cNvCxnSpPr>
            <a:stCxn id="830" idx="4"/>
          </p:cNvCxnSpPr>
          <p:nvPr/>
        </p:nvCxnSpPr>
        <p:spPr>
          <a:xfrm flipH="1">
            <a:off x="4177556" y="2054474"/>
            <a:ext cx="1902600" cy="17907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836" name="Google Shape;836;p36"/>
          <p:cNvCxnSpPr>
            <a:stCxn id="833" idx="1"/>
            <a:endCxn id="828" idx="5"/>
          </p:cNvCxnSpPr>
          <p:nvPr/>
        </p:nvCxnSpPr>
        <p:spPr>
          <a:xfrm rot="10800000">
            <a:off x="3185649" y="2072468"/>
            <a:ext cx="753300" cy="16950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831" name="Google Shape;831;p36"/>
          <p:cNvSpPr/>
          <p:nvPr/>
        </p:nvSpPr>
        <p:spPr>
          <a:xfrm>
            <a:off x="4571005" y="2525662"/>
            <a:ext cx="287900" cy="257481"/>
          </a:xfrm>
          <a:prstGeom prst="ellipse">
            <a:avLst/>
          </a:prstGeom>
          <a:solidFill>
            <a:srgbClr val="00B05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828" name="Google Shape;828;p36"/>
          <p:cNvSpPr/>
          <p:nvPr/>
        </p:nvSpPr>
        <p:spPr>
          <a:xfrm>
            <a:off x="2939929" y="1852705"/>
            <a:ext cx="287900" cy="257481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830" name="Google Shape;830;p36"/>
          <p:cNvSpPr/>
          <p:nvPr/>
        </p:nvSpPr>
        <p:spPr>
          <a:xfrm>
            <a:off x="5936206" y="1796993"/>
            <a:ext cx="287900" cy="257481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833" name="Google Shape;833;p36"/>
          <p:cNvSpPr/>
          <p:nvPr/>
        </p:nvSpPr>
        <p:spPr>
          <a:xfrm>
            <a:off x="3896787" y="3729761"/>
            <a:ext cx="287900" cy="257481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837" name="Google Shape;837;p36"/>
          <p:cNvSpPr txBox="1"/>
          <p:nvPr/>
        </p:nvSpPr>
        <p:spPr>
          <a:xfrm>
            <a:off x="3734564" y="2285070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/>
          </a:p>
        </p:txBody>
      </p:sp>
      <p:sp>
        <p:nvSpPr>
          <p:cNvPr id="838" name="Google Shape;838;p36"/>
          <p:cNvSpPr txBox="1"/>
          <p:nvPr/>
        </p:nvSpPr>
        <p:spPr>
          <a:xfrm>
            <a:off x="5305990" y="2783143"/>
            <a:ext cx="4069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endParaRPr/>
          </a:p>
        </p:txBody>
      </p:sp>
      <p:sp>
        <p:nvSpPr>
          <p:cNvPr id="839" name="Google Shape;839;p36"/>
          <p:cNvSpPr txBox="1"/>
          <p:nvPr/>
        </p:nvSpPr>
        <p:spPr>
          <a:xfrm>
            <a:off x="3218113" y="2865788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/>
          </a:p>
        </p:txBody>
      </p:sp>
      <p:sp>
        <p:nvSpPr>
          <p:cNvPr id="840" name="Google Shape;840;p36"/>
          <p:cNvSpPr txBox="1"/>
          <p:nvPr/>
        </p:nvSpPr>
        <p:spPr>
          <a:xfrm>
            <a:off x="5062935" y="1985116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841" name="Google Shape;841;p36"/>
          <p:cNvSpPr txBox="1"/>
          <p:nvPr/>
        </p:nvSpPr>
        <p:spPr>
          <a:xfrm>
            <a:off x="4142372" y="2949608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842" name="Google Shape;842;p36"/>
          <p:cNvSpPr txBox="1"/>
          <p:nvPr/>
        </p:nvSpPr>
        <p:spPr>
          <a:xfrm>
            <a:off x="4420964" y="1246248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sp>
        <p:nvSpPr>
          <p:cNvPr id="843" name="Google Shape;843;p36"/>
          <p:cNvSpPr txBox="1"/>
          <p:nvPr/>
        </p:nvSpPr>
        <p:spPr>
          <a:xfrm>
            <a:off x="4438661" y="1887813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cxnSp>
        <p:nvCxnSpPr>
          <p:cNvPr id="844" name="Google Shape;844;p36"/>
          <p:cNvCxnSpPr>
            <a:stCxn id="828" idx="0"/>
            <a:endCxn id="830" idx="1"/>
          </p:cNvCxnSpPr>
          <p:nvPr/>
        </p:nvCxnSpPr>
        <p:spPr>
          <a:xfrm rot="-5400000">
            <a:off x="4522079" y="396505"/>
            <a:ext cx="18000" cy="2894400"/>
          </a:xfrm>
          <a:prstGeom prst="curvedConnector3">
            <a:avLst>
              <a:gd fmla="val 1579505" name="adj1"/>
            </a:avLst>
          </a:prstGeom>
          <a:noFill/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845" name="Google Shape;84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013" y="4267200"/>
            <a:ext cx="2022475" cy="1733550"/>
          </a:xfrm>
          <a:prstGeom prst="rect">
            <a:avLst/>
          </a:prstGeom>
          <a:noFill/>
          <a:ln>
            <a:noFill/>
          </a:ln>
        </p:spPr>
      </p:pic>
      <p:sp>
        <p:nvSpPr>
          <p:cNvPr id="846" name="Google Shape;846;p36"/>
          <p:cNvSpPr txBox="1"/>
          <p:nvPr/>
        </p:nvSpPr>
        <p:spPr>
          <a:xfrm>
            <a:off x="1057084" y="3865102"/>
            <a:ext cx="216102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1         2        3       4</a:t>
            </a:r>
            <a:endParaRPr/>
          </a:p>
        </p:txBody>
      </p:sp>
      <p:sp>
        <p:nvSpPr>
          <p:cNvPr id="847" name="Google Shape;847;p36"/>
          <p:cNvSpPr txBox="1"/>
          <p:nvPr/>
        </p:nvSpPr>
        <p:spPr>
          <a:xfrm>
            <a:off x="685800" y="4234434"/>
            <a:ext cx="371284" cy="18928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48" name="Google Shape;848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49988" y="4405313"/>
            <a:ext cx="1998662" cy="1733550"/>
          </a:xfrm>
          <a:prstGeom prst="rect">
            <a:avLst/>
          </a:prstGeom>
          <a:noFill/>
          <a:ln>
            <a:noFill/>
          </a:ln>
        </p:spPr>
      </p:pic>
      <p:sp>
        <p:nvSpPr>
          <p:cNvPr id="849" name="Google Shape;849;p36"/>
          <p:cNvSpPr txBox="1"/>
          <p:nvPr/>
        </p:nvSpPr>
        <p:spPr>
          <a:xfrm>
            <a:off x="6179560" y="4002754"/>
            <a:ext cx="216102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1         2        3       4</a:t>
            </a:r>
            <a:endParaRPr/>
          </a:p>
        </p:txBody>
      </p:sp>
      <p:sp>
        <p:nvSpPr>
          <p:cNvPr id="850" name="Google Shape;850;p36"/>
          <p:cNvSpPr txBox="1"/>
          <p:nvPr/>
        </p:nvSpPr>
        <p:spPr>
          <a:xfrm>
            <a:off x="5808276" y="4372086"/>
            <a:ext cx="371284" cy="18928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1" name="Google Shape;851;p36"/>
          <p:cNvSpPr txBox="1"/>
          <p:nvPr/>
        </p:nvSpPr>
        <p:spPr>
          <a:xfrm>
            <a:off x="1622963" y="6013260"/>
            <a:ext cx="153383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 trận D</a:t>
            </a:r>
            <a:r>
              <a:rPr b="1" baseline="-25000"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1" sz="14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p36"/>
          <p:cNvSpPr txBox="1"/>
          <p:nvPr/>
        </p:nvSpPr>
        <p:spPr>
          <a:xfrm>
            <a:off x="6243484" y="6154838"/>
            <a:ext cx="153383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 trận P</a:t>
            </a:r>
            <a:r>
              <a:rPr b="1" baseline="-25000"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1" sz="14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37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859" name="Google Shape;859;p37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60" name="Google Shape;860;p37"/>
          <p:cNvSpPr txBox="1"/>
          <p:nvPr>
            <p:ph type="title"/>
          </p:nvPr>
        </p:nvSpPr>
        <p:spPr>
          <a:xfrm>
            <a:off x="609600" y="381000"/>
            <a:ext cx="8077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B050"/>
                </a:solidFill>
              </a:rPr>
              <a:t>Ví dụ thuật toán Floyd- Warshall (2) </a:t>
            </a:r>
            <a:endParaRPr/>
          </a:p>
        </p:txBody>
      </p:sp>
      <p:cxnSp>
        <p:nvCxnSpPr>
          <p:cNvPr id="861" name="Google Shape;861;p37"/>
          <p:cNvCxnSpPr>
            <a:endCxn id="862" idx="7"/>
          </p:cNvCxnSpPr>
          <p:nvPr/>
        </p:nvCxnSpPr>
        <p:spPr>
          <a:xfrm rot="10800000">
            <a:off x="3185667" y="1890412"/>
            <a:ext cx="2744400" cy="354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63" name="Google Shape;863;p37"/>
          <p:cNvCxnSpPr>
            <a:stCxn id="864" idx="2"/>
            <a:endCxn id="865" idx="7"/>
          </p:cNvCxnSpPr>
          <p:nvPr/>
        </p:nvCxnSpPr>
        <p:spPr>
          <a:xfrm flipH="1">
            <a:off x="4816606" y="1925733"/>
            <a:ext cx="1119600" cy="6375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66" name="Google Shape;866;p37"/>
          <p:cNvCxnSpPr>
            <a:stCxn id="867" idx="0"/>
            <a:endCxn id="865" idx="4"/>
          </p:cNvCxnSpPr>
          <p:nvPr/>
        </p:nvCxnSpPr>
        <p:spPr>
          <a:xfrm flipH="1" rot="10800000">
            <a:off x="4040737" y="2783261"/>
            <a:ext cx="674100" cy="9465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868" name="Google Shape;868;p37"/>
          <p:cNvCxnSpPr>
            <a:endCxn id="862" idx="6"/>
          </p:cNvCxnSpPr>
          <p:nvPr/>
        </p:nvCxnSpPr>
        <p:spPr>
          <a:xfrm rot="10800000">
            <a:off x="3227829" y="1981446"/>
            <a:ext cx="1360800" cy="5727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69" name="Google Shape;869;p37"/>
          <p:cNvCxnSpPr>
            <a:stCxn id="864" idx="4"/>
          </p:cNvCxnSpPr>
          <p:nvPr/>
        </p:nvCxnSpPr>
        <p:spPr>
          <a:xfrm flipH="1">
            <a:off x="4177556" y="2054474"/>
            <a:ext cx="1902600" cy="17907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870" name="Google Shape;870;p37"/>
          <p:cNvCxnSpPr>
            <a:stCxn id="867" idx="1"/>
            <a:endCxn id="862" idx="5"/>
          </p:cNvCxnSpPr>
          <p:nvPr/>
        </p:nvCxnSpPr>
        <p:spPr>
          <a:xfrm rot="10800000">
            <a:off x="3185649" y="2072468"/>
            <a:ext cx="753300" cy="16950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865" name="Google Shape;865;p37"/>
          <p:cNvSpPr/>
          <p:nvPr/>
        </p:nvSpPr>
        <p:spPr>
          <a:xfrm>
            <a:off x="4571005" y="2525662"/>
            <a:ext cx="287900" cy="257481"/>
          </a:xfrm>
          <a:prstGeom prst="ellipse">
            <a:avLst/>
          </a:prstGeom>
          <a:solidFill>
            <a:srgbClr val="00B05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862" name="Google Shape;862;p37"/>
          <p:cNvSpPr/>
          <p:nvPr/>
        </p:nvSpPr>
        <p:spPr>
          <a:xfrm>
            <a:off x="2939929" y="1852705"/>
            <a:ext cx="287900" cy="257481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864" name="Google Shape;864;p37"/>
          <p:cNvSpPr/>
          <p:nvPr/>
        </p:nvSpPr>
        <p:spPr>
          <a:xfrm>
            <a:off x="5936206" y="1796993"/>
            <a:ext cx="287900" cy="257481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867" name="Google Shape;867;p37"/>
          <p:cNvSpPr/>
          <p:nvPr/>
        </p:nvSpPr>
        <p:spPr>
          <a:xfrm>
            <a:off x="3896787" y="3729761"/>
            <a:ext cx="287900" cy="257481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871" name="Google Shape;871;p37"/>
          <p:cNvSpPr txBox="1"/>
          <p:nvPr/>
        </p:nvSpPr>
        <p:spPr>
          <a:xfrm>
            <a:off x="3734564" y="2285070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/>
          </a:p>
        </p:txBody>
      </p:sp>
      <p:sp>
        <p:nvSpPr>
          <p:cNvPr id="872" name="Google Shape;872;p37"/>
          <p:cNvSpPr txBox="1"/>
          <p:nvPr/>
        </p:nvSpPr>
        <p:spPr>
          <a:xfrm>
            <a:off x="5305990" y="2783143"/>
            <a:ext cx="4069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endParaRPr/>
          </a:p>
        </p:txBody>
      </p:sp>
      <p:sp>
        <p:nvSpPr>
          <p:cNvPr id="873" name="Google Shape;873;p37"/>
          <p:cNvSpPr txBox="1"/>
          <p:nvPr/>
        </p:nvSpPr>
        <p:spPr>
          <a:xfrm>
            <a:off x="3218113" y="2865788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/>
          </a:p>
        </p:txBody>
      </p:sp>
      <p:sp>
        <p:nvSpPr>
          <p:cNvPr id="874" name="Google Shape;874;p37"/>
          <p:cNvSpPr txBox="1"/>
          <p:nvPr/>
        </p:nvSpPr>
        <p:spPr>
          <a:xfrm>
            <a:off x="5062935" y="1985116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875" name="Google Shape;875;p37"/>
          <p:cNvSpPr txBox="1"/>
          <p:nvPr/>
        </p:nvSpPr>
        <p:spPr>
          <a:xfrm>
            <a:off x="4142372" y="2949608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876" name="Google Shape;876;p37"/>
          <p:cNvSpPr txBox="1"/>
          <p:nvPr/>
        </p:nvSpPr>
        <p:spPr>
          <a:xfrm>
            <a:off x="4420964" y="1246248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sp>
        <p:nvSpPr>
          <p:cNvPr id="877" name="Google Shape;877;p37"/>
          <p:cNvSpPr txBox="1"/>
          <p:nvPr/>
        </p:nvSpPr>
        <p:spPr>
          <a:xfrm>
            <a:off x="4438661" y="1887813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cxnSp>
        <p:nvCxnSpPr>
          <p:cNvPr id="878" name="Google Shape;878;p37"/>
          <p:cNvCxnSpPr>
            <a:stCxn id="862" idx="0"/>
            <a:endCxn id="864" idx="1"/>
          </p:cNvCxnSpPr>
          <p:nvPr/>
        </p:nvCxnSpPr>
        <p:spPr>
          <a:xfrm rot="-5400000">
            <a:off x="4522079" y="396505"/>
            <a:ext cx="18000" cy="2894400"/>
          </a:xfrm>
          <a:prstGeom prst="curvedConnector3">
            <a:avLst>
              <a:gd fmla="val 1579505" name="adj1"/>
            </a:avLst>
          </a:prstGeom>
          <a:noFill/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879" name="Google Shape;87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013" y="4267200"/>
            <a:ext cx="2022475" cy="1733550"/>
          </a:xfrm>
          <a:prstGeom prst="rect">
            <a:avLst/>
          </a:prstGeom>
          <a:noFill/>
          <a:ln>
            <a:noFill/>
          </a:ln>
        </p:spPr>
      </p:pic>
      <p:sp>
        <p:nvSpPr>
          <p:cNvPr id="880" name="Google Shape;880;p37"/>
          <p:cNvSpPr txBox="1"/>
          <p:nvPr/>
        </p:nvSpPr>
        <p:spPr>
          <a:xfrm>
            <a:off x="1057084" y="3865102"/>
            <a:ext cx="216102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1         2        3       4</a:t>
            </a:r>
            <a:endParaRPr/>
          </a:p>
        </p:txBody>
      </p:sp>
      <p:sp>
        <p:nvSpPr>
          <p:cNvPr id="881" name="Google Shape;881;p37"/>
          <p:cNvSpPr txBox="1"/>
          <p:nvPr/>
        </p:nvSpPr>
        <p:spPr>
          <a:xfrm>
            <a:off x="685800" y="4234434"/>
            <a:ext cx="371284" cy="18928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82" name="Google Shape;882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49988" y="4405313"/>
            <a:ext cx="1998662" cy="1733550"/>
          </a:xfrm>
          <a:prstGeom prst="rect">
            <a:avLst/>
          </a:prstGeom>
          <a:noFill/>
          <a:ln>
            <a:noFill/>
          </a:ln>
        </p:spPr>
      </p:pic>
      <p:sp>
        <p:nvSpPr>
          <p:cNvPr id="883" name="Google Shape;883;p37"/>
          <p:cNvSpPr txBox="1"/>
          <p:nvPr/>
        </p:nvSpPr>
        <p:spPr>
          <a:xfrm>
            <a:off x="6179560" y="4002754"/>
            <a:ext cx="216102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1         2        3       4</a:t>
            </a:r>
            <a:endParaRPr/>
          </a:p>
        </p:txBody>
      </p:sp>
      <p:sp>
        <p:nvSpPr>
          <p:cNvPr id="884" name="Google Shape;884;p37"/>
          <p:cNvSpPr txBox="1"/>
          <p:nvPr/>
        </p:nvSpPr>
        <p:spPr>
          <a:xfrm>
            <a:off x="5808276" y="4372086"/>
            <a:ext cx="371284" cy="18928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5" name="Google Shape;885;p37"/>
          <p:cNvSpPr txBox="1"/>
          <p:nvPr/>
        </p:nvSpPr>
        <p:spPr>
          <a:xfrm>
            <a:off x="535759" y="1186014"/>
            <a:ext cx="334884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Cập nhật qua đỉnh 1</a:t>
            </a:r>
            <a:endParaRPr/>
          </a:p>
        </p:txBody>
      </p:sp>
      <p:graphicFrame>
        <p:nvGraphicFramePr>
          <p:cNvPr id="886" name="Google Shape;886;p37"/>
          <p:cNvGraphicFramePr/>
          <p:nvPr/>
        </p:nvGraphicFramePr>
        <p:xfrm>
          <a:off x="2137598" y="556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{58EAFFC7-EDB0-443D-8FE1-40579736F1DA}</a:tableStyleId>
              </a:tblPr>
              <a:tblGrid>
                <a:gridCol w="41142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87" name="Google Shape;887;p37"/>
          <p:cNvGraphicFramePr/>
          <p:nvPr/>
        </p:nvGraphicFramePr>
        <p:xfrm>
          <a:off x="7255158" y="57462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{58EAFFC7-EDB0-443D-8FE1-40579736F1DA}</a:tableStyleId>
              </a:tblPr>
              <a:tblGrid>
                <a:gridCol w="41142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88" name="Google Shape;888;p37"/>
          <p:cNvSpPr txBox="1"/>
          <p:nvPr/>
        </p:nvSpPr>
        <p:spPr>
          <a:xfrm>
            <a:off x="1622963" y="6013260"/>
            <a:ext cx="153383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 trận D</a:t>
            </a:r>
            <a:r>
              <a:rPr b="1" baseline="-25000"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sz="14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Google Shape;889;p37"/>
          <p:cNvSpPr txBox="1"/>
          <p:nvPr/>
        </p:nvSpPr>
        <p:spPr>
          <a:xfrm>
            <a:off x="6243484" y="6154838"/>
            <a:ext cx="153383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 trận P</a:t>
            </a:r>
            <a:r>
              <a:rPr b="1" baseline="-25000"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sz="14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38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896" name="Google Shape;896;p38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97" name="Google Shape;897;p38"/>
          <p:cNvSpPr txBox="1"/>
          <p:nvPr>
            <p:ph type="title"/>
          </p:nvPr>
        </p:nvSpPr>
        <p:spPr>
          <a:xfrm>
            <a:off x="609600" y="381000"/>
            <a:ext cx="8077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B050"/>
                </a:solidFill>
              </a:rPr>
              <a:t>Ví dụ thuật toán Floyd- Warshall</a:t>
            </a:r>
            <a:r>
              <a:rPr lang="en-US">
                <a:solidFill>
                  <a:srgbClr val="00B050"/>
                </a:solidFill>
              </a:rPr>
              <a:t>(3)</a:t>
            </a:r>
            <a:endParaRPr b="1" sz="3600">
              <a:solidFill>
                <a:srgbClr val="00B050"/>
              </a:solidFill>
            </a:endParaRPr>
          </a:p>
        </p:txBody>
      </p:sp>
      <p:cxnSp>
        <p:nvCxnSpPr>
          <p:cNvPr id="898" name="Google Shape;898;p38"/>
          <p:cNvCxnSpPr>
            <a:endCxn id="899" idx="7"/>
          </p:cNvCxnSpPr>
          <p:nvPr/>
        </p:nvCxnSpPr>
        <p:spPr>
          <a:xfrm rot="10800000">
            <a:off x="3185667" y="1890412"/>
            <a:ext cx="2744400" cy="354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00" name="Google Shape;900;p38"/>
          <p:cNvCxnSpPr>
            <a:stCxn id="901" idx="2"/>
            <a:endCxn id="902" idx="7"/>
          </p:cNvCxnSpPr>
          <p:nvPr/>
        </p:nvCxnSpPr>
        <p:spPr>
          <a:xfrm flipH="1">
            <a:off x="4816606" y="1925733"/>
            <a:ext cx="1119600" cy="6375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03" name="Google Shape;903;p38"/>
          <p:cNvCxnSpPr>
            <a:stCxn id="904" idx="0"/>
            <a:endCxn id="902" idx="4"/>
          </p:cNvCxnSpPr>
          <p:nvPr/>
        </p:nvCxnSpPr>
        <p:spPr>
          <a:xfrm flipH="1" rot="10800000">
            <a:off x="4040737" y="2783261"/>
            <a:ext cx="674100" cy="9465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905" name="Google Shape;905;p38"/>
          <p:cNvCxnSpPr>
            <a:endCxn id="899" idx="6"/>
          </p:cNvCxnSpPr>
          <p:nvPr/>
        </p:nvCxnSpPr>
        <p:spPr>
          <a:xfrm rot="10800000">
            <a:off x="3227829" y="1981446"/>
            <a:ext cx="1360800" cy="5727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06" name="Google Shape;906;p38"/>
          <p:cNvCxnSpPr>
            <a:stCxn id="901" idx="4"/>
          </p:cNvCxnSpPr>
          <p:nvPr/>
        </p:nvCxnSpPr>
        <p:spPr>
          <a:xfrm flipH="1">
            <a:off x="4177556" y="2054474"/>
            <a:ext cx="1902600" cy="17907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907" name="Google Shape;907;p38"/>
          <p:cNvCxnSpPr>
            <a:stCxn id="904" idx="1"/>
            <a:endCxn id="899" idx="5"/>
          </p:cNvCxnSpPr>
          <p:nvPr/>
        </p:nvCxnSpPr>
        <p:spPr>
          <a:xfrm rot="10800000">
            <a:off x="3185649" y="2072468"/>
            <a:ext cx="753300" cy="16950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902" name="Google Shape;902;p38"/>
          <p:cNvSpPr/>
          <p:nvPr/>
        </p:nvSpPr>
        <p:spPr>
          <a:xfrm>
            <a:off x="4571005" y="2525662"/>
            <a:ext cx="287900" cy="257481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899" name="Google Shape;899;p38"/>
          <p:cNvSpPr/>
          <p:nvPr/>
        </p:nvSpPr>
        <p:spPr>
          <a:xfrm>
            <a:off x="2939929" y="1852705"/>
            <a:ext cx="287900" cy="257481"/>
          </a:xfrm>
          <a:prstGeom prst="ellipse">
            <a:avLst/>
          </a:prstGeom>
          <a:solidFill>
            <a:srgbClr val="00B05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901" name="Google Shape;901;p38"/>
          <p:cNvSpPr/>
          <p:nvPr/>
        </p:nvSpPr>
        <p:spPr>
          <a:xfrm>
            <a:off x="5936206" y="1796993"/>
            <a:ext cx="287900" cy="257481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904" name="Google Shape;904;p38"/>
          <p:cNvSpPr/>
          <p:nvPr/>
        </p:nvSpPr>
        <p:spPr>
          <a:xfrm>
            <a:off x="3896787" y="3729761"/>
            <a:ext cx="287900" cy="257481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908" name="Google Shape;908;p38"/>
          <p:cNvSpPr txBox="1"/>
          <p:nvPr/>
        </p:nvSpPr>
        <p:spPr>
          <a:xfrm>
            <a:off x="3734564" y="2285070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/>
          </a:p>
        </p:txBody>
      </p:sp>
      <p:sp>
        <p:nvSpPr>
          <p:cNvPr id="909" name="Google Shape;909;p38"/>
          <p:cNvSpPr txBox="1"/>
          <p:nvPr/>
        </p:nvSpPr>
        <p:spPr>
          <a:xfrm>
            <a:off x="5305990" y="2783143"/>
            <a:ext cx="4069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endParaRPr/>
          </a:p>
        </p:txBody>
      </p:sp>
      <p:sp>
        <p:nvSpPr>
          <p:cNvPr id="910" name="Google Shape;910;p38"/>
          <p:cNvSpPr txBox="1"/>
          <p:nvPr/>
        </p:nvSpPr>
        <p:spPr>
          <a:xfrm>
            <a:off x="3218113" y="2865788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/>
          </a:p>
        </p:txBody>
      </p:sp>
      <p:sp>
        <p:nvSpPr>
          <p:cNvPr id="911" name="Google Shape;911;p38"/>
          <p:cNvSpPr txBox="1"/>
          <p:nvPr/>
        </p:nvSpPr>
        <p:spPr>
          <a:xfrm>
            <a:off x="5062935" y="1985116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912" name="Google Shape;912;p38"/>
          <p:cNvSpPr txBox="1"/>
          <p:nvPr/>
        </p:nvSpPr>
        <p:spPr>
          <a:xfrm>
            <a:off x="4142372" y="2949608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913" name="Google Shape;913;p38"/>
          <p:cNvSpPr txBox="1"/>
          <p:nvPr/>
        </p:nvSpPr>
        <p:spPr>
          <a:xfrm>
            <a:off x="4420964" y="1246248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sp>
        <p:nvSpPr>
          <p:cNvPr id="914" name="Google Shape;914;p38"/>
          <p:cNvSpPr txBox="1"/>
          <p:nvPr/>
        </p:nvSpPr>
        <p:spPr>
          <a:xfrm>
            <a:off x="4438661" y="1887813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cxnSp>
        <p:nvCxnSpPr>
          <p:cNvPr id="915" name="Google Shape;915;p38"/>
          <p:cNvCxnSpPr>
            <a:stCxn id="899" idx="0"/>
            <a:endCxn id="901" idx="1"/>
          </p:cNvCxnSpPr>
          <p:nvPr/>
        </p:nvCxnSpPr>
        <p:spPr>
          <a:xfrm rot="-5400000">
            <a:off x="4522079" y="396505"/>
            <a:ext cx="18000" cy="2894400"/>
          </a:xfrm>
          <a:prstGeom prst="curvedConnector3">
            <a:avLst>
              <a:gd fmla="val 1579505" name="adj1"/>
            </a:avLst>
          </a:prstGeom>
          <a:noFill/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916" name="Google Shape;916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013" y="4267200"/>
            <a:ext cx="2022475" cy="1733550"/>
          </a:xfrm>
          <a:prstGeom prst="rect">
            <a:avLst/>
          </a:prstGeom>
          <a:noFill/>
          <a:ln>
            <a:noFill/>
          </a:ln>
        </p:spPr>
      </p:pic>
      <p:sp>
        <p:nvSpPr>
          <p:cNvPr id="917" name="Google Shape;917;p38"/>
          <p:cNvSpPr txBox="1"/>
          <p:nvPr/>
        </p:nvSpPr>
        <p:spPr>
          <a:xfrm>
            <a:off x="1057084" y="3865102"/>
            <a:ext cx="216102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1         2        3       4</a:t>
            </a:r>
            <a:endParaRPr/>
          </a:p>
        </p:txBody>
      </p:sp>
      <p:sp>
        <p:nvSpPr>
          <p:cNvPr id="918" name="Google Shape;918;p38"/>
          <p:cNvSpPr txBox="1"/>
          <p:nvPr/>
        </p:nvSpPr>
        <p:spPr>
          <a:xfrm>
            <a:off x="685800" y="4234434"/>
            <a:ext cx="371284" cy="18928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19" name="Google Shape;919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4405313"/>
            <a:ext cx="1925638" cy="1733550"/>
          </a:xfrm>
          <a:prstGeom prst="rect">
            <a:avLst/>
          </a:prstGeom>
          <a:noFill/>
          <a:ln>
            <a:noFill/>
          </a:ln>
        </p:spPr>
      </p:pic>
      <p:sp>
        <p:nvSpPr>
          <p:cNvPr id="920" name="Google Shape;920;p38"/>
          <p:cNvSpPr txBox="1"/>
          <p:nvPr/>
        </p:nvSpPr>
        <p:spPr>
          <a:xfrm>
            <a:off x="6179560" y="4002754"/>
            <a:ext cx="216102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1         2        3       4</a:t>
            </a:r>
            <a:endParaRPr/>
          </a:p>
        </p:txBody>
      </p:sp>
      <p:sp>
        <p:nvSpPr>
          <p:cNvPr id="921" name="Google Shape;921;p38"/>
          <p:cNvSpPr txBox="1"/>
          <p:nvPr/>
        </p:nvSpPr>
        <p:spPr>
          <a:xfrm>
            <a:off x="5808276" y="4372086"/>
            <a:ext cx="371284" cy="18928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2" name="Google Shape;922;p38"/>
          <p:cNvSpPr txBox="1"/>
          <p:nvPr/>
        </p:nvSpPr>
        <p:spPr>
          <a:xfrm>
            <a:off x="685800" y="1153915"/>
            <a:ext cx="304876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Cập nhật qua đỉnh 2</a:t>
            </a:r>
            <a:endParaRPr/>
          </a:p>
        </p:txBody>
      </p:sp>
      <p:graphicFrame>
        <p:nvGraphicFramePr>
          <p:cNvPr id="923" name="Google Shape;923;p38"/>
          <p:cNvGraphicFramePr/>
          <p:nvPr/>
        </p:nvGraphicFramePr>
        <p:xfrm>
          <a:off x="2656789" y="42688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{58EAFFC7-EDB0-443D-8FE1-40579736F1DA}</a:tableStyleId>
              </a:tblPr>
              <a:tblGrid>
                <a:gridCol w="41142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24" name="Google Shape;924;p38"/>
          <p:cNvGraphicFramePr/>
          <p:nvPr/>
        </p:nvGraphicFramePr>
        <p:xfrm>
          <a:off x="7696200" y="43720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{58EAFFC7-EDB0-443D-8FE1-40579736F1DA}</a:tableStyleId>
              </a:tblPr>
              <a:tblGrid>
                <a:gridCol w="41142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25" name="Google Shape;925;p38"/>
          <p:cNvGraphicFramePr/>
          <p:nvPr/>
        </p:nvGraphicFramePr>
        <p:xfrm>
          <a:off x="2607248" y="556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{58EAFFC7-EDB0-443D-8FE1-40579736F1DA}</a:tableStyleId>
              </a:tblPr>
              <a:tblGrid>
                <a:gridCol w="41142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26" name="Google Shape;926;p38"/>
          <p:cNvGraphicFramePr/>
          <p:nvPr/>
        </p:nvGraphicFramePr>
        <p:xfrm>
          <a:off x="7696200" y="57085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{58EAFFC7-EDB0-443D-8FE1-40579736F1DA}</a:tableStyleId>
              </a:tblPr>
              <a:tblGrid>
                <a:gridCol w="41142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27" name="Google Shape;927;p38"/>
          <p:cNvGraphicFramePr/>
          <p:nvPr/>
        </p:nvGraphicFramePr>
        <p:xfrm>
          <a:off x="2120467" y="556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{58EAFFC7-EDB0-443D-8FE1-40579736F1DA}</a:tableStyleId>
              </a:tblPr>
              <a:tblGrid>
                <a:gridCol w="41142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28" name="Google Shape;928;p38"/>
          <p:cNvGraphicFramePr/>
          <p:nvPr/>
        </p:nvGraphicFramePr>
        <p:xfrm>
          <a:off x="7260074" y="572332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{58EAFFC7-EDB0-443D-8FE1-40579736F1DA}</a:tableStyleId>
              </a:tblPr>
              <a:tblGrid>
                <a:gridCol w="41142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29" name="Google Shape;929;p38"/>
          <p:cNvSpPr txBox="1"/>
          <p:nvPr/>
        </p:nvSpPr>
        <p:spPr>
          <a:xfrm>
            <a:off x="1622963" y="6013260"/>
            <a:ext cx="153383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 trận D</a:t>
            </a:r>
            <a:r>
              <a:rPr b="1" baseline="-25000"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sz="14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Google Shape;930;p38"/>
          <p:cNvSpPr txBox="1"/>
          <p:nvPr/>
        </p:nvSpPr>
        <p:spPr>
          <a:xfrm>
            <a:off x="6243484" y="6154838"/>
            <a:ext cx="153383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 trận P</a:t>
            </a:r>
            <a:r>
              <a:rPr b="1" baseline="-25000"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sz="14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39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937" name="Google Shape;937;p39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38" name="Google Shape;938;p39"/>
          <p:cNvSpPr txBox="1"/>
          <p:nvPr>
            <p:ph type="title"/>
          </p:nvPr>
        </p:nvSpPr>
        <p:spPr>
          <a:xfrm>
            <a:off x="609600" y="381000"/>
            <a:ext cx="8077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B050"/>
                </a:solidFill>
              </a:rPr>
              <a:t>Ví dụ thuật toán Floyd- Warshall (4) </a:t>
            </a:r>
            <a:endParaRPr/>
          </a:p>
        </p:txBody>
      </p:sp>
      <p:cxnSp>
        <p:nvCxnSpPr>
          <p:cNvPr id="939" name="Google Shape;939;p39"/>
          <p:cNvCxnSpPr>
            <a:endCxn id="940" idx="7"/>
          </p:cNvCxnSpPr>
          <p:nvPr/>
        </p:nvCxnSpPr>
        <p:spPr>
          <a:xfrm rot="10800000">
            <a:off x="3185667" y="1890412"/>
            <a:ext cx="2744400" cy="354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41" name="Google Shape;941;p39"/>
          <p:cNvCxnSpPr>
            <a:stCxn id="942" idx="2"/>
            <a:endCxn id="943" idx="7"/>
          </p:cNvCxnSpPr>
          <p:nvPr/>
        </p:nvCxnSpPr>
        <p:spPr>
          <a:xfrm flipH="1">
            <a:off x="4816606" y="1925733"/>
            <a:ext cx="1119600" cy="6375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44" name="Google Shape;944;p39"/>
          <p:cNvCxnSpPr>
            <a:stCxn id="945" idx="0"/>
            <a:endCxn id="943" idx="4"/>
          </p:cNvCxnSpPr>
          <p:nvPr/>
        </p:nvCxnSpPr>
        <p:spPr>
          <a:xfrm flipH="1" rot="10800000">
            <a:off x="4040737" y="2783261"/>
            <a:ext cx="674100" cy="9465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946" name="Google Shape;946;p39"/>
          <p:cNvCxnSpPr>
            <a:endCxn id="940" idx="6"/>
          </p:cNvCxnSpPr>
          <p:nvPr/>
        </p:nvCxnSpPr>
        <p:spPr>
          <a:xfrm rot="10800000">
            <a:off x="3227829" y="1981446"/>
            <a:ext cx="1360800" cy="5727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47" name="Google Shape;947;p39"/>
          <p:cNvCxnSpPr>
            <a:stCxn id="942" idx="4"/>
          </p:cNvCxnSpPr>
          <p:nvPr/>
        </p:nvCxnSpPr>
        <p:spPr>
          <a:xfrm flipH="1">
            <a:off x="4177556" y="2054474"/>
            <a:ext cx="1902600" cy="17907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948" name="Google Shape;948;p39"/>
          <p:cNvCxnSpPr>
            <a:stCxn id="945" idx="1"/>
            <a:endCxn id="940" idx="5"/>
          </p:cNvCxnSpPr>
          <p:nvPr/>
        </p:nvCxnSpPr>
        <p:spPr>
          <a:xfrm rot="10800000">
            <a:off x="3185649" y="2072468"/>
            <a:ext cx="753300" cy="16950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943" name="Google Shape;943;p39"/>
          <p:cNvSpPr/>
          <p:nvPr/>
        </p:nvSpPr>
        <p:spPr>
          <a:xfrm>
            <a:off x="4571005" y="2525662"/>
            <a:ext cx="287900" cy="257481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940" name="Google Shape;940;p39"/>
          <p:cNvSpPr/>
          <p:nvPr/>
        </p:nvSpPr>
        <p:spPr>
          <a:xfrm>
            <a:off x="2939929" y="1852705"/>
            <a:ext cx="287900" cy="257481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942" name="Google Shape;942;p39"/>
          <p:cNvSpPr/>
          <p:nvPr/>
        </p:nvSpPr>
        <p:spPr>
          <a:xfrm>
            <a:off x="5936206" y="1796993"/>
            <a:ext cx="287900" cy="257481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945" name="Google Shape;945;p39"/>
          <p:cNvSpPr/>
          <p:nvPr/>
        </p:nvSpPr>
        <p:spPr>
          <a:xfrm>
            <a:off x="3896787" y="3729761"/>
            <a:ext cx="287900" cy="257481"/>
          </a:xfrm>
          <a:prstGeom prst="ellipse">
            <a:avLst/>
          </a:prstGeom>
          <a:solidFill>
            <a:srgbClr val="00B05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949" name="Google Shape;949;p39"/>
          <p:cNvSpPr txBox="1"/>
          <p:nvPr/>
        </p:nvSpPr>
        <p:spPr>
          <a:xfrm>
            <a:off x="3734564" y="2285070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/>
          </a:p>
        </p:txBody>
      </p:sp>
      <p:sp>
        <p:nvSpPr>
          <p:cNvPr id="950" name="Google Shape;950;p39"/>
          <p:cNvSpPr txBox="1"/>
          <p:nvPr/>
        </p:nvSpPr>
        <p:spPr>
          <a:xfrm>
            <a:off x="5305990" y="2783143"/>
            <a:ext cx="4069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endParaRPr/>
          </a:p>
        </p:txBody>
      </p:sp>
      <p:sp>
        <p:nvSpPr>
          <p:cNvPr id="951" name="Google Shape;951;p39"/>
          <p:cNvSpPr txBox="1"/>
          <p:nvPr/>
        </p:nvSpPr>
        <p:spPr>
          <a:xfrm>
            <a:off x="3218113" y="2865788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/>
          </a:p>
        </p:txBody>
      </p:sp>
      <p:sp>
        <p:nvSpPr>
          <p:cNvPr id="952" name="Google Shape;952;p39"/>
          <p:cNvSpPr txBox="1"/>
          <p:nvPr/>
        </p:nvSpPr>
        <p:spPr>
          <a:xfrm>
            <a:off x="5062935" y="1985116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953" name="Google Shape;953;p39"/>
          <p:cNvSpPr txBox="1"/>
          <p:nvPr/>
        </p:nvSpPr>
        <p:spPr>
          <a:xfrm>
            <a:off x="4142372" y="2949608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954" name="Google Shape;954;p39"/>
          <p:cNvSpPr txBox="1"/>
          <p:nvPr/>
        </p:nvSpPr>
        <p:spPr>
          <a:xfrm>
            <a:off x="4420964" y="1246248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sp>
        <p:nvSpPr>
          <p:cNvPr id="955" name="Google Shape;955;p39"/>
          <p:cNvSpPr txBox="1"/>
          <p:nvPr/>
        </p:nvSpPr>
        <p:spPr>
          <a:xfrm>
            <a:off x="4438661" y="1887813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cxnSp>
        <p:nvCxnSpPr>
          <p:cNvPr id="956" name="Google Shape;956;p39"/>
          <p:cNvCxnSpPr>
            <a:stCxn id="940" idx="0"/>
            <a:endCxn id="942" idx="1"/>
          </p:cNvCxnSpPr>
          <p:nvPr/>
        </p:nvCxnSpPr>
        <p:spPr>
          <a:xfrm rot="-5400000">
            <a:off x="4522079" y="396505"/>
            <a:ext cx="18000" cy="2894400"/>
          </a:xfrm>
          <a:prstGeom prst="curvedConnector3">
            <a:avLst>
              <a:gd fmla="val 1579505" name="adj1"/>
            </a:avLst>
          </a:prstGeom>
          <a:noFill/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957" name="Google Shape;957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013" y="4267200"/>
            <a:ext cx="2022475" cy="1733550"/>
          </a:xfrm>
          <a:prstGeom prst="rect">
            <a:avLst/>
          </a:prstGeom>
          <a:noFill/>
          <a:ln>
            <a:noFill/>
          </a:ln>
        </p:spPr>
      </p:pic>
      <p:sp>
        <p:nvSpPr>
          <p:cNvPr id="958" name="Google Shape;958;p39"/>
          <p:cNvSpPr txBox="1"/>
          <p:nvPr/>
        </p:nvSpPr>
        <p:spPr>
          <a:xfrm>
            <a:off x="1057084" y="3865102"/>
            <a:ext cx="216102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1         2        3       4</a:t>
            </a:r>
            <a:endParaRPr/>
          </a:p>
        </p:txBody>
      </p:sp>
      <p:sp>
        <p:nvSpPr>
          <p:cNvPr id="959" name="Google Shape;959;p39"/>
          <p:cNvSpPr txBox="1"/>
          <p:nvPr/>
        </p:nvSpPr>
        <p:spPr>
          <a:xfrm>
            <a:off x="685800" y="4234434"/>
            <a:ext cx="371284" cy="18928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60" name="Google Shape;960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4405313"/>
            <a:ext cx="1925638" cy="1733550"/>
          </a:xfrm>
          <a:prstGeom prst="rect">
            <a:avLst/>
          </a:prstGeom>
          <a:noFill/>
          <a:ln>
            <a:noFill/>
          </a:ln>
        </p:spPr>
      </p:pic>
      <p:sp>
        <p:nvSpPr>
          <p:cNvPr id="961" name="Google Shape;961;p39"/>
          <p:cNvSpPr txBox="1"/>
          <p:nvPr/>
        </p:nvSpPr>
        <p:spPr>
          <a:xfrm>
            <a:off x="6179560" y="4002754"/>
            <a:ext cx="216102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1         2        3       4</a:t>
            </a:r>
            <a:endParaRPr/>
          </a:p>
        </p:txBody>
      </p:sp>
      <p:sp>
        <p:nvSpPr>
          <p:cNvPr id="962" name="Google Shape;962;p39"/>
          <p:cNvSpPr txBox="1"/>
          <p:nvPr/>
        </p:nvSpPr>
        <p:spPr>
          <a:xfrm>
            <a:off x="5808276" y="4372086"/>
            <a:ext cx="371284" cy="18928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3" name="Google Shape;963;p39"/>
          <p:cNvSpPr txBox="1"/>
          <p:nvPr/>
        </p:nvSpPr>
        <p:spPr>
          <a:xfrm>
            <a:off x="685800" y="1246248"/>
            <a:ext cx="334884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Cập nhật qua đỉnh 3</a:t>
            </a:r>
            <a:endParaRPr/>
          </a:p>
        </p:txBody>
      </p:sp>
      <p:sp>
        <p:nvSpPr>
          <p:cNvPr id="964" name="Google Shape;964;p39"/>
          <p:cNvSpPr txBox="1"/>
          <p:nvPr/>
        </p:nvSpPr>
        <p:spPr>
          <a:xfrm>
            <a:off x="1622963" y="6013260"/>
            <a:ext cx="153383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 trận D</a:t>
            </a:r>
            <a:r>
              <a:rPr b="1" baseline="-25000"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sz="14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5" name="Google Shape;965;p39"/>
          <p:cNvSpPr txBox="1"/>
          <p:nvPr/>
        </p:nvSpPr>
        <p:spPr>
          <a:xfrm>
            <a:off x="6243484" y="6154838"/>
            <a:ext cx="153383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 trận P</a:t>
            </a:r>
            <a:r>
              <a:rPr b="1" baseline="-25000"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sz="14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40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972" name="Google Shape;972;p40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73" name="Google Shape;973;p40"/>
          <p:cNvSpPr txBox="1"/>
          <p:nvPr>
            <p:ph type="title"/>
          </p:nvPr>
        </p:nvSpPr>
        <p:spPr>
          <a:xfrm>
            <a:off x="609600" y="381000"/>
            <a:ext cx="8077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B050"/>
                </a:solidFill>
              </a:rPr>
              <a:t>Ví dụ thuật toán Floyd- Warshall (5) </a:t>
            </a:r>
            <a:endParaRPr/>
          </a:p>
        </p:txBody>
      </p:sp>
      <p:cxnSp>
        <p:nvCxnSpPr>
          <p:cNvPr id="974" name="Google Shape;974;p40"/>
          <p:cNvCxnSpPr>
            <a:endCxn id="975" idx="7"/>
          </p:cNvCxnSpPr>
          <p:nvPr/>
        </p:nvCxnSpPr>
        <p:spPr>
          <a:xfrm rot="10800000">
            <a:off x="3185667" y="1890412"/>
            <a:ext cx="2744400" cy="354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76" name="Google Shape;976;p40"/>
          <p:cNvCxnSpPr>
            <a:stCxn id="977" idx="2"/>
            <a:endCxn id="978" idx="7"/>
          </p:cNvCxnSpPr>
          <p:nvPr/>
        </p:nvCxnSpPr>
        <p:spPr>
          <a:xfrm flipH="1">
            <a:off x="4816606" y="1925733"/>
            <a:ext cx="1119600" cy="6375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79" name="Google Shape;979;p40"/>
          <p:cNvCxnSpPr>
            <a:stCxn id="980" idx="0"/>
            <a:endCxn id="978" idx="4"/>
          </p:cNvCxnSpPr>
          <p:nvPr/>
        </p:nvCxnSpPr>
        <p:spPr>
          <a:xfrm flipH="1" rot="10800000">
            <a:off x="4040737" y="2783261"/>
            <a:ext cx="674100" cy="9465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981" name="Google Shape;981;p40"/>
          <p:cNvCxnSpPr>
            <a:endCxn id="975" idx="6"/>
          </p:cNvCxnSpPr>
          <p:nvPr/>
        </p:nvCxnSpPr>
        <p:spPr>
          <a:xfrm rot="10800000">
            <a:off x="3227829" y="1981446"/>
            <a:ext cx="1360800" cy="5727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82" name="Google Shape;982;p40"/>
          <p:cNvCxnSpPr>
            <a:stCxn id="977" idx="4"/>
          </p:cNvCxnSpPr>
          <p:nvPr/>
        </p:nvCxnSpPr>
        <p:spPr>
          <a:xfrm flipH="1">
            <a:off x="4177556" y="2054474"/>
            <a:ext cx="1902600" cy="17907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983" name="Google Shape;983;p40"/>
          <p:cNvCxnSpPr>
            <a:stCxn id="980" idx="1"/>
            <a:endCxn id="975" idx="5"/>
          </p:cNvCxnSpPr>
          <p:nvPr/>
        </p:nvCxnSpPr>
        <p:spPr>
          <a:xfrm rot="10800000">
            <a:off x="3185649" y="2072468"/>
            <a:ext cx="753300" cy="16950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978" name="Google Shape;978;p40"/>
          <p:cNvSpPr/>
          <p:nvPr/>
        </p:nvSpPr>
        <p:spPr>
          <a:xfrm>
            <a:off x="4571005" y="2525662"/>
            <a:ext cx="287900" cy="257481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975" name="Google Shape;975;p40"/>
          <p:cNvSpPr/>
          <p:nvPr/>
        </p:nvSpPr>
        <p:spPr>
          <a:xfrm>
            <a:off x="2939929" y="1852705"/>
            <a:ext cx="287900" cy="257481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977" name="Google Shape;977;p40"/>
          <p:cNvSpPr/>
          <p:nvPr/>
        </p:nvSpPr>
        <p:spPr>
          <a:xfrm>
            <a:off x="5936206" y="1796993"/>
            <a:ext cx="287900" cy="257481"/>
          </a:xfrm>
          <a:prstGeom prst="ellipse">
            <a:avLst/>
          </a:prstGeom>
          <a:solidFill>
            <a:srgbClr val="00B05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980" name="Google Shape;980;p40"/>
          <p:cNvSpPr/>
          <p:nvPr/>
        </p:nvSpPr>
        <p:spPr>
          <a:xfrm>
            <a:off x="3896787" y="3729761"/>
            <a:ext cx="287900" cy="257481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984" name="Google Shape;984;p40"/>
          <p:cNvSpPr txBox="1"/>
          <p:nvPr/>
        </p:nvSpPr>
        <p:spPr>
          <a:xfrm>
            <a:off x="3734564" y="2285070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/>
          </a:p>
        </p:txBody>
      </p:sp>
      <p:sp>
        <p:nvSpPr>
          <p:cNvPr id="985" name="Google Shape;985;p40"/>
          <p:cNvSpPr txBox="1"/>
          <p:nvPr/>
        </p:nvSpPr>
        <p:spPr>
          <a:xfrm>
            <a:off x="5305990" y="2783143"/>
            <a:ext cx="4069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endParaRPr/>
          </a:p>
        </p:txBody>
      </p:sp>
      <p:sp>
        <p:nvSpPr>
          <p:cNvPr id="986" name="Google Shape;986;p40"/>
          <p:cNvSpPr txBox="1"/>
          <p:nvPr/>
        </p:nvSpPr>
        <p:spPr>
          <a:xfrm>
            <a:off x="3218113" y="2865788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/>
          </a:p>
        </p:txBody>
      </p:sp>
      <p:sp>
        <p:nvSpPr>
          <p:cNvPr id="987" name="Google Shape;987;p40"/>
          <p:cNvSpPr txBox="1"/>
          <p:nvPr/>
        </p:nvSpPr>
        <p:spPr>
          <a:xfrm>
            <a:off x="5062935" y="1985116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988" name="Google Shape;988;p40"/>
          <p:cNvSpPr txBox="1"/>
          <p:nvPr/>
        </p:nvSpPr>
        <p:spPr>
          <a:xfrm>
            <a:off x="4142372" y="2949608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989" name="Google Shape;989;p40"/>
          <p:cNvSpPr txBox="1"/>
          <p:nvPr/>
        </p:nvSpPr>
        <p:spPr>
          <a:xfrm>
            <a:off x="4420964" y="1246248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sp>
        <p:nvSpPr>
          <p:cNvPr id="990" name="Google Shape;990;p40"/>
          <p:cNvSpPr txBox="1"/>
          <p:nvPr/>
        </p:nvSpPr>
        <p:spPr>
          <a:xfrm>
            <a:off x="4438661" y="1887813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cxnSp>
        <p:nvCxnSpPr>
          <p:cNvPr id="991" name="Google Shape;991;p40"/>
          <p:cNvCxnSpPr>
            <a:stCxn id="975" idx="0"/>
            <a:endCxn id="977" idx="1"/>
          </p:cNvCxnSpPr>
          <p:nvPr/>
        </p:nvCxnSpPr>
        <p:spPr>
          <a:xfrm rot="-5400000">
            <a:off x="4522079" y="396505"/>
            <a:ext cx="18000" cy="2894400"/>
          </a:xfrm>
          <a:prstGeom prst="curvedConnector3">
            <a:avLst>
              <a:gd fmla="val 1579505" name="adj1"/>
            </a:avLst>
          </a:prstGeom>
          <a:noFill/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992" name="Google Shape;992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3463" y="4267200"/>
            <a:ext cx="2190750" cy="1733550"/>
          </a:xfrm>
          <a:prstGeom prst="rect">
            <a:avLst/>
          </a:prstGeom>
          <a:noFill/>
          <a:ln>
            <a:noFill/>
          </a:ln>
        </p:spPr>
      </p:pic>
      <p:sp>
        <p:nvSpPr>
          <p:cNvPr id="993" name="Google Shape;993;p40"/>
          <p:cNvSpPr txBox="1"/>
          <p:nvPr/>
        </p:nvSpPr>
        <p:spPr>
          <a:xfrm>
            <a:off x="1057084" y="3865102"/>
            <a:ext cx="216102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1         2        3       4</a:t>
            </a:r>
            <a:endParaRPr/>
          </a:p>
        </p:txBody>
      </p:sp>
      <p:sp>
        <p:nvSpPr>
          <p:cNvPr id="994" name="Google Shape;994;p40"/>
          <p:cNvSpPr txBox="1"/>
          <p:nvPr/>
        </p:nvSpPr>
        <p:spPr>
          <a:xfrm>
            <a:off x="685800" y="4234434"/>
            <a:ext cx="371284" cy="18928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95" name="Google Shape;995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0163" y="4405313"/>
            <a:ext cx="1735137" cy="1733550"/>
          </a:xfrm>
          <a:prstGeom prst="rect">
            <a:avLst/>
          </a:prstGeom>
          <a:noFill/>
          <a:ln>
            <a:noFill/>
          </a:ln>
        </p:spPr>
      </p:pic>
      <p:sp>
        <p:nvSpPr>
          <p:cNvPr id="996" name="Google Shape;996;p40"/>
          <p:cNvSpPr txBox="1"/>
          <p:nvPr/>
        </p:nvSpPr>
        <p:spPr>
          <a:xfrm>
            <a:off x="6179560" y="4002754"/>
            <a:ext cx="216102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1         2        3       4</a:t>
            </a:r>
            <a:endParaRPr/>
          </a:p>
        </p:txBody>
      </p:sp>
      <p:sp>
        <p:nvSpPr>
          <p:cNvPr id="997" name="Google Shape;997;p40"/>
          <p:cNvSpPr txBox="1"/>
          <p:nvPr/>
        </p:nvSpPr>
        <p:spPr>
          <a:xfrm>
            <a:off x="5808276" y="4372086"/>
            <a:ext cx="371284" cy="18928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8" name="Google Shape;998;p40"/>
          <p:cNvSpPr txBox="1"/>
          <p:nvPr/>
        </p:nvSpPr>
        <p:spPr>
          <a:xfrm>
            <a:off x="657677" y="1172956"/>
            <a:ext cx="304876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Cập nhật qua đỉnh 4</a:t>
            </a:r>
            <a:endParaRPr/>
          </a:p>
        </p:txBody>
      </p:sp>
      <p:graphicFrame>
        <p:nvGraphicFramePr>
          <p:cNvPr id="999" name="Google Shape;999;p40"/>
          <p:cNvGraphicFramePr/>
          <p:nvPr/>
        </p:nvGraphicFramePr>
        <p:xfrm>
          <a:off x="1726175" y="47184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{58EAFFC7-EDB0-443D-8FE1-40579736F1DA}</a:tableStyleId>
              </a:tblPr>
              <a:tblGrid>
                <a:gridCol w="411425"/>
              </a:tblGrid>
              <a:tr h="15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00" name="Google Shape;1000;p40"/>
          <p:cNvGraphicFramePr/>
          <p:nvPr/>
        </p:nvGraphicFramePr>
        <p:xfrm>
          <a:off x="6863399" y="482115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{58EAFFC7-EDB0-443D-8FE1-40579736F1DA}</a:tableStyleId>
              </a:tblPr>
              <a:tblGrid>
                <a:gridCol w="41142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01" name="Google Shape;1001;p40"/>
          <p:cNvGraphicFramePr/>
          <p:nvPr/>
        </p:nvGraphicFramePr>
        <p:xfrm>
          <a:off x="1143000" y="51660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{58EAFFC7-EDB0-443D-8FE1-40579736F1DA}</a:tableStyleId>
              </a:tblPr>
              <a:tblGrid>
                <a:gridCol w="41142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02" name="Google Shape;1002;p40"/>
          <p:cNvGraphicFramePr/>
          <p:nvPr/>
        </p:nvGraphicFramePr>
        <p:xfrm>
          <a:off x="6400800" y="53184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{58EAFFC7-EDB0-443D-8FE1-40579736F1DA}</a:tableStyleId>
              </a:tblPr>
              <a:tblGrid>
                <a:gridCol w="41142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03" name="Google Shape;1003;p40"/>
          <p:cNvGraphicFramePr/>
          <p:nvPr/>
        </p:nvGraphicFramePr>
        <p:xfrm>
          <a:off x="1143000" y="472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{58EAFFC7-EDB0-443D-8FE1-40579736F1DA}</a:tableStyleId>
              </a:tblPr>
              <a:tblGrid>
                <a:gridCol w="41142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04" name="Google Shape;1004;p40"/>
          <p:cNvGraphicFramePr/>
          <p:nvPr/>
        </p:nvGraphicFramePr>
        <p:xfrm>
          <a:off x="6400800" y="481364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{58EAFFC7-EDB0-443D-8FE1-40579736F1DA}</a:tableStyleId>
              </a:tblPr>
              <a:tblGrid>
                <a:gridCol w="411425"/>
              </a:tblGrid>
              <a:tr h="389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05" name="Google Shape;1005;p40"/>
          <p:cNvGraphicFramePr/>
          <p:nvPr/>
        </p:nvGraphicFramePr>
        <p:xfrm>
          <a:off x="1680996" y="51808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{58EAFFC7-EDB0-443D-8FE1-40579736F1DA}</a:tableStyleId>
              </a:tblPr>
              <a:tblGrid>
                <a:gridCol w="411425"/>
              </a:tblGrid>
              <a:tr h="15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06" name="Google Shape;1006;p40"/>
          <p:cNvGraphicFramePr/>
          <p:nvPr/>
        </p:nvGraphicFramePr>
        <p:xfrm>
          <a:off x="6848651" y="53184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{58EAFFC7-EDB0-443D-8FE1-40579736F1DA}</a:tableStyleId>
              </a:tblPr>
              <a:tblGrid>
                <a:gridCol w="411425"/>
              </a:tblGrid>
              <a:tr h="15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07" name="Google Shape;1007;p40"/>
          <p:cNvGraphicFramePr/>
          <p:nvPr/>
        </p:nvGraphicFramePr>
        <p:xfrm>
          <a:off x="2203040" y="51808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{58EAFFC7-EDB0-443D-8FE1-40579736F1DA}</a:tableStyleId>
              </a:tblPr>
              <a:tblGrid>
                <a:gridCol w="411425"/>
              </a:tblGrid>
              <a:tr h="15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08" name="Google Shape;1008;p40"/>
          <p:cNvGraphicFramePr/>
          <p:nvPr/>
        </p:nvGraphicFramePr>
        <p:xfrm>
          <a:off x="7310767" y="52816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{58EAFFC7-EDB0-443D-8FE1-40579736F1DA}</a:tableStyleId>
              </a:tblPr>
              <a:tblGrid>
                <a:gridCol w="411425"/>
              </a:tblGrid>
              <a:tr h="15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09" name="Google Shape;1009;p40"/>
          <p:cNvGraphicFramePr/>
          <p:nvPr/>
        </p:nvGraphicFramePr>
        <p:xfrm>
          <a:off x="1152022" y="42344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{58EAFFC7-EDB0-443D-8FE1-40579736F1DA}</a:tableStyleId>
              </a:tblPr>
              <a:tblGrid>
                <a:gridCol w="411425"/>
              </a:tblGrid>
              <a:tr h="15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10" name="Google Shape;1010;p40"/>
          <p:cNvSpPr txBox="1"/>
          <p:nvPr/>
        </p:nvSpPr>
        <p:spPr>
          <a:xfrm>
            <a:off x="1622963" y="6013260"/>
            <a:ext cx="153383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 trận D</a:t>
            </a:r>
            <a:r>
              <a:rPr b="1" baseline="-25000"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sz="14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1" name="Google Shape;1011;p40"/>
          <p:cNvSpPr txBox="1"/>
          <p:nvPr/>
        </p:nvSpPr>
        <p:spPr>
          <a:xfrm>
            <a:off x="6243484" y="6154838"/>
            <a:ext cx="153383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 trận P</a:t>
            </a:r>
            <a:r>
              <a:rPr b="1" baseline="-25000"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sz="14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41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1018" name="Google Shape;1018;p41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9" name="Google Shape;1019;p41"/>
          <p:cNvSpPr txBox="1"/>
          <p:nvPr>
            <p:ph type="title"/>
          </p:nvPr>
        </p:nvSpPr>
        <p:spPr>
          <a:xfrm>
            <a:off x="609600" y="381000"/>
            <a:ext cx="8077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B050"/>
                </a:solidFill>
              </a:rPr>
              <a:t>Ví dụ thuật toán Floyd- Warshall (6) </a:t>
            </a:r>
            <a:endParaRPr/>
          </a:p>
        </p:txBody>
      </p:sp>
      <p:cxnSp>
        <p:nvCxnSpPr>
          <p:cNvPr id="1020" name="Google Shape;1020;p41"/>
          <p:cNvCxnSpPr>
            <a:endCxn id="1021" idx="7"/>
          </p:cNvCxnSpPr>
          <p:nvPr/>
        </p:nvCxnSpPr>
        <p:spPr>
          <a:xfrm rot="10800000">
            <a:off x="3185667" y="1890412"/>
            <a:ext cx="2744400" cy="354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22" name="Google Shape;1022;p41"/>
          <p:cNvCxnSpPr>
            <a:stCxn id="1023" idx="2"/>
            <a:endCxn id="1024" idx="7"/>
          </p:cNvCxnSpPr>
          <p:nvPr/>
        </p:nvCxnSpPr>
        <p:spPr>
          <a:xfrm flipH="1">
            <a:off x="4816606" y="1925733"/>
            <a:ext cx="1119600" cy="6375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25" name="Google Shape;1025;p41"/>
          <p:cNvCxnSpPr>
            <a:stCxn id="1026" idx="0"/>
            <a:endCxn id="1024" idx="4"/>
          </p:cNvCxnSpPr>
          <p:nvPr/>
        </p:nvCxnSpPr>
        <p:spPr>
          <a:xfrm flipH="1" rot="10800000">
            <a:off x="4040737" y="2783261"/>
            <a:ext cx="674100" cy="9465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1027" name="Google Shape;1027;p41"/>
          <p:cNvCxnSpPr>
            <a:endCxn id="1021" idx="6"/>
          </p:cNvCxnSpPr>
          <p:nvPr/>
        </p:nvCxnSpPr>
        <p:spPr>
          <a:xfrm rot="10800000">
            <a:off x="3227829" y="1981446"/>
            <a:ext cx="1360800" cy="5727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28" name="Google Shape;1028;p41"/>
          <p:cNvCxnSpPr>
            <a:stCxn id="1023" idx="4"/>
          </p:cNvCxnSpPr>
          <p:nvPr/>
        </p:nvCxnSpPr>
        <p:spPr>
          <a:xfrm flipH="1">
            <a:off x="4177556" y="2054474"/>
            <a:ext cx="1902600" cy="17907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1029" name="Google Shape;1029;p41"/>
          <p:cNvCxnSpPr>
            <a:stCxn id="1026" idx="1"/>
            <a:endCxn id="1021" idx="5"/>
          </p:cNvCxnSpPr>
          <p:nvPr/>
        </p:nvCxnSpPr>
        <p:spPr>
          <a:xfrm rot="10800000">
            <a:off x="3185649" y="2072468"/>
            <a:ext cx="753300" cy="16950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1024" name="Google Shape;1024;p41"/>
          <p:cNvSpPr/>
          <p:nvPr/>
        </p:nvSpPr>
        <p:spPr>
          <a:xfrm>
            <a:off x="4571005" y="2525662"/>
            <a:ext cx="287900" cy="257481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1021" name="Google Shape;1021;p41"/>
          <p:cNvSpPr/>
          <p:nvPr/>
        </p:nvSpPr>
        <p:spPr>
          <a:xfrm>
            <a:off x="2939929" y="1852705"/>
            <a:ext cx="287900" cy="257481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1023" name="Google Shape;1023;p41"/>
          <p:cNvSpPr/>
          <p:nvPr/>
        </p:nvSpPr>
        <p:spPr>
          <a:xfrm>
            <a:off x="5936206" y="1796993"/>
            <a:ext cx="287900" cy="257481"/>
          </a:xfrm>
          <a:prstGeom prst="ellipse">
            <a:avLst/>
          </a:prstGeom>
          <a:solidFill>
            <a:srgbClr val="00B05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1026" name="Google Shape;1026;p41"/>
          <p:cNvSpPr/>
          <p:nvPr/>
        </p:nvSpPr>
        <p:spPr>
          <a:xfrm>
            <a:off x="3896787" y="3729761"/>
            <a:ext cx="287900" cy="257481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1030" name="Google Shape;1030;p41"/>
          <p:cNvSpPr txBox="1"/>
          <p:nvPr/>
        </p:nvSpPr>
        <p:spPr>
          <a:xfrm>
            <a:off x="3734564" y="2285070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/>
          </a:p>
        </p:txBody>
      </p:sp>
      <p:sp>
        <p:nvSpPr>
          <p:cNvPr id="1031" name="Google Shape;1031;p41"/>
          <p:cNvSpPr txBox="1"/>
          <p:nvPr/>
        </p:nvSpPr>
        <p:spPr>
          <a:xfrm>
            <a:off x="5305990" y="2783143"/>
            <a:ext cx="4069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endParaRPr/>
          </a:p>
        </p:txBody>
      </p:sp>
      <p:sp>
        <p:nvSpPr>
          <p:cNvPr id="1032" name="Google Shape;1032;p41"/>
          <p:cNvSpPr txBox="1"/>
          <p:nvPr/>
        </p:nvSpPr>
        <p:spPr>
          <a:xfrm>
            <a:off x="3218113" y="2865788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/>
          </a:p>
        </p:txBody>
      </p:sp>
      <p:sp>
        <p:nvSpPr>
          <p:cNvPr id="1033" name="Google Shape;1033;p41"/>
          <p:cNvSpPr txBox="1"/>
          <p:nvPr/>
        </p:nvSpPr>
        <p:spPr>
          <a:xfrm>
            <a:off x="5062935" y="1985116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1034" name="Google Shape;1034;p41"/>
          <p:cNvSpPr txBox="1"/>
          <p:nvPr/>
        </p:nvSpPr>
        <p:spPr>
          <a:xfrm>
            <a:off x="4142372" y="2949608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1035" name="Google Shape;1035;p41"/>
          <p:cNvSpPr txBox="1"/>
          <p:nvPr/>
        </p:nvSpPr>
        <p:spPr>
          <a:xfrm>
            <a:off x="4420964" y="1246248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sp>
        <p:nvSpPr>
          <p:cNvPr id="1036" name="Google Shape;1036;p41"/>
          <p:cNvSpPr txBox="1"/>
          <p:nvPr/>
        </p:nvSpPr>
        <p:spPr>
          <a:xfrm>
            <a:off x="4438661" y="1887813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cxnSp>
        <p:nvCxnSpPr>
          <p:cNvPr id="1037" name="Google Shape;1037;p41"/>
          <p:cNvCxnSpPr>
            <a:stCxn id="1021" idx="0"/>
            <a:endCxn id="1023" idx="1"/>
          </p:cNvCxnSpPr>
          <p:nvPr/>
        </p:nvCxnSpPr>
        <p:spPr>
          <a:xfrm rot="-5400000">
            <a:off x="4522079" y="396505"/>
            <a:ext cx="18000" cy="2894400"/>
          </a:xfrm>
          <a:prstGeom prst="curvedConnector3">
            <a:avLst>
              <a:gd fmla="val 1579505" name="adj1"/>
            </a:avLst>
          </a:prstGeom>
          <a:noFill/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1038" name="Google Shape;103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3463" y="4267200"/>
            <a:ext cx="2190750" cy="1733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9" name="Google Shape;1039;p41"/>
          <p:cNvSpPr txBox="1"/>
          <p:nvPr/>
        </p:nvSpPr>
        <p:spPr>
          <a:xfrm>
            <a:off x="1057084" y="3865102"/>
            <a:ext cx="216102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1         2        3       4</a:t>
            </a:r>
            <a:endParaRPr/>
          </a:p>
        </p:txBody>
      </p:sp>
      <p:sp>
        <p:nvSpPr>
          <p:cNvPr id="1040" name="Google Shape;1040;p41"/>
          <p:cNvSpPr txBox="1"/>
          <p:nvPr/>
        </p:nvSpPr>
        <p:spPr>
          <a:xfrm>
            <a:off x="685800" y="4234434"/>
            <a:ext cx="371284" cy="18928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41" name="Google Shape;1041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0163" y="4405313"/>
            <a:ext cx="2078037" cy="1733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2" name="Google Shape;1042;p41"/>
          <p:cNvSpPr txBox="1"/>
          <p:nvPr/>
        </p:nvSpPr>
        <p:spPr>
          <a:xfrm>
            <a:off x="6477000" y="4002754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1         2        3       4</a:t>
            </a:r>
            <a:endParaRPr/>
          </a:p>
        </p:txBody>
      </p:sp>
      <p:sp>
        <p:nvSpPr>
          <p:cNvPr id="1043" name="Google Shape;1043;p41"/>
          <p:cNvSpPr txBox="1"/>
          <p:nvPr/>
        </p:nvSpPr>
        <p:spPr>
          <a:xfrm>
            <a:off x="6038464" y="4363901"/>
            <a:ext cx="371284" cy="18928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4" name="Google Shape;1044;p41"/>
          <p:cNvSpPr txBox="1"/>
          <p:nvPr/>
        </p:nvSpPr>
        <p:spPr>
          <a:xfrm>
            <a:off x="3563942" y="4173840"/>
            <a:ext cx="2372264" cy="193899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6288" l="-4111" r="0" t="-251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graphicFrame>
        <p:nvGraphicFramePr>
          <p:cNvPr id="1045" name="Google Shape;1045;p41"/>
          <p:cNvGraphicFramePr/>
          <p:nvPr/>
        </p:nvGraphicFramePr>
        <p:xfrm>
          <a:off x="2152346" y="556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{58EAFFC7-EDB0-443D-8FE1-40579736F1DA}</a:tableStyleId>
              </a:tblPr>
              <a:tblGrid>
                <a:gridCol w="411425"/>
              </a:tblGrid>
              <a:tr h="15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p42"/>
          <p:cNvSpPr txBox="1"/>
          <p:nvPr>
            <p:ph idx="11" type="ftr"/>
          </p:nvPr>
        </p:nvSpPr>
        <p:spPr>
          <a:xfrm>
            <a:off x="3048000" y="65532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1052" name="Google Shape;1052;p42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053" name="Google Shape;1053;p42"/>
          <p:cNvGrpSpPr/>
          <p:nvPr/>
        </p:nvGrpSpPr>
        <p:grpSpPr>
          <a:xfrm>
            <a:off x="2895600" y="1207464"/>
            <a:ext cx="2209800" cy="1695455"/>
            <a:chOff x="5638800" y="1066800"/>
            <a:chExt cx="2209800" cy="1695510"/>
          </a:xfrm>
        </p:grpSpPr>
        <p:cxnSp>
          <p:nvCxnSpPr>
            <p:cNvPr id="1054" name="Google Shape;1054;p42"/>
            <p:cNvCxnSpPr/>
            <p:nvPr/>
          </p:nvCxnSpPr>
          <p:spPr>
            <a:xfrm>
              <a:off x="6019800" y="1447800"/>
              <a:ext cx="1676400" cy="1588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cxnSp>
          <p:nvCxnSpPr>
            <p:cNvPr id="1055" name="Google Shape;1055;p42"/>
            <p:cNvCxnSpPr/>
            <p:nvPr/>
          </p:nvCxnSpPr>
          <p:spPr>
            <a:xfrm>
              <a:off x="6019800" y="2743200"/>
              <a:ext cx="1676400" cy="1588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cxnSp>
          <p:nvCxnSpPr>
            <p:cNvPr id="1056" name="Google Shape;1056;p42"/>
            <p:cNvCxnSpPr/>
            <p:nvPr/>
          </p:nvCxnSpPr>
          <p:spPr>
            <a:xfrm>
              <a:off x="6019800" y="1447800"/>
              <a:ext cx="1676400" cy="129540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cxnSp>
          <p:nvCxnSpPr>
            <p:cNvPr id="1057" name="Google Shape;1057;p42"/>
            <p:cNvCxnSpPr/>
            <p:nvPr/>
          </p:nvCxnSpPr>
          <p:spPr>
            <a:xfrm rot="5400000">
              <a:off x="5372100" y="2095500"/>
              <a:ext cx="1295400" cy="1588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cxnSp>
          <p:nvCxnSpPr>
            <p:cNvPr id="1058" name="Google Shape;1058;p42"/>
            <p:cNvCxnSpPr/>
            <p:nvPr/>
          </p:nvCxnSpPr>
          <p:spPr>
            <a:xfrm rot="5400000">
              <a:off x="7049294" y="2094706"/>
              <a:ext cx="1295400" cy="1588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cxnSp>
          <p:nvCxnSpPr>
            <p:cNvPr id="1059" name="Google Shape;1059;p42"/>
            <p:cNvCxnSpPr/>
            <p:nvPr/>
          </p:nvCxnSpPr>
          <p:spPr>
            <a:xfrm flipH="1" rot="10800000">
              <a:off x="6021388" y="1447800"/>
              <a:ext cx="1674812" cy="129540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1060" name="Google Shape;1060;p42"/>
            <p:cNvSpPr txBox="1"/>
            <p:nvPr/>
          </p:nvSpPr>
          <p:spPr>
            <a:xfrm>
              <a:off x="6553200" y="1066800"/>
              <a:ext cx="60960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1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1" name="Google Shape;1061;p42"/>
            <p:cNvSpPr txBox="1"/>
            <p:nvPr/>
          </p:nvSpPr>
          <p:spPr>
            <a:xfrm>
              <a:off x="5638800" y="1828800"/>
              <a:ext cx="45720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2" name="Google Shape;1062;p42"/>
            <p:cNvSpPr txBox="1"/>
            <p:nvPr/>
          </p:nvSpPr>
          <p:spPr>
            <a:xfrm>
              <a:off x="6629400" y="2362200"/>
              <a:ext cx="45720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3" name="Google Shape;1063;p42"/>
            <p:cNvSpPr txBox="1"/>
            <p:nvPr/>
          </p:nvSpPr>
          <p:spPr>
            <a:xfrm>
              <a:off x="7391400" y="1828800"/>
              <a:ext cx="45720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4" name="Google Shape;1064;p42"/>
            <p:cNvSpPr txBox="1"/>
            <p:nvPr/>
          </p:nvSpPr>
          <p:spPr>
            <a:xfrm>
              <a:off x="6096000" y="1733490"/>
              <a:ext cx="60960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1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5" name="Google Shape;1065;p42"/>
            <p:cNvSpPr txBox="1"/>
            <p:nvPr/>
          </p:nvSpPr>
          <p:spPr>
            <a:xfrm>
              <a:off x="6934200" y="1524000"/>
              <a:ext cx="45720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66" name="Google Shape;106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8351" y="3581400"/>
            <a:ext cx="2095500" cy="173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7" name="Google Shape;1067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87963" y="3581400"/>
            <a:ext cx="2366962" cy="1733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8" name="Google Shape;1068;p42"/>
          <p:cNvSpPr txBox="1"/>
          <p:nvPr/>
        </p:nvSpPr>
        <p:spPr>
          <a:xfrm>
            <a:off x="1437968" y="5594532"/>
            <a:ext cx="153383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 trận D</a:t>
            </a:r>
            <a:r>
              <a:rPr b="1" baseline="-25000"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1" sz="14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9" name="Google Shape;1069;p42"/>
          <p:cNvSpPr txBox="1"/>
          <p:nvPr>
            <p:ph type="title"/>
          </p:nvPr>
        </p:nvSpPr>
        <p:spPr>
          <a:xfrm>
            <a:off x="609600" y="381000"/>
            <a:ext cx="8077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B050"/>
                </a:solidFill>
              </a:rPr>
              <a:t>Ví dụ thuật toán Floyd- Warshall (2.1)</a:t>
            </a:r>
            <a:endParaRPr/>
          </a:p>
        </p:txBody>
      </p:sp>
      <p:sp>
        <p:nvSpPr>
          <p:cNvPr id="1070" name="Google Shape;1070;p42"/>
          <p:cNvSpPr txBox="1"/>
          <p:nvPr/>
        </p:nvSpPr>
        <p:spPr>
          <a:xfrm>
            <a:off x="5486400" y="5746932"/>
            <a:ext cx="153383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 trận P</a:t>
            </a:r>
            <a:r>
              <a:rPr b="1" baseline="-25000"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1" sz="14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1" name="Google Shape;1071;p42"/>
          <p:cNvSpPr/>
          <p:nvPr/>
        </p:nvSpPr>
        <p:spPr>
          <a:xfrm>
            <a:off x="3144734" y="1440086"/>
            <a:ext cx="228600" cy="256585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1072" name="Google Shape;1072;p42"/>
          <p:cNvSpPr/>
          <p:nvPr/>
        </p:nvSpPr>
        <p:spPr>
          <a:xfrm>
            <a:off x="4800600" y="1460159"/>
            <a:ext cx="228600" cy="256585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1073" name="Google Shape;1073;p42"/>
          <p:cNvSpPr/>
          <p:nvPr/>
        </p:nvSpPr>
        <p:spPr>
          <a:xfrm>
            <a:off x="4800600" y="2726973"/>
            <a:ext cx="228600" cy="256585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1074" name="Google Shape;1074;p42"/>
          <p:cNvSpPr/>
          <p:nvPr/>
        </p:nvSpPr>
        <p:spPr>
          <a:xfrm>
            <a:off x="3117260" y="2798729"/>
            <a:ext cx="228600" cy="256585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1075" name="Google Shape;1075;p42"/>
          <p:cNvSpPr txBox="1"/>
          <p:nvPr/>
        </p:nvSpPr>
        <p:spPr>
          <a:xfrm>
            <a:off x="1228642" y="3200400"/>
            <a:ext cx="20471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1       2        3       4</a:t>
            </a:r>
            <a:endParaRPr/>
          </a:p>
        </p:txBody>
      </p:sp>
      <p:sp>
        <p:nvSpPr>
          <p:cNvPr id="1076" name="Google Shape;1076;p42"/>
          <p:cNvSpPr txBox="1"/>
          <p:nvPr/>
        </p:nvSpPr>
        <p:spPr>
          <a:xfrm>
            <a:off x="649292" y="3569732"/>
            <a:ext cx="371284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7" name="Google Shape;1077;p42"/>
          <p:cNvSpPr txBox="1"/>
          <p:nvPr/>
        </p:nvSpPr>
        <p:spPr>
          <a:xfrm>
            <a:off x="5451234" y="3168134"/>
            <a:ext cx="20471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1       2        3       4</a:t>
            </a:r>
            <a:endParaRPr/>
          </a:p>
        </p:txBody>
      </p:sp>
      <p:sp>
        <p:nvSpPr>
          <p:cNvPr id="1078" name="Google Shape;1078;p42"/>
          <p:cNvSpPr txBox="1"/>
          <p:nvPr/>
        </p:nvSpPr>
        <p:spPr>
          <a:xfrm>
            <a:off x="4871884" y="3537466"/>
            <a:ext cx="371284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p43"/>
          <p:cNvSpPr txBox="1"/>
          <p:nvPr>
            <p:ph idx="11" type="ftr"/>
          </p:nvPr>
        </p:nvSpPr>
        <p:spPr>
          <a:xfrm>
            <a:off x="3048000" y="65532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1085" name="Google Shape;1085;p43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086" name="Google Shape;1086;p43"/>
          <p:cNvGrpSpPr/>
          <p:nvPr/>
        </p:nvGrpSpPr>
        <p:grpSpPr>
          <a:xfrm>
            <a:off x="2895600" y="1207464"/>
            <a:ext cx="2209800" cy="1695455"/>
            <a:chOff x="5638800" y="1066800"/>
            <a:chExt cx="2209800" cy="1695510"/>
          </a:xfrm>
        </p:grpSpPr>
        <p:cxnSp>
          <p:nvCxnSpPr>
            <p:cNvPr id="1087" name="Google Shape;1087;p43"/>
            <p:cNvCxnSpPr/>
            <p:nvPr/>
          </p:nvCxnSpPr>
          <p:spPr>
            <a:xfrm>
              <a:off x="6019800" y="1447800"/>
              <a:ext cx="1676400" cy="1588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cxnSp>
          <p:nvCxnSpPr>
            <p:cNvPr id="1088" name="Google Shape;1088;p43"/>
            <p:cNvCxnSpPr/>
            <p:nvPr/>
          </p:nvCxnSpPr>
          <p:spPr>
            <a:xfrm>
              <a:off x="6019800" y="2743200"/>
              <a:ext cx="1676400" cy="1588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cxnSp>
          <p:nvCxnSpPr>
            <p:cNvPr id="1089" name="Google Shape;1089;p43"/>
            <p:cNvCxnSpPr/>
            <p:nvPr/>
          </p:nvCxnSpPr>
          <p:spPr>
            <a:xfrm>
              <a:off x="6019800" y="1447800"/>
              <a:ext cx="1676400" cy="129540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cxnSp>
          <p:nvCxnSpPr>
            <p:cNvPr id="1090" name="Google Shape;1090;p43"/>
            <p:cNvCxnSpPr/>
            <p:nvPr/>
          </p:nvCxnSpPr>
          <p:spPr>
            <a:xfrm rot="5400000">
              <a:off x="5372100" y="2095500"/>
              <a:ext cx="1295400" cy="1588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cxnSp>
          <p:nvCxnSpPr>
            <p:cNvPr id="1091" name="Google Shape;1091;p43"/>
            <p:cNvCxnSpPr/>
            <p:nvPr/>
          </p:nvCxnSpPr>
          <p:spPr>
            <a:xfrm rot="5400000">
              <a:off x="7049294" y="2094706"/>
              <a:ext cx="1295400" cy="1588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cxnSp>
          <p:nvCxnSpPr>
            <p:cNvPr id="1092" name="Google Shape;1092;p43"/>
            <p:cNvCxnSpPr/>
            <p:nvPr/>
          </p:nvCxnSpPr>
          <p:spPr>
            <a:xfrm flipH="1" rot="10800000">
              <a:off x="6021388" y="1447800"/>
              <a:ext cx="1674812" cy="129540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1093" name="Google Shape;1093;p43"/>
            <p:cNvSpPr txBox="1"/>
            <p:nvPr/>
          </p:nvSpPr>
          <p:spPr>
            <a:xfrm>
              <a:off x="6553200" y="1066800"/>
              <a:ext cx="60960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1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4" name="Google Shape;1094;p43"/>
            <p:cNvSpPr txBox="1"/>
            <p:nvPr/>
          </p:nvSpPr>
          <p:spPr>
            <a:xfrm>
              <a:off x="5638800" y="1828800"/>
              <a:ext cx="45720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5" name="Google Shape;1095;p43"/>
            <p:cNvSpPr txBox="1"/>
            <p:nvPr/>
          </p:nvSpPr>
          <p:spPr>
            <a:xfrm>
              <a:off x="6629400" y="2362200"/>
              <a:ext cx="45720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p43"/>
            <p:cNvSpPr txBox="1"/>
            <p:nvPr/>
          </p:nvSpPr>
          <p:spPr>
            <a:xfrm>
              <a:off x="7391400" y="1828800"/>
              <a:ext cx="45720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p43"/>
            <p:cNvSpPr txBox="1"/>
            <p:nvPr/>
          </p:nvSpPr>
          <p:spPr>
            <a:xfrm>
              <a:off x="6096000" y="1733490"/>
              <a:ext cx="60960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1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p43"/>
            <p:cNvSpPr txBox="1"/>
            <p:nvPr/>
          </p:nvSpPr>
          <p:spPr>
            <a:xfrm>
              <a:off x="6934200" y="1524000"/>
              <a:ext cx="45720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99" name="Google Shape;1099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8351" y="3581400"/>
            <a:ext cx="2095500" cy="173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0" name="Google Shape;1100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87963" y="3581400"/>
            <a:ext cx="2366962" cy="1733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1" name="Google Shape;1101;p43"/>
          <p:cNvSpPr txBox="1"/>
          <p:nvPr>
            <p:ph type="title"/>
          </p:nvPr>
        </p:nvSpPr>
        <p:spPr>
          <a:xfrm>
            <a:off x="609600" y="381000"/>
            <a:ext cx="8077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B050"/>
                </a:solidFill>
              </a:rPr>
              <a:t>Ví dụ thuật toán Floyd- Warshall (2.2)</a:t>
            </a:r>
            <a:endParaRPr/>
          </a:p>
        </p:txBody>
      </p:sp>
      <p:sp>
        <p:nvSpPr>
          <p:cNvPr id="1102" name="Google Shape;1102;p43"/>
          <p:cNvSpPr/>
          <p:nvPr/>
        </p:nvSpPr>
        <p:spPr>
          <a:xfrm>
            <a:off x="3144734" y="1440086"/>
            <a:ext cx="228600" cy="256585"/>
          </a:xfrm>
          <a:prstGeom prst="ellipse">
            <a:avLst/>
          </a:prstGeom>
          <a:solidFill>
            <a:srgbClr val="00B05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1103" name="Google Shape;1103;p43"/>
          <p:cNvSpPr/>
          <p:nvPr/>
        </p:nvSpPr>
        <p:spPr>
          <a:xfrm>
            <a:off x="4800600" y="1460159"/>
            <a:ext cx="228600" cy="256585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1104" name="Google Shape;1104;p43"/>
          <p:cNvSpPr/>
          <p:nvPr/>
        </p:nvSpPr>
        <p:spPr>
          <a:xfrm>
            <a:off x="4800600" y="2726973"/>
            <a:ext cx="228600" cy="256585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1105" name="Google Shape;1105;p43"/>
          <p:cNvSpPr/>
          <p:nvPr/>
        </p:nvSpPr>
        <p:spPr>
          <a:xfrm>
            <a:off x="3117260" y="2798729"/>
            <a:ext cx="228600" cy="256585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1106" name="Google Shape;1106;p43"/>
          <p:cNvSpPr txBox="1"/>
          <p:nvPr/>
        </p:nvSpPr>
        <p:spPr>
          <a:xfrm>
            <a:off x="1228642" y="3200400"/>
            <a:ext cx="20471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1       2        3       4</a:t>
            </a:r>
            <a:endParaRPr/>
          </a:p>
        </p:txBody>
      </p:sp>
      <p:sp>
        <p:nvSpPr>
          <p:cNvPr id="1107" name="Google Shape;1107;p43"/>
          <p:cNvSpPr txBox="1"/>
          <p:nvPr/>
        </p:nvSpPr>
        <p:spPr>
          <a:xfrm>
            <a:off x="649292" y="3569732"/>
            <a:ext cx="371284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8" name="Google Shape;1108;p43"/>
          <p:cNvSpPr txBox="1"/>
          <p:nvPr/>
        </p:nvSpPr>
        <p:spPr>
          <a:xfrm>
            <a:off x="5451234" y="3168134"/>
            <a:ext cx="20471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1       2        3       4</a:t>
            </a:r>
            <a:endParaRPr/>
          </a:p>
        </p:txBody>
      </p:sp>
      <p:sp>
        <p:nvSpPr>
          <p:cNvPr id="1109" name="Google Shape;1109;p43"/>
          <p:cNvSpPr txBox="1"/>
          <p:nvPr/>
        </p:nvSpPr>
        <p:spPr>
          <a:xfrm>
            <a:off x="4871884" y="3537466"/>
            <a:ext cx="371284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0" name="Google Shape;1110;p43"/>
          <p:cNvSpPr txBox="1"/>
          <p:nvPr/>
        </p:nvSpPr>
        <p:spPr>
          <a:xfrm>
            <a:off x="1437968" y="5594532"/>
            <a:ext cx="153383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 trận D</a:t>
            </a:r>
            <a:r>
              <a:rPr b="1" baseline="-25000"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sz="14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1" name="Google Shape;1111;p43"/>
          <p:cNvSpPr txBox="1"/>
          <p:nvPr/>
        </p:nvSpPr>
        <p:spPr>
          <a:xfrm>
            <a:off x="5486400" y="5746932"/>
            <a:ext cx="153383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 trận P</a:t>
            </a:r>
            <a:r>
              <a:rPr b="1" baseline="-25000"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sz="14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p44"/>
          <p:cNvSpPr txBox="1"/>
          <p:nvPr>
            <p:ph idx="11" type="ftr"/>
          </p:nvPr>
        </p:nvSpPr>
        <p:spPr>
          <a:xfrm>
            <a:off x="3048000" y="65532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1118" name="Google Shape;1118;p44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119" name="Google Shape;1119;p44"/>
          <p:cNvGrpSpPr/>
          <p:nvPr/>
        </p:nvGrpSpPr>
        <p:grpSpPr>
          <a:xfrm>
            <a:off x="2895600" y="1207464"/>
            <a:ext cx="2209800" cy="1695455"/>
            <a:chOff x="5638800" y="1066800"/>
            <a:chExt cx="2209800" cy="1695510"/>
          </a:xfrm>
        </p:grpSpPr>
        <p:cxnSp>
          <p:nvCxnSpPr>
            <p:cNvPr id="1120" name="Google Shape;1120;p44"/>
            <p:cNvCxnSpPr/>
            <p:nvPr/>
          </p:nvCxnSpPr>
          <p:spPr>
            <a:xfrm>
              <a:off x="6019800" y="1447800"/>
              <a:ext cx="1676400" cy="1588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cxnSp>
          <p:nvCxnSpPr>
            <p:cNvPr id="1121" name="Google Shape;1121;p44"/>
            <p:cNvCxnSpPr/>
            <p:nvPr/>
          </p:nvCxnSpPr>
          <p:spPr>
            <a:xfrm>
              <a:off x="6019800" y="2743200"/>
              <a:ext cx="1676400" cy="1588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cxnSp>
          <p:nvCxnSpPr>
            <p:cNvPr id="1122" name="Google Shape;1122;p44"/>
            <p:cNvCxnSpPr/>
            <p:nvPr/>
          </p:nvCxnSpPr>
          <p:spPr>
            <a:xfrm>
              <a:off x="6019800" y="1447800"/>
              <a:ext cx="1676400" cy="129540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cxnSp>
          <p:nvCxnSpPr>
            <p:cNvPr id="1123" name="Google Shape;1123;p44"/>
            <p:cNvCxnSpPr/>
            <p:nvPr/>
          </p:nvCxnSpPr>
          <p:spPr>
            <a:xfrm rot="5400000">
              <a:off x="5372100" y="2095500"/>
              <a:ext cx="1295400" cy="1588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cxnSp>
          <p:nvCxnSpPr>
            <p:cNvPr id="1124" name="Google Shape;1124;p44"/>
            <p:cNvCxnSpPr/>
            <p:nvPr/>
          </p:nvCxnSpPr>
          <p:spPr>
            <a:xfrm rot="5400000">
              <a:off x="7049294" y="2094706"/>
              <a:ext cx="1295400" cy="1588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cxnSp>
          <p:nvCxnSpPr>
            <p:cNvPr id="1125" name="Google Shape;1125;p44"/>
            <p:cNvCxnSpPr/>
            <p:nvPr/>
          </p:nvCxnSpPr>
          <p:spPr>
            <a:xfrm flipH="1" rot="10800000">
              <a:off x="6021388" y="1447800"/>
              <a:ext cx="1674812" cy="129540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1126" name="Google Shape;1126;p44"/>
            <p:cNvSpPr txBox="1"/>
            <p:nvPr/>
          </p:nvSpPr>
          <p:spPr>
            <a:xfrm>
              <a:off x="6553200" y="1066800"/>
              <a:ext cx="60960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1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7" name="Google Shape;1127;p44"/>
            <p:cNvSpPr txBox="1"/>
            <p:nvPr/>
          </p:nvSpPr>
          <p:spPr>
            <a:xfrm>
              <a:off x="5638800" y="1828800"/>
              <a:ext cx="45720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8" name="Google Shape;1128;p44"/>
            <p:cNvSpPr txBox="1"/>
            <p:nvPr/>
          </p:nvSpPr>
          <p:spPr>
            <a:xfrm>
              <a:off x="6629400" y="2362200"/>
              <a:ext cx="45720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9" name="Google Shape;1129;p44"/>
            <p:cNvSpPr txBox="1"/>
            <p:nvPr/>
          </p:nvSpPr>
          <p:spPr>
            <a:xfrm>
              <a:off x="7391400" y="1828800"/>
              <a:ext cx="45720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0" name="Google Shape;1130;p44"/>
            <p:cNvSpPr txBox="1"/>
            <p:nvPr/>
          </p:nvSpPr>
          <p:spPr>
            <a:xfrm>
              <a:off x="6096000" y="1733490"/>
              <a:ext cx="60960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1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1" name="Google Shape;1131;p44"/>
            <p:cNvSpPr txBox="1"/>
            <p:nvPr/>
          </p:nvSpPr>
          <p:spPr>
            <a:xfrm>
              <a:off x="6934200" y="1524000"/>
              <a:ext cx="45720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132" name="Google Shape;1132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8351" y="3581400"/>
            <a:ext cx="2095500" cy="173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3" name="Google Shape;1133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87963" y="3581400"/>
            <a:ext cx="2366962" cy="1733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4" name="Google Shape;1134;p44"/>
          <p:cNvSpPr txBox="1"/>
          <p:nvPr>
            <p:ph type="title"/>
          </p:nvPr>
        </p:nvSpPr>
        <p:spPr>
          <a:xfrm>
            <a:off x="609600" y="381000"/>
            <a:ext cx="8077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B050"/>
                </a:solidFill>
              </a:rPr>
              <a:t>Ví dụ thuật toán Floyd- Warshall(2.3)</a:t>
            </a:r>
            <a:endParaRPr/>
          </a:p>
        </p:txBody>
      </p:sp>
      <p:sp>
        <p:nvSpPr>
          <p:cNvPr id="1135" name="Google Shape;1135;p44"/>
          <p:cNvSpPr/>
          <p:nvPr/>
        </p:nvSpPr>
        <p:spPr>
          <a:xfrm>
            <a:off x="3144734" y="1440086"/>
            <a:ext cx="228600" cy="256585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1136" name="Google Shape;1136;p44"/>
          <p:cNvSpPr/>
          <p:nvPr/>
        </p:nvSpPr>
        <p:spPr>
          <a:xfrm>
            <a:off x="4800600" y="1460159"/>
            <a:ext cx="228600" cy="256585"/>
          </a:xfrm>
          <a:prstGeom prst="ellipse">
            <a:avLst/>
          </a:prstGeom>
          <a:solidFill>
            <a:srgbClr val="00B05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1137" name="Google Shape;1137;p44"/>
          <p:cNvSpPr/>
          <p:nvPr/>
        </p:nvSpPr>
        <p:spPr>
          <a:xfrm>
            <a:off x="4800600" y="2726973"/>
            <a:ext cx="228600" cy="256585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1138" name="Google Shape;1138;p44"/>
          <p:cNvSpPr/>
          <p:nvPr/>
        </p:nvSpPr>
        <p:spPr>
          <a:xfrm>
            <a:off x="3117260" y="2798729"/>
            <a:ext cx="228600" cy="256585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1139" name="Google Shape;1139;p44"/>
          <p:cNvSpPr txBox="1"/>
          <p:nvPr/>
        </p:nvSpPr>
        <p:spPr>
          <a:xfrm>
            <a:off x="1228642" y="3200400"/>
            <a:ext cx="20471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1       2        3       4</a:t>
            </a:r>
            <a:endParaRPr/>
          </a:p>
        </p:txBody>
      </p:sp>
      <p:sp>
        <p:nvSpPr>
          <p:cNvPr id="1140" name="Google Shape;1140;p44"/>
          <p:cNvSpPr txBox="1"/>
          <p:nvPr/>
        </p:nvSpPr>
        <p:spPr>
          <a:xfrm>
            <a:off x="649292" y="3569732"/>
            <a:ext cx="371284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1" name="Google Shape;1141;p44"/>
          <p:cNvSpPr txBox="1"/>
          <p:nvPr/>
        </p:nvSpPr>
        <p:spPr>
          <a:xfrm>
            <a:off x="5451234" y="3168134"/>
            <a:ext cx="20471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1       2        3       4</a:t>
            </a:r>
            <a:endParaRPr/>
          </a:p>
        </p:txBody>
      </p:sp>
      <p:sp>
        <p:nvSpPr>
          <p:cNvPr id="1142" name="Google Shape;1142;p44"/>
          <p:cNvSpPr txBox="1"/>
          <p:nvPr/>
        </p:nvSpPr>
        <p:spPr>
          <a:xfrm>
            <a:off x="4871884" y="3537466"/>
            <a:ext cx="371284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3" name="Google Shape;1143;p44"/>
          <p:cNvSpPr txBox="1"/>
          <p:nvPr/>
        </p:nvSpPr>
        <p:spPr>
          <a:xfrm>
            <a:off x="1514168" y="5546877"/>
            <a:ext cx="153383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 trận D</a:t>
            </a:r>
            <a:r>
              <a:rPr b="1" baseline="-25000"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sz="14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4" name="Google Shape;1144;p44"/>
          <p:cNvSpPr txBox="1"/>
          <p:nvPr/>
        </p:nvSpPr>
        <p:spPr>
          <a:xfrm>
            <a:off x="5486400" y="5746932"/>
            <a:ext cx="153383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 trận P</a:t>
            </a:r>
            <a:r>
              <a:rPr b="1" baseline="-25000"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sz="14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p45"/>
          <p:cNvSpPr txBox="1"/>
          <p:nvPr>
            <p:ph idx="11" type="ftr"/>
          </p:nvPr>
        </p:nvSpPr>
        <p:spPr>
          <a:xfrm>
            <a:off x="3048000" y="65532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1151" name="Google Shape;1151;p45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152" name="Google Shape;1152;p45"/>
          <p:cNvGrpSpPr/>
          <p:nvPr/>
        </p:nvGrpSpPr>
        <p:grpSpPr>
          <a:xfrm>
            <a:off x="2895600" y="1207464"/>
            <a:ext cx="2209800" cy="1695455"/>
            <a:chOff x="5638800" y="1066800"/>
            <a:chExt cx="2209800" cy="1695510"/>
          </a:xfrm>
        </p:grpSpPr>
        <p:cxnSp>
          <p:nvCxnSpPr>
            <p:cNvPr id="1153" name="Google Shape;1153;p45"/>
            <p:cNvCxnSpPr/>
            <p:nvPr/>
          </p:nvCxnSpPr>
          <p:spPr>
            <a:xfrm>
              <a:off x="6019800" y="1447800"/>
              <a:ext cx="1676400" cy="1588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cxnSp>
          <p:nvCxnSpPr>
            <p:cNvPr id="1154" name="Google Shape;1154;p45"/>
            <p:cNvCxnSpPr/>
            <p:nvPr/>
          </p:nvCxnSpPr>
          <p:spPr>
            <a:xfrm>
              <a:off x="6019800" y="2743200"/>
              <a:ext cx="1676400" cy="1588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cxnSp>
          <p:nvCxnSpPr>
            <p:cNvPr id="1155" name="Google Shape;1155;p45"/>
            <p:cNvCxnSpPr/>
            <p:nvPr/>
          </p:nvCxnSpPr>
          <p:spPr>
            <a:xfrm>
              <a:off x="6019800" y="1447800"/>
              <a:ext cx="1676400" cy="129540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cxnSp>
          <p:nvCxnSpPr>
            <p:cNvPr id="1156" name="Google Shape;1156;p45"/>
            <p:cNvCxnSpPr/>
            <p:nvPr/>
          </p:nvCxnSpPr>
          <p:spPr>
            <a:xfrm rot="5400000">
              <a:off x="5372100" y="2095500"/>
              <a:ext cx="1295400" cy="1588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cxnSp>
          <p:nvCxnSpPr>
            <p:cNvPr id="1157" name="Google Shape;1157;p45"/>
            <p:cNvCxnSpPr/>
            <p:nvPr/>
          </p:nvCxnSpPr>
          <p:spPr>
            <a:xfrm rot="5400000">
              <a:off x="7049294" y="2094706"/>
              <a:ext cx="1295400" cy="1588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cxnSp>
          <p:nvCxnSpPr>
            <p:cNvPr id="1158" name="Google Shape;1158;p45"/>
            <p:cNvCxnSpPr/>
            <p:nvPr/>
          </p:nvCxnSpPr>
          <p:spPr>
            <a:xfrm flipH="1" rot="10800000">
              <a:off x="6021388" y="1447800"/>
              <a:ext cx="1674812" cy="129540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1159" name="Google Shape;1159;p45"/>
            <p:cNvSpPr txBox="1"/>
            <p:nvPr/>
          </p:nvSpPr>
          <p:spPr>
            <a:xfrm>
              <a:off x="6553200" y="1066800"/>
              <a:ext cx="60960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1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0" name="Google Shape;1160;p45"/>
            <p:cNvSpPr txBox="1"/>
            <p:nvPr/>
          </p:nvSpPr>
          <p:spPr>
            <a:xfrm>
              <a:off x="5638800" y="1828800"/>
              <a:ext cx="45720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1" name="Google Shape;1161;p45"/>
            <p:cNvSpPr txBox="1"/>
            <p:nvPr/>
          </p:nvSpPr>
          <p:spPr>
            <a:xfrm>
              <a:off x="6629400" y="2362200"/>
              <a:ext cx="45720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2" name="Google Shape;1162;p45"/>
            <p:cNvSpPr txBox="1"/>
            <p:nvPr/>
          </p:nvSpPr>
          <p:spPr>
            <a:xfrm>
              <a:off x="7391400" y="1828800"/>
              <a:ext cx="45720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3" name="Google Shape;1163;p45"/>
            <p:cNvSpPr txBox="1"/>
            <p:nvPr/>
          </p:nvSpPr>
          <p:spPr>
            <a:xfrm>
              <a:off x="6096000" y="1733490"/>
              <a:ext cx="60960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1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4" name="Google Shape;1164;p45"/>
            <p:cNvSpPr txBox="1"/>
            <p:nvPr/>
          </p:nvSpPr>
          <p:spPr>
            <a:xfrm>
              <a:off x="6934200" y="1524000"/>
              <a:ext cx="45720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165" name="Google Shape;1165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8351" y="3581400"/>
            <a:ext cx="2095500" cy="173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6" name="Google Shape;1166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87963" y="3581400"/>
            <a:ext cx="2366962" cy="1733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7" name="Google Shape;1167;p45"/>
          <p:cNvSpPr txBox="1"/>
          <p:nvPr>
            <p:ph type="title"/>
          </p:nvPr>
        </p:nvSpPr>
        <p:spPr>
          <a:xfrm>
            <a:off x="609600" y="381000"/>
            <a:ext cx="8077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B050"/>
                </a:solidFill>
              </a:rPr>
              <a:t>Ví dụ thuật toán Floyd- Warshall(2.4)</a:t>
            </a:r>
            <a:endParaRPr/>
          </a:p>
        </p:txBody>
      </p:sp>
      <p:sp>
        <p:nvSpPr>
          <p:cNvPr id="1168" name="Google Shape;1168;p45"/>
          <p:cNvSpPr/>
          <p:nvPr/>
        </p:nvSpPr>
        <p:spPr>
          <a:xfrm>
            <a:off x="3144734" y="1440086"/>
            <a:ext cx="228600" cy="256585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1169" name="Google Shape;1169;p45"/>
          <p:cNvSpPr/>
          <p:nvPr/>
        </p:nvSpPr>
        <p:spPr>
          <a:xfrm>
            <a:off x="4800600" y="1460159"/>
            <a:ext cx="228600" cy="256585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1170" name="Google Shape;1170;p45"/>
          <p:cNvSpPr/>
          <p:nvPr/>
        </p:nvSpPr>
        <p:spPr>
          <a:xfrm>
            <a:off x="4800600" y="2726973"/>
            <a:ext cx="228600" cy="256585"/>
          </a:xfrm>
          <a:prstGeom prst="ellipse">
            <a:avLst/>
          </a:prstGeom>
          <a:solidFill>
            <a:srgbClr val="00B05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1171" name="Google Shape;1171;p45"/>
          <p:cNvSpPr/>
          <p:nvPr/>
        </p:nvSpPr>
        <p:spPr>
          <a:xfrm>
            <a:off x="3117260" y="2798729"/>
            <a:ext cx="228600" cy="256585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1172" name="Google Shape;1172;p45"/>
          <p:cNvSpPr txBox="1"/>
          <p:nvPr/>
        </p:nvSpPr>
        <p:spPr>
          <a:xfrm>
            <a:off x="1228642" y="3200400"/>
            <a:ext cx="20471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1       2        3       4</a:t>
            </a:r>
            <a:endParaRPr/>
          </a:p>
        </p:txBody>
      </p:sp>
      <p:sp>
        <p:nvSpPr>
          <p:cNvPr id="1173" name="Google Shape;1173;p45"/>
          <p:cNvSpPr txBox="1"/>
          <p:nvPr/>
        </p:nvSpPr>
        <p:spPr>
          <a:xfrm>
            <a:off x="649292" y="3569732"/>
            <a:ext cx="371284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4" name="Google Shape;1174;p45"/>
          <p:cNvSpPr txBox="1"/>
          <p:nvPr/>
        </p:nvSpPr>
        <p:spPr>
          <a:xfrm>
            <a:off x="5451234" y="3168134"/>
            <a:ext cx="20471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1       2        3       4</a:t>
            </a:r>
            <a:endParaRPr/>
          </a:p>
        </p:txBody>
      </p:sp>
      <p:sp>
        <p:nvSpPr>
          <p:cNvPr id="1175" name="Google Shape;1175;p45"/>
          <p:cNvSpPr txBox="1"/>
          <p:nvPr/>
        </p:nvSpPr>
        <p:spPr>
          <a:xfrm>
            <a:off x="4871884" y="3537466"/>
            <a:ext cx="371284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6" name="Google Shape;1176;p45"/>
          <p:cNvSpPr txBox="1"/>
          <p:nvPr/>
        </p:nvSpPr>
        <p:spPr>
          <a:xfrm>
            <a:off x="1437968" y="5594532"/>
            <a:ext cx="153383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 trận D</a:t>
            </a:r>
            <a:r>
              <a:rPr b="1" baseline="-25000"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sz="14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Google Shape;1177;p45"/>
          <p:cNvSpPr txBox="1"/>
          <p:nvPr/>
        </p:nvSpPr>
        <p:spPr>
          <a:xfrm>
            <a:off x="5486400" y="5746932"/>
            <a:ext cx="153383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 trận P</a:t>
            </a:r>
            <a:r>
              <a:rPr b="1" baseline="-25000"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sz="14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p46"/>
          <p:cNvSpPr txBox="1"/>
          <p:nvPr>
            <p:ph idx="11" type="ftr"/>
          </p:nvPr>
        </p:nvSpPr>
        <p:spPr>
          <a:xfrm>
            <a:off x="3048000" y="65532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1184" name="Google Shape;1184;p46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185" name="Google Shape;1185;p46"/>
          <p:cNvGrpSpPr/>
          <p:nvPr/>
        </p:nvGrpSpPr>
        <p:grpSpPr>
          <a:xfrm>
            <a:off x="2895600" y="1207464"/>
            <a:ext cx="2209800" cy="1695455"/>
            <a:chOff x="5638800" y="1066800"/>
            <a:chExt cx="2209800" cy="1695510"/>
          </a:xfrm>
        </p:grpSpPr>
        <p:cxnSp>
          <p:nvCxnSpPr>
            <p:cNvPr id="1186" name="Google Shape;1186;p46"/>
            <p:cNvCxnSpPr/>
            <p:nvPr/>
          </p:nvCxnSpPr>
          <p:spPr>
            <a:xfrm>
              <a:off x="6019800" y="1447800"/>
              <a:ext cx="1676400" cy="1588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cxnSp>
          <p:nvCxnSpPr>
            <p:cNvPr id="1187" name="Google Shape;1187;p46"/>
            <p:cNvCxnSpPr/>
            <p:nvPr/>
          </p:nvCxnSpPr>
          <p:spPr>
            <a:xfrm>
              <a:off x="6019800" y="2743200"/>
              <a:ext cx="1676400" cy="1588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cxnSp>
          <p:nvCxnSpPr>
            <p:cNvPr id="1188" name="Google Shape;1188;p46"/>
            <p:cNvCxnSpPr/>
            <p:nvPr/>
          </p:nvCxnSpPr>
          <p:spPr>
            <a:xfrm>
              <a:off x="6019800" y="1447800"/>
              <a:ext cx="1676400" cy="129540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cxnSp>
          <p:nvCxnSpPr>
            <p:cNvPr id="1189" name="Google Shape;1189;p46"/>
            <p:cNvCxnSpPr/>
            <p:nvPr/>
          </p:nvCxnSpPr>
          <p:spPr>
            <a:xfrm rot="5400000">
              <a:off x="5372100" y="2095500"/>
              <a:ext cx="1295400" cy="1588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cxnSp>
          <p:nvCxnSpPr>
            <p:cNvPr id="1190" name="Google Shape;1190;p46"/>
            <p:cNvCxnSpPr/>
            <p:nvPr/>
          </p:nvCxnSpPr>
          <p:spPr>
            <a:xfrm rot="5400000">
              <a:off x="7049294" y="2094706"/>
              <a:ext cx="1295400" cy="1588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cxnSp>
          <p:nvCxnSpPr>
            <p:cNvPr id="1191" name="Google Shape;1191;p46"/>
            <p:cNvCxnSpPr/>
            <p:nvPr/>
          </p:nvCxnSpPr>
          <p:spPr>
            <a:xfrm flipH="1" rot="10800000">
              <a:off x="6021388" y="1447800"/>
              <a:ext cx="1674812" cy="129540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1192" name="Google Shape;1192;p46"/>
            <p:cNvSpPr txBox="1"/>
            <p:nvPr/>
          </p:nvSpPr>
          <p:spPr>
            <a:xfrm>
              <a:off x="6553200" y="1066800"/>
              <a:ext cx="60960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1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3" name="Google Shape;1193;p46"/>
            <p:cNvSpPr txBox="1"/>
            <p:nvPr/>
          </p:nvSpPr>
          <p:spPr>
            <a:xfrm>
              <a:off x="5638800" y="1828800"/>
              <a:ext cx="45720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4" name="Google Shape;1194;p46"/>
            <p:cNvSpPr txBox="1"/>
            <p:nvPr/>
          </p:nvSpPr>
          <p:spPr>
            <a:xfrm>
              <a:off x="6629400" y="2362200"/>
              <a:ext cx="45720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5" name="Google Shape;1195;p46"/>
            <p:cNvSpPr txBox="1"/>
            <p:nvPr/>
          </p:nvSpPr>
          <p:spPr>
            <a:xfrm>
              <a:off x="7391400" y="1828800"/>
              <a:ext cx="45720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6" name="Google Shape;1196;p46"/>
            <p:cNvSpPr txBox="1"/>
            <p:nvPr/>
          </p:nvSpPr>
          <p:spPr>
            <a:xfrm>
              <a:off x="6096000" y="1733490"/>
              <a:ext cx="60960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1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7" name="Google Shape;1197;p46"/>
            <p:cNvSpPr txBox="1"/>
            <p:nvPr/>
          </p:nvSpPr>
          <p:spPr>
            <a:xfrm>
              <a:off x="6934200" y="1524000"/>
              <a:ext cx="45720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198" name="Google Shape;119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5388" y="3581400"/>
            <a:ext cx="1998662" cy="173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9" name="Google Shape;1199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87963" y="3581400"/>
            <a:ext cx="2366962" cy="17335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0" name="Google Shape;1200;p46"/>
          <p:cNvSpPr txBox="1"/>
          <p:nvPr>
            <p:ph type="title"/>
          </p:nvPr>
        </p:nvSpPr>
        <p:spPr>
          <a:xfrm>
            <a:off x="609600" y="381000"/>
            <a:ext cx="8077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B050"/>
                </a:solidFill>
              </a:rPr>
              <a:t>Ví dụ thuật toán Floyd- Warshall(2.5)</a:t>
            </a:r>
            <a:endParaRPr/>
          </a:p>
        </p:txBody>
      </p:sp>
      <p:sp>
        <p:nvSpPr>
          <p:cNvPr id="1201" name="Google Shape;1201;p46"/>
          <p:cNvSpPr/>
          <p:nvPr/>
        </p:nvSpPr>
        <p:spPr>
          <a:xfrm>
            <a:off x="3144734" y="1440086"/>
            <a:ext cx="228600" cy="256585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1202" name="Google Shape;1202;p46"/>
          <p:cNvSpPr/>
          <p:nvPr/>
        </p:nvSpPr>
        <p:spPr>
          <a:xfrm>
            <a:off x="4800600" y="1460159"/>
            <a:ext cx="228600" cy="256585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1203" name="Google Shape;1203;p46"/>
          <p:cNvSpPr/>
          <p:nvPr/>
        </p:nvSpPr>
        <p:spPr>
          <a:xfrm>
            <a:off x="4800600" y="2726973"/>
            <a:ext cx="228600" cy="256585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1204" name="Google Shape;1204;p46"/>
          <p:cNvSpPr/>
          <p:nvPr/>
        </p:nvSpPr>
        <p:spPr>
          <a:xfrm>
            <a:off x="3117260" y="2798729"/>
            <a:ext cx="228600" cy="256585"/>
          </a:xfrm>
          <a:prstGeom prst="ellipse">
            <a:avLst/>
          </a:prstGeom>
          <a:solidFill>
            <a:srgbClr val="00B05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1205" name="Google Shape;1205;p46"/>
          <p:cNvSpPr txBox="1"/>
          <p:nvPr/>
        </p:nvSpPr>
        <p:spPr>
          <a:xfrm>
            <a:off x="1228642" y="3200400"/>
            <a:ext cx="20471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1       2        3       4</a:t>
            </a:r>
            <a:endParaRPr/>
          </a:p>
        </p:txBody>
      </p:sp>
      <p:sp>
        <p:nvSpPr>
          <p:cNvPr id="1206" name="Google Shape;1206;p46"/>
          <p:cNvSpPr txBox="1"/>
          <p:nvPr/>
        </p:nvSpPr>
        <p:spPr>
          <a:xfrm>
            <a:off x="649292" y="3569732"/>
            <a:ext cx="371284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7" name="Google Shape;1207;p46"/>
          <p:cNvSpPr txBox="1"/>
          <p:nvPr/>
        </p:nvSpPr>
        <p:spPr>
          <a:xfrm>
            <a:off x="5451234" y="3168134"/>
            <a:ext cx="2321166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1       2        3       4</a:t>
            </a:r>
            <a:endParaRPr/>
          </a:p>
        </p:txBody>
      </p:sp>
      <p:sp>
        <p:nvSpPr>
          <p:cNvPr id="1208" name="Google Shape;1208;p46"/>
          <p:cNvSpPr txBox="1"/>
          <p:nvPr/>
        </p:nvSpPr>
        <p:spPr>
          <a:xfrm>
            <a:off x="4871884" y="3537466"/>
            <a:ext cx="371284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209" name="Google Shape;1209;p46"/>
          <p:cNvGraphicFramePr/>
          <p:nvPr/>
        </p:nvGraphicFramePr>
        <p:xfrm>
          <a:off x="1401097" y="396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{58EAFFC7-EDB0-443D-8FE1-40579736F1DA}</a:tableStyleId>
              </a:tblPr>
              <a:tblGrid>
                <a:gridCol w="27530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10" name="Google Shape;1210;p46"/>
          <p:cNvGraphicFramePr/>
          <p:nvPr/>
        </p:nvGraphicFramePr>
        <p:xfrm>
          <a:off x="1828800" y="353992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{58EAFFC7-EDB0-443D-8FE1-40579736F1DA}</a:tableStyleId>
              </a:tblPr>
              <a:tblGrid>
                <a:gridCol w="762000"/>
              </a:tblGrid>
              <a:tr h="34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11" name="Google Shape;1211;p46"/>
          <p:cNvGraphicFramePr/>
          <p:nvPr/>
        </p:nvGraphicFramePr>
        <p:xfrm>
          <a:off x="6096000" y="36028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{58EAFFC7-EDB0-443D-8FE1-40579736F1DA}</a:tableStyleId>
              </a:tblPr>
              <a:tblGrid>
                <a:gridCol w="762000"/>
              </a:tblGrid>
              <a:tr h="34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12" name="Google Shape;1212;p46"/>
          <p:cNvGraphicFramePr/>
          <p:nvPr/>
        </p:nvGraphicFramePr>
        <p:xfrm>
          <a:off x="1371600" y="44652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{58EAFFC7-EDB0-443D-8FE1-40579736F1DA}</a:tableStyleId>
              </a:tblPr>
              <a:tblGrid>
                <a:gridCol w="762000"/>
              </a:tblGrid>
              <a:tr h="34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13" name="Google Shape;1213;p46"/>
          <p:cNvGraphicFramePr/>
          <p:nvPr/>
        </p:nvGraphicFramePr>
        <p:xfrm>
          <a:off x="2289094" y="40639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{58EAFFC7-EDB0-443D-8FE1-40579736F1DA}</a:tableStyleId>
              </a:tblPr>
              <a:tblGrid>
                <a:gridCol w="27530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14" name="Google Shape;1214;p46"/>
          <p:cNvGraphicFramePr/>
          <p:nvPr/>
        </p:nvGraphicFramePr>
        <p:xfrm>
          <a:off x="5485647" y="407867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{58EAFFC7-EDB0-443D-8FE1-40579736F1DA}</a:tableStyleId>
              </a:tblPr>
              <a:tblGrid>
                <a:gridCol w="27530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15" name="Google Shape;1215;p46"/>
          <p:cNvGraphicFramePr/>
          <p:nvPr/>
        </p:nvGraphicFramePr>
        <p:xfrm>
          <a:off x="6611817" y="40488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{58EAFFC7-EDB0-443D-8FE1-40579736F1DA}</a:tableStyleId>
              </a:tblPr>
              <a:tblGrid>
                <a:gridCol w="27530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16" name="Google Shape;1216;p46"/>
          <p:cNvGraphicFramePr/>
          <p:nvPr/>
        </p:nvGraphicFramePr>
        <p:xfrm>
          <a:off x="5480731" y="44468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{58EAFFC7-EDB0-443D-8FE1-40579736F1DA}</a:tableStyleId>
              </a:tblPr>
              <a:tblGrid>
                <a:gridCol w="762000"/>
              </a:tblGrid>
              <a:tr h="34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17" name="Google Shape;1217;p46"/>
          <p:cNvSpPr txBox="1"/>
          <p:nvPr/>
        </p:nvSpPr>
        <p:spPr>
          <a:xfrm>
            <a:off x="1437968" y="5594532"/>
            <a:ext cx="153383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 trận D</a:t>
            </a:r>
            <a:r>
              <a:rPr b="1" baseline="-25000"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sz="14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8" name="Google Shape;1218;p46"/>
          <p:cNvSpPr txBox="1"/>
          <p:nvPr/>
        </p:nvSpPr>
        <p:spPr>
          <a:xfrm>
            <a:off x="5486400" y="5746932"/>
            <a:ext cx="153383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 trận P</a:t>
            </a:r>
            <a:r>
              <a:rPr b="1" baseline="-25000"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sz="14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p47"/>
          <p:cNvSpPr txBox="1"/>
          <p:nvPr>
            <p:ph idx="11" type="ftr"/>
          </p:nvPr>
        </p:nvSpPr>
        <p:spPr>
          <a:xfrm>
            <a:off x="3048000" y="65532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1225" name="Google Shape;1225;p47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226" name="Google Shape;1226;p47"/>
          <p:cNvGrpSpPr/>
          <p:nvPr/>
        </p:nvGrpSpPr>
        <p:grpSpPr>
          <a:xfrm>
            <a:off x="2895600" y="1207464"/>
            <a:ext cx="2209800" cy="1695455"/>
            <a:chOff x="5638800" y="1066800"/>
            <a:chExt cx="2209800" cy="1695510"/>
          </a:xfrm>
        </p:grpSpPr>
        <p:cxnSp>
          <p:nvCxnSpPr>
            <p:cNvPr id="1227" name="Google Shape;1227;p47"/>
            <p:cNvCxnSpPr/>
            <p:nvPr/>
          </p:nvCxnSpPr>
          <p:spPr>
            <a:xfrm>
              <a:off x="6019800" y="1447800"/>
              <a:ext cx="1676400" cy="1588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cxnSp>
          <p:nvCxnSpPr>
            <p:cNvPr id="1228" name="Google Shape;1228;p47"/>
            <p:cNvCxnSpPr/>
            <p:nvPr/>
          </p:nvCxnSpPr>
          <p:spPr>
            <a:xfrm>
              <a:off x="6019800" y="2743200"/>
              <a:ext cx="1676400" cy="1588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cxnSp>
          <p:nvCxnSpPr>
            <p:cNvPr id="1229" name="Google Shape;1229;p47"/>
            <p:cNvCxnSpPr/>
            <p:nvPr/>
          </p:nvCxnSpPr>
          <p:spPr>
            <a:xfrm>
              <a:off x="6019800" y="1447800"/>
              <a:ext cx="1676400" cy="129540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cxnSp>
          <p:nvCxnSpPr>
            <p:cNvPr id="1230" name="Google Shape;1230;p47"/>
            <p:cNvCxnSpPr/>
            <p:nvPr/>
          </p:nvCxnSpPr>
          <p:spPr>
            <a:xfrm rot="5400000">
              <a:off x="5372100" y="2095500"/>
              <a:ext cx="1295400" cy="1588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cxnSp>
          <p:nvCxnSpPr>
            <p:cNvPr id="1231" name="Google Shape;1231;p47"/>
            <p:cNvCxnSpPr/>
            <p:nvPr/>
          </p:nvCxnSpPr>
          <p:spPr>
            <a:xfrm rot="5400000">
              <a:off x="7049294" y="2094706"/>
              <a:ext cx="1295400" cy="1588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cxnSp>
          <p:nvCxnSpPr>
            <p:cNvPr id="1232" name="Google Shape;1232;p47"/>
            <p:cNvCxnSpPr/>
            <p:nvPr/>
          </p:nvCxnSpPr>
          <p:spPr>
            <a:xfrm flipH="1" rot="10800000">
              <a:off x="6021388" y="1447800"/>
              <a:ext cx="1674812" cy="129540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1233" name="Google Shape;1233;p47"/>
            <p:cNvSpPr txBox="1"/>
            <p:nvPr/>
          </p:nvSpPr>
          <p:spPr>
            <a:xfrm>
              <a:off x="6553200" y="1066800"/>
              <a:ext cx="60960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1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4" name="Google Shape;1234;p47"/>
            <p:cNvSpPr txBox="1"/>
            <p:nvPr/>
          </p:nvSpPr>
          <p:spPr>
            <a:xfrm>
              <a:off x="5638800" y="1828800"/>
              <a:ext cx="45720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5" name="Google Shape;1235;p47"/>
            <p:cNvSpPr txBox="1"/>
            <p:nvPr/>
          </p:nvSpPr>
          <p:spPr>
            <a:xfrm>
              <a:off x="6629400" y="2362200"/>
              <a:ext cx="45720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6" name="Google Shape;1236;p47"/>
            <p:cNvSpPr txBox="1"/>
            <p:nvPr/>
          </p:nvSpPr>
          <p:spPr>
            <a:xfrm>
              <a:off x="7391400" y="1828800"/>
              <a:ext cx="45720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7" name="Google Shape;1237;p47"/>
            <p:cNvSpPr txBox="1"/>
            <p:nvPr/>
          </p:nvSpPr>
          <p:spPr>
            <a:xfrm>
              <a:off x="6096000" y="1733490"/>
              <a:ext cx="60960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1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8" name="Google Shape;1238;p47"/>
            <p:cNvSpPr txBox="1"/>
            <p:nvPr/>
          </p:nvSpPr>
          <p:spPr>
            <a:xfrm>
              <a:off x="6934200" y="1524000"/>
              <a:ext cx="45720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239" name="Google Shape;1239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5388" y="3581400"/>
            <a:ext cx="1998662" cy="173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0" name="Google Shape;1240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87963" y="3581400"/>
            <a:ext cx="2366962" cy="17335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1" name="Google Shape;1241;p47"/>
          <p:cNvSpPr txBox="1"/>
          <p:nvPr>
            <p:ph type="title"/>
          </p:nvPr>
        </p:nvSpPr>
        <p:spPr>
          <a:xfrm>
            <a:off x="609600" y="381000"/>
            <a:ext cx="8077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B050"/>
                </a:solidFill>
              </a:rPr>
              <a:t>Ví dụ thuật toán Floyd- Warshall(2.6)</a:t>
            </a:r>
            <a:endParaRPr/>
          </a:p>
        </p:txBody>
      </p:sp>
      <p:sp>
        <p:nvSpPr>
          <p:cNvPr id="1242" name="Google Shape;1242;p47"/>
          <p:cNvSpPr/>
          <p:nvPr/>
        </p:nvSpPr>
        <p:spPr>
          <a:xfrm>
            <a:off x="3144734" y="1440086"/>
            <a:ext cx="228600" cy="256585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1243" name="Google Shape;1243;p47"/>
          <p:cNvSpPr/>
          <p:nvPr/>
        </p:nvSpPr>
        <p:spPr>
          <a:xfrm>
            <a:off x="4800600" y="1460159"/>
            <a:ext cx="228600" cy="256585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1244" name="Google Shape;1244;p47"/>
          <p:cNvSpPr/>
          <p:nvPr/>
        </p:nvSpPr>
        <p:spPr>
          <a:xfrm>
            <a:off x="4800600" y="2726973"/>
            <a:ext cx="228600" cy="256585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1245" name="Google Shape;1245;p47"/>
          <p:cNvSpPr/>
          <p:nvPr/>
        </p:nvSpPr>
        <p:spPr>
          <a:xfrm>
            <a:off x="3117260" y="2798729"/>
            <a:ext cx="228600" cy="256585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1246" name="Google Shape;1246;p47"/>
          <p:cNvSpPr txBox="1"/>
          <p:nvPr/>
        </p:nvSpPr>
        <p:spPr>
          <a:xfrm>
            <a:off x="1228642" y="3200400"/>
            <a:ext cx="20471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1       2        3       4</a:t>
            </a:r>
            <a:endParaRPr/>
          </a:p>
        </p:txBody>
      </p:sp>
      <p:sp>
        <p:nvSpPr>
          <p:cNvPr id="1247" name="Google Shape;1247;p47"/>
          <p:cNvSpPr txBox="1"/>
          <p:nvPr/>
        </p:nvSpPr>
        <p:spPr>
          <a:xfrm>
            <a:off x="649292" y="3569732"/>
            <a:ext cx="371284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8" name="Google Shape;1248;p47"/>
          <p:cNvSpPr txBox="1"/>
          <p:nvPr/>
        </p:nvSpPr>
        <p:spPr>
          <a:xfrm>
            <a:off x="5451234" y="3168134"/>
            <a:ext cx="2321166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1       2        3       4</a:t>
            </a:r>
            <a:endParaRPr/>
          </a:p>
        </p:txBody>
      </p:sp>
      <p:sp>
        <p:nvSpPr>
          <p:cNvPr id="1249" name="Google Shape;1249;p47"/>
          <p:cNvSpPr txBox="1"/>
          <p:nvPr/>
        </p:nvSpPr>
        <p:spPr>
          <a:xfrm>
            <a:off x="4871884" y="3537466"/>
            <a:ext cx="371284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0" name="Google Shape;1250;p47"/>
          <p:cNvSpPr txBox="1"/>
          <p:nvPr/>
        </p:nvSpPr>
        <p:spPr>
          <a:xfrm>
            <a:off x="1437968" y="5594532"/>
            <a:ext cx="153383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 trận D</a:t>
            </a:r>
            <a:r>
              <a:rPr b="1" baseline="-25000"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sz="14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1" name="Google Shape;1251;p47"/>
          <p:cNvSpPr txBox="1"/>
          <p:nvPr/>
        </p:nvSpPr>
        <p:spPr>
          <a:xfrm>
            <a:off x="5486400" y="5746932"/>
            <a:ext cx="153383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 trận P</a:t>
            </a:r>
            <a:r>
              <a:rPr b="1" baseline="-25000"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sz="14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p48"/>
          <p:cNvSpPr txBox="1"/>
          <p:nvPr>
            <p:ph type="title"/>
          </p:nvPr>
        </p:nvSpPr>
        <p:spPr>
          <a:xfrm>
            <a:off x="457200" y="274638"/>
            <a:ext cx="8229600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B050"/>
                </a:solidFill>
              </a:rPr>
              <a:t>Ứng dụng</a:t>
            </a:r>
            <a:endParaRPr b="1" sz="3200">
              <a:solidFill>
                <a:srgbClr val="00B050"/>
              </a:solidFill>
            </a:endParaRPr>
          </a:p>
        </p:txBody>
      </p:sp>
      <p:sp>
        <p:nvSpPr>
          <p:cNvPr id="1257" name="Google Shape;1257;p48"/>
          <p:cNvSpPr txBox="1"/>
          <p:nvPr>
            <p:ph idx="1" type="body"/>
          </p:nvPr>
        </p:nvSpPr>
        <p:spPr>
          <a:xfrm>
            <a:off x="457200" y="1600200"/>
            <a:ext cx="784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/>
              <a:t>Bài toán chọn địa điểm đặt cơ sở dịch vụ, sao cho hiệu quả nhất về mặt kinh tế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b="1" lang="en-US"/>
              <a:t>Bài toán cực tiểu tổng</a:t>
            </a:r>
            <a:endParaRPr b="1"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/>
              <a:t>Tìm vị trí để đặt cơ sở sao cho khoảng cách giữa các  vùng đến cơ sở là nhỏ nhất 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/>
              <a:t>Vị trí đặt trường học, bưu điện, bệnh viện.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b="1" lang="en-US"/>
              <a:t>Bài toán cực tiểu trị lớn nhất</a:t>
            </a:r>
            <a:endParaRPr b="1"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/>
              <a:t>Tìm vị trí đặt cơ sở sao cho khoảng cách từ cơ sở đến điểm xa nhất của cộng đồng là nhỏ nhất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/>
              <a:t>Vị trí đặt cơ quan phòng cháy chữa cháy.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p49"/>
          <p:cNvSpPr txBox="1"/>
          <p:nvPr>
            <p:ph type="title"/>
          </p:nvPr>
        </p:nvSpPr>
        <p:spPr>
          <a:xfrm>
            <a:off x="457200" y="274638"/>
            <a:ext cx="8229600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B050"/>
                </a:solidFill>
              </a:rPr>
              <a:t>Ứng dụng</a:t>
            </a:r>
            <a:endParaRPr b="1" sz="3200">
              <a:solidFill>
                <a:srgbClr val="00B050"/>
              </a:solidFill>
            </a:endParaRPr>
          </a:p>
        </p:txBody>
      </p:sp>
      <p:sp>
        <p:nvSpPr>
          <p:cNvPr id="1263" name="Google Shape;1263;p49"/>
          <p:cNvSpPr txBox="1"/>
          <p:nvPr>
            <p:ph idx="1" type="body"/>
          </p:nvPr>
        </p:nvSpPr>
        <p:spPr>
          <a:xfrm>
            <a:off x="457200" y="1600200"/>
            <a:ext cx="7848600" cy="452596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551" r="0" t="-134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7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p50"/>
          <p:cNvSpPr txBox="1"/>
          <p:nvPr>
            <p:ph type="title"/>
          </p:nvPr>
        </p:nvSpPr>
        <p:spPr>
          <a:xfrm>
            <a:off x="457200" y="274638"/>
            <a:ext cx="8229600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B050"/>
                </a:solidFill>
              </a:rPr>
              <a:t>Ứng dụng</a:t>
            </a:r>
            <a:endParaRPr b="1" sz="3200">
              <a:solidFill>
                <a:srgbClr val="00B050"/>
              </a:solidFill>
            </a:endParaRPr>
          </a:p>
        </p:txBody>
      </p:sp>
      <p:sp>
        <p:nvSpPr>
          <p:cNvPr id="1269" name="Google Shape;1269;p50"/>
          <p:cNvSpPr txBox="1"/>
          <p:nvPr>
            <p:ph idx="1" type="body"/>
          </p:nvPr>
        </p:nvSpPr>
        <p:spPr>
          <a:xfrm>
            <a:off x="457200" y="1600200"/>
            <a:ext cx="7848600" cy="452596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551" r="0" t="-134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p51"/>
          <p:cNvSpPr txBox="1"/>
          <p:nvPr>
            <p:ph type="title"/>
          </p:nvPr>
        </p:nvSpPr>
        <p:spPr>
          <a:xfrm>
            <a:off x="457200" y="274638"/>
            <a:ext cx="8229600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B050"/>
                </a:solidFill>
              </a:rPr>
              <a:t>Ứng dụng</a:t>
            </a:r>
            <a:endParaRPr b="1" sz="3200">
              <a:solidFill>
                <a:srgbClr val="00B050"/>
              </a:solidFill>
            </a:endParaRPr>
          </a:p>
        </p:txBody>
      </p:sp>
      <p:grpSp>
        <p:nvGrpSpPr>
          <p:cNvPr id="1275" name="Google Shape;1275;p51"/>
          <p:cNvGrpSpPr/>
          <p:nvPr/>
        </p:nvGrpSpPr>
        <p:grpSpPr>
          <a:xfrm>
            <a:off x="1117875" y="1357443"/>
            <a:ext cx="4303205" cy="2024162"/>
            <a:chOff x="4214947" y="1599498"/>
            <a:chExt cx="4303205" cy="2024228"/>
          </a:xfrm>
        </p:grpSpPr>
        <p:cxnSp>
          <p:nvCxnSpPr>
            <p:cNvPr id="1276" name="Google Shape;1276;p51"/>
            <p:cNvCxnSpPr/>
            <p:nvPr/>
          </p:nvCxnSpPr>
          <p:spPr>
            <a:xfrm>
              <a:off x="7278418" y="2845572"/>
              <a:ext cx="0" cy="778154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cxnSp>
          <p:nvCxnSpPr>
            <p:cNvPr id="1277" name="Google Shape;1277;p51"/>
            <p:cNvCxnSpPr/>
            <p:nvPr/>
          </p:nvCxnSpPr>
          <p:spPr>
            <a:xfrm>
              <a:off x="5384281" y="2772905"/>
              <a:ext cx="810903" cy="3810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cxnSp>
          <p:nvCxnSpPr>
            <p:cNvPr id="1278" name="Google Shape;1278;p51"/>
            <p:cNvCxnSpPr>
              <a:stCxn id="1279" idx="6"/>
            </p:cNvCxnSpPr>
            <p:nvPr/>
          </p:nvCxnSpPr>
          <p:spPr>
            <a:xfrm>
              <a:off x="6324600" y="2811006"/>
              <a:ext cx="838200" cy="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cxnSp>
          <p:nvCxnSpPr>
            <p:cNvPr id="1280" name="Google Shape;1280;p51"/>
            <p:cNvCxnSpPr>
              <a:stCxn id="1281" idx="6"/>
            </p:cNvCxnSpPr>
            <p:nvPr/>
          </p:nvCxnSpPr>
          <p:spPr>
            <a:xfrm>
              <a:off x="4214947" y="2743201"/>
              <a:ext cx="1055100" cy="3810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cxnSp>
          <p:nvCxnSpPr>
            <p:cNvPr id="1282" name="Google Shape;1282;p51"/>
            <p:cNvCxnSpPr/>
            <p:nvPr/>
          </p:nvCxnSpPr>
          <p:spPr>
            <a:xfrm>
              <a:off x="7239659" y="1599498"/>
              <a:ext cx="0" cy="1011452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cxnSp>
          <p:nvCxnSpPr>
            <p:cNvPr id="1283" name="Google Shape;1283;p51"/>
            <p:cNvCxnSpPr/>
            <p:nvPr/>
          </p:nvCxnSpPr>
          <p:spPr>
            <a:xfrm flipH="1" rot="10800000">
              <a:off x="7392718" y="2704473"/>
              <a:ext cx="1125434" cy="37306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1284" name="Google Shape;1284;p51"/>
            <p:cNvSpPr txBox="1"/>
            <p:nvPr/>
          </p:nvSpPr>
          <p:spPr>
            <a:xfrm>
              <a:off x="4363902" y="2347150"/>
              <a:ext cx="457200" cy="4001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5" name="Google Shape;1285;p51"/>
            <p:cNvSpPr txBox="1"/>
            <p:nvPr/>
          </p:nvSpPr>
          <p:spPr>
            <a:xfrm>
              <a:off x="6629400" y="2362200"/>
              <a:ext cx="45720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6" name="Google Shape;1286;p51"/>
            <p:cNvSpPr txBox="1"/>
            <p:nvPr/>
          </p:nvSpPr>
          <p:spPr>
            <a:xfrm>
              <a:off x="7299041" y="1867902"/>
              <a:ext cx="457200" cy="4001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7" name="Google Shape;1287;p51"/>
            <p:cNvSpPr txBox="1"/>
            <p:nvPr/>
          </p:nvSpPr>
          <p:spPr>
            <a:xfrm>
              <a:off x="7756241" y="2391845"/>
              <a:ext cx="457200" cy="4001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81" name="Google Shape;1281;p51"/>
          <p:cNvSpPr/>
          <p:nvPr/>
        </p:nvSpPr>
        <p:spPr>
          <a:xfrm>
            <a:off x="889275" y="2372816"/>
            <a:ext cx="228600" cy="256585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1288" name="Google Shape;1288;p51"/>
          <p:cNvSpPr/>
          <p:nvPr/>
        </p:nvSpPr>
        <p:spPr>
          <a:xfrm>
            <a:off x="2058609" y="2372815"/>
            <a:ext cx="228600" cy="256585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1289" name="Google Shape;1289;p51"/>
          <p:cNvSpPr/>
          <p:nvPr/>
        </p:nvSpPr>
        <p:spPr>
          <a:xfrm>
            <a:off x="3989528" y="2376889"/>
            <a:ext cx="306118" cy="256585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1279" name="Google Shape;1279;p51"/>
          <p:cNvSpPr/>
          <p:nvPr/>
        </p:nvSpPr>
        <p:spPr>
          <a:xfrm>
            <a:off x="2998928" y="2440619"/>
            <a:ext cx="228600" cy="256585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1290" name="Google Shape;1290;p51"/>
          <p:cNvSpPr txBox="1"/>
          <p:nvPr/>
        </p:nvSpPr>
        <p:spPr>
          <a:xfrm>
            <a:off x="2464060" y="2168815"/>
            <a:ext cx="457200" cy="4000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sz="14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1" name="Google Shape;1291;p51"/>
          <p:cNvSpPr/>
          <p:nvPr/>
        </p:nvSpPr>
        <p:spPr>
          <a:xfrm>
            <a:off x="5306780" y="2354007"/>
            <a:ext cx="228600" cy="256585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1292" name="Google Shape;1292;p51"/>
          <p:cNvSpPr/>
          <p:nvPr/>
        </p:nvSpPr>
        <p:spPr>
          <a:xfrm>
            <a:off x="3993123" y="1188223"/>
            <a:ext cx="228600" cy="256585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sp>
        <p:nvSpPr>
          <p:cNvPr id="1293" name="Google Shape;1293;p51"/>
          <p:cNvSpPr/>
          <p:nvPr/>
        </p:nvSpPr>
        <p:spPr>
          <a:xfrm>
            <a:off x="4037639" y="3253313"/>
            <a:ext cx="228600" cy="256585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/>
          </a:p>
        </p:txBody>
      </p:sp>
      <p:pic>
        <p:nvPicPr>
          <p:cNvPr id="1294" name="Google Shape;1294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65646" y="3381605"/>
            <a:ext cx="3821154" cy="30829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5" name="Google Shape;1295;p51"/>
          <p:cNvSpPr txBox="1"/>
          <p:nvPr/>
        </p:nvSpPr>
        <p:spPr>
          <a:xfrm>
            <a:off x="5084414" y="2786967"/>
            <a:ext cx="3714882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1       2        3       4       5       6         7   </a:t>
            </a:r>
            <a:endParaRPr/>
          </a:p>
        </p:txBody>
      </p:sp>
      <p:sp>
        <p:nvSpPr>
          <p:cNvPr id="1296" name="Google Shape;1296;p51"/>
          <p:cNvSpPr txBox="1"/>
          <p:nvPr/>
        </p:nvSpPr>
        <p:spPr>
          <a:xfrm>
            <a:off x="4421873" y="3381605"/>
            <a:ext cx="371284" cy="30008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7" name="Google Shape;1297;p51"/>
          <p:cNvSpPr txBox="1"/>
          <p:nvPr/>
        </p:nvSpPr>
        <p:spPr>
          <a:xfrm>
            <a:off x="522217" y="4108530"/>
            <a:ext cx="3301383" cy="83099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Đỉnh 4 là đỉnh cực tiểu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Đỉnh 3 là tâm đồ thị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p5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Noto Sans Symbols"/>
              <a:buChar char="❑"/>
            </a:pPr>
            <a:r>
              <a:rPr lang="en-US">
                <a:solidFill>
                  <a:srgbClr val="002060"/>
                </a:solidFill>
              </a:rPr>
              <a:t> Lập trình thực hiện các thuật toán mô tả: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Noto Sans Symbols"/>
              <a:buChar char="❑"/>
            </a:pPr>
            <a:r>
              <a:rPr lang="en-US">
                <a:solidFill>
                  <a:srgbClr val="002060"/>
                </a:solidFill>
              </a:rPr>
              <a:t>  Thuật toán Dijkstra</a:t>
            </a:r>
            <a:endParaRPr>
              <a:solidFill>
                <a:srgbClr val="002060"/>
              </a:solidFill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Noto Sans Symbols"/>
              <a:buChar char="❑"/>
            </a:pPr>
            <a:r>
              <a:rPr lang="en-US">
                <a:solidFill>
                  <a:srgbClr val="002060"/>
                </a:solidFill>
              </a:rPr>
              <a:t>  Thuật toán Floyd-Warshall</a:t>
            </a:r>
            <a:endParaRPr>
              <a:solidFill>
                <a:srgbClr val="002060"/>
              </a:solidFill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Noto Sans Symbols"/>
              <a:buChar char="❑"/>
            </a:pPr>
            <a:r>
              <a:rPr lang="en-US">
                <a:solidFill>
                  <a:srgbClr val="002060"/>
                </a:solidFill>
              </a:rPr>
              <a:t>  Thuật toán Bellman-Ford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Noto Sans Symbols"/>
              <a:buChar char="❑"/>
            </a:pPr>
            <a:r>
              <a:rPr lang="en-US">
                <a:solidFill>
                  <a:srgbClr val="002060"/>
                </a:solidFill>
              </a:rPr>
              <a:t> Xác định độ phức tạp của 3 thuật toán trên</a:t>
            </a:r>
            <a:endParaRPr>
              <a:solidFill>
                <a:srgbClr val="002060"/>
              </a:solidFill>
            </a:endParaRPr>
          </a:p>
        </p:txBody>
      </p:sp>
      <p:sp>
        <p:nvSpPr>
          <p:cNvPr id="1303" name="Google Shape;1303;p52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Nguyễn Văn Hiệu, 2012, Discrete Mathematics</a:t>
            </a:r>
            <a:endParaRPr/>
          </a:p>
        </p:txBody>
      </p:sp>
      <p:sp>
        <p:nvSpPr>
          <p:cNvPr id="1304" name="Google Shape;1304;p52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05" name="Google Shape;1305;p52"/>
          <p:cNvSpPr txBox="1"/>
          <p:nvPr/>
        </p:nvSpPr>
        <p:spPr>
          <a:xfrm>
            <a:off x="457200" y="3048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Bài tập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9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p53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1" name="Google Shape;1311;p5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0" y="1219200"/>
            <a:ext cx="6858000" cy="3581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12" name="Google Shape;1312;p53"/>
          <p:cNvSpPr txBox="1"/>
          <p:nvPr/>
        </p:nvSpPr>
        <p:spPr>
          <a:xfrm>
            <a:off x="2057400" y="4191000"/>
            <a:ext cx="48768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THAT’S ALL; THANK YOU</a:t>
            </a:r>
            <a:endParaRPr/>
          </a:p>
        </p:txBody>
      </p:sp>
      <p:sp>
        <p:nvSpPr>
          <p:cNvPr id="1313" name="Google Shape;1313;p53"/>
          <p:cNvSpPr/>
          <p:nvPr/>
        </p:nvSpPr>
        <p:spPr>
          <a:xfrm>
            <a:off x="1371600" y="5181600"/>
            <a:ext cx="61722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NEXT?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eme1">
  <a:themeElements>
    <a:clrScheme name="Grayscale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2012-10-08T14:55:01Z</dcterms:created>
  <dc:creator>mc</dc:creator>
</cp:coreProperties>
</file>