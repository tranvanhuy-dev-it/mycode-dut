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1" roundtripDataSignature="AMtx7mhsffSLc5YTaTYX9q6AALv3XI4B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Đồ thị Euler (hiển nhiên cũng là đồ thị nửa Euler).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Đồ thị Euler (hiển nhiên cũng là đồ thị nửa Euler).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Đồ thị không nữa Euler nhưng lại là đồ thị Hamilton</a:t>
            </a:r>
            <a:endParaRPr/>
          </a:p>
        </p:txBody>
      </p:sp>
      <p:sp>
        <p:nvSpPr>
          <p:cNvPr id="295" name="Google Shape;29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rgbClr val="002060"/>
                </a:solidFill>
              </a:rPr>
              <a:t>Đồ thị đầy đủ n đỉnh:- K</a:t>
            </a:r>
            <a:r>
              <a:rPr baseline="-25000" lang="en-US" sz="2800">
                <a:solidFill>
                  <a:srgbClr val="002060"/>
                </a:solidFill>
              </a:rPr>
              <a:t>n</a:t>
            </a:r>
            <a:r>
              <a:rPr lang="en-US" sz="2800">
                <a:solidFill>
                  <a:srgbClr val="002060"/>
                </a:solidFill>
              </a:rPr>
              <a:t>:</a:t>
            </a:r>
            <a:endParaRPr/>
          </a:p>
          <a:p>
            <a:pPr indent="-152400" lvl="1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2060"/>
                </a:solidFill>
              </a:rPr>
              <a:t>Đơn đồ thị vô hướng</a:t>
            </a:r>
            <a:endParaRPr sz="2400">
              <a:solidFill>
                <a:srgbClr val="002060"/>
              </a:solidFill>
            </a:endParaRPr>
          </a:p>
          <a:p>
            <a:pPr indent="-152400" lvl="1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2060"/>
                </a:solidFill>
              </a:rPr>
              <a:t>Hai đỉnh bất kỳ luôn có cạnh nối</a:t>
            </a:r>
            <a:endParaRPr sz="2400">
              <a:solidFill>
                <a:srgbClr val="002060"/>
              </a:solidFill>
            </a:endParaRPr>
          </a:p>
          <a:p>
            <a:pPr indent="-152400" lvl="1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2060"/>
                </a:solidFill>
              </a:rPr>
              <a:t>Tất cả các đỉnh có bậc n-1</a:t>
            </a:r>
            <a:endParaRPr/>
          </a:p>
          <a:p>
            <a:pPr indent="-152400" lvl="1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2060"/>
                </a:solidFill>
              </a:rPr>
              <a:t>Số cạnh là n*(n-1)/2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2514600" y="653693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oán Rời Rạc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3810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2" name="Google Shape;32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Custom Layout">
  <p:cSld name="1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2971800" y="6492875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0" type="dt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1" type="ftr"/>
          </p:nvPr>
        </p:nvSpPr>
        <p:spPr>
          <a:xfrm>
            <a:off x="27432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1" name="Google Shape;51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1" type="ftr"/>
          </p:nvPr>
        </p:nvSpPr>
        <p:spPr>
          <a:xfrm>
            <a:off x="2667000" y="6477000"/>
            <a:ext cx="335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1" type="ftr"/>
          </p:nvPr>
        </p:nvSpPr>
        <p:spPr>
          <a:xfrm>
            <a:off x="28956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1" type="ftr"/>
          </p:nvPr>
        </p:nvSpPr>
        <p:spPr>
          <a:xfrm>
            <a:off x="2819400" y="6492875"/>
            <a:ext cx="342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2895600" y="6613525"/>
            <a:ext cx="3429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Text, and 2 Content">
  <p:cSld name="Title, Text, and 2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idx="1" type="body"/>
          </p:nvPr>
        </p:nvSpPr>
        <p:spPr>
          <a:xfrm>
            <a:off x="304800" y="381000"/>
            <a:ext cx="3962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2" type="body"/>
          </p:nvPr>
        </p:nvSpPr>
        <p:spPr>
          <a:xfrm>
            <a:off x="4419600" y="3810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3" type="body"/>
          </p:nvPr>
        </p:nvSpPr>
        <p:spPr>
          <a:xfrm>
            <a:off x="4419600" y="33909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1" type="ftr"/>
          </p:nvPr>
        </p:nvSpPr>
        <p:spPr>
          <a:xfrm>
            <a:off x="2743200" y="649287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1.png" id="15" name="Google Shape;15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LÝ THUYẾT ĐỒ THỊ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3810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Nội dung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685800" y="1524000"/>
            <a:ext cx="7467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Đồ thị Euler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Đồ thị Hamilton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Đồ thi Euler</a:t>
            </a:r>
            <a:endParaRPr/>
          </a:p>
        </p:txBody>
      </p:sp>
      <p:sp>
        <p:nvSpPr>
          <p:cNvPr id="102" name="Google Shape;102;p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990600" y="2895600"/>
            <a:ext cx="2133600" cy="838200"/>
          </a:xfrm>
          <a:prstGeom prst="ellipse">
            <a:avLst/>
          </a:prstGeom>
          <a:solidFill>
            <a:srgbClr val="00B0F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62000" y="4038601"/>
            <a:ext cx="4038599" cy="533400"/>
          </a:xfrm>
          <a:custGeom>
            <a:rect b="b" l="l" r="r" t="t"/>
            <a:pathLst>
              <a:path extrusionOk="0" h="864" w="4608">
                <a:moveTo>
                  <a:pt x="0" y="0"/>
                </a:moveTo>
                <a:cubicBezTo>
                  <a:pt x="84" y="36"/>
                  <a:pt x="168" y="72"/>
                  <a:pt x="288" y="144"/>
                </a:cubicBezTo>
                <a:cubicBezTo>
                  <a:pt x="408" y="216"/>
                  <a:pt x="552" y="360"/>
                  <a:pt x="720" y="432"/>
                </a:cubicBezTo>
                <a:cubicBezTo>
                  <a:pt x="888" y="504"/>
                  <a:pt x="1008" y="600"/>
                  <a:pt x="1296" y="576"/>
                </a:cubicBezTo>
                <a:cubicBezTo>
                  <a:pt x="1584" y="552"/>
                  <a:pt x="2136" y="336"/>
                  <a:pt x="2448" y="288"/>
                </a:cubicBezTo>
                <a:cubicBezTo>
                  <a:pt x="2760" y="240"/>
                  <a:pt x="2928" y="240"/>
                  <a:pt x="3168" y="288"/>
                </a:cubicBezTo>
                <a:cubicBezTo>
                  <a:pt x="3408" y="336"/>
                  <a:pt x="3648" y="480"/>
                  <a:pt x="3888" y="576"/>
                </a:cubicBezTo>
                <a:cubicBezTo>
                  <a:pt x="4128" y="672"/>
                  <a:pt x="4368" y="768"/>
                  <a:pt x="4608" y="864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14400" y="2133600"/>
            <a:ext cx="3717925" cy="381000"/>
          </a:xfrm>
          <a:custGeom>
            <a:rect b="b" l="l" r="r" t="t"/>
            <a:pathLst>
              <a:path extrusionOk="0" h="600" w="4608">
                <a:moveTo>
                  <a:pt x="0" y="576"/>
                </a:moveTo>
                <a:cubicBezTo>
                  <a:pt x="240" y="468"/>
                  <a:pt x="480" y="360"/>
                  <a:pt x="720" y="288"/>
                </a:cubicBezTo>
                <a:cubicBezTo>
                  <a:pt x="960" y="216"/>
                  <a:pt x="1104" y="96"/>
                  <a:pt x="1440" y="144"/>
                </a:cubicBezTo>
                <a:cubicBezTo>
                  <a:pt x="1776" y="192"/>
                  <a:pt x="2208" y="600"/>
                  <a:pt x="2736" y="576"/>
                </a:cubicBezTo>
                <a:cubicBezTo>
                  <a:pt x="3264" y="552"/>
                  <a:pt x="3936" y="276"/>
                  <a:pt x="4608" y="0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657600" y="2590800"/>
            <a:ext cx="1371600" cy="1219200"/>
          </a:xfrm>
          <a:custGeom>
            <a:rect b="b" l="l" r="r" t="t"/>
            <a:pathLst>
              <a:path extrusionOk="0" h="1440" w="1536">
                <a:moveTo>
                  <a:pt x="1536" y="0"/>
                </a:moveTo>
                <a:cubicBezTo>
                  <a:pt x="1008" y="156"/>
                  <a:pt x="480" y="312"/>
                  <a:pt x="240" y="432"/>
                </a:cubicBezTo>
                <a:cubicBezTo>
                  <a:pt x="0" y="552"/>
                  <a:pt x="96" y="624"/>
                  <a:pt x="96" y="720"/>
                </a:cubicBezTo>
                <a:cubicBezTo>
                  <a:pt x="96" y="816"/>
                  <a:pt x="0" y="888"/>
                  <a:pt x="240" y="1008"/>
                </a:cubicBezTo>
                <a:cubicBezTo>
                  <a:pt x="480" y="1128"/>
                  <a:pt x="1008" y="1284"/>
                  <a:pt x="1536" y="1440"/>
                </a:cubicBez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1235075" y="2405062"/>
            <a:ext cx="288925" cy="6429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3"/>
          <p:cNvCxnSpPr/>
          <p:nvPr/>
        </p:nvCxnSpPr>
        <p:spPr>
          <a:xfrm>
            <a:off x="1143000" y="24384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3"/>
          <p:cNvCxnSpPr/>
          <p:nvPr/>
        </p:nvCxnSpPr>
        <p:spPr>
          <a:xfrm flipH="1">
            <a:off x="2514599" y="2514600"/>
            <a:ext cx="304799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3"/>
          <p:cNvCxnSpPr/>
          <p:nvPr/>
        </p:nvCxnSpPr>
        <p:spPr>
          <a:xfrm flipH="1">
            <a:off x="2362200" y="2438400"/>
            <a:ext cx="30480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3"/>
          <p:cNvCxnSpPr/>
          <p:nvPr/>
        </p:nvCxnSpPr>
        <p:spPr>
          <a:xfrm flipH="1">
            <a:off x="1143000" y="3657600"/>
            <a:ext cx="381000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3"/>
          <p:cNvCxnSpPr/>
          <p:nvPr/>
        </p:nvCxnSpPr>
        <p:spPr>
          <a:xfrm flipH="1">
            <a:off x="1066799" y="3657600"/>
            <a:ext cx="334963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3"/>
          <p:cNvCxnSpPr/>
          <p:nvPr/>
        </p:nvCxnSpPr>
        <p:spPr>
          <a:xfrm>
            <a:off x="2438400" y="3733801"/>
            <a:ext cx="228600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2590800" y="3733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3"/>
          <p:cNvCxnSpPr/>
          <p:nvPr/>
        </p:nvCxnSpPr>
        <p:spPr>
          <a:xfrm flipH="1" rot="10800000">
            <a:off x="3124200" y="3124200"/>
            <a:ext cx="609600" cy="7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3"/>
          <p:cNvCxnSpPr/>
          <p:nvPr/>
        </p:nvCxnSpPr>
        <p:spPr>
          <a:xfrm flipH="1" rot="10800000">
            <a:off x="3124200" y="3276600"/>
            <a:ext cx="609600" cy="7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3"/>
          <p:cNvCxnSpPr/>
          <p:nvPr/>
        </p:nvCxnSpPr>
        <p:spPr>
          <a:xfrm>
            <a:off x="3810000" y="2362200"/>
            <a:ext cx="30480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3"/>
          <p:cNvCxnSpPr/>
          <p:nvPr/>
        </p:nvCxnSpPr>
        <p:spPr>
          <a:xfrm>
            <a:off x="3733800" y="2438400"/>
            <a:ext cx="304800" cy="45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3"/>
          <p:cNvCxnSpPr/>
          <p:nvPr/>
        </p:nvCxnSpPr>
        <p:spPr>
          <a:xfrm flipH="1">
            <a:off x="3809999" y="3581401"/>
            <a:ext cx="380999" cy="6857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3"/>
          <p:cNvCxnSpPr/>
          <p:nvPr/>
        </p:nvCxnSpPr>
        <p:spPr>
          <a:xfrm flipH="1">
            <a:off x="3962400" y="3581400"/>
            <a:ext cx="381001" cy="68580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3"/>
          <p:cNvSpPr txBox="1"/>
          <p:nvPr/>
        </p:nvSpPr>
        <p:spPr>
          <a:xfrm>
            <a:off x="4343400" y="2971800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8288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2438400" y="16764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514600" y="44958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858000" y="2133600"/>
            <a:ext cx="914400" cy="914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D7D7D7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284794" y="1988024"/>
            <a:ext cx="2440674" cy="2945642"/>
          </a:xfrm>
          <a:custGeom>
            <a:rect b="b" l="l" r="r" t="t"/>
            <a:pathLst>
              <a:path extrusionOk="0" h="2945642" w="2440674">
                <a:moveTo>
                  <a:pt x="375313" y="72788"/>
                </a:moveTo>
                <a:cubicBezTo>
                  <a:pt x="187656" y="257032"/>
                  <a:pt x="0" y="441277"/>
                  <a:pt x="6824" y="673289"/>
                </a:cubicBezTo>
                <a:cubicBezTo>
                  <a:pt x="13648" y="905301"/>
                  <a:pt x="320723" y="1344305"/>
                  <a:pt x="416257" y="1464860"/>
                </a:cubicBezTo>
                <a:cubicBezTo>
                  <a:pt x="511791" y="1585415"/>
                  <a:pt x="523164" y="1476233"/>
                  <a:pt x="580030" y="1396621"/>
                </a:cubicBezTo>
                <a:cubicBezTo>
                  <a:pt x="636896" y="1317009"/>
                  <a:pt x="725606" y="1141862"/>
                  <a:pt x="757451" y="987188"/>
                </a:cubicBezTo>
                <a:cubicBezTo>
                  <a:pt x="789296" y="832514"/>
                  <a:pt x="825690" y="623248"/>
                  <a:pt x="771099" y="468573"/>
                </a:cubicBezTo>
                <a:cubicBezTo>
                  <a:pt x="716508" y="313898"/>
                  <a:pt x="418532" y="118280"/>
                  <a:pt x="429905" y="59140"/>
                </a:cubicBezTo>
                <a:cubicBezTo>
                  <a:pt x="441278" y="0"/>
                  <a:pt x="636895" y="43218"/>
                  <a:pt x="839337" y="113731"/>
                </a:cubicBezTo>
                <a:cubicBezTo>
                  <a:pt x="1041779" y="184244"/>
                  <a:pt x="1396621" y="266131"/>
                  <a:pt x="1644555" y="482221"/>
                </a:cubicBezTo>
                <a:cubicBezTo>
                  <a:pt x="1892489" y="698311"/>
                  <a:pt x="2213212" y="1248771"/>
                  <a:pt x="2326943" y="1410269"/>
                </a:cubicBezTo>
                <a:cubicBezTo>
                  <a:pt x="2440674" y="1571767"/>
                  <a:pt x="2379259" y="1348854"/>
                  <a:pt x="2326943" y="1451212"/>
                </a:cubicBezTo>
                <a:cubicBezTo>
                  <a:pt x="2274627" y="1553570"/>
                  <a:pt x="2199564" y="1826526"/>
                  <a:pt x="2013045" y="2024418"/>
                </a:cubicBezTo>
                <a:cubicBezTo>
                  <a:pt x="1826526" y="2222311"/>
                  <a:pt x="1458036" y="2495266"/>
                  <a:pt x="1207827" y="2638567"/>
                </a:cubicBezTo>
                <a:cubicBezTo>
                  <a:pt x="957618" y="2781869"/>
                  <a:pt x="702860" y="2931994"/>
                  <a:pt x="511791" y="2884227"/>
                </a:cubicBezTo>
                <a:cubicBezTo>
                  <a:pt x="320722" y="2836460"/>
                  <a:pt x="70513" y="2583976"/>
                  <a:pt x="61415" y="2351964"/>
                </a:cubicBezTo>
                <a:cubicBezTo>
                  <a:pt x="52317" y="2119952"/>
                  <a:pt x="334370" y="1558119"/>
                  <a:pt x="457200" y="1492155"/>
                </a:cubicBezTo>
                <a:cubicBezTo>
                  <a:pt x="580030" y="1426191"/>
                  <a:pt x="732430" y="1774209"/>
                  <a:pt x="798394" y="1956179"/>
                </a:cubicBezTo>
                <a:cubicBezTo>
                  <a:pt x="864358" y="2138149"/>
                  <a:pt x="882555" y="2427027"/>
                  <a:pt x="852985" y="2583976"/>
                </a:cubicBezTo>
                <a:cubicBezTo>
                  <a:pt x="823415" y="2740925"/>
                  <a:pt x="655092" y="2850108"/>
                  <a:pt x="620973" y="2897875"/>
                </a:cubicBezTo>
                <a:cubicBezTo>
                  <a:pt x="586854" y="2945642"/>
                  <a:pt x="650544" y="2877403"/>
                  <a:pt x="648269" y="2870579"/>
                </a:cubicBezTo>
                <a:cubicBezTo>
                  <a:pt x="645994" y="2863755"/>
                  <a:pt x="609600" y="2854656"/>
                  <a:pt x="607325" y="2856931"/>
                </a:cubicBezTo>
                <a:cubicBezTo>
                  <a:pt x="605050" y="2859206"/>
                  <a:pt x="627797" y="2886502"/>
                  <a:pt x="634621" y="2884227"/>
                </a:cubicBezTo>
                <a:cubicBezTo>
                  <a:pt x="641445" y="2881952"/>
                  <a:pt x="645994" y="2847832"/>
                  <a:pt x="648269" y="2843283"/>
                </a:cubicBezTo>
                <a:cubicBezTo>
                  <a:pt x="650544" y="2838734"/>
                  <a:pt x="657368" y="2850107"/>
                  <a:pt x="648269" y="2856931"/>
                </a:cubicBezTo>
                <a:cubicBezTo>
                  <a:pt x="639170" y="2863755"/>
                  <a:pt x="616424" y="2873991"/>
                  <a:pt x="593678" y="2884227"/>
                </a:cubicBezTo>
              </a:path>
            </a:pathLst>
          </a:custGeom>
          <a:noFill/>
          <a:ln cap="flat" cmpd="sng" w="285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" name="Google Shape;128;p3"/>
          <p:cNvCxnSpPr>
            <a:stCxn id="127" idx="15"/>
            <a:endCxn id="127" idx="10"/>
          </p:cNvCxnSpPr>
          <p:nvPr/>
        </p:nvCxnSpPr>
        <p:spPr>
          <a:xfrm flipH="1" rot="10800000">
            <a:off x="6741994" y="3439379"/>
            <a:ext cx="1869600" cy="408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3"/>
          <p:cNvSpPr/>
          <p:nvPr/>
        </p:nvSpPr>
        <p:spPr>
          <a:xfrm>
            <a:off x="6553200" y="18288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629400" y="33528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8458200" y="32766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781800" y="47244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133" name="Google Shape;133;p3"/>
          <p:cNvGrpSpPr/>
          <p:nvPr/>
        </p:nvGrpSpPr>
        <p:grpSpPr>
          <a:xfrm>
            <a:off x="915873" y="5486400"/>
            <a:ext cx="7540853" cy="838200"/>
            <a:chOff x="1473" y="0"/>
            <a:chExt cx="7540853" cy="838200"/>
          </a:xfrm>
        </p:grpSpPr>
        <p:sp>
          <p:nvSpPr>
            <p:cNvPr id="134" name="Google Shape;134;p3"/>
            <p:cNvSpPr/>
            <p:nvPr/>
          </p:nvSpPr>
          <p:spPr>
            <a:xfrm>
              <a:off x="1473" y="0"/>
              <a:ext cx="3142022" cy="8382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26023" y="24550"/>
              <a:ext cx="3092922" cy="7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 cầu ở Konigsberg</a:t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457697" y="29489"/>
              <a:ext cx="666108" cy="7792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EBEBEB"/>
            </a:solidFill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3457697" y="185333"/>
              <a:ext cx="466276" cy="467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Times New Roman"/>
                <a:buNone/>
              </a:pPr>
              <a:r>
                <a:t/>
              </a:r>
              <a:endParaRPr sz="3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400304" y="0"/>
              <a:ext cx="3142022" cy="8382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4424854" y="24550"/>
              <a:ext cx="3092922" cy="7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000"/>
                <a:buFont typeface="Times New Roman"/>
                <a:buNone/>
              </a:pPr>
              <a:r>
                <a:rPr lang="en-US" sz="20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Mô hình đồ thị</a:t>
              </a:r>
              <a:endParaRPr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0" name="Google Shape;140;p3"/>
          <p:cNvSpPr txBox="1"/>
          <p:nvPr/>
        </p:nvSpPr>
        <p:spPr>
          <a:xfrm>
            <a:off x="5791200" y="3352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Đường đi, chu trình</a:t>
            </a:r>
            <a:endParaRPr/>
          </a:p>
        </p:txBody>
      </p:sp>
      <p:sp>
        <p:nvSpPr>
          <p:cNvPr id="146" name="Google Shape;146;p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✔"/>
            </a:pPr>
            <a:r>
              <a:rPr lang="en-US">
                <a:solidFill>
                  <a:srgbClr val="002060"/>
                </a:solidFill>
              </a:rPr>
              <a:t>Chu trình Euler là </a:t>
            </a:r>
            <a:r>
              <a:rPr i="1" lang="en-US">
                <a:solidFill>
                  <a:srgbClr val="002060"/>
                </a:solidFill>
              </a:rPr>
              <a:t>chu trình đơn </a:t>
            </a:r>
            <a:r>
              <a:rPr lang="en-US">
                <a:solidFill>
                  <a:srgbClr val="FF0000"/>
                </a:solidFill>
              </a:rPr>
              <a:t>chứa mọi cạnh</a:t>
            </a:r>
            <a:r>
              <a:rPr lang="en-US">
                <a:solidFill>
                  <a:srgbClr val="002060"/>
                </a:solidFill>
              </a:rPr>
              <a:t> của 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✔"/>
            </a:pPr>
            <a:r>
              <a:rPr lang="en-US">
                <a:solidFill>
                  <a:srgbClr val="002060"/>
                </a:solidFill>
              </a:rPr>
              <a:t>Đường đi  Euler là </a:t>
            </a:r>
            <a:r>
              <a:rPr i="1" lang="en-US">
                <a:solidFill>
                  <a:srgbClr val="002060"/>
                </a:solidFill>
              </a:rPr>
              <a:t>đường đi đơn </a:t>
            </a:r>
            <a:r>
              <a:rPr lang="en-US">
                <a:solidFill>
                  <a:srgbClr val="002060"/>
                </a:solidFill>
              </a:rPr>
              <a:t>chứa mọi cạnh của G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47" name="Google Shape;147;p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Đồ thị Euler</a:t>
            </a:r>
            <a:endParaRPr/>
          </a:p>
        </p:txBody>
      </p:sp>
      <p:sp>
        <p:nvSpPr>
          <p:cNvPr id="148" name="Google Shape;148;p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G - đồ thị Euler: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✔"/>
            </a:pPr>
            <a:r>
              <a:rPr lang="en-US">
                <a:solidFill>
                  <a:srgbClr val="002060"/>
                </a:solidFill>
              </a:rPr>
              <a:t>G – liên thông,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✔"/>
            </a:pPr>
            <a:r>
              <a:rPr lang="en-US">
                <a:solidFill>
                  <a:srgbClr val="002060"/>
                </a:solidFill>
              </a:rPr>
              <a:t> G có chu trình Euler.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G- đồ thị </a:t>
            </a:r>
            <a:r>
              <a:rPr lang="en-US">
                <a:solidFill>
                  <a:srgbClr val="002060"/>
                </a:solidFill>
              </a:rPr>
              <a:t>nửa</a:t>
            </a:r>
            <a:r>
              <a:rPr lang="en-US">
                <a:solidFill>
                  <a:srgbClr val="002060"/>
                </a:solidFill>
              </a:rPr>
              <a:t> Euler 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✔"/>
            </a:pPr>
            <a:r>
              <a:rPr lang="en-US">
                <a:solidFill>
                  <a:srgbClr val="002060"/>
                </a:solidFill>
              </a:rPr>
              <a:t> G liên thông,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✔"/>
            </a:pPr>
            <a:r>
              <a:rPr lang="en-US">
                <a:solidFill>
                  <a:srgbClr val="002060"/>
                </a:solidFill>
              </a:rPr>
              <a:t>G có đường Euler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191000"/>
            <a:ext cx="3630564" cy="18811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Đồ thi Euler</a:t>
            </a:r>
            <a:endParaRPr/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4724400"/>
            <a:ext cx="3838575" cy="134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Tính chất</a:t>
            </a:r>
            <a:endParaRPr/>
          </a:p>
        </p:txBody>
      </p:sp>
      <p:sp>
        <p:nvSpPr>
          <p:cNvPr id="158" name="Google Shape;158;p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259" r="0" t="-12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59" name="Google Shape;159;p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Tính chất</a:t>
            </a:r>
            <a:endParaRPr/>
          </a:p>
        </p:txBody>
      </p:sp>
      <p:sp>
        <p:nvSpPr>
          <p:cNvPr id="160" name="Google Shape;160;p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412" r="0" t="-12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61" name="Google Shape;16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Euler</a:t>
            </a:r>
            <a:endParaRPr/>
          </a:p>
        </p:txBody>
      </p:sp>
      <p:cxnSp>
        <p:nvCxnSpPr>
          <p:cNvPr id="163" name="Google Shape;163;p5"/>
          <p:cNvCxnSpPr/>
          <p:nvPr/>
        </p:nvCxnSpPr>
        <p:spPr>
          <a:xfrm>
            <a:off x="1656804" y="4930872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5"/>
          <p:cNvCxnSpPr/>
          <p:nvPr/>
        </p:nvCxnSpPr>
        <p:spPr>
          <a:xfrm>
            <a:off x="1656804" y="5997672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5"/>
          <p:cNvCxnSpPr/>
          <p:nvPr/>
        </p:nvCxnSpPr>
        <p:spPr>
          <a:xfrm>
            <a:off x="1656804" y="4930872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5"/>
          <p:cNvCxnSpPr/>
          <p:nvPr/>
        </p:nvCxnSpPr>
        <p:spPr>
          <a:xfrm rot="10800000">
            <a:off x="2495004" y="4168872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5"/>
          <p:cNvCxnSpPr/>
          <p:nvPr/>
        </p:nvCxnSpPr>
        <p:spPr>
          <a:xfrm flipH="1" rot="10800000">
            <a:off x="1656804" y="4168872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5"/>
          <p:cNvCxnSpPr/>
          <p:nvPr/>
        </p:nvCxnSpPr>
        <p:spPr>
          <a:xfrm>
            <a:off x="1656804" y="4930872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5"/>
          <p:cNvSpPr/>
          <p:nvPr/>
        </p:nvSpPr>
        <p:spPr>
          <a:xfrm>
            <a:off x="2342604" y="40164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028404" y="47784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2952204" y="58452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504404" y="57690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1504404" y="47022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174" name="Google Shape;174;p5"/>
          <p:cNvCxnSpPr/>
          <p:nvPr/>
        </p:nvCxnSpPr>
        <p:spPr>
          <a:xfrm>
            <a:off x="5845236" y="4930872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5"/>
          <p:cNvCxnSpPr/>
          <p:nvPr/>
        </p:nvCxnSpPr>
        <p:spPr>
          <a:xfrm>
            <a:off x="7369236" y="4930872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5"/>
          <p:cNvCxnSpPr/>
          <p:nvPr/>
        </p:nvCxnSpPr>
        <p:spPr>
          <a:xfrm>
            <a:off x="5845236" y="5997672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5"/>
          <p:cNvCxnSpPr/>
          <p:nvPr/>
        </p:nvCxnSpPr>
        <p:spPr>
          <a:xfrm>
            <a:off x="5845236" y="4930872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5"/>
          <p:cNvCxnSpPr/>
          <p:nvPr/>
        </p:nvCxnSpPr>
        <p:spPr>
          <a:xfrm rot="10800000">
            <a:off x="6683436" y="4168872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5"/>
          <p:cNvCxnSpPr/>
          <p:nvPr/>
        </p:nvCxnSpPr>
        <p:spPr>
          <a:xfrm flipH="1" rot="10800000">
            <a:off x="5845236" y="4168872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5"/>
          <p:cNvCxnSpPr/>
          <p:nvPr/>
        </p:nvCxnSpPr>
        <p:spPr>
          <a:xfrm flipH="1" rot="10800000">
            <a:off x="5845236" y="4930872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5"/>
          <p:cNvCxnSpPr/>
          <p:nvPr/>
        </p:nvCxnSpPr>
        <p:spPr>
          <a:xfrm>
            <a:off x="5845236" y="4930872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5"/>
          <p:cNvSpPr/>
          <p:nvPr/>
        </p:nvSpPr>
        <p:spPr>
          <a:xfrm>
            <a:off x="6531036" y="40164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7216836" y="47784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7140636" y="58452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692836" y="57690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692836" y="4702272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Thuật toán</a:t>
            </a:r>
            <a:endParaRPr/>
          </a:p>
        </p:txBody>
      </p:sp>
      <p:sp>
        <p:nvSpPr>
          <p:cNvPr id="193" name="Google Shape;193;p6"/>
          <p:cNvSpPr txBox="1"/>
          <p:nvPr>
            <p:ph idx="2" type="body"/>
          </p:nvPr>
        </p:nvSpPr>
        <p:spPr>
          <a:xfrm>
            <a:off x="457200" y="2174875"/>
            <a:ext cx="4040188" cy="39211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Input:  G đồ thị liên thông có các đỉnh là đỉnh bậc </a:t>
            </a:r>
            <a:r>
              <a:rPr lang="en-US">
                <a:solidFill>
                  <a:srgbClr val="002060"/>
                </a:solidFill>
              </a:rPr>
              <a:t>chẵn</a:t>
            </a:r>
            <a:endParaRPr>
              <a:solidFill>
                <a:srgbClr val="00206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Output: chu trình Euler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</p:txBody>
      </p:sp>
      <p:sp>
        <p:nvSpPr>
          <p:cNvPr id="194" name="Google Shape;19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Thuật toán</a:t>
            </a:r>
            <a:endParaRPr/>
          </a:p>
        </p:txBody>
      </p:sp>
      <p:sp>
        <p:nvSpPr>
          <p:cNvPr id="195" name="Google Shape;19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C = chọn 1 chu trình bất kỳ</a:t>
            </a:r>
            <a:endParaRPr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H = G đã xóa đị cạnh của C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While(H còn cạnh) do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C’ = chu trình trong H nhưng có đi qua đỉnh trong C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H = H đã xóa đi cạnh của C’ và đỉnh treo;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C = C  cộng thêm C’ được </a:t>
            </a:r>
            <a:r>
              <a:rPr lang="en-US">
                <a:solidFill>
                  <a:srgbClr val="FF0000"/>
                </a:solidFill>
              </a:rPr>
              <a:t>chèn phù hợp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Euler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Ví dụ</a:t>
            </a:r>
            <a:endParaRPr/>
          </a:p>
        </p:txBody>
      </p:sp>
      <p:sp>
        <p:nvSpPr>
          <p:cNvPr id="204" name="Google Shape;204;p7"/>
          <p:cNvSpPr txBox="1"/>
          <p:nvPr>
            <p:ph idx="2" type="body"/>
          </p:nvPr>
        </p:nvSpPr>
        <p:spPr>
          <a:xfrm>
            <a:off x="457200" y="2174875"/>
            <a:ext cx="4040188" cy="33115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</p:txBody>
      </p:sp>
      <p:sp>
        <p:nvSpPr>
          <p:cNvPr id="205" name="Google Shape;20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Ví dụ</a:t>
            </a:r>
            <a:endParaRPr/>
          </a:p>
        </p:txBody>
      </p:sp>
      <p:sp>
        <p:nvSpPr>
          <p:cNvPr id="206" name="Google Shape;20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0"/>
            <a:ext cx="39624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568" y="2251587"/>
            <a:ext cx="3962400" cy="2549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Euler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 txBox="1"/>
          <p:nvPr>
            <p:ph idx="1" type="body"/>
          </p:nvPr>
        </p:nvSpPr>
        <p:spPr>
          <a:xfrm>
            <a:off x="609600" y="1371600"/>
            <a:ext cx="8153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b="1" lang="en-US">
                <a:solidFill>
                  <a:srgbClr val="002060"/>
                </a:solidFill>
              </a:rPr>
              <a:t> VD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2060"/>
                </a:solidFill>
              </a:rPr>
              <a:t>Đồ thị sau có các đường đi Euler là:</a:t>
            </a:r>
            <a:endParaRPr b="1" sz="3200" u="sng">
              <a:solidFill>
                <a:srgbClr val="002060"/>
              </a:solidFill>
            </a:endParaRPr>
          </a:p>
          <a:p>
            <a:pPr indent="-228600" lvl="2" marL="11430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2060"/>
                </a:solidFill>
              </a:rPr>
              <a:t>d1: 1 2 3 4 2 5 4 1 5</a:t>
            </a:r>
            <a:endParaRPr/>
          </a:p>
          <a:p>
            <a:pPr indent="-228600" lvl="2" marL="11430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2060"/>
                </a:solidFill>
              </a:rPr>
              <a:t>d2: 1 2 4 3 2 5 1 4 5</a:t>
            </a:r>
            <a:endParaRPr/>
          </a:p>
        </p:txBody>
      </p:sp>
      <p:sp>
        <p:nvSpPr>
          <p:cNvPr id="216" name="Google Shape;216;p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217" name="Google Shape;217;p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8" name="Google Shape;218;p8"/>
          <p:cNvCxnSpPr/>
          <p:nvPr/>
        </p:nvCxnSpPr>
        <p:spPr>
          <a:xfrm>
            <a:off x="4267200" y="4724400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8"/>
          <p:cNvCxnSpPr/>
          <p:nvPr/>
        </p:nvCxnSpPr>
        <p:spPr>
          <a:xfrm>
            <a:off x="5791200" y="4724400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8"/>
          <p:cNvCxnSpPr/>
          <p:nvPr/>
        </p:nvCxnSpPr>
        <p:spPr>
          <a:xfrm>
            <a:off x="4267200" y="5791200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8"/>
          <p:cNvCxnSpPr/>
          <p:nvPr/>
        </p:nvCxnSpPr>
        <p:spPr>
          <a:xfrm>
            <a:off x="4267200" y="4724400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8"/>
          <p:cNvCxnSpPr/>
          <p:nvPr/>
        </p:nvCxnSpPr>
        <p:spPr>
          <a:xfrm rot="10800000">
            <a:off x="5105400" y="3962400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8"/>
          <p:cNvCxnSpPr/>
          <p:nvPr/>
        </p:nvCxnSpPr>
        <p:spPr>
          <a:xfrm flipH="1" rot="10800000">
            <a:off x="4267200" y="3962400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8"/>
          <p:cNvCxnSpPr/>
          <p:nvPr/>
        </p:nvCxnSpPr>
        <p:spPr>
          <a:xfrm flipH="1" rot="10800000">
            <a:off x="4267200" y="4724400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8"/>
          <p:cNvCxnSpPr/>
          <p:nvPr/>
        </p:nvCxnSpPr>
        <p:spPr>
          <a:xfrm>
            <a:off x="4267200" y="4724400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8"/>
          <p:cNvSpPr/>
          <p:nvPr/>
        </p:nvSpPr>
        <p:spPr>
          <a:xfrm>
            <a:off x="4953000" y="38100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638800" y="45720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562600" y="56388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114800" y="55626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114800" y="44958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Euler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237" name="Google Shape;237;p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8" name="Google Shape;238;p9"/>
          <p:cNvCxnSpPr/>
          <p:nvPr/>
        </p:nvCxnSpPr>
        <p:spPr>
          <a:xfrm>
            <a:off x="1676400" y="3276600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9"/>
          <p:cNvCxnSpPr/>
          <p:nvPr/>
        </p:nvCxnSpPr>
        <p:spPr>
          <a:xfrm>
            <a:off x="3200400" y="3276600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9"/>
          <p:cNvCxnSpPr/>
          <p:nvPr/>
        </p:nvCxnSpPr>
        <p:spPr>
          <a:xfrm>
            <a:off x="1676400" y="4343400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9"/>
          <p:cNvCxnSpPr/>
          <p:nvPr/>
        </p:nvCxnSpPr>
        <p:spPr>
          <a:xfrm>
            <a:off x="1676400" y="3276600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9"/>
          <p:cNvCxnSpPr/>
          <p:nvPr/>
        </p:nvCxnSpPr>
        <p:spPr>
          <a:xfrm rot="10800000">
            <a:off x="2514600" y="2514600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9"/>
          <p:cNvCxnSpPr/>
          <p:nvPr/>
        </p:nvCxnSpPr>
        <p:spPr>
          <a:xfrm flipH="1" rot="10800000">
            <a:off x="1676400" y="2514600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9"/>
          <p:cNvCxnSpPr/>
          <p:nvPr/>
        </p:nvCxnSpPr>
        <p:spPr>
          <a:xfrm flipH="1" rot="10800000">
            <a:off x="1676400" y="3276600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9"/>
          <p:cNvCxnSpPr/>
          <p:nvPr/>
        </p:nvCxnSpPr>
        <p:spPr>
          <a:xfrm>
            <a:off x="1676400" y="3276600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9"/>
          <p:cNvCxnSpPr/>
          <p:nvPr/>
        </p:nvCxnSpPr>
        <p:spPr>
          <a:xfrm flipH="1">
            <a:off x="6248400" y="3957638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9"/>
          <p:cNvCxnSpPr/>
          <p:nvPr/>
        </p:nvCxnSpPr>
        <p:spPr>
          <a:xfrm>
            <a:off x="5410200" y="3957638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9"/>
          <p:cNvSpPr txBox="1"/>
          <p:nvPr/>
        </p:nvSpPr>
        <p:spPr>
          <a:xfrm>
            <a:off x="1447800" y="4572000"/>
            <a:ext cx="1981200" cy="369888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thị nửa Euler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6781800" y="4572000"/>
            <a:ext cx="1676400" cy="3693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thị Euler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2362200" y="23622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3048000" y="31242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2971800" y="41910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524000" y="41148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1524000" y="30480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255" name="Google Shape;255;p9"/>
          <p:cNvCxnSpPr/>
          <p:nvPr/>
        </p:nvCxnSpPr>
        <p:spPr>
          <a:xfrm>
            <a:off x="5410200" y="2971800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9"/>
          <p:cNvCxnSpPr/>
          <p:nvPr/>
        </p:nvCxnSpPr>
        <p:spPr>
          <a:xfrm>
            <a:off x="5410200" y="4038600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9"/>
          <p:cNvCxnSpPr/>
          <p:nvPr/>
        </p:nvCxnSpPr>
        <p:spPr>
          <a:xfrm>
            <a:off x="5410200" y="2971800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9"/>
          <p:cNvCxnSpPr/>
          <p:nvPr/>
        </p:nvCxnSpPr>
        <p:spPr>
          <a:xfrm rot="10800000">
            <a:off x="6248400" y="2209800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9"/>
          <p:cNvCxnSpPr/>
          <p:nvPr/>
        </p:nvCxnSpPr>
        <p:spPr>
          <a:xfrm flipH="1" rot="10800000">
            <a:off x="5410200" y="2209800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9"/>
          <p:cNvCxnSpPr/>
          <p:nvPr/>
        </p:nvCxnSpPr>
        <p:spPr>
          <a:xfrm flipH="1" rot="10800000">
            <a:off x="5410200" y="2971800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9"/>
          <p:cNvCxnSpPr/>
          <p:nvPr/>
        </p:nvCxnSpPr>
        <p:spPr>
          <a:xfrm>
            <a:off x="5410200" y="2971800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9"/>
          <p:cNvSpPr/>
          <p:nvPr/>
        </p:nvSpPr>
        <p:spPr>
          <a:xfrm>
            <a:off x="6096000" y="20574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781800" y="28194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705600" y="38862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257800" y="38100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5257800" y="27432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267" name="Google Shape;267;p9"/>
          <p:cNvCxnSpPr/>
          <p:nvPr/>
        </p:nvCxnSpPr>
        <p:spPr>
          <a:xfrm flipH="1">
            <a:off x="6858000" y="3124200"/>
            <a:ext cx="76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9"/>
          <p:cNvSpPr/>
          <p:nvPr/>
        </p:nvSpPr>
        <p:spPr>
          <a:xfrm>
            <a:off x="6096000" y="4495800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Euler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Thuật toán</a:t>
            </a:r>
            <a:endParaRPr/>
          </a:p>
        </p:txBody>
      </p:sp>
      <p:sp>
        <p:nvSpPr>
          <p:cNvPr id="276" name="Google Shape;276;p10"/>
          <p:cNvSpPr txBox="1"/>
          <p:nvPr>
            <p:ph idx="2" type="body"/>
          </p:nvPr>
        </p:nvSpPr>
        <p:spPr>
          <a:xfrm>
            <a:off x="457200" y="2174875"/>
            <a:ext cx="4040188" cy="39973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✔"/>
            </a:pPr>
            <a:r>
              <a:rPr lang="en-US">
                <a:solidFill>
                  <a:srgbClr val="FF0000"/>
                </a:solidFill>
              </a:rPr>
              <a:t>Thuật toán FLEURY</a:t>
            </a:r>
            <a:endParaRPr/>
          </a:p>
        </p:txBody>
      </p:sp>
      <p:sp>
        <p:nvSpPr>
          <p:cNvPr id="277" name="Google Shape;277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Euler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Đường đi, chu trình</a:t>
            </a:r>
            <a:endParaRPr/>
          </a:p>
        </p:txBody>
      </p:sp>
      <p:sp>
        <p:nvSpPr>
          <p:cNvPr id="286" name="Google Shape;28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</a:rPr>
              <a:t> G = (V, E)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/>
              <a:t>Chu trình (có hướng) Hamilton  là chu trình sơ cấp(có hướng) chứa tất cả các đỉnh của G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/>
              <a:t>Đường đi Hamilton G là đường sơ cấp chứ tất cả các đỉnh của G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Đồ thị Hamilton</a:t>
            </a:r>
            <a:endParaRPr/>
          </a:p>
        </p:txBody>
      </p:sp>
      <p:sp>
        <p:nvSpPr>
          <p:cNvPr id="288" name="Google Shape;28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Đồ thị Hamilton là đồ thị có chu trình Hamilton.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US">
                <a:solidFill>
                  <a:srgbClr val="002060"/>
                </a:solidFill>
              </a:rPr>
              <a:t>Đồ </a:t>
            </a:r>
            <a:r>
              <a:rPr lang="en-US">
                <a:solidFill>
                  <a:srgbClr val="002060"/>
                </a:solidFill>
              </a:rPr>
              <a:t>thị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nửa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Hamilton</a:t>
            </a:r>
            <a:r>
              <a:rPr lang="en-US">
                <a:solidFill>
                  <a:srgbClr val="002060"/>
                </a:solidFill>
              </a:rPr>
              <a:t> là đồ thị có đường Hamilton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99" y="4773564"/>
            <a:ext cx="3657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Hamilton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Ví dụ</a:t>
            </a:r>
            <a:endParaRPr/>
          </a:p>
        </p:txBody>
      </p:sp>
      <p:sp>
        <p:nvSpPr>
          <p:cNvPr id="298" name="Google Shape;298;p12"/>
          <p:cNvSpPr txBox="1"/>
          <p:nvPr>
            <p:ph idx="2" type="body"/>
          </p:nvPr>
        </p:nvSpPr>
        <p:spPr>
          <a:xfrm>
            <a:off x="457200" y="2209801"/>
            <a:ext cx="4040188" cy="2286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299" name="Google Shape;299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Ví dụ</a:t>
            </a:r>
            <a:endParaRPr/>
          </a:p>
        </p:txBody>
      </p:sp>
      <p:sp>
        <p:nvSpPr>
          <p:cNvPr id="300" name="Google Shape;300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Hamilton</a:t>
            </a:r>
            <a:endParaRPr/>
          </a:p>
        </p:txBody>
      </p:sp>
      <p:cxnSp>
        <p:nvCxnSpPr>
          <p:cNvPr id="303" name="Google Shape;303;p12"/>
          <p:cNvCxnSpPr/>
          <p:nvPr/>
        </p:nvCxnSpPr>
        <p:spPr>
          <a:xfrm>
            <a:off x="1460090" y="3646488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12"/>
          <p:cNvCxnSpPr/>
          <p:nvPr/>
        </p:nvCxnSpPr>
        <p:spPr>
          <a:xfrm>
            <a:off x="2984090" y="3646488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12"/>
          <p:cNvCxnSpPr/>
          <p:nvPr/>
        </p:nvCxnSpPr>
        <p:spPr>
          <a:xfrm>
            <a:off x="1460090" y="4713288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12"/>
          <p:cNvCxnSpPr/>
          <p:nvPr/>
        </p:nvCxnSpPr>
        <p:spPr>
          <a:xfrm>
            <a:off x="1460090" y="3646488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12"/>
          <p:cNvCxnSpPr/>
          <p:nvPr/>
        </p:nvCxnSpPr>
        <p:spPr>
          <a:xfrm rot="10800000">
            <a:off x="2298290" y="2884488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12"/>
          <p:cNvCxnSpPr/>
          <p:nvPr/>
        </p:nvCxnSpPr>
        <p:spPr>
          <a:xfrm flipH="1" rot="10800000">
            <a:off x="1460090" y="2884488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12"/>
          <p:cNvCxnSpPr/>
          <p:nvPr/>
        </p:nvCxnSpPr>
        <p:spPr>
          <a:xfrm flipH="1" rot="10800000">
            <a:off x="1460090" y="3646488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12"/>
          <p:cNvCxnSpPr/>
          <p:nvPr/>
        </p:nvCxnSpPr>
        <p:spPr>
          <a:xfrm>
            <a:off x="1460090" y="3646488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12"/>
          <p:cNvSpPr/>
          <p:nvPr/>
        </p:nvSpPr>
        <p:spPr>
          <a:xfrm>
            <a:off x="2145890" y="2732088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2831690" y="3494088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2755490" y="4560888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1307690" y="4484688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1307690" y="3417888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316" name="Google Shape;316;p12"/>
          <p:cNvCxnSpPr/>
          <p:nvPr/>
        </p:nvCxnSpPr>
        <p:spPr>
          <a:xfrm flipH="1" rot="10800000">
            <a:off x="2222090" y="3036888"/>
            <a:ext cx="76200" cy="1143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12"/>
          <p:cNvSpPr/>
          <p:nvPr/>
        </p:nvSpPr>
        <p:spPr>
          <a:xfrm>
            <a:off x="2096728" y="3455988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318" name="Google Shape;318;p12"/>
          <p:cNvCxnSpPr>
            <a:stCxn id="312" idx="3"/>
            <a:endCxn id="314" idx="6"/>
          </p:cNvCxnSpPr>
          <p:nvPr/>
        </p:nvCxnSpPr>
        <p:spPr>
          <a:xfrm rot="5400000">
            <a:off x="1802927" y="3563751"/>
            <a:ext cx="882900" cy="1263900"/>
          </a:xfrm>
          <a:prstGeom prst="curvedConnector2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2"/>
          <p:cNvSpPr/>
          <p:nvPr/>
        </p:nvSpPr>
        <p:spPr>
          <a:xfrm>
            <a:off x="2069690" y="4027488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320" name="Google Shape;320;p12"/>
          <p:cNvSpPr txBox="1"/>
          <p:nvPr/>
        </p:nvSpPr>
        <p:spPr>
          <a:xfrm>
            <a:off x="997973" y="5201265"/>
            <a:ext cx="2807110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thị không  nửa Euler</a:t>
            </a:r>
            <a:endParaRPr/>
          </a:p>
        </p:txBody>
      </p:sp>
      <p:cxnSp>
        <p:nvCxnSpPr>
          <p:cNvPr id="321" name="Google Shape;321;p12"/>
          <p:cNvCxnSpPr/>
          <p:nvPr/>
        </p:nvCxnSpPr>
        <p:spPr>
          <a:xfrm>
            <a:off x="6110630" y="3533424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12"/>
          <p:cNvCxnSpPr/>
          <p:nvPr/>
        </p:nvCxnSpPr>
        <p:spPr>
          <a:xfrm>
            <a:off x="7634630" y="3533424"/>
            <a:ext cx="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12"/>
          <p:cNvCxnSpPr/>
          <p:nvPr/>
        </p:nvCxnSpPr>
        <p:spPr>
          <a:xfrm>
            <a:off x="6110630" y="4600224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12"/>
          <p:cNvCxnSpPr/>
          <p:nvPr/>
        </p:nvCxnSpPr>
        <p:spPr>
          <a:xfrm>
            <a:off x="6110630" y="3533424"/>
            <a:ext cx="152400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12"/>
          <p:cNvCxnSpPr/>
          <p:nvPr/>
        </p:nvCxnSpPr>
        <p:spPr>
          <a:xfrm rot="10800000">
            <a:off x="6948830" y="2771424"/>
            <a:ext cx="6858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12"/>
          <p:cNvCxnSpPr/>
          <p:nvPr/>
        </p:nvCxnSpPr>
        <p:spPr>
          <a:xfrm flipH="1" rot="10800000">
            <a:off x="6110630" y="2771424"/>
            <a:ext cx="838200" cy="762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12"/>
          <p:cNvCxnSpPr/>
          <p:nvPr/>
        </p:nvCxnSpPr>
        <p:spPr>
          <a:xfrm flipH="1" rot="10800000">
            <a:off x="6110630" y="3533424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12"/>
          <p:cNvCxnSpPr/>
          <p:nvPr/>
        </p:nvCxnSpPr>
        <p:spPr>
          <a:xfrm>
            <a:off x="6110630" y="3533424"/>
            <a:ext cx="1524000" cy="1066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12"/>
          <p:cNvSpPr/>
          <p:nvPr/>
        </p:nvSpPr>
        <p:spPr>
          <a:xfrm>
            <a:off x="6796430" y="2619024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7482230" y="3381024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7406030" y="4447824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5958230" y="4371624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5958230" y="3304824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334" name="Google Shape;334;p12"/>
          <p:cNvCxnSpPr/>
          <p:nvPr/>
        </p:nvCxnSpPr>
        <p:spPr>
          <a:xfrm flipH="1" rot="10800000">
            <a:off x="6872630" y="2923824"/>
            <a:ext cx="76200" cy="1143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12"/>
          <p:cNvSpPr/>
          <p:nvPr/>
        </p:nvSpPr>
        <p:spPr>
          <a:xfrm>
            <a:off x="6747268" y="3342924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336" name="Google Shape;336;p12"/>
          <p:cNvCxnSpPr>
            <a:stCxn id="330" idx="3"/>
            <a:endCxn id="332" idx="6"/>
          </p:cNvCxnSpPr>
          <p:nvPr/>
        </p:nvCxnSpPr>
        <p:spPr>
          <a:xfrm rot="5400000">
            <a:off x="6453467" y="3450687"/>
            <a:ext cx="882900" cy="1263900"/>
          </a:xfrm>
          <a:prstGeom prst="curvedConnector2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2"/>
          <p:cNvSpPr/>
          <p:nvPr/>
        </p:nvSpPr>
        <p:spPr>
          <a:xfrm>
            <a:off x="6720230" y="3914424"/>
            <a:ext cx="304800" cy="30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EE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338" name="Google Shape;338;p12"/>
          <p:cNvSpPr txBox="1"/>
          <p:nvPr/>
        </p:nvSpPr>
        <p:spPr>
          <a:xfrm>
            <a:off x="5316675" y="5183748"/>
            <a:ext cx="2807110" cy="369332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thị Halmilton</a:t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13"/>
          <p:cNvGrpSpPr/>
          <p:nvPr/>
        </p:nvGrpSpPr>
        <p:grpSpPr>
          <a:xfrm>
            <a:off x="457200" y="1600647"/>
            <a:ext cx="8229599" cy="4525515"/>
            <a:chOff x="0" y="447"/>
            <a:chExt cx="8229599" cy="4525515"/>
          </a:xfrm>
        </p:grpSpPr>
        <p:sp>
          <p:nvSpPr>
            <p:cNvPr id="345" name="Google Shape;345;p13"/>
            <p:cNvSpPr/>
            <p:nvPr/>
          </p:nvSpPr>
          <p:spPr>
            <a:xfrm rot="5400000">
              <a:off x="-245635" y="246082"/>
              <a:ext cx="1637567" cy="1146297"/>
            </a:xfrm>
            <a:prstGeom prst="chevron">
              <a:avLst>
                <a:gd fmla="val 50000" name="adj"/>
              </a:avLst>
            </a:prstGeom>
            <a:solidFill>
              <a:srgbClr val="6666FF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3"/>
            <p:cNvSpPr txBox="1"/>
            <p:nvPr/>
          </p:nvSpPr>
          <p:spPr>
            <a:xfrm>
              <a:off x="1" y="573596"/>
              <a:ext cx="1146297" cy="491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Times New Roman"/>
                <a:buNone/>
              </a:pPr>
              <a:r>
                <a:rPr lang="en-US" sz="3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ĐL1</a:t>
              </a:r>
              <a:endParaRPr/>
            </a:p>
          </p:txBody>
        </p:sp>
        <p:sp>
          <p:nvSpPr>
            <p:cNvPr id="347" name="Google Shape;347;p13"/>
            <p:cNvSpPr/>
            <p:nvPr/>
          </p:nvSpPr>
          <p:spPr>
            <a:xfrm rot="5400000">
              <a:off x="4155739" y="-3008994"/>
              <a:ext cx="1064418" cy="708330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3"/>
            <p:cNvSpPr txBox="1"/>
            <p:nvPr/>
          </p:nvSpPr>
          <p:spPr>
            <a:xfrm>
              <a:off x="1146298" y="52408"/>
              <a:ext cx="7031341" cy="960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99125" spcFirstLastPara="1" rIns="17775" wrap="square" tIns="177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 – đơn đồ thị, |V|3, , thì G đồ thị Hamilton</a:t>
              </a:r>
              <a:endParaRPr/>
            </a:p>
          </p:txBody>
        </p:sp>
        <p:sp>
          <p:nvSpPr>
            <p:cNvPr id="349" name="Google Shape;349;p13"/>
            <p:cNvSpPr/>
            <p:nvPr/>
          </p:nvSpPr>
          <p:spPr>
            <a:xfrm rot="5400000">
              <a:off x="-245635" y="1689832"/>
              <a:ext cx="1637567" cy="1146297"/>
            </a:xfrm>
            <a:prstGeom prst="chevron">
              <a:avLst>
                <a:gd fmla="val 50000" name="adj"/>
              </a:avLst>
            </a:prstGeom>
            <a:solidFill>
              <a:srgbClr val="6666FF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3"/>
            <p:cNvSpPr txBox="1"/>
            <p:nvPr/>
          </p:nvSpPr>
          <p:spPr>
            <a:xfrm>
              <a:off x="1" y="2017346"/>
              <a:ext cx="1146297" cy="491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Times New Roman"/>
                <a:buNone/>
              </a:pPr>
              <a:r>
                <a:rPr lang="en-US" sz="2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ĐL2</a:t>
              </a:r>
              <a:endParaRPr/>
            </a:p>
          </p:txBody>
        </p:sp>
        <p:sp>
          <p:nvSpPr>
            <p:cNvPr id="351" name="Google Shape;351;p13"/>
            <p:cNvSpPr/>
            <p:nvPr/>
          </p:nvSpPr>
          <p:spPr>
            <a:xfrm rot="5400000">
              <a:off x="4155739" y="-1565244"/>
              <a:ext cx="1064418" cy="708330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3"/>
            <p:cNvSpPr txBox="1"/>
            <p:nvPr/>
          </p:nvSpPr>
          <p:spPr>
            <a:xfrm>
              <a:off x="1146298" y="1496158"/>
              <a:ext cx="7031341" cy="960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99125" spcFirstLastPara="1" rIns="17775" wrap="square" tIns="177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 – đơn đồ thị, |V|3, , thì G đồ thị </a:t>
              </a:r>
              <a:r>
                <a:rPr lang="en-US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nửa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Hamilton</a:t>
              </a:r>
              <a:endParaRPr/>
            </a:p>
          </p:txBody>
        </p:sp>
        <p:sp>
          <p:nvSpPr>
            <p:cNvPr id="353" name="Google Shape;353;p13"/>
            <p:cNvSpPr/>
            <p:nvPr/>
          </p:nvSpPr>
          <p:spPr>
            <a:xfrm rot="5400000">
              <a:off x="-245635" y="3134030"/>
              <a:ext cx="1637567" cy="1146297"/>
            </a:xfrm>
            <a:prstGeom prst="chevron">
              <a:avLst>
                <a:gd fmla="val 50000" name="adj"/>
              </a:avLst>
            </a:prstGeom>
            <a:solidFill>
              <a:srgbClr val="6666FF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3"/>
            <p:cNvSpPr txBox="1"/>
            <p:nvPr/>
          </p:nvSpPr>
          <p:spPr>
            <a:xfrm>
              <a:off x="1" y="3461544"/>
              <a:ext cx="1146297" cy="491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Times New Roman"/>
                <a:buNone/>
              </a:pPr>
              <a:r>
                <a:rPr lang="en-US" sz="2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ĐL 3</a:t>
              </a: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 rot="5400000">
              <a:off x="4155739" y="-121494"/>
              <a:ext cx="1064418" cy="708330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3"/>
            <p:cNvSpPr txBox="1"/>
            <p:nvPr/>
          </p:nvSpPr>
          <p:spPr>
            <a:xfrm>
              <a:off x="1146298" y="2939908"/>
              <a:ext cx="7031341" cy="960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99125" spcFirstLastPara="1" rIns="17775" wrap="square" tIns="177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 – đồ thị đầy đủ, thì G đồ thị </a:t>
              </a:r>
              <a:r>
                <a:rPr lang="en-US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nửa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Hamilton</a:t>
              </a:r>
              <a:endParaRPr/>
            </a:p>
          </p:txBody>
        </p:sp>
      </p:grpSp>
      <p:sp>
        <p:nvSpPr>
          <p:cNvPr id="357" name="Google Shape;357;p1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358" name="Google Shape;358;p1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1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 txBox="1"/>
          <p:nvPr/>
        </p:nvSpPr>
        <p:spPr>
          <a:xfrm>
            <a:off x="609600" y="5334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thi Hamilton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Mã Gray</a:t>
            </a:r>
            <a:endParaRPr/>
          </a:p>
        </p:txBody>
      </p:sp>
      <p:sp>
        <p:nvSpPr>
          <p:cNvPr id="366" name="Google Shape;366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60" r="0" t="-12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67" name="Google Shape;367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Siêu khối</a:t>
            </a:r>
            <a:endParaRPr/>
          </a:p>
        </p:txBody>
      </p:sp>
      <p:sp>
        <p:nvSpPr>
          <p:cNvPr id="368" name="Google Shape;368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Siêu khối cấp n là đồ thị có  2</a:t>
            </a:r>
            <a:r>
              <a:rPr baseline="30000" lang="en-US"/>
              <a:t>n</a:t>
            </a:r>
            <a:r>
              <a:rPr lang="en-US"/>
              <a:t> đỉnh được gán </a:t>
            </a:r>
            <a:r>
              <a:rPr lang="en-US"/>
              <a:t>nhãn</a:t>
            </a:r>
            <a:r>
              <a:rPr lang="en-US"/>
              <a:t> từ 0,1,…, 2</a:t>
            </a:r>
            <a:r>
              <a:rPr baseline="30000" lang="en-US"/>
              <a:t>n</a:t>
            </a:r>
            <a:r>
              <a:rPr lang="en-US"/>
              <a:t> -1, trong đó hai đỉnh kề nhau nếu biểu diễn nhị phân n </a:t>
            </a:r>
            <a:r>
              <a:rPr lang="en-US"/>
              <a:t>bit, sao cho</a:t>
            </a:r>
            <a:r>
              <a:rPr lang="en-US"/>
              <a:t> chỉ khác nhau đúng 1 </a:t>
            </a:r>
            <a:r>
              <a:rPr lang="en-US"/>
              <a:t>bit</a:t>
            </a:r>
            <a:endParaRPr/>
          </a:p>
        </p:txBody>
      </p:sp>
      <p:sp>
        <p:nvSpPr>
          <p:cNvPr id="369" name="Google Shape;3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 txBox="1"/>
          <p:nvPr/>
        </p:nvSpPr>
        <p:spPr>
          <a:xfrm>
            <a:off x="457200" y="381000"/>
            <a:ext cx="8229600" cy="685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 thị siêu khối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1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219200"/>
            <a:ext cx="6858000" cy="35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7" name="Google Shape;377;p15"/>
          <p:cNvSpPr txBox="1"/>
          <p:nvPr/>
        </p:nvSpPr>
        <p:spPr>
          <a:xfrm>
            <a:off x="2057400" y="4191000"/>
            <a:ext cx="4876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ALL; THANK YOU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1371600" y="5181600"/>
            <a:ext cx="61722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NEXT?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Cây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2012-10-08T14:52:04Z</dcterms:created>
  <dc:creator>mc</dc:creator>
</cp:coreProperties>
</file>