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6858000" cx="9144000"/>
  <p:notesSz cx="6858000" cy="9144000"/>
  <p:embeddedFontLst>
    <p:embeddedFont>
      <p:font typeface="Book Antiqua"/>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http://customooxmlschemas.google.com/">
      <go:slidesCustomData xmlns:go="http://customooxmlschemas.google.com/" r:id="rId47" roundtripDataSignature="AMtx7mgsjQ5yo/skFCSBFAbQ55tC4vmI2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7C9CF6C-B248-4C78-ACE5-C0BCF73AE455}">
  <a:tblStyle styleId="{F7C9CF6C-B248-4C78-ACE5-C0BCF73AE455}" styleName="Table_0">
    <a:wholeTbl>
      <a:tcTxStyle b="off" i="off">
        <a:font>
          <a:latin typeface="Times New Roman"/>
          <a:ea typeface="Times New Roman"/>
          <a:cs typeface="Times New Roman"/>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9F9F9"/>
          </a:solidFill>
        </a:fill>
      </a:tcStyle>
    </a:wholeTbl>
    <a:band1H>
      <a:tcTxStyle/>
      <a:tcStyle>
        <a:fill>
          <a:solidFill>
            <a:srgbClr val="F2F2F2"/>
          </a:solidFill>
        </a:fill>
      </a:tcStyle>
    </a:band1H>
    <a:band2H>
      <a:tcTxStyle/>
    </a:band2H>
    <a:band1V>
      <a:tcTxStyle/>
      <a:tcStyle>
        <a:fill>
          <a:solidFill>
            <a:srgbClr val="F2F2F2"/>
          </a:solidFill>
        </a:fill>
      </a:tcStyle>
    </a:band1V>
    <a:band2V>
      <a:tcTxStyle/>
    </a:band2V>
    <a:lastCol>
      <a:tcTxStyle b="on" i="off">
        <a:font>
          <a:latin typeface="Times New Roman"/>
          <a:ea typeface="Times New Roman"/>
          <a:cs typeface="Times New Roman"/>
        </a:font>
        <a:schemeClr val="lt1"/>
      </a:tcTxStyle>
      <a:tcStyle>
        <a:fill>
          <a:solidFill>
            <a:schemeClr val="accent1"/>
          </a:solidFill>
        </a:fill>
      </a:tcStyle>
    </a:lastCol>
    <a:firstCol>
      <a:tcTxStyle b="on" i="off">
        <a:font>
          <a:latin typeface="Times New Roman"/>
          <a:ea typeface="Times New Roman"/>
          <a:cs typeface="Times New Roman"/>
        </a:font>
        <a:schemeClr val="lt1"/>
      </a:tcTxStyle>
      <a:tcStyle>
        <a:fill>
          <a:solidFill>
            <a:schemeClr val="accent1"/>
          </a:solidFill>
        </a:fill>
      </a:tcStyle>
    </a:firstCol>
    <a:lastRow>
      <a:tcTxStyle b="on" i="off">
        <a:font>
          <a:latin typeface="Times New Roman"/>
          <a:ea typeface="Times New Roman"/>
          <a:cs typeface="Times New Roman"/>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Times New Roman"/>
          <a:ea typeface="Times New Roman"/>
          <a:cs typeface="Times New Roman"/>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BookAntiqua-bold.fntdata"/><Relationship Id="rId21" Type="http://schemas.openxmlformats.org/officeDocument/2006/relationships/slide" Target="slides/slide15.xml"/><Relationship Id="rId43" Type="http://schemas.openxmlformats.org/officeDocument/2006/relationships/font" Target="fonts/BookAntiqua-regular.fntdata"/><Relationship Id="rId24" Type="http://schemas.openxmlformats.org/officeDocument/2006/relationships/slide" Target="slides/slide18.xml"/><Relationship Id="rId46" Type="http://schemas.openxmlformats.org/officeDocument/2006/relationships/font" Target="fonts/BookAntiqua-boldItalic.fntdata"/><Relationship Id="rId23" Type="http://schemas.openxmlformats.org/officeDocument/2006/relationships/slide" Target="slides/slide17.xml"/><Relationship Id="rId45" Type="http://schemas.openxmlformats.org/officeDocument/2006/relationships/font" Target="fonts/BookAntiqua-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customschemas.google.com/relationships/presentationmetadata" Target="meta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rgbClr val="002060"/>
                </a:solidFill>
              </a:rPr>
              <a:t>Trong các đồ thị sau, đồ thị nào là cây?</a:t>
            </a:r>
            <a:endParaRPr/>
          </a:p>
          <a:p>
            <a:pPr indent="0" lvl="0" marL="0" marR="0" rtl="0" algn="l">
              <a:lnSpc>
                <a:spcPct val="100000"/>
              </a:lnSpc>
              <a:spcBef>
                <a:spcPts val="360"/>
              </a:spcBef>
              <a:spcAft>
                <a:spcPts val="0"/>
              </a:spcAft>
              <a:buClr>
                <a:srgbClr val="002060"/>
              </a:buClr>
              <a:buSzPts val="1200"/>
              <a:buFont typeface="Calibri"/>
              <a:buNone/>
            </a:pPr>
            <a:r>
              <a:rPr lang="en-US" sz="1200">
                <a:solidFill>
                  <a:srgbClr val="002060"/>
                </a:solidFill>
              </a:rPr>
              <a:t>Cả 3 đồ thị trên đều là cây.</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solidFill>
                  <a:srgbClr val="002060"/>
                </a:solidFill>
              </a:rPr>
              <a:t>Trong các đồ thị sau, đồ thị nào là cây?</a:t>
            </a:r>
            <a:endParaRPr/>
          </a:p>
          <a:p>
            <a:pPr indent="0" lvl="0" marL="0" marR="0" rtl="0" algn="l">
              <a:lnSpc>
                <a:spcPct val="100000"/>
              </a:lnSpc>
              <a:spcBef>
                <a:spcPts val="360"/>
              </a:spcBef>
              <a:spcAft>
                <a:spcPts val="0"/>
              </a:spcAft>
              <a:buClr>
                <a:srgbClr val="002060"/>
              </a:buClr>
              <a:buSzPts val="1200"/>
              <a:buFont typeface="Calibri"/>
              <a:buNone/>
            </a:pPr>
            <a:r>
              <a:rPr lang="en-US">
                <a:solidFill>
                  <a:srgbClr val="002060"/>
                </a:solidFill>
              </a:rPr>
              <a:t>G1, G2 là cây. G3, G4 không là cây do có chứa chu trình</a:t>
            </a:r>
            <a:endParaRPr>
              <a:solidFill>
                <a:srgbClr val="002060"/>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9" name="Google Shape;12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2060"/>
              </a:buClr>
              <a:buSzPts val="1200"/>
              <a:buFont typeface="Calibri"/>
              <a:buNone/>
            </a:pPr>
            <a:r>
              <a:rPr lang="en-US" sz="1200">
                <a:solidFill>
                  <a:srgbClr val="002060"/>
                </a:solidFill>
              </a:rPr>
              <a:t>Đồ thị trên là rừng có 3 cây</a:t>
            </a:r>
            <a:endParaRPr sz="1200">
              <a:solidFill>
                <a:srgbClr val="002060"/>
              </a:solidFill>
            </a:endParaRPr>
          </a:p>
          <a:p>
            <a:pPr indent="0" lvl="0" marL="0" rtl="0" algn="l">
              <a:spcBef>
                <a:spcPts val="0"/>
              </a:spcBef>
              <a:spcAft>
                <a:spcPts val="0"/>
              </a:spcAft>
              <a:buNone/>
            </a:pPr>
            <a:r>
              <a:t/>
            </a:r>
            <a:endParaRPr>
              <a:latin typeface="Calibri"/>
              <a:ea typeface="Calibri"/>
              <a:cs typeface="Calibri"/>
              <a:sym typeface="Calibri"/>
            </a:endParaRPr>
          </a:p>
        </p:txBody>
      </p:sp>
      <p:sp>
        <p:nvSpPr>
          <p:cNvPr id="130" name="Google Shape;130;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4" name="Google Shape;144;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2060"/>
              </a:buClr>
              <a:buSzPts val="1200"/>
              <a:buFont typeface="Calibri"/>
              <a:buNone/>
            </a:pPr>
            <a:r>
              <a:rPr lang="en-US" sz="1200">
                <a:solidFill>
                  <a:srgbClr val="002060"/>
                </a:solidFill>
              </a:rPr>
              <a:t>Đồ thị trên là rừng có 3 cây</a:t>
            </a:r>
            <a:endParaRPr sz="1200">
              <a:solidFill>
                <a:srgbClr val="002060"/>
              </a:solidFill>
            </a:endParaRPr>
          </a:p>
          <a:p>
            <a:pPr indent="0" lvl="0" marL="0" rtl="0" algn="l">
              <a:spcBef>
                <a:spcPts val="0"/>
              </a:spcBef>
              <a:spcAft>
                <a:spcPts val="0"/>
              </a:spcAft>
              <a:buNone/>
            </a:pPr>
            <a:r>
              <a:t/>
            </a:r>
            <a:endParaRPr>
              <a:latin typeface="Calibri"/>
              <a:ea typeface="Calibri"/>
              <a:cs typeface="Calibri"/>
              <a:sym typeface="Calibri"/>
            </a:endParaRPr>
          </a:p>
        </p:txBody>
      </p:sp>
      <p:sp>
        <p:nvSpPr>
          <p:cNvPr id="145" name="Google Shape;145;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7" name="Google Shape;157;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Đường đi đơn là đường đi không lặp  đỉnh</a:t>
            </a:r>
            <a:endParaRPr/>
          </a:p>
          <a:p>
            <a:pPr indent="0" lvl="0" marL="0" rtl="0" algn="l">
              <a:spcBef>
                <a:spcPts val="0"/>
              </a:spcBef>
              <a:spcAft>
                <a:spcPts val="0"/>
              </a:spcAft>
              <a:buNone/>
            </a:pPr>
            <a:r>
              <a:rPr lang="en-US"/>
              <a:t>Đương đi erlur là đường đi không lặp cạnh </a:t>
            </a:r>
            <a:endParaRPr/>
          </a:p>
          <a:p>
            <a:pPr indent="0" lvl="0" marL="0" rtl="0" algn="l">
              <a:spcBef>
                <a:spcPts val="0"/>
              </a:spcBef>
              <a:spcAft>
                <a:spcPts val="0"/>
              </a:spcAft>
              <a:buNone/>
            </a:pPr>
            <a:r>
              <a:rPr lang="en-US"/>
              <a:t>Cạnh cắt là cạnh nếu loại bỏ nó thì đồ thị liên thông thành không liên thông</a:t>
            </a:r>
            <a:endParaRPr/>
          </a:p>
          <a:p>
            <a:pPr indent="0" lvl="0" marL="0" rtl="0" algn="l">
              <a:spcBef>
                <a:spcPts val="0"/>
              </a:spcBef>
              <a:spcAft>
                <a:spcPts val="0"/>
              </a:spcAft>
              <a:buNone/>
            </a:pPr>
            <a:r>
              <a:rPr b="1" lang="en-US"/>
              <a:t>Chứng minh: 1 =&gt;2 =&gt;3 =&gt; 4 =&gt; 5 =&gt;6 =&gt;1</a:t>
            </a:r>
            <a:endParaRPr b="1"/>
          </a:p>
        </p:txBody>
      </p:sp>
      <p:sp>
        <p:nvSpPr>
          <p:cNvPr id="158" name="Google Shape;158;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b="1"/>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b="1"/>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233" name="Google Shape;233;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Định lý: số cây khung của đồ thị đầy đủ K</a:t>
            </a:r>
            <a:r>
              <a:rPr b="1" baseline="-25000" lang="en-US">
                <a:solidFill>
                  <a:srgbClr val="002060"/>
                </a:solidFill>
              </a:rPr>
              <a:t>n</a:t>
            </a:r>
            <a:r>
              <a:rPr b="1" lang="en-US">
                <a:solidFill>
                  <a:srgbClr val="002060"/>
                </a:solidFill>
              </a:rPr>
              <a:t> là n</a:t>
            </a:r>
            <a:r>
              <a:rPr b="1" baseline="30000" lang="en-US">
                <a:solidFill>
                  <a:srgbClr val="002060"/>
                </a:solidFill>
              </a:rPr>
              <a:t>n-2</a:t>
            </a:r>
            <a:endParaRPr b="1"/>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Định lý: số cây khung của đồ thị đầy đủ K</a:t>
            </a:r>
            <a:r>
              <a:rPr b="1" baseline="-25000" lang="en-US">
                <a:solidFill>
                  <a:srgbClr val="002060"/>
                </a:solidFill>
              </a:rPr>
              <a:t>n</a:t>
            </a:r>
            <a:r>
              <a:rPr b="1" lang="en-US">
                <a:solidFill>
                  <a:srgbClr val="002060"/>
                </a:solidFill>
              </a:rPr>
              <a:t> là n</a:t>
            </a:r>
            <a:r>
              <a:rPr b="1" baseline="30000" lang="en-US">
                <a:solidFill>
                  <a:srgbClr val="002060"/>
                </a:solidFill>
              </a:rPr>
              <a:t>n-2</a:t>
            </a:r>
            <a:endParaRPr b="1"/>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Định lý: số cây khung của đồ thị đầy đủ K</a:t>
            </a:r>
            <a:r>
              <a:rPr b="1" baseline="-25000" lang="en-US">
                <a:solidFill>
                  <a:srgbClr val="002060"/>
                </a:solidFill>
              </a:rPr>
              <a:t>n</a:t>
            </a:r>
            <a:r>
              <a:rPr b="1" lang="en-US">
                <a:solidFill>
                  <a:srgbClr val="002060"/>
                </a:solidFill>
              </a:rPr>
              <a:t> là n</a:t>
            </a:r>
            <a:r>
              <a:rPr b="1" baseline="30000" lang="en-US">
                <a:solidFill>
                  <a:srgbClr val="002060"/>
                </a:solidFill>
              </a:rPr>
              <a:t>n-2</a:t>
            </a:r>
            <a:endParaRPr b="1"/>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Định lý: số cây khung của đồ thị đầy đủ K</a:t>
            </a:r>
            <a:r>
              <a:rPr b="1" baseline="-25000" lang="en-US">
                <a:solidFill>
                  <a:srgbClr val="002060"/>
                </a:solidFill>
              </a:rPr>
              <a:t>n</a:t>
            </a:r>
            <a:r>
              <a:rPr b="1" lang="en-US">
                <a:solidFill>
                  <a:srgbClr val="002060"/>
                </a:solidFill>
              </a:rPr>
              <a:t> là n</a:t>
            </a:r>
            <a:r>
              <a:rPr b="1" baseline="30000" lang="en-US">
                <a:solidFill>
                  <a:srgbClr val="002060"/>
                </a:solidFill>
              </a:rPr>
              <a:t>n-2</a:t>
            </a:r>
            <a:endParaRPr b="1"/>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Định lý: số cây khung của đồ thị đầy đủ K</a:t>
            </a:r>
            <a:r>
              <a:rPr b="1" baseline="-25000" lang="en-US">
                <a:solidFill>
                  <a:srgbClr val="002060"/>
                </a:solidFill>
              </a:rPr>
              <a:t>n</a:t>
            </a:r>
            <a:r>
              <a:rPr b="1" lang="en-US">
                <a:solidFill>
                  <a:srgbClr val="002060"/>
                </a:solidFill>
              </a:rPr>
              <a:t> là n</a:t>
            </a:r>
            <a:r>
              <a:rPr b="1" baseline="30000" lang="en-US">
                <a:solidFill>
                  <a:srgbClr val="002060"/>
                </a:solidFill>
              </a:rPr>
              <a:t>n-2</a:t>
            </a:r>
            <a:endParaRPr b="1"/>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b="1"/>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Định lý: số cây khung của đồ thị đầy đủ K</a:t>
            </a:r>
            <a:r>
              <a:rPr b="1" baseline="-25000" lang="en-US">
                <a:solidFill>
                  <a:srgbClr val="002060"/>
                </a:solidFill>
              </a:rPr>
              <a:t>n</a:t>
            </a:r>
            <a:r>
              <a:rPr b="1" lang="en-US">
                <a:solidFill>
                  <a:srgbClr val="002060"/>
                </a:solidFill>
              </a:rPr>
              <a:t> là n</a:t>
            </a:r>
            <a:r>
              <a:rPr b="1" baseline="30000" lang="en-US">
                <a:solidFill>
                  <a:srgbClr val="002060"/>
                </a:solidFill>
              </a:rPr>
              <a:t>n-2</a:t>
            </a:r>
            <a:endParaRPr b="1"/>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Định lý: số cây khung của đồ thị đầy đủ K</a:t>
            </a:r>
            <a:r>
              <a:rPr b="1" baseline="-25000" lang="en-US">
                <a:solidFill>
                  <a:srgbClr val="002060"/>
                </a:solidFill>
              </a:rPr>
              <a:t>n</a:t>
            </a:r>
            <a:r>
              <a:rPr b="1" lang="en-US">
                <a:solidFill>
                  <a:srgbClr val="002060"/>
                </a:solidFill>
              </a:rPr>
              <a:t> là n</a:t>
            </a:r>
            <a:r>
              <a:rPr b="1" baseline="30000" lang="en-US">
                <a:solidFill>
                  <a:srgbClr val="002060"/>
                </a:solidFill>
              </a:rPr>
              <a:t>n-2</a:t>
            </a:r>
            <a:endParaRPr b="1"/>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b="1"/>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b="1"/>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Định lý: số cây khung của đồ thị đầy đủ K</a:t>
            </a:r>
            <a:r>
              <a:rPr b="1" baseline="-25000" lang="en-US">
                <a:solidFill>
                  <a:srgbClr val="002060"/>
                </a:solidFill>
              </a:rPr>
              <a:t>n</a:t>
            </a:r>
            <a:r>
              <a:rPr b="1" lang="en-US">
                <a:solidFill>
                  <a:srgbClr val="002060"/>
                </a:solidFill>
              </a:rPr>
              <a:t> là n</a:t>
            </a:r>
            <a:r>
              <a:rPr b="1" baseline="30000" lang="en-US">
                <a:solidFill>
                  <a:srgbClr val="002060"/>
                </a:solidFill>
              </a:rPr>
              <a:t>n-2</a:t>
            </a:r>
            <a:endParaRPr b="1"/>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Ví dụ tiếp theo</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Ví dụ tiếp theo</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Định lý: số cây khung của đồ thị đầy đủ K</a:t>
            </a:r>
            <a:r>
              <a:rPr b="1" baseline="-25000" lang="en-US">
                <a:solidFill>
                  <a:srgbClr val="002060"/>
                </a:solidFill>
              </a:rPr>
              <a:t>n</a:t>
            </a:r>
            <a:r>
              <a:rPr b="1" lang="en-US">
                <a:solidFill>
                  <a:srgbClr val="002060"/>
                </a:solidFill>
              </a:rPr>
              <a:t> là n</a:t>
            </a:r>
            <a:r>
              <a:rPr b="1" baseline="30000" lang="en-US">
                <a:solidFill>
                  <a:srgbClr val="002060"/>
                </a:solidFill>
              </a:rPr>
              <a:t>n-2</a:t>
            </a:r>
            <a:endParaRPr b="1"/>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Định lý: số cây khung của đồ thị đầy đủ K</a:t>
            </a:r>
            <a:r>
              <a:rPr b="1" baseline="-25000" lang="en-US">
                <a:solidFill>
                  <a:srgbClr val="002060"/>
                </a:solidFill>
              </a:rPr>
              <a:t>n</a:t>
            </a:r>
            <a:r>
              <a:rPr b="1" lang="en-US">
                <a:solidFill>
                  <a:srgbClr val="002060"/>
                </a:solidFill>
              </a:rPr>
              <a:t> là n</a:t>
            </a:r>
            <a:r>
              <a:rPr b="1" baseline="30000" lang="en-US">
                <a:solidFill>
                  <a:srgbClr val="002060"/>
                </a:solidFill>
              </a:rPr>
              <a:t>n-2</a:t>
            </a:r>
            <a:endParaRPr b="1"/>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3" name="Google Shape;623;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Định lý: số cây khung của đồ thị đầy đủ K</a:t>
            </a:r>
            <a:r>
              <a:rPr b="1" baseline="-25000" lang="en-US">
                <a:solidFill>
                  <a:srgbClr val="002060"/>
                </a:solidFill>
              </a:rPr>
              <a:t>n</a:t>
            </a:r>
            <a:r>
              <a:rPr b="1" lang="en-US">
                <a:solidFill>
                  <a:srgbClr val="002060"/>
                </a:solidFill>
              </a:rPr>
              <a:t> là n</a:t>
            </a:r>
            <a:r>
              <a:rPr b="1" baseline="30000" lang="en-US">
                <a:solidFill>
                  <a:srgbClr val="002060"/>
                </a:solidFill>
              </a:rPr>
              <a:t>n-2</a:t>
            </a:r>
            <a:endParaRPr b="1"/>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Định lý: số cây khung của đồ thị đầy đủ K</a:t>
            </a:r>
            <a:r>
              <a:rPr b="1" baseline="-25000" lang="en-US">
                <a:solidFill>
                  <a:srgbClr val="002060"/>
                </a:solidFill>
              </a:rPr>
              <a:t>n</a:t>
            </a:r>
            <a:r>
              <a:rPr b="1" lang="en-US">
                <a:solidFill>
                  <a:srgbClr val="002060"/>
                </a:solidFill>
              </a:rPr>
              <a:t> là n</a:t>
            </a:r>
            <a:r>
              <a:rPr b="1" baseline="30000" lang="en-US">
                <a:solidFill>
                  <a:srgbClr val="002060"/>
                </a:solidFill>
              </a:rPr>
              <a:t>n-2</a:t>
            </a:r>
            <a:endParaRPr b="1"/>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 name="Google Shape;645;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1" name="Google Shape;70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1" name="Google Shape;741;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b="1"/>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9" name="Google Shape;749;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8" name="Google Shape;758;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7" name="Google Shape;767;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5" name="Google Shape;775;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án Rời Rạc" type="obj">
  <p:cSld name="OBJECT">
    <p:spTree>
      <p:nvGrpSpPr>
        <p:cNvPr id="16" name="Shape 16"/>
        <p:cNvGrpSpPr/>
        <p:nvPr/>
      </p:nvGrpSpPr>
      <p:grpSpPr>
        <a:xfrm>
          <a:off x="0" y="0"/>
          <a:ext cx="0" cy="0"/>
          <a:chOff x="0" y="0"/>
          <a:chExt cx="0" cy="0"/>
        </a:xfrm>
      </p:grpSpPr>
      <p:sp>
        <p:nvSpPr>
          <p:cNvPr id="17" name="Google Shape;17;p38"/>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1"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 name="Google Shape;18;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38"/>
          <p:cNvSpPr txBox="1"/>
          <p:nvPr>
            <p:ph idx="10" type="dt"/>
          </p:nvPr>
        </p:nvSpPr>
        <p:spPr>
          <a:xfrm>
            <a:off x="381000" y="6492875"/>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8"/>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8"/>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2" name="Shape 22"/>
        <p:cNvGrpSpPr/>
        <p:nvPr/>
      </p:nvGrpSpPr>
      <p:grpSpPr>
        <a:xfrm>
          <a:off x="0" y="0"/>
          <a:ext cx="0" cy="0"/>
          <a:chOff x="0" y="0"/>
          <a:chExt cx="0" cy="0"/>
        </a:xfrm>
      </p:grpSpPr>
      <p:sp>
        <p:nvSpPr>
          <p:cNvPr id="23" name="Google Shape;23;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3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5" name="Google Shape;25;p3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6" name="Google Shape;26;p3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7" name="Google Shape;27;p3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8" name="Google Shape;28;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9"/>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9"/>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4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4" name="Google Shape;34;p4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5" name="Google Shape;35;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0"/>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0"/>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38" name="Shape 38"/>
        <p:cNvGrpSpPr/>
        <p:nvPr/>
      </p:nvGrpSpPr>
      <p:grpSpPr>
        <a:xfrm>
          <a:off x="0" y="0"/>
          <a:ext cx="0" cy="0"/>
          <a:chOff x="0" y="0"/>
          <a:chExt cx="0" cy="0"/>
        </a:xfrm>
      </p:grpSpPr>
      <p:sp>
        <p:nvSpPr>
          <p:cNvPr id="39" name="Google Shape;39;p4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0" name="Google Shape;40;p41"/>
          <p:cNvSpPr txBox="1"/>
          <p:nvPr>
            <p:ph idx="1" type="subTitle"/>
          </p:nvPr>
        </p:nvSpPr>
        <p:spPr>
          <a:xfrm>
            <a:off x="1371600" y="39624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41" name="Google Shape;41;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1"/>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43" name="Google Shape;43;p41"/>
          <p:cNvSpPr txBox="1"/>
          <p:nvPr>
            <p:ph idx="11" type="ftr"/>
          </p:nvPr>
        </p:nvSpPr>
        <p:spPr>
          <a:xfrm>
            <a:off x="2514600" y="6536938"/>
            <a:ext cx="3429000" cy="27699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44" name="Shape 44"/>
        <p:cNvGrpSpPr/>
        <p:nvPr/>
      </p:nvGrpSpPr>
      <p:grpSpPr>
        <a:xfrm>
          <a:off x="0" y="0"/>
          <a:ext cx="0" cy="0"/>
          <a:chOff x="0" y="0"/>
          <a:chExt cx="0" cy="0"/>
        </a:xfrm>
      </p:grpSpPr>
      <p:sp>
        <p:nvSpPr>
          <p:cNvPr id="45" name="Google Shape;45;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2"/>
          <p:cNvSpPr txBox="1"/>
          <p:nvPr>
            <p:ph idx="11" type="ftr"/>
          </p:nvPr>
        </p:nvSpPr>
        <p:spPr>
          <a:xfrm>
            <a:off x="2971800" y="6492875"/>
            <a:ext cx="35052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2"/>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sp>
        <p:nvSpPr>
          <p:cNvPr id="50" name="Google Shape;50;p4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4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52" name="Google Shape;52;p43"/>
          <p:cNvSpPr txBox="1"/>
          <p:nvPr>
            <p:ph idx="10" type="dt"/>
          </p:nvPr>
        </p:nvSpPr>
        <p:spPr>
          <a:xfrm>
            <a:off x="228600" y="6492875"/>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3"/>
          <p:cNvSpPr txBox="1"/>
          <p:nvPr>
            <p:ph idx="11" type="ftr"/>
          </p:nvPr>
        </p:nvSpPr>
        <p:spPr>
          <a:xfrm>
            <a:off x="2743200" y="6553200"/>
            <a:ext cx="35814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3"/>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4"/>
          <p:cNvSpPr txBox="1"/>
          <p:nvPr>
            <p:ph idx="11" type="ftr"/>
          </p:nvPr>
        </p:nvSpPr>
        <p:spPr>
          <a:xfrm>
            <a:off x="2667000" y="6477000"/>
            <a:ext cx="3352800" cy="381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4"/>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5"/>
          <p:cNvSpPr txBox="1"/>
          <p:nvPr>
            <p:ph idx="11" type="ftr"/>
          </p:nvPr>
        </p:nvSpPr>
        <p:spPr>
          <a:xfrm>
            <a:off x="2895600" y="6553200"/>
            <a:ext cx="35814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5"/>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4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6" name="Google Shape;66;p4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7" name="Google Shape;67;p4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8" name="Google Shape;68;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46"/>
          <p:cNvSpPr txBox="1"/>
          <p:nvPr>
            <p:ph idx="11" type="ftr"/>
          </p:nvPr>
        </p:nvSpPr>
        <p:spPr>
          <a:xfrm>
            <a:off x="2819400" y="6492875"/>
            <a:ext cx="34290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6"/>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4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 name="Google Shape;73;p47"/>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9pPr>
          </a:lstStyle>
          <a:p/>
        </p:txBody>
      </p:sp>
      <p:sp>
        <p:nvSpPr>
          <p:cNvPr id="74" name="Google Shape;74;p4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5" name="Google Shape;75;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7"/>
          <p:cNvSpPr txBox="1"/>
          <p:nvPr>
            <p:ph idx="11" type="ftr"/>
          </p:nvPr>
        </p:nvSpPr>
        <p:spPr>
          <a:xfrm>
            <a:off x="2895600" y="6613525"/>
            <a:ext cx="3429000" cy="2444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7"/>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p:cSld name="Title, Text, and 2 Content">
    <p:spTree>
      <p:nvGrpSpPr>
        <p:cNvPr id="78" name="Shape 78"/>
        <p:cNvGrpSpPr/>
        <p:nvPr/>
      </p:nvGrpSpPr>
      <p:grpSpPr>
        <a:xfrm>
          <a:off x="0" y="0"/>
          <a:ext cx="0" cy="0"/>
          <a:chOff x="0" y="0"/>
          <a:chExt cx="0" cy="0"/>
        </a:xfrm>
      </p:grpSpPr>
      <p:sp>
        <p:nvSpPr>
          <p:cNvPr id="79" name="Google Shape;79;p48"/>
          <p:cNvSpPr txBox="1"/>
          <p:nvPr>
            <p:ph idx="1" type="body"/>
          </p:nvPr>
        </p:nvSpPr>
        <p:spPr>
          <a:xfrm>
            <a:off x="304800" y="381000"/>
            <a:ext cx="3962400" cy="5867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 name="Google Shape;80;p48"/>
          <p:cNvSpPr txBox="1"/>
          <p:nvPr>
            <p:ph idx="2" type="body"/>
          </p:nvPr>
        </p:nvSpPr>
        <p:spPr>
          <a:xfrm>
            <a:off x="4419600" y="381000"/>
            <a:ext cx="3962400" cy="28575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8"/>
          <p:cNvSpPr txBox="1"/>
          <p:nvPr>
            <p:ph idx="3" type="body"/>
          </p:nvPr>
        </p:nvSpPr>
        <p:spPr>
          <a:xfrm>
            <a:off x="4419600" y="3390900"/>
            <a:ext cx="3962400" cy="28575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 name="Google Shape;8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8"/>
          <p:cNvSpPr txBox="1"/>
          <p:nvPr>
            <p:ph idx="11" type="ftr"/>
          </p:nvPr>
        </p:nvSpPr>
        <p:spPr>
          <a:xfrm>
            <a:off x="2743200" y="6492875"/>
            <a:ext cx="3962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8"/>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9pPr>
          </a:lstStyle>
          <a:p/>
        </p:txBody>
      </p:sp>
      <p:sp>
        <p:nvSpPr>
          <p:cNvPr id="11" name="Google Shape;11;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3" name="Google Shape;13;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4" name="Google Shape;14;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1pPr>
            <a:lvl2pPr indent="0" lvl="1"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2pPr>
            <a:lvl3pPr indent="0" lvl="2"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3pPr>
            <a:lvl4pPr indent="0" lvl="3"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4pPr>
            <a:lvl5pPr indent="0" lvl="4"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5pPr>
            <a:lvl6pPr indent="0" lvl="5"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6pPr>
            <a:lvl7pPr indent="0" lvl="6"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7pPr>
            <a:lvl8pPr indent="0" lvl="7"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8pPr>
            <a:lvl9pPr indent="0" lvl="8"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pic>
        <p:nvPicPr>
          <p:cNvPr descr="Picture1.png" id="15" name="Google Shape;15;p37"/>
          <p:cNvPicPr preferRelativeResize="0"/>
          <p:nvPr/>
        </p:nvPicPr>
        <p:blipFill rotWithShape="1">
          <a:blip r:embed="rId1">
            <a:alphaModFix/>
          </a:blip>
          <a:srcRect b="0" l="0" r="0" t="0"/>
          <a:stretch/>
        </p:blipFill>
        <p:spPr>
          <a:xfrm>
            <a:off x="3175" y="0"/>
            <a:ext cx="9137650" cy="6858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nvhieuqt@dut.udn.vn" TargetMode="Externa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6.png"/><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5.png"/><Relationship Id="rId4"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b="1"/>
          </a:p>
        </p:txBody>
      </p:sp>
      <p:sp>
        <p:nvSpPr>
          <p:cNvPr id="90" name="Google Shape;90;p1"/>
          <p:cNvSpPr txBox="1"/>
          <p:nvPr>
            <p:ph idx="1" type="body"/>
          </p:nvPr>
        </p:nvSpPr>
        <p:spPr>
          <a:xfrm>
            <a:off x="1524000" y="1600201"/>
            <a:ext cx="5562600" cy="1295399"/>
          </a:xfrm>
          <a:prstGeom prst="rect">
            <a:avLst/>
          </a:prstGeom>
          <a:noFill/>
          <a:ln>
            <a:noFill/>
          </a:ln>
        </p:spPr>
        <p:txBody>
          <a:bodyPr anchorCtr="0" anchor="t" bIns="45700" lIns="91425" spcFirstLastPara="1" rIns="91425" wrap="square" tIns="45700">
            <a:noAutofit/>
          </a:bodyPr>
          <a:lstStyle/>
          <a:p>
            <a:pPr indent="-342900" lvl="0" marL="342900" rtl="0" algn="ctr">
              <a:spcBef>
                <a:spcPts val="0"/>
              </a:spcBef>
              <a:spcAft>
                <a:spcPts val="0"/>
              </a:spcAft>
              <a:buClr>
                <a:schemeClr val="dk1"/>
              </a:buClr>
              <a:buSzPts val="3200"/>
              <a:buNone/>
            </a:pPr>
            <a:r>
              <a:t/>
            </a:r>
            <a:endParaRPr b="1"/>
          </a:p>
          <a:p>
            <a:pPr indent="-342900" lvl="0" marL="342900" rtl="0" algn="ctr">
              <a:spcBef>
                <a:spcPts val="640"/>
              </a:spcBef>
              <a:spcAft>
                <a:spcPts val="0"/>
              </a:spcAft>
              <a:buClr>
                <a:schemeClr val="dk1"/>
              </a:buClr>
              <a:buSzPts val="3200"/>
              <a:buNone/>
            </a:pPr>
            <a:r>
              <a:rPr b="1" lang="en-US"/>
              <a:t>CÂY &amp; CÂY TỐI ĐẠI</a:t>
            </a:r>
            <a:endParaRPr b="1"/>
          </a:p>
        </p:txBody>
      </p:sp>
      <p:sp>
        <p:nvSpPr>
          <p:cNvPr id="91" name="Google Shape;91;p1"/>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92" name="Google Shape;92;p1"/>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3" name="Google Shape;93;p1"/>
          <p:cNvSpPr txBox="1"/>
          <p:nvPr/>
        </p:nvSpPr>
        <p:spPr>
          <a:xfrm>
            <a:off x="4876800" y="4572000"/>
            <a:ext cx="3962400" cy="73659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None/>
            </a:pPr>
            <a:r>
              <a:rPr b="1" i="0" lang="en-US" sz="1600" u="none" cap="none" strike="noStrike">
                <a:solidFill>
                  <a:srgbClr val="002060"/>
                </a:solidFill>
                <a:latin typeface="Times New Roman"/>
                <a:ea typeface="Times New Roman"/>
                <a:cs typeface="Times New Roman"/>
                <a:sym typeface="Times New Roman"/>
              </a:rPr>
              <a:t> Giáo viên:  TS. </a:t>
            </a:r>
            <a:r>
              <a:rPr b="1" i="0" lang="en-US" sz="1600" u="none" cap="none" strike="noStrike">
                <a:solidFill>
                  <a:srgbClr val="002060"/>
                </a:solidFill>
                <a:latin typeface="Book Antiqua"/>
                <a:ea typeface="Book Antiqua"/>
                <a:cs typeface="Book Antiqua"/>
                <a:sym typeface="Book Antiqua"/>
              </a:rPr>
              <a:t>Nguyễn Văn Hiệu</a:t>
            </a:r>
            <a:endParaRPr b="1" i="0" sz="2000" u="none" cap="none" strike="noStrike">
              <a:solidFill>
                <a:srgbClr val="002060"/>
              </a:solidFill>
              <a:latin typeface="Book Antiqua"/>
              <a:ea typeface="Book Antiqua"/>
              <a:cs typeface="Book Antiqua"/>
              <a:sym typeface="Book Antiqua"/>
            </a:endParaRPr>
          </a:p>
          <a:p>
            <a:pPr indent="-342900" lvl="0" marL="342900" marR="0" rtl="0" algn="l">
              <a:lnSpc>
                <a:spcPct val="100000"/>
              </a:lnSpc>
              <a:spcBef>
                <a:spcPts val="400"/>
              </a:spcBef>
              <a:spcAft>
                <a:spcPts val="0"/>
              </a:spcAft>
              <a:buNone/>
            </a:pPr>
            <a:r>
              <a:rPr b="0" i="0" lang="en-US" sz="2000" u="none" cap="none" strike="noStrike">
                <a:solidFill>
                  <a:srgbClr val="002060"/>
                </a:solidFill>
                <a:latin typeface="Times New Roman"/>
                <a:ea typeface="Times New Roman"/>
                <a:cs typeface="Times New Roman"/>
                <a:sym typeface="Times New Roman"/>
              </a:rPr>
              <a:t> </a:t>
            </a:r>
            <a:r>
              <a:rPr b="0" i="0" lang="en-US" sz="2000" u="none" cap="none" strike="noStrike">
                <a:solidFill>
                  <a:srgbClr val="002060"/>
                </a:solidFill>
                <a:latin typeface="Book Antiqua"/>
                <a:ea typeface="Book Antiqua"/>
                <a:cs typeface="Book Antiqua"/>
                <a:sym typeface="Book Antiqua"/>
              </a:rPr>
              <a:t>Email: </a:t>
            </a:r>
            <a:r>
              <a:rPr b="0" i="0" lang="en-US" sz="2000" u="sng" cap="none" strike="noStrike">
                <a:solidFill>
                  <a:srgbClr val="002060"/>
                </a:solidFill>
                <a:latin typeface="Book Antiqua"/>
                <a:ea typeface="Book Antiqua"/>
                <a:cs typeface="Book Antiqua"/>
                <a:sym typeface="Book Antiqua"/>
                <a:hlinkClick r:id="rId3">
                  <a:extLst>
                    <a:ext uri="{A12FA001-AC4F-418D-AE19-62706E023703}">
                      <ahyp:hlinkClr val="tx"/>
                    </a:ext>
                  </a:extLst>
                </a:hlinkClick>
              </a:rPr>
              <a:t>nvhieuqt@dut.udn.vn</a:t>
            </a:r>
            <a:endParaRPr b="0" i="0" sz="2000" u="none" cap="none" strike="noStrike">
              <a:solidFill>
                <a:srgbClr val="002060"/>
              </a:solidFill>
              <a:latin typeface="Book Antiqua"/>
              <a:ea typeface="Book Antiqua"/>
              <a:cs typeface="Book Antiqua"/>
              <a:sym typeface="Book Antiqua"/>
            </a:endParaRPr>
          </a:p>
        </p:txBody>
      </p:sp>
      <p:pic>
        <p:nvPicPr>
          <p:cNvPr id="94" name="Google Shape;94;p1"/>
          <p:cNvPicPr preferRelativeResize="0"/>
          <p:nvPr/>
        </p:nvPicPr>
        <p:blipFill rotWithShape="1">
          <a:blip r:embed="rId4">
            <a:alphaModFix/>
          </a:blip>
          <a:srcRect b="0" l="0" r="0" t="0"/>
          <a:stretch/>
        </p:blipFill>
        <p:spPr>
          <a:xfrm rot="10800000">
            <a:off x="396256" y="3992376"/>
            <a:ext cx="4059612" cy="248037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Nội dung</a:t>
            </a:r>
            <a:endParaRPr/>
          </a:p>
        </p:txBody>
      </p:sp>
      <p:sp>
        <p:nvSpPr>
          <p:cNvPr id="100" name="Google Shape;100;p2"/>
          <p:cNvSpPr txBox="1"/>
          <p:nvPr>
            <p:ph idx="1" type="body"/>
          </p:nvPr>
        </p:nvSpPr>
        <p:spPr>
          <a:xfrm>
            <a:off x="1371600" y="1600201"/>
            <a:ext cx="6019800" cy="3505199"/>
          </a:xfrm>
          <a:prstGeom prst="rect">
            <a:avLst/>
          </a:prstGeom>
          <a:solidFill>
            <a:srgbClr val="EFEFEF"/>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2"/>
              </a:buClr>
              <a:buSzPts val="3200"/>
              <a:buNone/>
            </a:pPr>
            <a:r>
              <a:rPr lang="en-US">
                <a:solidFill>
                  <a:schemeClr val="dk2"/>
                </a:solidFill>
              </a:rPr>
              <a:t>Khái niệm cây </a:t>
            </a:r>
            <a:endParaRPr/>
          </a:p>
          <a:p>
            <a:pPr indent="-342900" lvl="0" marL="342900" rtl="0" algn="l">
              <a:spcBef>
                <a:spcPts val="640"/>
              </a:spcBef>
              <a:spcAft>
                <a:spcPts val="0"/>
              </a:spcAft>
              <a:buClr>
                <a:schemeClr val="dk2"/>
              </a:buClr>
              <a:buSzPts val="3200"/>
              <a:buNone/>
            </a:pPr>
            <a:r>
              <a:rPr lang="en-US">
                <a:solidFill>
                  <a:schemeClr val="dk2"/>
                </a:solidFill>
              </a:rPr>
              <a:t>Khái niệm cây tối đại</a:t>
            </a:r>
            <a:endParaRPr>
              <a:solidFill>
                <a:schemeClr val="dk2"/>
              </a:solidFill>
            </a:endParaRPr>
          </a:p>
          <a:p>
            <a:pPr indent="-342900" lvl="0" marL="342900" rtl="0" algn="l">
              <a:spcBef>
                <a:spcPts val="640"/>
              </a:spcBef>
              <a:spcAft>
                <a:spcPts val="0"/>
              </a:spcAft>
              <a:buClr>
                <a:schemeClr val="dk2"/>
              </a:buClr>
              <a:buSzPts val="3200"/>
              <a:buNone/>
            </a:pPr>
            <a:r>
              <a:rPr lang="en-US">
                <a:solidFill>
                  <a:schemeClr val="dk2"/>
                </a:solidFill>
              </a:rPr>
              <a:t>Cây tối đại ngắn nhất</a:t>
            </a:r>
            <a:endParaRPr>
              <a:solidFill>
                <a:schemeClr val="dk2"/>
              </a:solidFill>
            </a:endParaRPr>
          </a:p>
          <a:p>
            <a:pPr indent="-342900" lvl="0" marL="342900" rtl="0" algn="l">
              <a:spcBef>
                <a:spcPts val="640"/>
              </a:spcBef>
              <a:spcAft>
                <a:spcPts val="0"/>
              </a:spcAft>
              <a:buClr>
                <a:schemeClr val="dk2"/>
              </a:buClr>
              <a:buSzPts val="3200"/>
              <a:buNone/>
            </a:pPr>
            <a:r>
              <a:rPr lang="en-US">
                <a:solidFill>
                  <a:schemeClr val="dk2"/>
                </a:solidFill>
              </a:rPr>
              <a:t>Thuật toán Kruskal</a:t>
            </a:r>
            <a:endParaRPr>
              <a:solidFill>
                <a:schemeClr val="dk2"/>
              </a:solidFill>
            </a:endParaRPr>
          </a:p>
          <a:p>
            <a:pPr indent="-342900" lvl="0" marL="342900" rtl="0" algn="l">
              <a:spcBef>
                <a:spcPts val="640"/>
              </a:spcBef>
              <a:spcAft>
                <a:spcPts val="0"/>
              </a:spcAft>
              <a:buClr>
                <a:schemeClr val="dk2"/>
              </a:buClr>
              <a:buSzPts val="3200"/>
              <a:buNone/>
            </a:pPr>
            <a:r>
              <a:rPr lang="en-US">
                <a:solidFill>
                  <a:schemeClr val="dk2"/>
                </a:solidFill>
              </a:rPr>
              <a:t>Thuật toán Prim</a:t>
            </a:r>
            <a:endParaRPr/>
          </a:p>
          <a:p>
            <a:pPr indent="-342900" lvl="0" marL="342900" rtl="0" algn="l">
              <a:spcBef>
                <a:spcPts val="640"/>
              </a:spcBef>
              <a:spcAft>
                <a:spcPts val="0"/>
              </a:spcAft>
              <a:buClr>
                <a:schemeClr val="dk1"/>
              </a:buClr>
              <a:buSzPts val="3200"/>
              <a:buNone/>
            </a:pPr>
            <a:r>
              <a:t/>
            </a:r>
            <a:endParaRPr>
              <a:solidFill>
                <a:schemeClr val="dk2"/>
              </a:solidFill>
            </a:endParaRPr>
          </a:p>
          <a:p>
            <a:pPr indent="-342900" lvl="0" marL="342900" rtl="0" algn="l">
              <a:spcBef>
                <a:spcPts val="640"/>
              </a:spcBef>
              <a:spcAft>
                <a:spcPts val="0"/>
              </a:spcAft>
              <a:buClr>
                <a:schemeClr val="dk1"/>
              </a:buClr>
              <a:buSzPts val="3200"/>
              <a:buNone/>
            </a:pPr>
            <a:r>
              <a:t/>
            </a:r>
            <a:endParaRPr>
              <a:solidFill>
                <a:schemeClr val="dk2"/>
              </a:solidFill>
            </a:endParaRPr>
          </a:p>
        </p:txBody>
      </p:sp>
      <p:sp>
        <p:nvSpPr>
          <p:cNvPr id="101" name="Google Shape;101;p2"/>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102" name="Google Shape;102;p2"/>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457200" y="274638"/>
            <a:ext cx="8229600" cy="9445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t>Khái niệm c</a:t>
            </a:r>
            <a:r>
              <a:rPr b="1" lang="en-US" sz="3600">
                <a:solidFill>
                  <a:schemeClr val="dk1"/>
                </a:solidFill>
              </a:rPr>
              <a:t>ây</a:t>
            </a:r>
            <a:endParaRPr b="1" sz="3600">
              <a:solidFill>
                <a:schemeClr val="dk1"/>
              </a:solidFill>
            </a:endParaRPr>
          </a:p>
        </p:txBody>
      </p:sp>
      <p:sp>
        <p:nvSpPr>
          <p:cNvPr id="108" name="Google Shape;108;p3"/>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rgbClr val="002060"/>
              </a:buClr>
              <a:buSzPts val="2400"/>
              <a:buNone/>
            </a:pPr>
            <a:r>
              <a:rPr lang="en-US">
                <a:solidFill>
                  <a:srgbClr val="002060"/>
                </a:solidFill>
              </a:rPr>
              <a:t>Khái niệm</a:t>
            </a:r>
            <a:endParaRPr/>
          </a:p>
        </p:txBody>
      </p:sp>
      <p:sp>
        <p:nvSpPr>
          <p:cNvPr id="109" name="Google Shape;109;p3"/>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0" lvl="0" marL="0" rtl="0" algn="l">
              <a:spcBef>
                <a:spcPts val="0"/>
              </a:spcBef>
              <a:spcAft>
                <a:spcPts val="0"/>
              </a:spcAft>
              <a:buClr>
                <a:srgbClr val="002060"/>
              </a:buClr>
              <a:buSzPts val="2800"/>
              <a:buNone/>
            </a:pPr>
            <a:r>
              <a:rPr b="1" lang="en-US" sz="2800">
                <a:solidFill>
                  <a:srgbClr val="002060"/>
                </a:solidFill>
              </a:rPr>
              <a:t>Cây</a:t>
            </a:r>
            <a:r>
              <a:rPr lang="en-US" sz="2800">
                <a:solidFill>
                  <a:srgbClr val="002060"/>
                </a:solidFill>
              </a:rPr>
              <a:t> là đồ thị </a:t>
            </a:r>
            <a:r>
              <a:rPr lang="en-US" sz="2800">
                <a:solidFill>
                  <a:srgbClr val="FF0000"/>
                </a:solidFill>
              </a:rPr>
              <a:t>liên thông </a:t>
            </a:r>
            <a:r>
              <a:rPr lang="en-US" sz="2800">
                <a:solidFill>
                  <a:srgbClr val="002060"/>
                </a:solidFill>
              </a:rPr>
              <a:t>và không chứa </a:t>
            </a:r>
            <a:r>
              <a:rPr lang="en-US" sz="2800">
                <a:solidFill>
                  <a:srgbClr val="FF0000"/>
                </a:solidFill>
              </a:rPr>
              <a:t>chu trình</a:t>
            </a:r>
            <a:r>
              <a:rPr lang="en-US" sz="2800">
                <a:solidFill>
                  <a:srgbClr val="002060"/>
                </a:solidFill>
              </a:rPr>
              <a:t>.</a:t>
            </a:r>
            <a:endParaRPr/>
          </a:p>
          <a:p>
            <a:pPr indent="-165100" lvl="0" marL="342900" rtl="0" algn="l">
              <a:spcBef>
                <a:spcPts val="560"/>
              </a:spcBef>
              <a:spcAft>
                <a:spcPts val="0"/>
              </a:spcAft>
              <a:buClr>
                <a:schemeClr val="dk1"/>
              </a:buClr>
              <a:buSzPts val="2800"/>
              <a:buNone/>
            </a:pPr>
            <a:r>
              <a:t/>
            </a:r>
            <a:endParaRPr b="1" sz="2800" u="sng">
              <a:solidFill>
                <a:srgbClr val="002060"/>
              </a:solidFill>
            </a:endParaRPr>
          </a:p>
          <a:p>
            <a:pPr indent="-165100" lvl="0" marL="342900" rtl="0" algn="l">
              <a:spcBef>
                <a:spcPts val="560"/>
              </a:spcBef>
              <a:spcAft>
                <a:spcPts val="0"/>
              </a:spcAft>
              <a:buClr>
                <a:schemeClr val="dk1"/>
              </a:buClr>
              <a:buSzPts val="2800"/>
              <a:buNone/>
            </a:pPr>
            <a:r>
              <a:t/>
            </a:r>
            <a:endParaRPr b="1" sz="2800" u="sng">
              <a:solidFill>
                <a:srgbClr val="002060"/>
              </a:solidFill>
            </a:endParaRPr>
          </a:p>
          <a:p>
            <a:pPr indent="-165100" lvl="0" marL="342900" rtl="0" algn="l">
              <a:spcBef>
                <a:spcPts val="560"/>
              </a:spcBef>
              <a:spcAft>
                <a:spcPts val="0"/>
              </a:spcAft>
              <a:buClr>
                <a:schemeClr val="dk1"/>
              </a:buClr>
              <a:buSzPts val="2800"/>
              <a:buNone/>
            </a:pPr>
            <a:r>
              <a:t/>
            </a:r>
            <a:endParaRPr b="1" sz="2800" u="sng">
              <a:solidFill>
                <a:srgbClr val="002060"/>
              </a:solidFill>
            </a:endParaRPr>
          </a:p>
          <a:p>
            <a:pPr indent="-165100" lvl="0" marL="342900" rtl="0" algn="l">
              <a:spcBef>
                <a:spcPts val="560"/>
              </a:spcBef>
              <a:spcAft>
                <a:spcPts val="0"/>
              </a:spcAft>
              <a:buClr>
                <a:schemeClr val="dk1"/>
              </a:buClr>
              <a:buSzPts val="2800"/>
              <a:buNone/>
            </a:pPr>
            <a:r>
              <a:t/>
            </a:r>
            <a:endParaRPr b="1" sz="2800" u="sng">
              <a:solidFill>
                <a:srgbClr val="002060"/>
              </a:solidFill>
            </a:endParaRPr>
          </a:p>
          <a:p>
            <a:pPr indent="-165100" lvl="0" marL="342900" rtl="0" algn="l">
              <a:spcBef>
                <a:spcPts val="560"/>
              </a:spcBef>
              <a:spcAft>
                <a:spcPts val="0"/>
              </a:spcAft>
              <a:buClr>
                <a:schemeClr val="dk1"/>
              </a:buClr>
              <a:buSzPts val="2800"/>
              <a:buNone/>
            </a:pPr>
            <a:r>
              <a:t/>
            </a:r>
            <a:endParaRPr sz="2800">
              <a:solidFill>
                <a:srgbClr val="002060"/>
              </a:solidFill>
            </a:endParaRPr>
          </a:p>
          <a:p>
            <a:pPr indent="-165100" lvl="0" marL="342900" rtl="0" algn="l">
              <a:spcBef>
                <a:spcPts val="560"/>
              </a:spcBef>
              <a:spcAft>
                <a:spcPts val="0"/>
              </a:spcAft>
              <a:buClr>
                <a:schemeClr val="dk1"/>
              </a:buClr>
              <a:buSzPts val="2800"/>
              <a:buNone/>
            </a:pPr>
            <a:r>
              <a:t/>
            </a:r>
            <a:endParaRPr sz="2800">
              <a:solidFill>
                <a:srgbClr val="002060"/>
              </a:solidFill>
            </a:endParaRPr>
          </a:p>
        </p:txBody>
      </p:sp>
      <p:sp>
        <p:nvSpPr>
          <p:cNvPr id="110" name="Google Shape;110;p3"/>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rgbClr val="002060"/>
              </a:buClr>
              <a:buSzPts val="2400"/>
              <a:buNone/>
            </a:pPr>
            <a:r>
              <a:rPr lang="en-US">
                <a:solidFill>
                  <a:srgbClr val="002060"/>
                </a:solidFill>
              </a:rPr>
              <a:t>Ví dụ</a:t>
            </a:r>
            <a:endParaRPr>
              <a:solidFill>
                <a:srgbClr val="002060"/>
              </a:solidFill>
            </a:endParaRPr>
          </a:p>
        </p:txBody>
      </p:sp>
      <p:sp>
        <p:nvSpPr>
          <p:cNvPr id="111" name="Google Shape;111;p3"/>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Nguyễn Văn Hiệu, 2012, Discrete Mathematics</a:t>
            </a:r>
            <a:endParaRPr/>
          </a:p>
        </p:txBody>
      </p:sp>
      <p:sp>
        <p:nvSpPr>
          <p:cNvPr id="112" name="Google Shape;112;p3"/>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pic>
        <p:nvPicPr>
          <p:cNvPr id="113" name="Google Shape;113;p3"/>
          <p:cNvPicPr preferRelativeResize="0"/>
          <p:nvPr/>
        </p:nvPicPr>
        <p:blipFill rotWithShape="1">
          <a:blip r:embed="rId3">
            <a:alphaModFix/>
          </a:blip>
          <a:srcRect b="0" l="0" r="0" t="0"/>
          <a:stretch/>
        </p:blipFill>
        <p:spPr>
          <a:xfrm>
            <a:off x="4557539" y="3581400"/>
            <a:ext cx="4191388" cy="2307373"/>
          </a:xfrm>
          <a:prstGeom prst="rect">
            <a:avLst/>
          </a:prstGeom>
          <a:noFill/>
          <a:ln>
            <a:noFill/>
          </a:ln>
        </p:spPr>
      </p:pic>
      <p:pic>
        <p:nvPicPr>
          <p:cNvPr id="114" name="Google Shape;114;p3"/>
          <p:cNvPicPr preferRelativeResize="0"/>
          <p:nvPr/>
        </p:nvPicPr>
        <p:blipFill rotWithShape="1">
          <a:blip r:embed="rId4">
            <a:alphaModFix/>
          </a:blip>
          <a:srcRect b="0" l="0" r="0" t="0"/>
          <a:stretch/>
        </p:blipFill>
        <p:spPr>
          <a:xfrm>
            <a:off x="554763" y="3581400"/>
            <a:ext cx="3845062" cy="23073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txBox="1"/>
          <p:nvPr>
            <p:ph type="title"/>
          </p:nvPr>
        </p:nvSpPr>
        <p:spPr>
          <a:xfrm>
            <a:off x="457200" y="274638"/>
            <a:ext cx="8229600" cy="9445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chemeClr val="dk1"/>
                </a:solidFill>
              </a:rPr>
              <a:t>Khái niệm cây</a:t>
            </a:r>
            <a:endParaRPr b="1" sz="3600">
              <a:solidFill>
                <a:schemeClr val="dk1"/>
              </a:solidFill>
            </a:endParaRPr>
          </a:p>
        </p:txBody>
      </p:sp>
      <p:sp>
        <p:nvSpPr>
          <p:cNvPr id="120" name="Google Shape;120;p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b="1" u="sng">
              <a:solidFill>
                <a:srgbClr val="002060"/>
              </a:solidFill>
            </a:endParaRPr>
          </a:p>
          <a:p>
            <a:pPr indent="-165100" lvl="0" marL="342900" rtl="0" algn="l">
              <a:spcBef>
                <a:spcPts val="560"/>
              </a:spcBef>
              <a:spcAft>
                <a:spcPts val="0"/>
              </a:spcAft>
              <a:buClr>
                <a:schemeClr val="dk1"/>
              </a:buClr>
              <a:buSzPts val="2800"/>
              <a:buNone/>
            </a:pPr>
            <a:r>
              <a:t/>
            </a:r>
            <a:endParaRPr b="1" u="sng">
              <a:solidFill>
                <a:srgbClr val="002060"/>
              </a:solidFill>
            </a:endParaRPr>
          </a:p>
          <a:p>
            <a:pPr indent="-165100" lvl="0" marL="342900" rtl="0" algn="l">
              <a:spcBef>
                <a:spcPts val="560"/>
              </a:spcBef>
              <a:spcAft>
                <a:spcPts val="0"/>
              </a:spcAft>
              <a:buClr>
                <a:schemeClr val="dk1"/>
              </a:buClr>
              <a:buSzPts val="2800"/>
              <a:buNone/>
            </a:pPr>
            <a:r>
              <a:t/>
            </a:r>
            <a:endParaRPr b="1" u="sng">
              <a:solidFill>
                <a:srgbClr val="002060"/>
              </a:solidFill>
            </a:endParaRPr>
          </a:p>
          <a:p>
            <a:pPr indent="-165100" lvl="0" marL="342900" rtl="0" algn="l">
              <a:spcBef>
                <a:spcPts val="560"/>
              </a:spcBef>
              <a:spcAft>
                <a:spcPts val="0"/>
              </a:spcAft>
              <a:buClr>
                <a:schemeClr val="dk1"/>
              </a:buClr>
              <a:buSzPts val="2800"/>
              <a:buNone/>
            </a:pPr>
            <a:r>
              <a:t/>
            </a:r>
            <a:endParaRPr b="1" u="sng">
              <a:solidFill>
                <a:srgbClr val="002060"/>
              </a:solidFill>
            </a:endParaRPr>
          </a:p>
          <a:p>
            <a:pPr indent="-165100" lvl="0" marL="342900" rtl="0" algn="l">
              <a:spcBef>
                <a:spcPts val="560"/>
              </a:spcBef>
              <a:spcAft>
                <a:spcPts val="0"/>
              </a:spcAft>
              <a:buClr>
                <a:schemeClr val="dk1"/>
              </a:buClr>
              <a:buSzPts val="2800"/>
              <a:buNone/>
            </a:pPr>
            <a:r>
              <a:t/>
            </a:r>
            <a:endParaRPr b="1" u="sng">
              <a:solidFill>
                <a:srgbClr val="002060"/>
              </a:solidFill>
            </a:endParaRPr>
          </a:p>
          <a:p>
            <a:pPr indent="-165100" lvl="0" marL="342900" rtl="0" algn="l">
              <a:spcBef>
                <a:spcPts val="560"/>
              </a:spcBef>
              <a:spcAft>
                <a:spcPts val="0"/>
              </a:spcAft>
              <a:buClr>
                <a:schemeClr val="dk1"/>
              </a:buClr>
              <a:buSzPts val="2800"/>
              <a:buNone/>
            </a:pPr>
            <a:r>
              <a:t/>
            </a:r>
            <a:endParaRPr b="1" u="sng">
              <a:solidFill>
                <a:srgbClr val="002060"/>
              </a:solidFill>
            </a:endParaRPr>
          </a:p>
          <a:p>
            <a:pPr indent="-165100" lvl="0" marL="342900" rtl="0" algn="l">
              <a:spcBef>
                <a:spcPts val="560"/>
              </a:spcBef>
              <a:spcAft>
                <a:spcPts val="0"/>
              </a:spcAft>
              <a:buClr>
                <a:schemeClr val="dk1"/>
              </a:buClr>
              <a:buSzPts val="2800"/>
              <a:buNone/>
            </a:pPr>
            <a:r>
              <a:t/>
            </a:r>
            <a:endParaRPr>
              <a:solidFill>
                <a:srgbClr val="002060"/>
              </a:solidFill>
            </a:endParaRPr>
          </a:p>
        </p:txBody>
      </p:sp>
      <p:sp>
        <p:nvSpPr>
          <p:cNvPr id="121" name="Google Shape;121;p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122" name="Google Shape;122;p4"/>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123" name="Google Shape;123;p4"/>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pic>
        <p:nvPicPr>
          <p:cNvPr id="124" name="Google Shape;124;p4"/>
          <p:cNvPicPr preferRelativeResize="0"/>
          <p:nvPr/>
        </p:nvPicPr>
        <p:blipFill rotWithShape="1">
          <a:blip r:embed="rId3">
            <a:alphaModFix/>
          </a:blip>
          <a:srcRect b="0" l="0" r="0" t="0"/>
          <a:stretch/>
        </p:blipFill>
        <p:spPr>
          <a:xfrm>
            <a:off x="800100" y="1674992"/>
            <a:ext cx="3771900" cy="4572000"/>
          </a:xfrm>
          <a:prstGeom prst="rect">
            <a:avLst/>
          </a:prstGeom>
          <a:noFill/>
          <a:ln>
            <a:noFill/>
          </a:ln>
        </p:spPr>
      </p:pic>
      <p:pic>
        <p:nvPicPr>
          <p:cNvPr id="125" name="Google Shape;125;p4"/>
          <p:cNvPicPr preferRelativeResize="0"/>
          <p:nvPr/>
        </p:nvPicPr>
        <p:blipFill rotWithShape="1">
          <a:blip r:embed="rId4">
            <a:alphaModFix/>
          </a:blip>
          <a:srcRect b="0" l="0" r="0" t="0"/>
          <a:stretch/>
        </p:blipFill>
        <p:spPr>
          <a:xfrm>
            <a:off x="5334000" y="1600200"/>
            <a:ext cx="3311856" cy="4572000"/>
          </a:xfrm>
          <a:prstGeom prst="rect">
            <a:avLst/>
          </a:prstGeom>
          <a:noFill/>
          <a:ln>
            <a:noFill/>
          </a:ln>
        </p:spPr>
      </p:pic>
      <p:sp>
        <p:nvSpPr>
          <p:cNvPr id="126" name="Google Shape;126;p4"/>
          <p:cNvSpPr txBox="1"/>
          <p:nvPr/>
        </p:nvSpPr>
        <p:spPr>
          <a:xfrm>
            <a:off x="2419350" y="1129436"/>
            <a:ext cx="4057650" cy="461665"/>
          </a:xfrm>
          <a:prstGeom prst="rect">
            <a:avLst/>
          </a:prstGeom>
          <a:solidFill>
            <a:srgbClr val="00B0F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Đồ thị nào là cây?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chemeClr val="dk1"/>
                </a:solidFill>
              </a:rPr>
              <a:t>Khái niệm cây</a:t>
            </a:r>
            <a:endParaRPr b="1" sz="3600">
              <a:solidFill>
                <a:schemeClr val="dk1"/>
              </a:solidFill>
            </a:endParaRPr>
          </a:p>
        </p:txBody>
      </p:sp>
      <p:sp>
        <p:nvSpPr>
          <p:cNvPr id="133" name="Google Shape;133;p5"/>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800"/>
              <a:buNone/>
            </a:pPr>
            <a:r>
              <a:rPr lang="en-US" sz="2800"/>
              <a:t>Khái niệm</a:t>
            </a:r>
            <a:endParaRPr sz="2800"/>
          </a:p>
        </p:txBody>
      </p:sp>
      <p:sp>
        <p:nvSpPr>
          <p:cNvPr id="134" name="Google Shape;134;p5"/>
          <p:cNvSpPr txBox="1"/>
          <p:nvPr>
            <p:ph idx="2" type="body"/>
          </p:nvPr>
        </p:nvSpPr>
        <p:spPr>
          <a:xfrm>
            <a:off x="457200" y="2174875"/>
            <a:ext cx="4040188" cy="3951288"/>
          </a:xfrm>
          <a:prstGeom prst="rect">
            <a:avLst/>
          </a:prstGeom>
          <a:solidFill>
            <a:srgbClr val="EAEAEA"/>
          </a:solidFill>
          <a:ln>
            <a:noFill/>
          </a:ln>
        </p:spPr>
        <p:txBody>
          <a:bodyPr anchorCtr="0" anchor="t" bIns="45700" lIns="91425" spcFirstLastPara="1" rIns="91425" wrap="square" tIns="45700">
            <a:noAutofit/>
          </a:bodyPr>
          <a:lstStyle/>
          <a:p>
            <a:pPr indent="0" lvl="0" marL="0" rtl="0" algn="l">
              <a:spcBef>
                <a:spcPts val="0"/>
              </a:spcBef>
              <a:spcAft>
                <a:spcPts val="0"/>
              </a:spcAft>
              <a:buClr>
                <a:srgbClr val="002060"/>
              </a:buClr>
              <a:buSzPts val="2800"/>
              <a:buNone/>
            </a:pPr>
            <a:r>
              <a:rPr b="1" lang="en-US" sz="2800">
                <a:solidFill>
                  <a:srgbClr val="002060"/>
                </a:solidFill>
              </a:rPr>
              <a:t>Rừng</a:t>
            </a:r>
            <a:r>
              <a:rPr lang="en-US" sz="2800">
                <a:solidFill>
                  <a:srgbClr val="002060"/>
                </a:solidFill>
              </a:rPr>
              <a:t> là một đồ thị gồm nhiều thành phần liên thông, trong đó mỗi thành phần là một cây.</a:t>
            </a:r>
            <a:endParaRPr sz="2800">
              <a:solidFill>
                <a:srgbClr val="002060"/>
              </a:solidFill>
            </a:endParaRPr>
          </a:p>
          <a:p>
            <a:pPr indent="0" lvl="0" marL="177800" rtl="0" algn="l">
              <a:spcBef>
                <a:spcPts val="560"/>
              </a:spcBef>
              <a:spcAft>
                <a:spcPts val="0"/>
              </a:spcAft>
              <a:buClr>
                <a:schemeClr val="dk1"/>
              </a:buClr>
              <a:buSzPts val="2800"/>
              <a:buFont typeface="Noto Sans Symbols"/>
              <a:buNone/>
            </a:pPr>
            <a:r>
              <a:t/>
            </a:r>
            <a:endParaRPr b="1" sz="2800" u="sng">
              <a:solidFill>
                <a:srgbClr val="002060"/>
              </a:solidFill>
            </a:endParaRPr>
          </a:p>
          <a:p>
            <a:pPr indent="-165100" lvl="0" marL="342900" rtl="0" algn="l">
              <a:spcBef>
                <a:spcPts val="560"/>
              </a:spcBef>
              <a:spcAft>
                <a:spcPts val="0"/>
              </a:spcAft>
              <a:buClr>
                <a:schemeClr val="dk1"/>
              </a:buClr>
              <a:buSzPts val="2800"/>
              <a:buFont typeface="Noto Sans Symbols"/>
              <a:buNone/>
            </a:pPr>
            <a:r>
              <a:t/>
            </a:r>
            <a:endParaRPr b="1" sz="2800" u="sng">
              <a:solidFill>
                <a:srgbClr val="002060"/>
              </a:solidFill>
            </a:endParaRPr>
          </a:p>
          <a:p>
            <a:pPr indent="-165100" lvl="0" marL="342900" rtl="0" algn="l">
              <a:spcBef>
                <a:spcPts val="560"/>
              </a:spcBef>
              <a:spcAft>
                <a:spcPts val="0"/>
              </a:spcAft>
              <a:buClr>
                <a:schemeClr val="dk1"/>
              </a:buClr>
              <a:buSzPts val="2800"/>
              <a:buFont typeface="Noto Sans Symbols"/>
              <a:buNone/>
            </a:pPr>
            <a:r>
              <a:t/>
            </a:r>
            <a:endParaRPr b="1" sz="2800" u="sng">
              <a:solidFill>
                <a:srgbClr val="002060"/>
              </a:solidFill>
            </a:endParaRPr>
          </a:p>
          <a:p>
            <a:pPr indent="-342900" lvl="0" marL="342900" rtl="0" algn="l">
              <a:spcBef>
                <a:spcPts val="560"/>
              </a:spcBef>
              <a:spcAft>
                <a:spcPts val="0"/>
              </a:spcAft>
              <a:buClr>
                <a:schemeClr val="dk1"/>
              </a:buClr>
              <a:buSzPts val="2800"/>
              <a:buFont typeface="Noto Sans Symbols"/>
              <a:buNone/>
            </a:pPr>
            <a:r>
              <a:t/>
            </a:r>
            <a:endParaRPr sz="2800">
              <a:solidFill>
                <a:srgbClr val="002060"/>
              </a:solidFill>
            </a:endParaRPr>
          </a:p>
        </p:txBody>
      </p:sp>
      <p:sp>
        <p:nvSpPr>
          <p:cNvPr id="135" name="Google Shape;135;p5"/>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Ví dụ</a:t>
            </a:r>
            <a:endParaRPr/>
          </a:p>
        </p:txBody>
      </p:sp>
      <p:sp>
        <p:nvSpPr>
          <p:cNvPr id="136" name="Google Shape;136;p5"/>
          <p:cNvSpPr txBox="1"/>
          <p:nvPr>
            <p:ph idx="4" type="body"/>
          </p:nvPr>
        </p:nvSpPr>
        <p:spPr>
          <a:xfrm>
            <a:off x="4645025" y="2174875"/>
            <a:ext cx="4041775" cy="3951288"/>
          </a:xfrm>
          <a:prstGeom prst="rect">
            <a:avLst/>
          </a:prstGeom>
          <a:solidFill>
            <a:srgbClr val="EAEAEA"/>
          </a:solidFill>
          <a:ln>
            <a:noFill/>
          </a:ln>
        </p:spPr>
        <p:txBody>
          <a:bodyPr anchorCtr="0" anchor="t" bIns="45700" lIns="91425" spcFirstLastPara="1" rIns="91425" wrap="square" tIns="45700">
            <a:noAutofit/>
          </a:bodyPr>
          <a:lstStyle/>
          <a:p>
            <a:pPr indent="-190500" lvl="0" marL="342900" rtl="0" algn="l">
              <a:spcBef>
                <a:spcPts val="0"/>
              </a:spcBef>
              <a:spcAft>
                <a:spcPts val="0"/>
              </a:spcAft>
              <a:buClr>
                <a:schemeClr val="dk1"/>
              </a:buClr>
              <a:buSzPts val="2400"/>
              <a:buNone/>
            </a:pPr>
            <a:r>
              <a:t/>
            </a:r>
            <a:endParaRPr/>
          </a:p>
        </p:txBody>
      </p:sp>
      <p:sp>
        <p:nvSpPr>
          <p:cNvPr id="137" name="Google Shape;137;p5"/>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pic>
        <p:nvPicPr>
          <p:cNvPr id="138" name="Google Shape;138;p5"/>
          <p:cNvPicPr preferRelativeResize="0"/>
          <p:nvPr/>
        </p:nvPicPr>
        <p:blipFill rotWithShape="1">
          <a:blip r:embed="rId3">
            <a:alphaModFix/>
          </a:blip>
          <a:srcRect b="0" l="0" r="0" t="0"/>
          <a:stretch/>
        </p:blipFill>
        <p:spPr>
          <a:xfrm>
            <a:off x="4648201" y="2195854"/>
            <a:ext cx="4038599" cy="2804709"/>
          </a:xfrm>
          <a:prstGeom prst="rect">
            <a:avLst/>
          </a:prstGeom>
          <a:noFill/>
          <a:ln>
            <a:noFill/>
          </a:ln>
        </p:spPr>
      </p:pic>
      <p:sp>
        <p:nvSpPr>
          <p:cNvPr id="139" name="Google Shape;139;p5"/>
          <p:cNvSpPr/>
          <p:nvPr/>
        </p:nvSpPr>
        <p:spPr>
          <a:xfrm>
            <a:off x="6872784" y="2151689"/>
            <a:ext cx="290015" cy="1752600"/>
          </a:xfrm>
          <a:prstGeom prst="ellipse">
            <a:avLst/>
          </a:prstGeom>
          <a:solidFill>
            <a:srgbClr val="FF0000">
              <a:alpha val="33725"/>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40" name="Google Shape;140;p5"/>
          <p:cNvSpPr/>
          <p:nvPr/>
        </p:nvSpPr>
        <p:spPr>
          <a:xfrm>
            <a:off x="4620905" y="2776168"/>
            <a:ext cx="1752599" cy="1981200"/>
          </a:xfrm>
          <a:custGeom>
            <a:rect b="b" l="l" r="r" t="t"/>
            <a:pathLst>
              <a:path extrusionOk="0" h="2501900" w="3022600">
                <a:moveTo>
                  <a:pt x="406400" y="0"/>
                </a:moveTo>
                <a:lnTo>
                  <a:pt x="2743200" y="977900"/>
                </a:lnTo>
                <a:lnTo>
                  <a:pt x="3022600" y="1270000"/>
                </a:lnTo>
                <a:lnTo>
                  <a:pt x="1308100" y="1854200"/>
                </a:lnTo>
                <a:cubicBezTo>
                  <a:pt x="1115486" y="2068216"/>
                  <a:pt x="736600" y="2213971"/>
                  <a:pt x="736600" y="2501900"/>
                </a:cubicBezTo>
                <a:lnTo>
                  <a:pt x="0" y="1536700"/>
                </a:lnTo>
              </a:path>
            </a:pathLst>
          </a:custGeom>
          <a:solidFill>
            <a:srgbClr val="FF0000">
              <a:alpha val="49803"/>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41" name="Google Shape;141;p5"/>
          <p:cNvSpPr/>
          <p:nvPr/>
        </p:nvSpPr>
        <p:spPr>
          <a:xfrm>
            <a:off x="5166817" y="2236799"/>
            <a:ext cx="3422175" cy="2804708"/>
          </a:xfrm>
          <a:custGeom>
            <a:rect b="b" l="l" r="r" t="t"/>
            <a:pathLst>
              <a:path extrusionOk="0" h="3238500" w="6299200">
                <a:moveTo>
                  <a:pt x="101600" y="0"/>
                </a:moveTo>
                <a:lnTo>
                  <a:pt x="3073400" y="101600"/>
                </a:lnTo>
                <a:lnTo>
                  <a:pt x="3060700" y="368300"/>
                </a:lnTo>
                <a:lnTo>
                  <a:pt x="2679700" y="1739900"/>
                </a:lnTo>
                <a:lnTo>
                  <a:pt x="3124200" y="2133600"/>
                </a:lnTo>
                <a:lnTo>
                  <a:pt x="3771900" y="1828800"/>
                </a:lnTo>
                <a:lnTo>
                  <a:pt x="3860800" y="609600"/>
                </a:lnTo>
                <a:lnTo>
                  <a:pt x="5143500" y="165100"/>
                </a:lnTo>
                <a:lnTo>
                  <a:pt x="6299200" y="3238500"/>
                </a:lnTo>
                <a:lnTo>
                  <a:pt x="368300" y="2603500"/>
                </a:lnTo>
                <a:lnTo>
                  <a:pt x="711200" y="2336800"/>
                </a:lnTo>
                <a:lnTo>
                  <a:pt x="2286000" y="1803400"/>
                </a:lnTo>
                <a:lnTo>
                  <a:pt x="1778000" y="1295400"/>
                </a:lnTo>
                <a:lnTo>
                  <a:pt x="0" y="317500"/>
                </a:lnTo>
                <a:lnTo>
                  <a:pt x="101600" y="0"/>
                </a:lnTo>
                <a:close/>
              </a:path>
            </a:pathLst>
          </a:custGeom>
          <a:solidFill>
            <a:srgbClr val="0000CC">
              <a:alpha val="61568"/>
            </a:srgb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500"/>
                                        <p:tgtEl>
                                          <p:spTgt spid="1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500"/>
                                        <p:tgtEl>
                                          <p:spTgt spid="139"/>
                                        </p:tgtEl>
                                      </p:cBhvr>
                                    </p:animEffect>
                                  </p:childTnLst>
                                </p:cTn>
                              </p:par>
                              <p:par>
                                <p:cTn fill="hold" nodeType="with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500"/>
                                        <p:tgtEl>
                                          <p:spTgt spid="141"/>
                                        </p:tgtEl>
                                      </p:cBhvr>
                                    </p:animEffect>
                                  </p:childTnLst>
                                </p:cTn>
                              </p:par>
                              <p:par>
                                <p:cTn fill="hold" nodeType="with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500"/>
                                        <p:tgtEl>
                                          <p:spTgt spid="1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6"/>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chemeClr val="dk1"/>
                </a:solidFill>
              </a:rPr>
              <a:t>Khai niệm cây</a:t>
            </a:r>
            <a:endParaRPr b="1" sz="3600">
              <a:solidFill>
                <a:schemeClr val="dk1"/>
              </a:solidFill>
            </a:endParaRPr>
          </a:p>
        </p:txBody>
      </p:sp>
      <p:sp>
        <p:nvSpPr>
          <p:cNvPr id="148" name="Google Shape;148;p6"/>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Định lý</a:t>
            </a:r>
            <a:endParaRPr/>
          </a:p>
        </p:txBody>
      </p:sp>
      <p:sp>
        <p:nvSpPr>
          <p:cNvPr id="149" name="Google Shape;149;p6"/>
          <p:cNvSpPr txBox="1"/>
          <p:nvPr>
            <p:ph idx="2" type="body"/>
          </p:nvPr>
        </p:nvSpPr>
        <p:spPr>
          <a:xfrm>
            <a:off x="457200" y="2174875"/>
            <a:ext cx="4040188" cy="3951288"/>
          </a:xfrm>
          <a:prstGeom prst="rect">
            <a:avLst/>
          </a:prstGeom>
          <a:solidFill>
            <a:srgbClr val="EAEAEA"/>
          </a:solid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800"/>
              <a:buFont typeface="Noto Sans Symbols"/>
              <a:buNone/>
            </a:pPr>
            <a:r>
              <a:rPr lang="en-US" sz="2800"/>
              <a:t>Cây  có  n đỉnh ( n ≥ 2) chứa ít nhất </a:t>
            </a:r>
            <a:r>
              <a:rPr lang="en-US" sz="2800">
                <a:solidFill>
                  <a:srgbClr val="FF0000"/>
                </a:solidFill>
              </a:rPr>
              <a:t>hai đỉnh treo </a:t>
            </a:r>
            <a:endParaRPr/>
          </a:p>
          <a:p>
            <a:pPr indent="-165100" lvl="0" marL="342900" rtl="0" algn="l">
              <a:spcBef>
                <a:spcPts val="560"/>
              </a:spcBef>
              <a:spcAft>
                <a:spcPts val="0"/>
              </a:spcAft>
              <a:buClr>
                <a:schemeClr val="dk1"/>
              </a:buClr>
              <a:buSzPts val="2800"/>
              <a:buFont typeface="Noto Sans Symbols"/>
              <a:buNone/>
            </a:pPr>
            <a:r>
              <a:t/>
            </a:r>
            <a:endParaRPr b="1" sz="2800" u="sng">
              <a:solidFill>
                <a:srgbClr val="002060"/>
              </a:solidFill>
            </a:endParaRPr>
          </a:p>
          <a:p>
            <a:pPr indent="-165100" lvl="0" marL="342900" rtl="0" algn="l">
              <a:spcBef>
                <a:spcPts val="560"/>
              </a:spcBef>
              <a:spcAft>
                <a:spcPts val="0"/>
              </a:spcAft>
              <a:buClr>
                <a:schemeClr val="dk1"/>
              </a:buClr>
              <a:buSzPts val="2800"/>
              <a:buFont typeface="Noto Sans Symbols"/>
              <a:buNone/>
            </a:pPr>
            <a:r>
              <a:t/>
            </a:r>
            <a:endParaRPr b="1" sz="2800" u="sng">
              <a:solidFill>
                <a:srgbClr val="002060"/>
              </a:solidFill>
            </a:endParaRPr>
          </a:p>
          <a:p>
            <a:pPr indent="-165100" lvl="0" marL="342900" rtl="0" algn="l">
              <a:spcBef>
                <a:spcPts val="560"/>
              </a:spcBef>
              <a:spcAft>
                <a:spcPts val="0"/>
              </a:spcAft>
              <a:buClr>
                <a:schemeClr val="dk1"/>
              </a:buClr>
              <a:buSzPts val="2800"/>
              <a:buFont typeface="Noto Sans Symbols"/>
              <a:buNone/>
            </a:pPr>
            <a:r>
              <a:t/>
            </a:r>
            <a:endParaRPr b="1" sz="2800" u="sng">
              <a:solidFill>
                <a:srgbClr val="002060"/>
              </a:solidFill>
            </a:endParaRPr>
          </a:p>
          <a:p>
            <a:pPr indent="-165100" lvl="0" marL="342900" rtl="0" algn="l">
              <a:spcBef>
                <a:spcPts val="560"/>
              </a:spcBef>
              <a:spcAft>
                <a:spcPts val="0"/>
              </a:spcAft>
              <a:buClr>
                <a:schemeClr val="dk1"/>
              </a:buClr>
              <a:buSzPts val="2800"/>
              <a:buFont typeface="Noto Sans Symbols"/>
              <a:buNone/>
            </a:pPr>
            <a:r>
              <a:t/>
            </a:r>
            <a:endParaRPr b="1" sz="2800" u="sng">
              <a:solidFill>
                <a:srgbClr val="002060"/>
              </a:solidFill>
            </a:endParaRPr>
          </a:p>
          <a:p>
            <a:pPr indent="-342900" lvl="0" marL="342900" rtl="0" algn="l">
              <a:spcBef>
                <a:spcPts val="560"/>
              </a:spcBef>
              <a:spcAft>
                <a:spcPts val="0"/>
              </a:spcAft>
              <a:buClr>
                <a:schemeClr val="dk1"/>
              </a:buClr>
              <a:buSzPts val="2800"/>
              <a:buFont typeface="Noto Sans Symbols"/>
              <a:buNone/>
            </a:pPr>
            <a:r>
              <a:t/>
            </a:r>
            <a:endParaRPr sz="2800">
              <a:solidFill>
                <a:srgbClr val="002060"/>
              </a:solidFill>
            </a:endParaRPr>
          </a:p>
        </p:txBody>
      </p:sp>
      <p:sp>
        <p:nvSpPr>
          <p:cNvPr id="150" name="Google Shape;150;p6"/>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Ví dụ</a:t>
            </a:r>
            <a:endParaRPr/>
          </a:p>
        </p:txBody>
      </p:sp>
      <p:sp>
        <p:nvSpPr>
          <p:cNvPr id="151" name="Google Shape;151;p6"/>
          <p:cNvSpPr txBox="1"/>
          <p:nvPr>
            <p:ph idx="4" type="body"/>
          </p:nvPr>
        </p:nvSpPr>
        <p:spPr>
          <a:xfrm>
            <a:off x="4645025" y="2174875"/>
            <a:ext cx="4041775" cy="3951288"/>
          </a:xfrm>
          <a:prstGeom prst="rect">
            <a:avLst/>
          </a:prstGeom>
          <a:solidFill>
            <a:srgbClr val="EAEAEA"/>
          </a:solidFill>
          <a:ln>
            <a:noFill/>
          </a:ln>
        </p:spPr>
        <p:txBody>
          <a:bodyPr anchorCtr="0" anchor="t" bIns="45700" lIns="91425" spcFirstLastPara="1" rIns="91425" wrap="square" tIns="45700">
            <a:noAutofit/>
          </a:bodyPr>
          <a:lstStyle/>
          <a:p>
            <a:pPr indent="-190500" lvl="0" marL="342900" rtl="0" algn="l">
              <a:spcBef>
                <a:spcPts val="0"/>
              </a:spcBef>
              <a:spcAft>
                <a:spcPts val="0"/>
              </a:spcAft>
              <a:buClr>
                <a:schemeClr val="dk1"/>
              </a:buClr>
              <a:buSzPts val="2400"/>
              <a:buNone/>
            </a:pPr>
            <a:r>
              <a:t/>
            </a:r>
            <a:endParaRPr/>
          </a:p>
        </p:txBody>
      </p:sp>
      <p:sp>
        <p:nvSpPr>
          <p:cNvPr id="152" name="Google Shape;152;p6"/>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pic>
        <p:nvPicPr>
          <p:cNvPr id="153" name="Google Shape;153;p6"/>
          <p:cNvPicPr preferRelativeResize="0"/>
          <p:nvPr/>
        </p:nvPicPr>
        <p:blipFill rotWithShape="1">
          <a:blip r:embed="rId3">
            <a:alphaModFix/>
          </a:blip>
          <a:srcRect b="0" l="0" r="0" t="0"/>
          <a:stretch/>
        </p:blipFill>
        <p:spPr>
          <a:xfrm>
            <a:off x="4657725" y="4405313"/>
            <a:ext cx="4029075" cy="1691898"/>
          </a:xfrm>
          <a:prstGeom prst="rect">
            <a:avLst/>
          </a:prstGeom>
          <a:noFill/>
          <a:ln>
            <a:noFill/>
          </a:ln>
        </p:spPr>
      </p:pic>
      <p:pic>
        <p:nvPicPr>
          <p:cNvPr id="154" name="Google Shape;154;p6"/>
          <p:cNvPicPr preferRelativeResize="0"/>
          <p:nvPr/>
        </p:nvPicPr>
        <p:blipFill rotWithShape="1">
          <a:blip r:embed="rId4">
            <a:alphaModFix/>
          </a:blip>
          <a:srcRect b="0" l="0" r="0" t="0"/>
          <a:stretch/>
        </p:blipFill>
        <p:spPr>
          <a:xfrm>
            <a:off x="4648200" y="2209801"/>
            <a:ext cx="4038600" cy="1828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7"/>
          <p:cNvSpPr txBox="1"/>
          <p:nvPr>
            <p:ph type="title"/>
          </p:nvPr>
        </p:nvSpPr>
        <p:spPr>
          <a:xfrm>
            <a:off x="457200" y="274638"/>
            <a:ext cx="8229600" cy="8937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chemeClr val="dk1"/>
                </a:solidFill>
              </a:rPr>
              <a:t>Khái niệm cây</a:t>
            </a:r>
            <a:endParaRPr b="1" sz="3600">
              <a:solidFill>
                <a:schemeClr val="dk1"/>
              </a:solidFill>
            </a:endParaRPr>
          </a:p>
        </p:txBody>
      </p:sp>
      <p:sp>
        <p:nvSpPr>
          <p:cNvPr id="161" name="Google Shape;161;p7"/>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Định lý</a:t>
            </a:r>
            <a:endParaRPr/>
          </a:p>
        </p:txBody>
      </p:sp>
      <p:sp>
        <p:nvSpPr>
          <p:cNvPr id="162" name="Google Shape;162;p7"/>
          <p:cNvSpPr txBox="1"/>
          <p:nvPr>
            <p:ph idx="2" type="body"/>
          </p:nvPr>
        </p:nvSpPr>
        <p:spPr>
          <a:xfrm>
            <a:off x="457200" y="2174875"/>
            <a:ext cx="4040188" cy="3951288"/>
          </a:xfrm>
          <a:prstGeom prst="rect">
            <a:avLst/>
          </a:prstGeom>
          <a:solidFill>
            <a:srgbClr val="EAEAEA"/>
          </a:solidFill>
          <a:ln>
            <a:noFill/>
          </a:ln>
        </p:spPr>
        <p:txBody>
          <a:bodyPr anchorCtr="0" anchor="t" bIns="45700" lIns="91425" spcFirstLastPara="1" rIns="91425" wrap="square" tIns="45700">
            <a:noAutofit/>
          </a:bodyPr>
          <a:lstStyle/>
          <a:p>
            <a:pPr indent="0" lvl="0" marL="0" rtl="0" algn="l">
              <a:spcBef>
                <a:spcPts val="0"/>
              </a:spcBef>
              <a:spcAft>
                <a:spcPts val="0"/>
              </a:spcAft>
              <a:buClr>
                <a:srgbClr val="002060"/>
              </a:buClr>
              <a:buSzPts val="2400"/>
              <a:buNone/>
            </a:pPr>
            <a:r>
              <a:rPr lang="en-US">
                <a:solidFill>
                  <a:srgbClr val="002060"/>
                </a:solidFill>
              </a:rPr>
              <a:t>T là đồ thị vô hướng có n đỉnh. Có các mệnh đề tương đương:</a:t>
            </a:r>
            <a:endParaRPr/>
          </a:p>
          <a:p>
            <a:pPr indent="-457200" lvl="0" marL="514350" rtl="0" algn="l">
              <a:spcBef>
                <a:spcPts val="480"/>
              </a:spcBef>
              <a:spcAft>
                <a:spcPts val="0"/>
              </a:spcAft>
              <a:buClr>
                <a:srgbClr val="002060"/>
              </a:buClr>
              <a:buSzPts val="2400"/>
              <a:buFont typeface="Arial"/>
              <a:buAutoNum type="arabicPeriod"/>
            </a:pPr>
            <a:r>
              <a:rPr lang="en-US">
                <a:solidFill>
                  <a:srgbClr val="002060"/>
                </a:solidFill>
              </a:rPr>
              <a:t>T là cây.</a:t>
            </a:r>
            <a:endParaRPr/>
          </a:p>
          <a:p>
            <a:pPr indent="-457200" lvl="0" marL="514350" rtl="0" algn="l">
              <a:spcBef>
                <a:spcPts val="480"/>
              </a:spcBef>
              <a:spcAft>
                <a:spcPts val="0"/>
              </a:spcAft>
              <a:buClr>
                <a:srgbClr val="002060"/>
              </a:buClr>
              <a:buSzPts val="2400"/>
              <a:buFont typeface="Arial"/>
              <a:buAutoNum type="arabicPeriod"/>
            </a:pPr>
            <a:r>
              <a:rPr lang="en-US">
                <a:solidFill>
                  <a:srgbClr val="002060"/>
                </a:solidFill>
              </a:rPr>
              <a:t>T không chứa chu trình và có n – 1 cạnh.</a:t>
            </a:r>
            <a:endParaRPr/>
          </a:p>
          <a:p>
            <a:pPr indent="-457200" lvl="0" marL="514350" rtl="0" algn="l">
              <a:spcBef>
                <a:spcPts val="480"/>
              </a:spcBef>
              <a:spcAft>
                <a:spcPts val="0"/>
              </a:spcAft>
              <a:buClr>
                <a:srgbClr val="002060"/>
              </a:buClr>
              <a:buSzPts val="2400"/>
              <a:buFont typeface="Arial"/>
              <a:buAutoNum type="arabicPeriod"/>
            </a:pPr>
            <a:r>
              <a:rPr lang="en-US">
                <a:solidFill>
                  <a:srgbClr val="002060"/>
                </a:solidFill>
              </a:rPr>
              <a:t>T liên thông và có n – 1 cạnh.</a:t>
            </a:r>
            <a:endParaRPr/>
          </a:p>
          <a:p>
            <a:pPr indent="-304800" lvl="1" marL="914400" rtl="0" algn="l">
              <a:spcBef>
                <a:spcPts val="480"/>
              </a:spcBef>
              <a:spcAft>
                <a:spcPts val="0"/>
              </a:spcAft>
              <a:buClr>
                <a:schemeClr val="dk1"/>
              </a:buClr>
              <a:buSzPts val="2400"/>
              <a:buFont typeface="Arial"/>
              <a:buNone/>
            </a:pPr>
            <a:r>
              <a:t/>
            </a:r>
            <a:endParaRPr sz="2400">
              <a:solidFill>
                <a:srgbClr val="002060"/>
              </a:solidFill>
            </a:endParaRPr>
          </a:p>
          <a:p>
            <a:pPr indent="-190500" lvl="0" marL="342900" rtl="0" algn="l">
              <a:spcBef>
                <a:spcPts val="480"/>
              </a:spcBef>
              <a:spcAft>
                <a:spcPts val="0"/>
              </a:spcAft>
              <a:buClr>
                <a:schemeClr val="dk1"/>
              </a:buClr>
              <a:buSzPts val="2400"/>
              <a:buNone/>
            </a:pPr>
            <a:r>
              <a:t/>
            </a:r>
            <a:endParaRPr>
              <a:solidFill>
                <a:srgbClr val="002060"/>
              </a:solidFill>
            </a:endParaRPr>
          </a:p>
        </p:txBody>
      </p:sp>
      <p:sp>
        <p:nvSpPr>
          <p:cNvPr id="163" name="Google Shape;163;p7"/>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Định lý</a:t>
            </a:r>
            <a:endParaRPr/>
          </a:p>
        </p:txBody>
      </p:sp>
      <p:sp>
        <p:nvSpPr>
          <p:cNvPr id="164" name="Google Shape;164;p7"/>
          <p:cNvSpPr txBox="1"/>
          <p:nvPr>
            <p:ph idx="4" type="body"/>
          </p:nvPr>
        </p:nvSpPr>
        <p:spPr>
          <a:xfrm>
            <a:off x="4645025" y="2174875"/>
            <a:ext cx="4041775" cy="3951288"/>
          </a:xfrm>
          <a:prstGeom prst="rect">
            <a:avLst/>
          </a:prstGeom>
          <a:solidFill>
            <a:srgbClr val="EAEAEA"/>
          </a:solidFill>
          <a:ln>
            <a:noFill/>
          </a:ln>
        </p:spPr>
        <p:txBody>
          <a:bodyPr anchorCtr="0" anchor="t" bIns="45700" lIns="91425" spcFirstLastPara="1" rIns="91425" wrap="square" tIns="45700">
            <a:noAutofit/>
          </a:bodyPr>
          <a:lstStyle/>
          <a:p>
            <a:pPr indent="-457200" lvl="0" marL="514350" rtl="0" algn="l">
              <a:spcBef>
                <a:spcPts val="0"/>
              </a:spcBef>
              <a:spcAft>
                <a:spcPts val="0"/>
              </a:spcAft>
              <a:buClr>
                <a:srgbClr val="002060"/>
              </a:buClr>
              <a:buSzPts val="2400"/>
              <a:buFont typeface="Times New Roman"/>
              <a:buAutoNum type="arabicPeriod" startAt="4"/>
            </a:pPr>
            <a:r>
              <a:rPr lang="en-US">
                <a:solidFill>
                  <a:srgbClr val="002060"/>
                </a:solidFill>
              </a:rPr>
              <a:t>T liên thông và mỗi cạnh của T đều là </a:t>
            </a:r>
            <a:r>
              <a:rPr lang="en-US">
                <a:solidFill>
                  <a:srgbClr val="FF0000"/>
                </a:solidFill>
              </a:rPr>
              <a:t>cạnh cắt (cầu).</a:t>
            </a:r>
            <a:endParaRPr/>
          </a:p>
          <a:p>
            <a:pPr indent="-457200" lvl="0" marL="514350" rtl="0" algn="l">
              <a:spcBef>
                <a:spcPts val="480"/>
              </a:spcBef>
              <a:spcAft>
                <a:spcPts val="0"/>
              </a:spcAft>
              <a:buClr>
                <a:srgbClr val="002060"/>
              </a:buClr>
              <a:buSzPts val="2400"/>
              <a:buFont typeface="Arial"/>
              <a:buAutoNum type="arabicPeriod" startAt="4"/>
            </a:pPr>
            <a:r>
              <a:rPr lang="en-US">
                <a:solidFill>
                  <a:srgbClr val="002060"/>
                </a:solidFill>
              </a:rPr>
              <a:t>Hai đỉnh bất kỳ của T được nối với nhau bằng đúng 1 </a:t>
            </a:r>
            <a:r>
              <a:rPr lang="en-US">
                <a:solidFill>
                  <a:srgbClr val="FF0000"/>
                </a:solidFill>
              </a:rPr>
              <a:t>đường đi đơn</a:t>
            </a:r>
            <a:r>
              <a:rPr lang="en-US">
                <a:solidFill>
                  <a:srgbClr val="002060"/>
                </a:solidFill>
              </a:rPr>
              <a:t>.</a:t>
            </a:r>
            <a:endParaRPr/>
          </a:p>
          <a:p>
            <a:pPr indent="-457200" lvl="0" marL="514350" rtl="0" algn="l">
              <a:spcBef>
                <a:spcPts val="480"/>
              </a:spcBef>
              <a:spcAft>
                <a:spcPts val="0"/>
              </a:spcAft>
              <a:buClr>
                <a:srgbClr val="002060"/>
              </a:buClr>
              <a:buSzPts val="2400"/>
              <a:buFont typeface="Arial"/>
              <a:buAutoNum type="arabicPeriod" startAt="4"/>
            </a:pPr>
            <a:r>
              <a:rPr lang="en-US">
                <a:solidFill>
                  <a:srgbClr val="002060"/>
                </a:solidFill>
              </a:rPr>
              <a:t>T không chứa chu trình nhưng nếu thêm 1 cạnh bất kỳ vào T thì ta sẽ được thêm đúng 1 chu trình.</a:t>
            </a:r>
            <a:endParaRPr/>
          </a:p>
        </p:txBody>
      </p:sp>
      <p:sp>
        <p:nvSpPr>
          <p:cNvPr id="165" name="Google Shape;165;p7"/>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166" name="Google Shape;166;p7"/>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8"/>
          <p:cNvSpPr txBox="1"/>
          <p:nvPr>
            <p:ph type="title"/>
          </p:nvPr>
        </p:nvSpPr>
        <p:spPr>
          <a:xfrm>
            <a:off x="457200" y="274638"/>
            <a:ext cx="8229600" cy="7159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t>Khái niệm cây</a:t>
            </a:r>
            <a:endParaRPr b="1" sz="4000"/>
          </a:p>
        </p:txBody>
      </p:sp>
      <p:sp>
        <p:nvSpPr>
          <p:cNvPr id="172" name="Google Shape;172;p8"/>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Định nghĩa</a:t>
            </a:r>
            <a:endParaRPr/>
          </a:p>
        </p:txBody>
      </p:sp>
      <p:sp>
        <p:nvSpPr>
          <p:cNvPr id="173" name="Google Shape;173;p8"/>
          <p:cNvSpPr txBox="1"/>
          <p:nvPr>
            <p:ph idx="2" type="body"/>
          </p:nvPr>
        </p:nvSpPr>
        <p:spPr>
          <a:xfrm>
            <a:off x="457200" y="2174875"/>
            <a:ext cx="4040188" cy="3951288"/>
          </a:xfrm>
          <a:prstGeom prst="rect">
            <a:avLst/>
          </a:prstGeom>
          <a:solidFill>
            <a:srgbClr val="EAEAEA"/>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200"/>
              <a:buFont typeface="Noto Sans Symbols"/>
              <a:buChar char="✔"/>
            </a:pPr>
            <a:r>
              <a:rPr b="1" lang="en-US" sz="2200"/>
              <a:t>CÂY CÓ HƯỚNG </a:t>
            </a:r>
            <a:r>
              <a:rPr lang="en-US" sz="2200"/>
              <a:t>là đồ thị có hướng mà đồ thị nền của nó là một cây.</a:t>
            </a:r>
            <a:endParaRPr/>
          </a:p>
          <a:p>
            <a:pPr indent="-342900" lvl="0" marL="342900" rtl="0" algn="l">
              <a:spcBef>
                <a:spcPts val="440"/>
              </a:spcBef>
              <a:spcAft>
                <a:spcPts val="0"/>
              </a:spcAft>
              <a:buClr>
                <a:schemeClr val="dk1"/>
              </a:buClr>
              <a:buSzPts val="2200"/>
              <a:buFont typeface="Noto Sans Symbols"/>
              <a:buChar char="✔"/>
            </a:pPr>
            <a:r>
              <a:rPr b="1" lang="en-US" sz="2200"/>
              <a:t>CÂY CÓ GỐC </a:t>
            </a:r>
            <a:r>
              <a:rPr lang="en-US" sz="2000"/>
              <a:t>là cây trong đó có một đỉnh được chọn làm gốc và mỗi cạnh được định hướng trùng với hướng đi của đường đi đơn duy nhất từ gốc tới mỗi đỉnh.</a:t>
            </a:r>
            <a:endParaRPr/>
          </a:p>
          <a:p>
            <a:pPr indent="-342900" lvl="0" marL="342900" rtl="0" algn="l">
              <a:spcBef>
                <a:spcPts val="400"/>
              </a:spcBef>
              <a:spcAft>
                <a:spcPts val="0"/>
              </a:spcAft>
              <a:buClr>
                <a:schemeClr val="dk1"/>
              </a:buClr>
              <a:buSzPts val="2000"/>
              <a:buFont typeface="Noto Sans Symbols"/>
              <a:buChar char="✔"/>
            </a:pPr>
            <a:r>
              <a:rPr lang="en-US" sz="2000"/>
              <a:t>Chú ý: Trong cây có gốc thì gốc có bậc vào bằng 0, còn tất cả các đỉnh khác đều có bậc vào bằng 1.</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a:p>
            <a:pPr indent="0" lvl="0" marL="0" rtl="0" algn="l">
              <a:spcBef>
                <a:spcPts val="0"/>
              </a:spcBef>
              <a:spcAft>
                <a:spcPts val="0"/>
              </a:spcAft>
              <a:buClr>
                <a:schemeClr val="dk1"/>
              </a:buClr>
              <a:buSzPts val="2400"/>
              <a:buFont typeface="Noto Sans Symbols"/>
              <a:buNone/>
            </a:pPr>
            <a:r>
              <a:t/>
            </a:r>
            <a:endParaRPr>
              <a:solidFill>
                <a:schemeClr val="lt1"/>
              </a:solidFill>
              <a:latin typeface="Courier New"/>
              <a:ea typeface="Courier New"/>
              <a:cs typeface="Courier New"/>
              <a:sym typeface="Courier New"/>
            </a:endParaRPr>
          </a:p>
          <a:p>
            <a:pPr indent="-190500" lvl="0" marL="342900" rtl="0" algn="l">
              <a:spcBef>
                <a:spcPts val="480"/>
              </a:spcBef>
              <a:spcAft>
                <a:spcPts val="0"/>
              </a:spcAft>
              <a:buClr>
                <a:schemeClr val="dk1"/>
              </a:buClr>
              <a:buSzPts val="2400"/>
              <a:buNone/>
            </a:pPr>
            <a:r>
              <a:t/>
            </a:r>
            <a:endParaRPr/>
          </a:p>
        </p:txBody>
      </p:sp>
      <p:sp>
        <p:nvSpPr>
          <p:cNvPr id="174" name="Google Shape;174;p8"/>
          <p:cNvSpPr txBox="1"/>
          <p:nvPr>
            <p:ph idx="3" type="body"/>
          </p:nvPr>
        </p:nvSpPr>
        <p:spPr>
          <a:xfrm>
            <a:off x="4645025" y="1535113"/>
            <a:ext cx="4041775" cy="639762"/>
          </a:xfrm>
          <a:prstGeom prst="rect">
            <a:avLst/>
          </a:prstGeom>
          <a:solidFill>
            <a:srgbClr val="EAEAEA"/>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175" name="Google Shape;175;p8"/>
          <p:cNvSpPr txBox="1"/>
          <p:nvPr>
            <p:ph idx="4" type="body"/>
          </p:nvPr>
        </p:nvSpPr>
        <p:spPr>
          <a:xfrm>
            <a:off x="4645025" y="2174875"/>
            <a:ext cx="4041775" cy="3951288"/>
          </a:xfrm>
          <a:prstGeom prst="rect">
            <a:avLst/>
          </a:prstGeom>
          <a:solidFill>
            <a:srgbClr val="EAEAEA"/>
          </a:solid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000"/>
              <a:buNone/>
            </a:pPr>
            <a:r>
              <a:t/>
            </a:r>
            <a:endParaRPr sz="2000"/>
          </a:p>
        </p:txBody>
      </p:sp>
      <p:sp>
        <p:nvSpPr>
          <p:cNvPr id="176" name="Google Shape;176;p8"/>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177" name="Google Shape;177;p8"/>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8" name="Google Shape;178;p8"/>
          <p:cNvSpPr/>
          <p:nvPr/>
        </p:nvSpPr>
        <p:spPr>
          <a:xfrm>
            <a:off x="6658344" y="1589346"/>
            <a:ext cx="228600" cy="228600"/>
          </a:xfrm>
          <a:prstGeom prst="ellipse">
            <a:avLst/>
          </a:prstGeom>
          <a:solidFill>
            <a:srgbClr val="002060"/>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Times New Roman"/>
              <a:buNone/>
            </a:pPr>
            <a:r>
              <a:t/>
            </a:r>
            <a:endParaRPr b="0" sz="3200">
              <a:solidFill>
                <a:srgbClr val="0033CC"/>
              </a:solidFill>
              <a:latin typeface="Arial"/>
              <a:ea typeface="Arial"/>
              <a:cs typeface="Arial"/>
              <a:sym typeface="Arial"/>
            </a:endParaRPr>
          </a:p>
        </p:txBody>
      </p:sp>
      <p:sp>
        <p:nvSpPr>
          <p:cNvPr id="179" name="Google Shape;179;p8"/>
          <p:cNvSpPr/>
          <p:nvPr/>
        </p:nvSpPr>
        <p:spPr>
          <a:xfrm>
            <a:off x="5591544" y="2884746"/>
            <a:ext cx="228600" cy="228600"/>
          </a:xfrm>
          <a:prstGeom prst="ellipse">
            <a:avLst/>
          </a:prstGeom>
          <a:solidFill>
            <a:srgbClr val="002060"/>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Times New Roman"/>
              <a:buNone/>
            </a:pPr>
            <a:r>
              <a:t/>
            </a:r>
            <a:endParaRPr b="0" sz="3200">
              <a:solidFill>
                <a:srgbClr val="0033CC"/>
              </a:solidFill>
              <a:latin typeface="Arial"/>
              <a:ea typeface="Arial"/>
              <a:cs typeface="Arial"/>
              <a:sym typeface="Arial"/>
            </a:endParaRPr>
          </a:p>
        </p:txBody>
      </p:sp>
      <p:sp>
        <p:nvSpPr>
          <p:cNvPr id="180" name="Google Shape;180;p8"/>
          <p:cNvSpPr/>
          <p:nvPr/>
        </p:nvSpPr>
        <p:spPr>
          <a:xfrm>
            <a:off x="7572744" y="2503746"/>
            <a:ext cx="228600" cy="228600"/>
          </a:xfrm>
          <a:prstGeom prst="ellipse">
            <a:avLst/>
          </a:prstGeom>
          <a:solidFill>
            <a:srgbClr val="002060"/>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Times New Roman"/>
              <a:buNone/>
            </a:pPr>
            <a:r>
              <a:t/>
            </a:r>
            <a:endParaRPr b="0" sz="3200">
              <a:solidFill>
                <a:srgbClr val="0033CC"/>
              </a:solidFill>
              <a:latin typeface="Arial"/>
              <a:ea typeface="Arial"/>
              <a:cs typeface="Arial"/>
              <a:sym typeface="Arial"/>
            </a:endParaRPr>
          </a:p>
        </p:txBody>
      </p:sp>
      <p:sp>
        <p:nvSpPr>
          <p:cNvPr id="181" name="Google Shape;181;p8"/>
          <p:cNvSpPr/>
          <p:nvPr/>
        </p:nvSpPr>
        <p:spPr>
          <a:xfrm>
            <a:off x="6810744" y="3799146"/>
            <a:ext cx="228600" cy="228600"/>
          </a:xfrm>
          <a:prstGeom prst="ellipse">
            <a:avLst/>
          </a:prstGeom>
          <a:solidFill>
            <a:srgbClr val="002060"/>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Times New Roman"/>
              <a:buNone/>
            </a:pPr>
            <a:r>
              <a:t/>
            </a:r>
            <a:endParaRPr b="0" sz="3200">
              <a:solidFill>
                <a:srgbClr val="0033CC"/>
              </a:solidFill>
              <a:latin typeface="Arial"/>
              <a:ea typeface="Arial"/>
              <a:cs typeface="Arial"/>
              <a:sym typeface="Arial"/>
            </a:endParaRPr>
          </a:p>
        </p:txBody>
      </p:sp>
      <p:cxnSp>
        <p:nvCxnSpPr>
          <p:cNvPr id="182" name="Google Shape;182;p8"/>
          <p:cNvCxnSpPr>
            <a:stCxn id="179" idx="7"/>
            <a:endCxn id="178" idx="3"/>
          </p:cNvCxnSpPr>
          <p:nvPr/>
        </p:nvCxnSpPr>
        <p:spPr>
          <a:xfrm flipH="1" rot="10800000">
            <a:off x="5786666" y="1784524"/>
            <a:ext cx="905100" cy="1133700"/>
          </a:xfrm>
          <a:prstGeom prst="straightConnector1">
            <a:avLst/>
          </a:prstGeom>
          <a:noFill/>
          <a:ln cap="flat" cmpd="sng" w="28575">
            <a:solidFill>
              <a:srgbClr val="002060"/>
            </a:solidFill>
            <a:prstDash val="solid"/>
            <a:round/>
            <a:headEnd len="med" w="med" type="none"/>
            <a:tailEnd len="med" w="med" type="stealth"/>
          </a:ln>
        </p:spPr>
      </p:cxnSp>
      <p:cxnSp>
        <p:nvCxnSpPr>
          <p:cNvPr id="183" name="Google Shape;183;p8"/>
          <p:cNvCxnSpPr>
            <a:stCxn id="179" idx="6"/>
            <a:endCxn id="180" idx="2"/>
          </p:cNvCxnSpPr>
          <p:nvPr/>
        </p:nvCxnSpPr>
        <p:spPr>
          <a:xfrm flipH="1" rot="10800000">
            <a:off x="5820144" y="2618046"/>
            <a:ext cx="1752600" cy="381000"/>
          </a:xfrm>
          <a:prstGeom prst="straightConnector1">
            <a:avLst/>
          </a:prstGeom>
          <a:noFill/>
          <a:ln cap="flat" cmpd="sng" w="28575">
            <a:solidFill>
              <a:srgbClr val="002060"/>
            </a:solidFill>
            <a:prstDash val="solid"/>
            <a:round/>
            <a:headEnd len="med" w="med" type="none"/>
            <a:tailEnd len="med" w="med" type="stealth"/>
          </a:ln>
        </p:spPr>
      </p:cxnSp>
      <p:cxnSp>
        <p:nvCxnSpPr>
          <p:cNvPr id="184" name="Google Shape;184;p8"/>
          <p:cNvCxnSpPr>
            <a:stCxn id="180" idx="4"/>
            <a:endCxn id="181" idx="7"/>
          </p:cNvCxnSpPr>
          <p:nvPr/>
        </p:nvCxnSpPr>
        <p:spPr>
          <a:xfrm flipH="1">
            <a:off x="7005744" y="2732346"/>
            <a:ext cx="681300" cy="1100400"/>
          </a:xfrm>
          <a:prstGeom prst="straightConnector1">
            <a:avLst/>
          </a:prstGeom>
          <a:noFill/>
          <a:ln cap="flat" cmpd="sng" w="28575">
            <a:solidFill>
              <a:srgbClr val="002060"/>
            </a:solidFill>
            <a:prstDash val="solid"/>
            <a:round/>
            <a:headEnd len="med" w="med" type="none"/>
            <a:tailEnd len="med" w="med" type="stealth"/>
          </a:ln>
        </p:spPr>
      </p:cxnSp>
      <p:cxnSp>
        <p:nvCxnSpPr>
          <p:cNvPr id="185" name="Google Shape;185;p8"/>
          <p:cNvCxnSpPr>
            <a:stCxn id="181" idx="2"/>
            <a:endCxn id="179" idx="4"/>
          </p:cNvCxnSpPr>
          <p:nvPr/>
        </p:nvCxnSpPr>
        <p:spPr>
          <a:xfrm rot="10800000">
            <a:off x="5705844" y="3113346"/>
            <a:ext cx="1104900" cy="800100"/>
          </a:xfrm>
          <a:prstGeom prst="straightConnector1">
            <a:avLst/>
          </a:prstGeom>
          <a:noFill/>
          <a:ln cap="flat" cmpd="sng" w="28575">
            <a:solidFill>
              <a:srgbClr val="002060"/>
            </a:solidFill>
            <a:prstDash val="solid"/>
            <a:round/>
            <a:headEnd len="med" w="med" type="none"/>
            <a:tailEnd len="med" w="med" type="stealth"/>
          </a:ln>
        </p:spPr>
      </p:cxnSp>
      <p:sp>
        <p:nvSpPr>
          <p:cNvPr id="186" name="Google Shape;186;p8"/>
          <p:cNvSpPr txBox="1"/>
          <p:nvPr/>
        </p:nvSpPr>
        <p:spPr>
          <a:xfrm>
            <a:off x="4898568" y="2714234"/>
            <a:ext cx="685800" cy="522287"/>
          </a:xfrm>
          <a:prstGeom prst="rect">
            <a:avLst/>
          </a:prstGeom>
          <a:noFill/>
          <a:ln>
            <a:noFill/>
          </a:ln>
        </p:spPr>
        <p:txBody>
          <a:bodyPr anchorCtr="0" anchor="t" bIns="45700" lIns="91425" spcFirstLastPara="1" rIns="91425" wrap="square" tIns="45700">
            <a:noAutofit/>
          </a:bodyPr>
          <a:lstStyle/>
          <a:p>
            <a:pPr indent="-342900" lvl="0" marL="342900" marR="0" rtl="0" algn="ctr">
              <a:spcBef>
                <a:spcPts val="0"/>
              </a:spcBef>
              <a:spcAft>
                <a:spcPts val="0"/>
              </a:spcAft>
              <a:buNone/>
            </a:pPr>
            <a:r>
              <a:rPr lang="en-US" sz="2400">
                <a:solidFill>
                  <a:srgbClr val="0033CC"/>
                </a:solidFill>
                <a:latin typeface="Times New Roman"/>
                <a:ea typeface="Times New Roman"/>
                <a:cs typeface="Times New Roman"/>
                <a:sym typeface="Times New Roman"/>
              </a:rPr>
              <a:t>G</a:t>
            </a:r>
            <a:r>
              <a:rPr baseline="-25000" lang="en-US" sz="2400">
                <a:solidFill>
                  <a:srgbClr val="0033CC"/>
                </a:solidFill>
                <a:latin typeface="Times New Roman"/>
                <a:ea typeface="Times New Roman"/>
                <a:cs typeface="Times New Roman"/>
                <a:sym typeface="Times New Roman"/>
              </a:rPr>
              <a:t>1</a:t>
            </a:r>
            <a:endParaRPr baseline="-25000" sz="2400">
              <a:solidFill>
                <a:srgbClr val="0033CC"/>
              </a:solidFill>
              <a:latin typeface="Times New Roman"/>
              <a:ea typeface="Times New Roman"/>
              <a:cs typeface="Times New Roman"/>
              <a:sym typeface="Times New Roman"/>
            </a:endParaRPr>
          </a:p>
        </p:txBody>
      </p:sp>
      <p:sp>
        <p:nvSpPr>
          <p:cNvPr id="187" name="Google Shape;187;p8"/>
          <p:cNvSpPr/>
          <p:nvPr/>
        </p:nvSpPr>
        <p:spPr>
          <a:xfrm>
            <a:off x="5889180" y="3712243"/>
            <a:ext cx="228600" cy="228600"/>
          </a:xfrm>
          <a:prstGeom prst="ellipse">
            <a:avLst/>
          </a:prstGeom>
          <a:solidFill>
            <a:srgbClr val="002060"/>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Times New Roman"/>
              <a:buNone/>
            </a:pPr>
            <a:r>
              <a:t/>
            </a:r>
            <a:endParaRPr b="0" sz="3200">
              <a:solidFill>
                <a:srgbClr val="0033CC"/>
              </a:solidFill>
              <a:latin typeface="Arial"/>
              <a:ea typeface="Arial"/>
              <a:cs typeface="Arial"/>
              <a:sym typeface="Arial"/>
            </a:endParaRPr>
          </a:p>
        </p:txBody>
      </p:sp>
      <p:sp>
        <p:nvSpPr>
          <p:cNvPr id="188" name="Google Shape;188;p8"/>
          <p:cNvSpPr/>
          <p:nvPr/>
        </p:nvSpPr>
        <p:spPr>
          <a:xfrm>
            <a:off x="5050980" y="5007643"/>
            <a:ext cx="228600" cy="228600"/>
          </a:xfrm>
          <a:prstGeom prst="ellipse">
            <a:avLst/>
          </a:prstGeom>
          <a:solidFill>
            <a:srgbClr val="002060"/>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Times New Roman"/>
              <a:buNone/>
            </a:pPr>
            <a:r>
              <a:t/>
            </a:r>
            <a:endParaRPr b="0" sz="3200">
              <a:solidFill>
                <a:srgbClr val="0033CC"/>
              </a:solidFill>
              <a:latin typeface="Arial"/>
              <a:ea typeface="Arial"/>
              <a:cs typeface="Arial"/>
              <a:sym typeface="Arial"/>
            </a:endParaRPr>
          </a:p>
        </p:txBody>
      </p:sp>
      <p:sp>
        <p:nvSpPr>
          <p:cNvPr id="189" name="Google Shape;189;p8"/>
          <p:cNvSpPr/>
          <p:nvPr/>
        </p:nvSpPr>
        <p:spPr>
          <a:xfrm>
            <a:off x="7032180" y="4626643"/>
            <a:ext cx="228600" cy="228600"/>
          </a:xfrm>
          <a:prstGeom prst="ellipse">
            <a:avLst/>
          </a:prstGeom>
          <a:solidFill>
            <a:srgbClr val="002060"/>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Times New Roman"/>
              <a:buNone/>
            </a:pPr>
            <a:r>
              <a:t/>
            </a:r>
            <a:endParaRPr b="0" sz="3200">
              <a:solidFill>
                <a:srgbClr val="0033CC"/>
              </a:solidFill>
              <a:latin typeface="Arial"/>
              <a:ea typeface="Arial"/>
              <a:cs typeface="Arial"/>
              <a:sym typeface="Arial"/>
            </a:endParaRPr>
          </a:p>
        </p:txBody>
      </p:sp>
      <p:sp>
        <p:nvSpPr>
          <p:cNvPr id="190" name="Google Shape;190;p8"/>
          <p:cNvSpPr/>
          <p:nvPr/>
        </p:nvSpPr>
        <p:spPr>
          <a:xfrm>
            <a:off x="6270180" y="5922043"/>
            <a:ext cx="228600" cy="228600"/>
          </a:xfrm>
          <a:prstGeom prst="ellipse">
            <a:avLst/>
          </a:prstGeom>
          <a:solidFill>
            <a:srgbClr val="002060"/>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Times New Roman"/>
              <a:buNone/>
            </a:pPr>
            <a:r>
              <a:t/>
            </a:r>
            <a:endParaRPr b="0" sz="3200">
              <a:solidFill>
                <a:srgbClr val="0033CC"/>
              </a:solidFill>
              <a:latin typeface="Arial"/>
              <a:ea typeface="Arial"/>
              <a:cs typeface="Arial"/>
              <a:sym typeface="Arial"/>
            </a:endParaRPr>
          </a:p>
        </p:txBody>
      </p:sp>
      <p:cxnSp>
        <p:nvCxnSpPr>
          <p:cNvPr id="191" name="Google Shape;191;p8"/>
          <p:cNvCxnSpPr>
            <a:stCxn id="188" idx="7"/>
            <a:endCxn id="187" idx="3"/>
          </p:cNvCxnSpPr>
          <p:nvPr/>
        </p:nvCxnSpPr>
        <p:spPr>
          <a:xfrm flipH="1" rot="10800000">
            <a:off x="5246102" y="3907421"/>
            <a:ext cx="676500" cy="1133700"/>
          </a:xfrm>
          <a:prstGeom prst="straightConnector1">
            <a:avLst/>
          </a:prstGeom>
          <a:noFill/>
          <a:ln cap="flat" cmpd="sng" w="28575">
            <a:solidFill>
              <a:srgbClr val="002060"/>
            </a:solidFill>
            <a:prstDash val="solid"/>
            <a:round/>
            <a:headEnd len="med" w="med" type="none"/>
            <a:tailEnd len="med" w="med" type="stealth"/>
          </a:ln>
        </p:spPr>
      </p:cxnSp>
      <p:cxnSp>
        <p:nvCxnSpPr>
          <p:cNvPr id="192" name="Google Shape;192;p8"/>
          <p:cNvCxnSpPr>
            <a:stCxn id="189" idx="1"/>
            <a:endCxn id="187" idx="5"/>
          </p:cNvCxnSpPr>
          <p:nvPr/>
        </p:nvCxnSpPr>
        <p:spPr>
          <a:xfrm rot="10800000">
            <a:off x="6084357" y="3907421"/>
            <a:ext cx="981300" cy="752700"/>
          </a:xfrm>
          <a:prstGeom prst="straightConnector1">
            <a:avLst/>
          </a:prstGeom>
          <a:noFill/>
          <a:ln cap="flat" cmpd="sng" w="28575">
            <a:solidFill>
              <a:srgbClr val="002060"/>
            </a:solidFill>
            <a:prstDash val="solid"/>
            <a:round/>
            <a:headEnd len="med" w="med" type="none"/>
            <a:tailEnd len="med" w="med" type="stealth"/>
          </a:ln>
        </p:spPr>
      </p:cxnSp>
      <p:cxnSp>
        <p:nvCxnSpPr>
          <p:cNvPr id="193" name="Google Shape;193;p8"/>
          <p:cNvCxnSpPr>
            <a:stCxn id="189" idx="4"/>
            <a:endCxn id="190" idx="7"/>
          </p:cNvCxnSpPr>
          <p:nvPr/>
        </p:nvCxnSpPr>
        <p:spPr>
          <a:xfrm flipH="1">
            <a:off x="6465180" y="4855243"/>
            <a:ext cx="681300" cy="1100400"/>
          </a:xfrm>
          <a:prstGeom prst="straightConnector1">
            <a:avLst/>
          </a:prstGeom>
          <a:noFill/>
          <a:ln cap="flat" cmpd="sng" w="28575">
            <a:solidFill>
              <a:srgbClr val="002060"/>
            </a:solidFill>
            <a:prstDash val="solid"/>
            <a:round/>
            <a:headEnd len="med" w="med" type="none"/>
            <a:tailEnd len="med" w="med" type="stealth"/>
          </a:ln>
        </p:spPr>
      </p:cxnSp>
      <p:cxnSp>
        <p:nvCxnSpPr>
          <p:cNvPr id="194" name="Google Shape;194;p8"/>
          <p:cNvCxnSpPr>
            <a:stCxn id="188" idx="5"/>
            <a:endCxn id="190" idx="2"/>
          </p:cNvCxnSpPr>
          <p:nvPr/>
        </p:nvCxnSpPr>
        <p:spPr>
          <a:xfrm>
            <a:off x="5246102" y="5202765"/>
            <a:ext cx="1024200" cy="833700"/>
          </a:xfrm>
          <a:prstGeom prst="straightConnector1">
            <a:avLst/>
          </a:prstGeom>
          <a:noFill/>
          <a:ln cap="flat" cmpd="sng" w="28575">
            <a:solidFill>
              <a:srgbClr val="002060"/>
            </a:solidFill>
            <a:prstDash val="solid"/>
            <a:round/>
            <a:headEnd len="med" w="med" type="none"/>
            <a:tailEnd len="med" w="med" type="stealth"/>
          </a:ln>
        </p:spPr>
      </p:cxnSp>
      <p:sp>
        <p:nvSpPr>
          <p:cNvPr id="195" name="Google Shape;195;p8"/>
          <p:cNvSpPr txBox="1"/>
          <p:nvPr/>
        </p:nvSpPr>
        <p:spPr>
          <a:xfrm>
            <a:off x="7506671" y="4581728"/>
            <a:ext cx="685800" cy="522287"/>
          </a:xfrm>
          <a:prstGeom prst="rect">
            <a:avLst/>
          </a:prstGeom>
          <a:noFill/>
          <a:ln>
            <a:noFill/>
          </a:ln>
        </p:spPr>
        <p:txBody>
          <a:bodyPr anchorCtr="0" anchor="t" bIns="45700" lIns="91425" spcFirstLastPara="1" rIns="91425" wrap="square" tIns="45700">
            <a:noAutofit/>
          </a:bodyPr>
          <a:lstStyle/>
          <a:p>
            <a:pPr indent="-342900" lvl="0" marL="342900" marR="0" rtl="0" algn="ctr">
              <a:spcBef>
                <a:spcPts val="0"/>
              </a:spcBef>
              <a:spcAft>
                <a:spcPts val="0"/>
              </a:spcAft>
              <a:buNone/>
            </a:pPr>
            <a:r>
              <a:rPr lang="en-US" sz="2400">
                <a:solidFill>
                  <a:srgbClr val="0033CC"/>
                </a:solidFill>
                <a:latin typeface="Times New Roman"/>
                <a:ea typeface="Times New Roman"/>
                <a:cs typeface="Times New Roman"/>
                <a:sym typeface="Times New Roman"/>
              </a:rPr>
              <a:t>G</a:t>
            </a:r>
            <a:r>
              <a:rPr baseline="-25000" lang="en-US" sz="2400">
                <a:solidFill>
                  <a:srgbClr val="0033CC"/>
                </a:solidFill>
                <a:latin typeface="Times New Roman"/>
                <a:ea typeface="Times New Roman"/>
                <a:cs typeface="Times New Roman"/>
                <a:sym typeface="Times New Roman"/>
              </a:rPr>
              <a:t>2</a:t>
            </a:r>
            <a:endParaRPr baseline="-25000" sz="2400">
              <a:solidFill>
                <a:srgbClr val="0033CC"/>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500"/>
                                        <p:tgtEl>
                                          <p:spTgt spid="187"/>
                                        </p:tgtEl>
                                      </p:cBhvr>
                                    </p:animEffect>
                                  </p:childTnLst>
                                </p:cTn>
                              </p:par>
                              <p:par>
                                <p:cTn fill="hold" nodeType="with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par>
                                <p:cTn fill="hold" nodeType="with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500"/>
                                        <p:tgtEl>
                                          <p:spTgt spid="189"/>
                                        </p:tgtEl>
                                      </p:cBhvr>
                                    </p:animEffect>
                                  </p:childTnLst>
                                </p:cTn>
                              </p:par>
                              <p:par>
                                <p:cTn fill="hold" nodeType="with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par>
                                <p:cTn fill="hold" nodeType="with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500"/>
                                        <p:tgtEl>
                                          <p:spTgt spid="191"/>
                                        </p:tgtEl>
                                      </p:cBhvr>
                                    </p:animEffect>
                                  </p:childTnLst>
                                </p:cTn>
                              </p:par>
                              <p:par>
                                <p:cTn fill="hold" nodeType="with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500"/>
                                        <p:tgtEl>
                                          <p:spTgt spid="192"/>
                                        </p:tgtEl>
                                      </p:cBhvr>
                                    </p:animEffect>
                                  </p:childTnLst>
                                </p:cTn>
                              </p:par>
                              <p:par>
                                <p:cTn fill="hold" nodeType="with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par>
                                <p:cTn fill="hold" nodeType="with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500"/>
                                        <p:tgtEl>
                                          <p:spTgt spid="194"/>
                                        </p:tgtEl>
                                      </p:cBhvr>
                                    </p:animEffect>
                                  </p:childTnLst>
                                </p:cTn>
                              </p:par>
                              <p:par>
                                <p:cTn fill="hold" nodeType="with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9"/>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t>Khái niệm cây</a:t>
            </a:r>
            <a:endParaRPr b="1" sz="4000"/>
          </a:p>
        </p:txBody>
      </p:sp>
      <p:sp>
        <p:nvSpPr>
          <p:cNvPr id="201" name="Google Shape;201;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None/>
            </a:pPr>
            <a:r>
              <a:t/>
            </a:r>
            <a:endParaRPr/>
          </a:p>
        </p:txBody>
      </p:sp>
      <p:sp>
        <p:nvSpPr>
          <p:cNvPr id="202" name="Google Shape;202;p9"/>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203" name="Google Shape;203;p9"/>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graph117" id="204" name="Google Shape;204;p9"/>
          <p:cNvPicPr preferRelativeResize="0"/>
          <p:nvPr/>
        </p:nvPicPr>
        <p:blipFill rotWithShape="1">
          <a:blip r:embed="rId3">
            <a:alphaModFix/>
          </a:blip>
          <a:srcRect b="0" l="0" r="0" t="0"/>
          <a:stretch/>
        </p:blipFill>
        <p:spPr>
          <a:xfrm>
            <a:off x="464388" y="1600200"/>
            <a:ext cx="7993811" cy="419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0"/>
          <p:cNvSpPr txBox="1"/>
          <p:nvPr>
            <p:ph type="title"/>
          </p:nvPr>
        </p:nvSpPr>
        <p:spPr>
          <a:xfrm>
            <a:off x="457200" y="274638"/>
            <a:ext cx="8229600" cy="9445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t>Khái niệm cây</a:t>
            </a:r>
            <a:endParaRPr b="1"/>
          </a:p>
        </p:txBody>
      </p:sp>
      <p:sp>
        <p:nvSpPr>
          <p:cNvPr id="210" name="Google Shape;210;p10"/>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Định nghĩa</a:t>
            </a:r>
            <a:endParaRPr/>
          </a:p>
        </p:txBody>
      </p:sp>
      <p:sp>
        <p:nvSpPr>
          <p:cNvPr id="211" name="Google Shape;211;p1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Cây T có gốc v</a:t>
            </a:r>
            <a:r>
              <a:rPr baseline="-25000" lang="en-US"/>
              <a:t>0</a:t>
            </a:r>
            <a:r>
              <a:rPr lang="en-US"/>
              <a:t>. </a:t>
            </a:r>
            <a:endParaRPr/>
          </a:p>
          <a:p>
            <a:pPr indent="0" lvl="0" marL="0" rtl="0" algn="l">
              <a:spcBef>
                <a:spcPts val="480"/>
              </a:spcBef>
              <a:spcAft>
                <a:spcPts val="0"/>
              </a:spcAft>
              <a:buClr>
                <a:schemeClr val="dk1"/>
              </a:buClr>
              <a:buSzPts val="2400"/>
              <a:buNone/>
            </a:pPr>
            <a:r>
              <a:rPr lang="en-US"/>
              <a:t>   Giả sử v</a:t>
            </a:r>
            <a:r>
              <a:rPr baseline="-25000" lang="en-US"/>
              <a:t>0</a:t>
            </a:r>
            <a:r>
              <a:rPr lang="en-US"/>
              <a:t>, v</a:t>
            </a:r>
            <a:r>
              <a:rPr baseline="-25000" lang="en-US"/>
              <a:t>1</a:t>
            </a:r>
            <a:r>
              <a:rPr lang="en-US"/>
              <a:t>, ..., v</a:t>
            </a:r>
            <a:r>
              <a:rPr baseline="-25000" lang="en-US"/>
              <a:t>n</a:t>
            </a:r>
            <a:r>
              <a:rPr lang="en-US"/>
              <a:t> là một đường đi trong T:</a:t>
            </a:r>
            <a:endParaRPr/>
          </a:p>
          <a:p>
            <a:pPr indent="-285750" lvl="1" marL="742950" rtl="0" algn="l">
              <a:spcBef>
                <a:spcPts val="400"/>
              </a:spcBef>
              <a:spcAft>
                <a:spcPts val="0"/>
              </a:spcAft>
              <a:buClr>
                <a:schemeClr val="dk1"/>
              </a:buClr>
              <a:buSzPts val="2000"/>
              <a:buFont typeface="Noto Sans Symbols"/>
              <a:buChar char="▪"/>
            </a:pPr>
            <a:r>
              <a:rPr lang="en-US"/>
              <a:t>v</a:t>
            </a:r>
            <a:r>
              <a:rPr baseline="-25000" lang="en-US"/>
              <a:t>i+1</a:t>
            </a:r>
            <a:r>
              <a:rPr lang="en-US"/>
              <a:t> là </a:t>
            </a:r>
            <a:r>
              <a:rPr lang="en-US">
                <a:solidFill>
                  <a:srgbClr val="FF0000"/>
                </a:solidFill>
              </a:rPr>
              <a:t>con</a:t>
            </a:r>
            <a:r>
              <a:rPr lang="en-US"/>
              <a:t> của v</a:t>
            </a:r>
            <a:r>
              <a:rPr baseline="-25000" lang="en-US"/>
              <a:t>i</a:t>
            </a:r>
            <a:r>
              <a:rPr lang="en-US"/>
              <a:t> và v</a:t>
            </a:r>
            <a:r>
              <a:rPr baseline="-25000" lang="en-US"/>
              <a:t>i</a:t>
            </a:r>
            <a:r>
              <a:rPr lang="en-US"/>
              <a:t> là cha</a:t>
            </a:r>
            <a:endParaRPr/>
          </a:p>
          <a:p>
            <a:pPr indent="-285750" lvl="1" marL="742950" rtl="0" algn="l">
              <a:spcBef>
                <a:spcPts val="400"/>
              </a:spcBef>
              <a:spcAft>
                <a:spcPts val="0"/>
              </a:spcAft>
              <a:buClr>
                <a:schemeClr val="dk1"/>
              </a:buClr>
              <a:buSzPts val="2000"/>
              <a:buFont typeface="Noto Sans Symbols"/>
              <a:buChar char="▪"/>
            </a:pPr>
            <a:r>
              <a:rPr lang="en-US"/>
              <a:t>v</a:t>
            </a:r>
            <a:r>
              <a:rPr baseline="-25000" lang="en-US"/>
              <a:t>0</a:t>
            </a:r>
            <a:r>
              <a:rPr lang="en-US"/>
              <a:t>, v</a:t>
            </a:r>
            <a:r>
              <a:rPr baseline="-25000" lang="en-US"/>
              <a:t>1</a:t>
            </a:r>
            <a:r>
              <a:rPr lang="en-US"/>
              <a:t>, ..., v</a:t>
            </a:r>
            <a:r>
              <a:rPr baseline="-25000" lang="en-US"/>
              <a:t>n-1</a:t>
            </a:r>
            <a:r>
              <a:rPr lang="en-US"/>
              <a:t> là các </a:t>
            </a:r>
            <a:r>
              <a:rPr lang="en-US">
                <a:solidFill>
                  <a:srgbClr val="FF0000"/>
                </a:solidFill>
              </a:rPr>
              <a:t>tổ tiên </a:t>
            </a:r>
            <a:r>
              <a:rPr lang="en-US"/>
              <a:t>của v</a:t>
            </a:r>
            <a:r>
              <a:rPr baseline="-25000" lang="en-US"/>
              <a:t>n</a:t>
            </a:r>
            <a:r>
              <a:rPr lang="en-US"/>
              <a:t> </a:t>
            </a:r>
            <a:endParaRPr/>
          </a:p>
          <a:p>
            <a:pPr indent="-285750" lvl="1" marL="742950" rtl="0" algn="l">
              <a:spcBef>
                <a:spcPts val="400"/>
              </a:spcBef>
              <a:spcAft>
                <a:spcPts val="0"/>
              </a:spcAft>
              <a:buClr>
                <a:srgbClr val="FF0000"/>
              </a:buClr>
              <a:buSzPts val="2000"/>
              <a:buFont typeface="Noto Sans Symbols"/>
              <a:buChar char="▪"/>
            </a:pPr>
            <a:r>
              <a:rPr lang="en-US">
                <a:solidFill>
                  <a:srgbClr val="FF0000"/>
                </a:solidFill>
              </a:rPr>
              <a:t>Đỉnh treo </a:t>
            </a:r>
            <a:r>
              <a:rPr lang="en-US"/>
              <a:t>v</a:t>
            </a:r>
            <a:r>
              <a:rPr baseline="-25000" lang="en-US"/>
              <a:t>n</a:t>
            </a:r>
            <a:r>
              <a:rPr lang="en-US"/>
              <a:t> là đỉnh không có con; đỉnh treo cũng gọi là </a:t>
            </a:r>
            <a:r>
              <a:rPr lang="en-US">
                <a:solidFill>
                  <a:srgbClr val="FF0000"/>
                </a:solidFill>
              </a:rPr>
              <a:t>lá</a:t>
            </a:r>
            <a:r>
              <a:rPr lang="en-US"/>
              <a:t> hay </a:t>
            </a:r>
            <a:r>
              <a:rPr lang="en-US">
                <a:solidFill>
                  <a:srgbClr val="FF0000"/>
                </a:solidFill>
              </a:rPr>
              <a:t>đỉnh ngoài</a:t>
            </a:r>
            <a:r>
              <a:rPr lang="en-US"/>
              <a:t>; </a:t>
            </a:r>
            <a:endParaRPr/>
          </a:p>
          <a:p>
            <a:pPr indent="-285750" lvl="1" marL="742950" rtl="0" algn="l">
              <a:spcBef>
                <a:spcPts val="400"/>
              </a:spcBef>
              <a:spcAft>
                <a:spcPts val="0"/>
              </a:spcAft>
              <a:buClr>
                <a:schemeClr val="dk1"/>
              </a:buClr>
              <a:buSzPts val="2000"/>
              <a:buFont typeface="Noto Sans Symbols"/>
              <a:buChar char="▪"/>
            </a:pPr>
            <a:r>
              <a:rPr lang="en-US"/>
              <a:t>Đỉnh không là lá gọi </a:t>
            </a:r>
            <a:r>
              <a:rPr lang="en-US">
                <a:solidFill>
                  <a:srgbClr val="FF0000"/>
                </a:solidFill>
              </a:rPr>
              <a:t>đỉnh trong</a:t>
            </a:r>
            <a:r>
              <a:rPr lang="en-US"/>
              <a:t>.</a:t>
            </a:r>
            <a:endParaRPr/>
          </a:p>
        </p:txBody>
      </p:sp>
      <p:sp>
        <p:nvSpPr>
          <p:cNvPr id="212" name="Google Shape;212;p10"/>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Ví dụ</a:t>
            </a:r>
            <a:endParaRPr/>
          </a:p>
        </p:txBody>
      </p:sp>
      <p:sp>
        <p:nvSpPr>
          <p:cNvPr id="213" name="Google Shape;213;p10"/>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214" name="Google Shape;214;p10"/>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5" name="Google Shape;215;p1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p>
            <a:pPr indent="-190500" lvl="0" marL="342900" rtl="0" algn="l">
              <a:spcBef>
                <a:spcPts val="0"/>
              </a:spcBef>
              <a:spcAft>
                <a:spcPts val="0"/>
              </a:spcAft>
              <a:buClr>
                <a:schemeClr val="dk1"/>
              </a:buClr>
              <a:buSzPts val="2400"/>
              <a:buNone/>
            </a:pPr>
            <a:r>
              <a:t/>
            </a:r>
            <a:endParaRPr/>
          </a:p>
        </p:txBody>
      </p:sp>
      <p:pic>
        <p:nvPicPr>
          <p:cNvPr descr="graph119" id="216" name="Google Shape;216;p10"/>
          <p:cNvPicPr preferRelativeResize="0"/>
          <p:nvPr/>
        </p:nvPicPr>
        <p:blipFill rotWithShape="1">
          <a:blip r:embed="rId3">
            <a:alphaModFix/>
          </a:blip>
          <a:srcRect b="0" l="0" r="0" t="0"/>
          <a:stretch/>
        </p:blipFill>
        <p:spPr>
          <a:xfrm>
            <a:off x="4800600" y="2254704"/>
            <a:ext cx="3886200" cy="26225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1"/>
          <p:cNvSpPr txBox="1"/>
          <p:nvPr>
            <p:ph type="title"/>
          </p:nvPr>
        </p:nvSpPr>
        <p:spPr>
          <a:xfrm>
            <a:off x="457200" y="274638"/>
            <a:ext cx="8229600" cy="9445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t>Khái niệm cây</a:t>
            </a:r>
            <a:endParaRPr b="1"/>
          </a:p>
        </p:txBody>
      </p:sp>
      <p:sp>
        <p:nvSpPr>
          <p:cNvPr id="222" name="Google Shape;222;p11"/>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Định nghĩa</a:t>
            </a:r>
            <a:endParaRPr/>
          </a:p>
        </p:txBody>
      </p:sp>
      <p:sp>
        <p:nvSpPr>
          <p:cNvPr id="223" name="Google Shape;223;p11"/>
          <p:cNvSpPr txBox="1"/>
          <p:nvPr>
            <p:ph idx="2" type="body"/>
          </p:nvPr>
        </p:nvSpPr>
        <p:spPr>
          <a:xfrm>
            <a:off x="457200" y="2174875"/>
            <a:ext cx="4040188" cy="425699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Một cây có gốc T gọi là CÂY k- PHÂN nếu mỗi đỉnh của T có nhiều nhất là k đỉnh con. </a:t>
            </a:r>
            <a:endParaRPr/>
          </a:p>
          <a:p>
            <a:pPr indent="-342900" lvl="0" marL="342900" rtl="0" algn="l">
              <a:spcBef>
                <a:spcPts val="480"/>
              </a:spcBef>
              <a:spcAft>
                <a:spcPts val="0"/>
              </a:spcAft>
              <a:buClr>
                <a:schemeClr val="dk1"/>
              </a:buClr>
              <a:buSzPts val="2400"/>
              <a:buFont typeface="Noto Sans Symbols"/>
              <a:buChar char="✔"/>
            </a:pPr>
            <a:r>
              <a:rPr lang="en-US"/>
              <a:t>Cây có gốc T gọi là CÂY k-PHÂN ĐẦY ĐỦ nếu mỗi đỉnh trong của T đều có đúng k con.</a:t>
            </a:r>
            <a:endParaRPr/>
          </a:p>
          <a:p>
            <a:pPr indent="-342900" lvl="0" marL="342900" rtl="0" algn="l">
              <a:spcBef>
                <a:spcPts val="480"/>
              </a:spcBef>
              <a:spcAft>
                <a:spcPts val="0"/>
              </a:spcAft>
              <a:buClr>
                <a:schemeClr val="dk1"/>
              </a:buClr>
              <a:buSzPts val="2400"/>
              <a:buFont typeface="Noto Sans Symbols"/>
              <a:buChar char="✔"/>
            </a:pPr>
            <a:r>
              <a:rPr lang="en-US"/>
              <a:t>Cây k- phân đầy đủ với m  đỉnh trong có,  n = m*k+1 đỉnh</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p:txBody>
      </p:sp>
      <p:sp>
        <p:nvSpPr>
          <p:cNvPr id="224" name="Google Shape;224;p11"/>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Ví dụ</a:t>
            </a:r>
            <a:endParaRPr/>
          </a:p>
        </p:txBody>
      </p:sp>
      <p:sp>
        <p:nvSpPr>
          <p:cNvPr id="225" name="Google Shape;225;p11"/>
          <p:cNvSpPr txBox="1"/>
          <p:nvPr>
            <p:ph idx="4" type="body"/>
          </p:nvPr>
        </p:nvSpPr>
        <p:spPr>
          <a:xfrm>
            <a:off x="4645025" y="2174875"/>
            <a:ext cx="4041775" cy="4256994"/>
          </a:xfrm>
          <a:prstGeom prst="rect">
            <a:avLst/>
          </a:prstGeom>
          <a:noFill/>
          <a:ln>
            <a:noFill/>
          </a:ln>
        </p:spPr>
        <p:txBody>
          <a:bodyPr anchorCtr="0" anchor="t" bIns="45700" lIns="91425" spcFirstLastPara="1" rIns="91425" wrap="square" tIns="45700">
            <a:noAutofit/>
          </a:bodyPr>
          <a:lstStyle/>
          <a:p>
            <a:pPr indent="-190500" lvl="0" marL="342900" rtl="0" algn="l">
              <a:spcBef>
                <a:spcPts val="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p:txBody>
      </p:sp>
      <p:sp>
        <p:nvSpPr>
          <p:cNvPr id="226" name="Google Shape;226;p11"/>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227" name="Google Shape;227;p11"/>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28" name="Google Shape;228;p11"/>
          <p:cNvPicPr preferRelativeResize="0"/>
          <p:nvPr/>
        </p:nvPicPr>
        <p:blipFill rotWithShape="1">
          <a:blip r:embed="rId3">
            <a:alphaModFix/>
          </a:blip>
          <a:srcRect b="0" l="0" r="0" t="0"/>
          <a:stretch/>
        </p:blipFill>
        <p:spPr>
          <a:xfrm>
            <a:off x="4724400" y="2362200"/>
            <a:ext cx="3886200" cy="1828800"/>
          </a:xfrm>
          <a:prstGeom prst="rect">
            <a:avLst/>
          </a:prstGeom>
          <a:noFill/>
          <a:ln>
            <a:noFill/>
          </a:ln>
        </p:spPr>
      </p:pic>
      <p:pic>
        <p:nvPicPr>
          <p:cNvPr id="229" name="Google Shape;229;p11"/>
          <p:cNvPicPr preferRelativeResize="0"/>
          <p:nvPr/>
        </p:nvPicPr>
        <p:blipFill rotWithShape="1">
          <a:blip r:embed="rId4">
            <a:alphaModFix/>
          </a:blip>
          <a:srcRect b="0" l="0" r="0" t="0"/>
          <a:stretch/>
        </p:blipFill>
        <p:spPr>
          <a:xfrm>
            <a:off x="4724400" y="4343400"/>
            <a:ext cx="3848100" cy="208846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2"/>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Khái niệm cây</a:t>
            </a:r>
            <a:endParaRPr b="1"/>
          </a:p>
        </p:txBody>
      </p:sp>
      <p:sp>
        <p:nvSpPr>
          <p:cNvPr id="236" name="Google Shape;236;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Font typeface="Noto Sans Symbols"/>
              <a:buChar char="✔"/>
            </a:pPr>
            <a:r>
              <a:rPr lang="en-US"/>
              <a:t>Cây k phân đầy đủ với </a:t>
            </a:r>
            <a:endParaRPr/>
          </a:p>
          <a:p>
            <a:pPr indent="-139700" lvl="0" marL="342900" rtl="0" algn="l">
              <a:spcBef>
                <a:spcPts val="640"/>
              </a:spcBef>
              <a:spcAft>
                <a:spcPts val="0"/>
              </a:spcAft>
              <a:buClr>
                <a:schemeClr val="dk1"/>
              </a:buClr>
              <a:buSzPts val="3200"/>
              <a:buFont typeface="Noto Sans Symbols"/>
              <a:buNone/>
            </a:pPr>
            <a:r>
              <a:t/>
            </a:r>
            <a:endParaRPr/>
          </a:p>
          <a:p>
            <a:pPr indent="-139700" lvl="0" marL="342900" rtl="0" algn="l">
              <a:spcBef>
                <a:spcPts val="640"/>
              </a:spcBef>
              <a:spcAft>
                <a:spcPts val="0"/>
              </a:spcAft>
              <a:buClr>
                <a:schemeClr val="dk1"/>
              </a:buClr>
              <a:buSzPts val="3200"/>
              <a:buFont typeface="Noto Sans Symbols"/>
              <a:buNone/>
            </a:pPr>
            <a:r>
              <a:t/>
            </a:r>
            <a:endParaRPr/>
          </a:p>
          <a:p>
            <a:pPr indent="-139700" lvl="0" marL="342900" rtl="0" algn="l">
              <a:spcBef>
                <a:spcPts val="640"/>
              </a:spcBef>
              <a:spcAft>
                <a:spcPts val="0"/>
              </a:spcAft>
              <a:buClr>
                <a:schemeClr val="dk1"/>
              </a:buClr>
              <a:buSzPts val="3200"/>
              <a:buFont typeface="Noto Sans Symbols"/>
              <a:buNone/>
            </a:pPr>
            <a:r>
              <a:t/>
            </a:r>
            <a:endParaRPr/>
          </a:p>
          <a:p>
            <a:pPr indent="0" lvl="0" marL="0" rtl="0" algn="l">
              <a:spcBef>
                <a:spcPts val="640"/>
              </a:spcBef>
              <a:spcAft>
                <a:spcPts val="0"/>
              </a:spcAft>
              <a:buClr>
                <a:schemeClr val="dk1"/>
              </a:buClr>
              <a:buSzPts val="3200"/>
              <a:buNone/>
            </a:pPr>
            <a:r>
              <a:rPr lang="en-US"/>
              <a:t>   </a:t>
            </a:r>
            <a:r>
              <a:rPr lang="en-US" sz="2400"/>
              <a:t>Trong đó:  m – số đỉnh trong,</a:t>
            </a:r>
            <a:endParaRPr/>
          </a:p>
          <a:p>
            <a:pPr indent="0" lvl="0" marL="0" rtl="0" algn="l">
              <a:spcBef>
                <a:spcPts val="480"/>
              </a:spcBef>
              <a:spcAft>
                <a:spcPts val="0"/>
              </a:spcAft>
              <a:buClr>
                <a:schemeClr val="dk1"/>
              </a:buClr>
              <a:buSzPts val="2400"/>
              <a:buNone/>
            </a:pPr>
            <a:r>
              <a:rPr lang="en-US" sz="2400"/>
              <a:t>                      l – số lá</a:t>
            </a:r>
            <a:endParaRPr sz="2400"/>
          </a:p>
          <a:p>
            <a:pPr indent="-139700" lvl="0" marL="342900" rtl="0" algn="l">
              <a:spcBef>
                <a:spcPts val="640"/>
              </a:spcBef>
              <a:spcAft>
                <a:spcPts val="0"/>
              </a:spcAft>
              <a:buClr>
                <a:schemeClr val="dk1"/>
              </a:buClr>
              <a:buSzPts val="3200"/>
              <a:buFont typeface="Noto Sans Symbols"/>
              <a:buNone/>
            </a:pPr>
            <a:r>
              <a:t/>
            </a:r>
            <a:endParaRPr/>
          </a:p>
        </p:txBody>
      </p:sp>
      <p:sp>
        <p:nvSpPr>
          <p:cNvPr id="237" name="Google Shape;237;p12"/>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238" name="Google Shape;238;p12"/>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39" name="Google Shape;239;p12"/>
          <p:cNvPicPr preferRelativeResize="0"/>
          <p:nvPr/>
        </p:nvPicPr>
        <p:blipFill rotWithShape="1">
          <a:blip r:embed="rId3">
            <a:alphaModFix/>
          </a:blip>
          <a:srcRect b="0" l="0" r="0" t="0"/>
          <a:stretch/>
        </p:blipFill>
        <p:spPr>
          <a:xfrm>
            <a:off x="457200" y="2362201"/>
            <a:ext cx="8519886" cy="18287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3"/>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t>Cây tối đại</a:t>
            </a:r>
            <a:endParaRPr b="1" sz="4000"/>
          </a:p>
        </p:txBody>
      </p:sp>
      <p:sp>
        <p:nvSpPr>
          <p:cNvPr id="245" name="Google Shape;245;p13"/>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Định nghĩa</a:t>
            </a:r>
            <a:endParaRPr/>
          </a:p>
        </p:txBody>
      </p:sp>
      <p:sp>
        <p:nvSpPr>
          <p:cNvPr id="246" name="Google Shape;246;p13"/>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None/>
            </a:pPr>
            <a:r>
              <a:rPr lang="en-US"/>
              <a:t>G=(X, E) - đồ thị liên thông và T=(X, F) -  đồ thị bộ phận của G.</a:t>
            </a:r>
            <a:endParaRPr/>
          </a:p>
          <a:p>
            <a:pPr indent="0" lvl="0" marL="0" rtl="0" algn="l">
              <a:spcBef>
                <a:spcPts val="480"/>
              </a:spcBef>
              <a:spcAft>
                <a:spcPts val="0"/>
              </a:spcAft>
              <a:buClr>
                <a:schemeClr val="dk1"/>
              </a:buClr>
              <a:buSzPts val="2400"/>
              <a:buNone/>
            </a:pPr>
            <a:r>
              <a:rPr lang="en-US"/>
              <a:t>Nếu T là cây thì T được gọi là </a:t>
            </a:r>
            <a:r>
              <a:rPr b="1" lang="en-US"/>
              <a:t>một cây tối đại </a:t>
            </a:r>
            <a:r>
              <a:rPr lang="en-US"/>
              <a:t>của G.</a:t>
            </a:r>
            <a:endParaRPr/>
          </a:p>
          <a:p>
            <a:pPr indent="-342900" lvl="0" marL="342900" rtl="0" algn="l">
              <a:spcBef>
                <a:spcPts val="480"/>
              </a:spcBef>
              <a:spcAft>
                <a:spcPts val="0"/>
              </a:spcAft>
              <a:buClr>
                <a:schemeClr val="dk1"/>
              </a:buClr>
              <a:buSzPts val="2400"/>
              <a:buFont typeface="Noto Sans Symbols"/>
              <a:buChar char="✔"/>
            </a:pPr>
            <a:r>
              <a:rPr lang="en-US"/>
              <a:t>Các tên gọi khác: </a:t>
            </a:r>
            <a:endParaRPr/>
          </a:p>
          <a:p>
            <a:pPr indent="-285750" lvl="1" marL="742950" rtl="0" algn="l">
              <a:spcBef>
                <a:spcPts val="400"/>
              </a:spcBef>
              <a:spcAft>
                <a:spcPts val="0"/>
              </a:spcAft>
              <a:buClr>
                <a:srgbClr val="FF0000"/>
              </a:buClr>
              <a:buSzPts val="2000"/>
              <a:buFont typeface="Noto Sans Symbols"/>
              <a:buChar char="✔"/>
            </a:pPr>
            <a:r>
              <a:rPr lang="en-US">
                <a:solidFill>
                  <a:srgbClr val="FF0000"/>
                </a:solidFill>
              </a:rPr>
              <a:t>cây khung,</a:t>
            </a:r>
            <a:endParaRPr/>
          </a:p>
          <a:p>
            <a:pPr indent="-285750" lvl="1" marL="742950" rtl="0" algn="l">
              <a:spcBef>
                <a:spcPts val="400"/>
              </a:spcBef>
              <a:spcAft>
                <a:spcPts val="0"/>
              </a:spcAft>
              <a:buClr>
                <a:srgbClr val="FF0000"/>
              </a:buClr>
              <a:buSzPts val="2000"/>
              <a:buFont typeface="Noto Sans Symbols"/>
              <a:buChar char="✔"/>
            </a:pPr>
            <a:r>
              <a:rPr lang="en-US">
                <a:solidFill>
                  <a:srgbClr val="FF0000"/>
                </a:solidFill>
              </a:rPr>
              <a:t> cây bao trùm,</a:t>
            </a:r>
            <a:endParaRPr/>
          </a:p>
          <a:p>
            <a:pPr indent="-285750" lvl="1" marL="742950" rtl="0" algn="l">
              <a:spcBef>
                <a:spcPts val="400"/>
              </a:spcBef>
              <a:spcAft>
                <a:spcPts val="0"/>
              </a:spcAft>
              <a:buClr>
                <a:srgbClr val="FF0000"/>
              </a:buClr>
              <a:buSzPts val="2000"/>
              <a:buFont typeface="Noto Sans Symbols"/>
              <a:buChar char="✔"/>
            </a:pPr>
            <a:r>
              <a:rPr lang="en-US">
                <a:solidFill>
                  <a:srgbClr val="FF0000"/>
                </a:solidFill>
              </a:rPr>
              <a:t> cây phủ</a:t>
            </a:r>
            <a:endParaRPr>
              <a:solidFill>
                <a:srgbClr val="FF0000"/>
              </a:solidFill>
            </a:endParaRPr>
          </a:p>
          <a:p>
            <a:pPr indent="-190500" lvl="0" marL="342900" rtl="0" algn="l">
              <a:spcBef>
                <a:spcPts val="480"/>
              </a:spcBef>
              <a:spcAft>
                <a:spcPts val="0"/>
              </a:spcAft>
              <a:buClr>
                <a:schemeClr val="dk1"/>
              </a:buClr>
              <a:buSzPts val="2400"/>
              <a:buNone/>
            </a:pPr>
            <a:r>
              <a:t/>
            </a:r>
            <a:endParaRPr/>
          </a:p>
        </p:txBody>
      </p:sp>
      <p:sp>
        <p:nvSpPr>
          <p:cNvPr id="247" name="Google Shape;247;p13"/>
          <p:cNvSpPr txBox="1"/>
          <p:nvPr>
            <p:ph idx="3" type="body"/>
          </p:nvPr>
        </p:nvSpPr>
        <p:spPr>
          <a:xfrm>
            <a:off x="4645025" y="1535113"/>
            <a:ext cx="4041775" cy="639762"/>
          </a:xfrm>
          <a:prstGeom prst="rect">
            <a:avLst/>
          </a:prstGeom>
          <a:solidFill>
            <a:srgbClr val="EFEFEF"/>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248" name="Google Shape;248;p13"/>
          <p:cNvSpPr txBox="1"/>
          <p:nvPr>
            <p:ph idx="4" type="body"/>
          </p:nvPr>
        </p:nvSpPr>
        <p:spPr>
          <a:xfrm>
            <a:off x="4645025" y="2174875"/>
            <a:ext cx="4041775" cy="3951288"/>
          </a:xfrm>
          <a:prstGeom prst="rect">
            <a:avLst/>
          </a:prstGeom>
          <a:solidFill>
            <a:srgbClr val="E5E5E5"/>
          </a:solidFill>
          <a:ln>
            <a:noFill/>
          </a:ln>
        </p:spPr>
        <p:txBody>
          <a:bodyPr anchorCtr="0" anchor="t" bIns="45700" lIns="91425" spcFirstLastPara="1" rIns="91425" wrap="square" tIns="45700">
            <a:noAutofit/>
          </a:bodyPr>
          <a:lstStyle/>
          <a:p>
            <a:pPr indent="-190500" lvl="0" marL="342900" rtl="0" algn="l">
              <a:spcBef>
                <a:spcPts val="0"/>
              </a:spcBef>
              <a:spcAft>
                <a:spcPts val="0"/>
              </a:spcAft>
              <a:buClr>
                <a:schemeClr val="dk1"/>
              </a:buClr>
              <a:buSzPts val="2400"/>
              <a:buNone/>
            </a:pPr>
            <a:r>
              <a:t/>
            </a:r>
            <a:endParaRPr/>
          </a:p>
        </p:txBody>
      </p:sp>
      <p:sp>
        <p:nvSpPr>
          <p:cNvPr id="249" name="Google Shape;249;p13"/>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250" name="Google Shape;250;p13"/>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251" name="Google Shape;251;p13"/>
          <p:cNvCxnSpPr/>
          <p:nvPr/>
        </p:nvCxnSpPr>
        <p:spPr>
          <a:xfrm>
            <a:off x="5424803" y="2804219"/>
            <a:ext cx="0" cy="1109924"/>
          </a:xfrm>
          <a:prstGeom prst="straightConnector1">
            <a:avLst/>
          </a:prstGeom>
          <a:noFill/>
          <a:ln cap="flat" cmpd="sng" w="28575">
            <a:solidFill>
              <a:srgbClr val="FF0000"/>
            </a:solidFill>
            <a:prstDash val="solid"/>
            <a:round/>
            <a:headEnd len="sm" w="sm" type="none"/>
            <a:tailEnd len="sm" w="sm" type="none"/>
          </a:ln>
        </p:spPr>
      </p:cxnSp>
      <p:cxnSp>
        <p:nvCxnSpPr>
          <p:cNvPr id="252" name="Google Shape;252;p13"/>
          <p:cNvCxnSpPr/>
          <p:nvPr/>
        </p:nvCxnSpPr>
        <p:spPr>
          <a:xfrm>
            <a:off x="6767195" y="1690340"/>
            <a:ext cx="710727" cy="533400"/>
          </a:xfrm>
          <a:prstGeom prst="straightConnector1">
            <a:avLst/>
          </a:prstGeom>
          <a:noFill/>
          <a:ln cap="flat" cmpd="sng" w="28575">
            <a:solidFill>
              <a:srgbClr val="FF0000"/>
            </a:solidFill>
            <a:prstDash val="solid"/>
            <a:round/>
            <a:headEnd len="sm" w="sm" type="none"/>
            <a:tailEnd len="sm" w="sm" type="none"/>
          </a:ln>
        </p:spPr>
      </p:cxnSp>
      <p:cxnSp>
        <p:nvCxnSpPr>
          <p:cNvPr id="253" name="Google Shape;253;p13"/>
          <p:cNvCxnSpPr/>
          <p:nvPr/>
        </p:nvCxnSpPr>
        <p:spPr>
          <a:xfrm rot="-5400000">
            <a:off x="5395838" y="1461498"/>
            <a:ext cx="1022350" cy="1327633"/>
          </a:xfrm>
          <a:prstGeom prst="straightConnector1">
            <a:avLst/>
          </a:prstGeom>
          <a:noFill/>
          <a:ln cap="flat" cmpd="sng" w="28575">
            <a:solidFill>
              <a:srgbClr val="FF0000"/>
            </a:solidFill>
            <a:prstDash val="solid"/>
            <a:round/>
            <a:headEnd len="sm" w="sm" type="none"/>
            <a:tailEnd len="sm" w="sm" type="none"/>
          </a:ln>
        </p:spPr>
      </p:cxnSp>
      <p:sp>
        <p:nvSpPr>
          <p:cNvPr id="254" name="Google Shape;254;p13"/>
          <p:cNvSpPr/>
          <p:nvPr/>
        </p:nvSpPr>
        <p:spPr>
          <a:xfrm>
            <a:off x="5624195" y="374774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e</a:t>
            </a:r>
            <a:endParaRPr/>
          </a:p>
        </p:txBody>
      </p:sp>
      <p:sp>
        <p:nvSpPr>
          <p:cNvPr id="255" name="Google Shape;255;p13"/>
          <p:cNvSpPr/>
          <p:nvPr/>
        </p:nvSpPr>
        <p:spPr>
          <a:xfrm>
            <a:off x="5014595" y="260474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b</a:t>
            </a:r>
            <a:endParaRPr/>
          </a:p>
        </p:txBody>
      </p:sp>
      <p:sp>
        <p:nvSpPr>
          <p:cNvPr id="256" name="Google Shape;256;p13"/>
          <p:cNvSpPr/>
          <p:nvPr/>
        </p:nvSpPr>
        <p:spPr>
          <a:xfrm>
            <a:off x="7300595" y="214754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c</a:t>
            </a:r>
            <a:endParaRPr/>
          </a:p>
        </p:txBody>
      </p:sp>
      <p:cxnSp>
        <p:nvCxnSpPr>
          <p:cNvPr id="257" name="Google Shape;257;p13"/>
          <p:cNvCxnSpPr>
            <a:stCxn id="254" idx="7"/>
            <a:endCxn id="258" idx="3"/>
          </p:cNvCxnSpPr>
          <p:nvPr/>
        </p:nvCxnSpPr>
        <p:spPr>
          <a:xfrm flipH="1" rot="10800000">
            <a:off x="5884358" y="3398177"/>
            <a:ext cx="927600" cy="394200"/>
          </a:xfrm>
          <a:prstGeom prst="straightConnector1">
            <a:avLst/>
          </a:prstGeom>
          <a:noFill/>
          <a:ln cap="flat" cmpd="sng" w="28575">
            <a:solidFill>
              <a:srgbClr val="FF0000"/>
            </a:solidFill>
            <a:prstDash val="solid"/>
            <a:round/>
            <a:headEnd len="sm" w="sm" type="none"/>
            <a:tailEnd len="sm" w="sm" type="none"/>
          </a:ln>
        </p:spPr>
      </p:cxnSp>
      <p:cxnSp>
        <p:nvCxnSpPr>
          <p:cNvPr id="259" name="Google Shape;259;p13"/>
          <p:cNvCxnSpPr>
            <a:stCxn id="258" idx="1"/>
          </p:cNvCxnSpPr>
          <p:nvPr/>
        </p:nvCxnSpPr>
        <p:spPr>
          <a:xfrm rot="10800000">
            <a:off x="6690932" y="1690277"/>
            <a:ext cx="120900" cy="1492500"/>
          </a:xfrm>
          <a:prstGeom prst="straightConnector1">
            <a:avLst/>
          </a:prstGeom>
          <a:noFill/>
          <a:ln cap="flat" cmpd="sng" w="28575">
            <a:solidFill>
              <a:srgbClr val="FF0000"/>
            </a:solidFill>
            <a:prstDash val="solid"/>
            <a:round/>
            <a:headEnd len="sm" w="sm" type="none"/>
            <a:tailEnd len="sm" w="sm" type="none"/>
          </a:ln>
        </p:spPr>
      </p:cxnSp>
      <p:cxnSp>
        <p:nvCxnSpPr>
          <p:cNvPr id="260" name="Google Shape;260;p13"/>
          <p:cNvCxnSpPr>
            <a:stCxn id="251" idx="1"/>
            <a:endCxn id="261" idx="4"/>
          </p:cNvCxnSpPr>
          <p:nvPr/>
        </p:nvCxnSpPr>
        <p:spPr>
          <a:xfrm flipH="1" rot="10800000">
            <a:off x="5642195" y="1842740"/>
            <a:ext cx="972600" cy="2027100"/>
          </a:xfrm>
          <a:prstGeom prst="straightConnector1">
            <a:avLst/>
          </a:prstGeom>
          <a:noFill/>
          <a:ln cap="flat" cmpd="sng" w="28575">
            <a:solidFill>
              <a:srgbClr val="FF0000"/>
            </a:solidFill>
            <a:prstDash val="solid"/>
            <a:round/>
            <a:headEnd len="sm" w="sm" type="none"/>
            <a:tailEnd len="sm" w="sm" type="none"/>
          </a:ln>
        </p:spPr>
      </p:cxnSp>
      <p:cxnSp>
        <p:nvCxnSpPr>
          <p:cNvPr id="262" name="Google Shape;262;p13"/>
          <p:cNvCxnSpPr>
            <a:stCxn id="256" idx="4"/>
            <a:endCxn id="258" idx="7"/>
          </p:cNvCxnSpPr>
          <p:nvPr/>
        </p:nvCxnSpPr>
        <p:spPr>
          <a:xfrm flipH="1">
            <a:off x="7027295" y="2452340"/>
            <a:ext cx="425700" cy="730500"/>
          </a:xfrm>
          <a:prstGeom prst="straightConnector1">
            <a:avLst/>
          </a:prstGeom>
          <a:noFill/>
          <a:ln cap="flat" cmpd="sng" w="28575">
            <a:solidFill>
              <a:srgbClr val="FF0000"/>
            </a:solidFill>
            <a:prstDash val="solid"/>
            <a:round/>
            <a:headEnd len="sm" w="sm" type="none"/>
            <a:tailEnd len="sm" w="sm" type="none"/>
          </a:ln>
        </p:spPr>
      </p:cxnSp>
      <p:sp>
        <p:nvSpPr>
          <p:cNvPr id="258" name="Google Shape;258;p13"/>
          <p:cNvSpPr/>
          <p:nvPr/>
        </p:nvSpPr>
        <p:spPr>
          <a:xfrm>
            <a:off x="6767195" y="313814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d</a:t>
            </a:r>
            <a:endParaRPr/>
          </a:p>
        </p:txBody>
      </p:sp>
      <p:sp>
        <p:nvSpPr>
          <p:cNvPr id="261" name="Google Shape;261;p13"/>
          <p:cNvSpPr/>
          <p:nvPr/>
        </p:nvSpPr>
        <p:spPr>
          <a:xfrm>
            <a:off x="6462395" y="153794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a</a:t>
            </a:r>
            <a:endParaRPr/>
          </a:p>
        </p:txBody>
      </p:sp>
      <p:cxnSp>
        <p:nvCxnSpPr>
          <p:cNvPr id="263" name="Google Shape;263;p13"/>
          <p:cNvCxnSpPr/>
          <p:nvPr/>
        </p:nvCxnSpPr>
        <p:spPr>
          <a:xfrm>
            <a:off x="5812950" y="4374545"/>
            <a:ext cx="587377" cy="440826"/>
          </a:xfrm>
          <a:prstGeom prst="straightConnector1">
            <a:avLst/>
          </a:prstGeom>
          <a:noFill/>
          <a:ln cap="flat" cmpd="sng" w="28575">
            <a:solidFill>
              <a:srgbClr val="FF0000"/>
            </a:solidFill>
            <a:prstDash val="solid"/>
            <a:round/>
            <a:headEnd len="sm" w="sm" type="none"/>
            <a:tailEnd len="sm" w="sm" type="none"/>
          </a:ln>
        </p:spPr>
      </p:cxnSp>
      <p:cxnSp>
        <p:nvCxnSpPr>
          <p:cNvPr id="264" name="Google Shape;264;p13"/>
          <p:cNvCxnSpPr/>
          <p:nvPr/>
        </p:nvCxnSpPr>
        <p:spPr>
          <a:xfrm rot="-5400000">
            <a:off x="4983196" y="4277698"/>
            <a:ext cx="422459" cy="548609"/>
          </a:xfrm>
          <a:prstGeom prst="straightConnector1">
            <a:avLst/>
          </a:prstGeom>
          <a:noFill/>
          <a:ln cap="flat" cmpd="sng" w="28575">
            <a:solidFill>
              <a:srgbClr val="FF0000"/>
            </a:solidFill>
            <a:prstDash val="solid"/>
            <a:round/>
            <a:headEnd len="sm" w="sm" type="none"/>
            <a:tailEnd len="sm" w="sm" type="none"/>
          </a:ln>
        </p:spPr>
      </p:cxnSp>
      <p:sp>
        <p:nvSpPr>
          <p:cNvPr id="265" name="Google Shape;265;p13"/>
          <p:cNvSpPr/>
          <p:nvPr/>
        </p:nvSpPr>
        <p:spPr>
          <a:xfrm>
            <a:off x="5029098" y="5699457"/>
            <a:ext cx="335280" cy="229001"/>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e</a:t>
            </a:r>
            <a:endParaRPr/>
          </a:p>
        </p:txBody>
      </p:sp>
      <p:sp>
        <p:nvSpPr>
          <p:cNvPr id="266" name="Google Shape;266;p13"/>
          <p:cNvSpPr/>
          <p:nvPr/>
        </p:nvSpPr>
        <p:spPr>
          <a:xfrm>
            <a:off x="4708332" y="4708857"/>
            <a:ext cx="335280" cy="229001"/>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b</a:t>
            </a:r>
            <a:endParaRPr/>
          </a:p>
        </p:txBody>
      </p:sp>
      <p:sp>
        <p:nvSpPr>
          <p:cNvPr id="267" name="Google Shape;267;p13"/>
          <p:cNvSpPr/>
          <p:nvPr/>
        </p:nvSpPr>
        <p:spPr>
          <a:xfrm>
            <a:off x="6298463" y="4823358"/>
            <a:ext cx="335280" cy="229001"/>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c</a:t>
            </a:r>
            <a:endParaRPr/>
          </a:p>
        </p:txBody>
      </p:sp>
      <p:cxnSp>
        <p:nvCxnSpPr>
          <p:cNvPr id="268" name="Google Shape;268;p13"/>
          <p:cNvCxnSpPr>
            <a:endCxn id="269" idx="3"/>
          </p:cNvCxnSpPr>
          <p:nvPr/>
        </p:nvCxnSpPr>
        <p:spPr>
          <a:xfrm>
            <a:off x="5207564" y="5847422"/>
            <a:ext cx="606600" cy="162000"/>
          </a:xfrm>
          <a:prstGeom prst="straightConnector1">
            <a:avLst/>
          </a:prstGeom>
          <a:noFill/>
          <a:ln cap="flat" cmpd="sng" w="28575">
            <a:solidFill>
              <a:srgbClr val="FF0000"/>
            </a:solidFill>
            <a:prstDash val="solid"/>
            <a:round/>
            <a:headEnd len="sm" w="sm" type="none"/>
            <a:tailEnd len="sm" w="sm" type="none"/>
          </a:ln>
        </p:spPr>
      </p:cxnSp>
      <p:cxnSp>
        <p:nvCxnSpPr>
          <p:cNvPr id="270" name="Google Shape;270;p13"/>
          <p:cNvCxnSpPr>
            <a:stCxn id="267" idx="4"/>
            <a:endCxn id="269" idx="7"/>
          </p:cNvCxnSpPr>
          <p:nvPr/>
        </p:nvCxnSpPr>
        <p:spPr>
          <a:xfrm flipH="1">
            <a:off x="6051203" y="5052359"/>
            <a:ext cx="414900" cy="795000"/>
          </a:xfrm>
          <a:prstGeom prst="straightConnector1">
            <a:avLst/>
          </a:prstGeom>
          <a:noFill/>
          <a:ln cap="flat" cmpd="sng" w="28575">
            <a:solidFill>
              <a:srgbClr val="FF0000"/>
            </a:solidFill>
            <a:prstDash val="solid"/>
            <a:round/>
            <a:headEnd len="sm" w="sm" type="none"/>
            <a:tailEnd len="sm" w="sm" type="none"/>
          </a:ln>
        </p:spPr>
      </p:cxnSp>
      <p:sp>
        <p:nvSpPr>
          <p:cNvPr id="269" name="Google Shape;269;p13"/>
          <p:cNvSpPr/>
          <p:nvPr/>
        </p:nvSpPr>
        <p:spPr>
          <a:xfrm>
            <a:off x="5765063" y="5813958"/>
            <a:ext cx="335280" cy="229001"/>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d</a:t>
            </a:r>
            <a:endParaRPr/>
          </a:p>
        </p:txBody>
      </p:sp>
      <p:sp>
        <p:nvSpPr>
          <p:cNvPr id="271" name="Google Shape;271;p13"/>
          <p:cNvSpPr/>
          <p:nvPr/>
        </p:nvSpPr>
        <p:spPr>
          <a:xfrm>
            <a:off x="5460263" y="4213758"/>
            <a:ext cx="335280" cy="229001"/>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a</a:t>
            </a:r>
            <a:endParaRPr/>
          </a:p>
        </p:txBody>
      </p:sp>
      <p:cxnSp>
        <p:nvCxnSpPr>
          <p:cNvPr id="272" name="Google Shape;272;p13"/>
          <p:cNvCxnSpPr/>
          <p:nvPr/>
        </p:nvCxnSpPr>
        <p:spPr>
          <a:xfrm rot="-5400000">
            <a:off x="7121175" y="4119943"/>
            <a:ext cx="628336" cy="815963"/>
          </a:xfrm>
          <a:prstGeom prst="straightConnector1">
            <a:avLst/>
          </a:prstGeom>
          <a:noFill/>
          <a:ln cap="flat" cmpd="sng" w="28575">
            <a:solidFill>
              <a:srgbClr val="FF0000"/>
            </a:solidFill>
            <a:prstDash val="solid"/>
            <a:round/>
            <a:headEnd len="sm" w="sm" type="none"/>
            <a:tailEnd len="sm" w="sm" type="none"/>
          </a:ln>
        </p:spPr>
      </p:cxnSp>
      <p:sp>
        <p:nvSpPr>
          <p:cNvPr id="273" name="Google Shape;273;p13"/>
          <p:cNvSpPr/>
          <p:nvPr/>
        </p:nvSpPr>
        <p:spPr>
          <a:xfrm>
            <a:off x="6901748" y="5573506"/>
            <a:ext cx="304800" cy="251901"/>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e</a:t>
            </a:r>
            <a:endParaRPr/>
          </a:p>
        </p:txBody>
      </p:sp>
      <p:sp>
        <p:nvSpPr>
          <p:cNvPr id="274" name="Google Shape;274;p13"/>
          <p:cNvSpPr/>
          <p:nvPr/>
        </p:nvSpPr>
        <p:spPr>
          <a:xfrm>
            <a:off x="6901748" y="4728460"/>
            <a:ext cx="304800" cy="251901"/>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b</a:t>
            </a:r>
            <a:endParaRPr/>
          </a:p>
        </p:txBody>
      </p:sp>
      <p:sp>
        <p:nvSpPr>
          <p:cNvPr id="275" name="Google Shape;275;p13"/>
          <p:cNvSpPr/>
          <p:nvPr/>
        </p:nvSpPr>
        <p:spPr>
          <a:xfrm>
            <a:off x="8235248" y="4551383"/>
            <a:ext cx="304800" cy="251901"/>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c</a:t>
            </a:r>
            <a:endParaRPr/>
          </a:p>
        </p:txBody>
      </p:sp>
      <p:cxnSp>
        <p:nvCxnSpPr>
          <p:cNvPr id="276" name="Google Shape;276;p13"/>
          <p:cNvCxnSpPr>
            <a:stCxn id="273" idx="7"/>
            <a:endCxn id="277" idx="3"/>
          </p:cNvCxnSpPr>
          <p:nvPr/>
        </p:nvCxnSpPr>
        <p:spPr>
          <a:xfrm>
            <a:off x="7161911" y="5610396"/>
            <a:ext cx="813300" cy="167700"/>
          </a:xfrm>
          <a:prstGeom prst="straightConnector1">
            <a:avLst/>
          </a:prstGeom>
          <a:noFill/>
          <a:ln cap="flat" cmpd="sng" w="28575">
            <a:solidFill>
              <a:srgbClr val="FF0000"/>
            </a:solidFill>
            <a:prstDash val="solid"/>
            <a:round/>
            <a:headEnd len="sm" w="sm" type="none"/>
            <a:tailEnd len="sm" w="sm" type="none"/>
          </a:ln>
        </p:spPr>
      </p:cxnSp>
      <p:cxnSp>
        <p:nvCxnSpPr>
          <p:cNvPr id="278" name="Google Shape;278;p13"/>
          <p:cNvCxnSpPr>
            <a:endCxn id="279" idx="4"/>
          </p:cNvCxnSpPr>
          <p:nvPr/>
        </p:nvCxnSpPr>
        <p:spPr>
          <a:xfrm flipH="1" rot="10800000">
            <a:off x="7021916" y="4232869"/>
            <a:ext cx="928500" cy="1466700"/>
          </a:xfrm>
          <a:prstGeom prst="straightConnector1">
            <a:avLst/>
          </a:prstGeom>
          <a:noFill/>
          <a:ln cap="flat" cmpd="sng" w="28575">
            <a:solidFill>
              <a:srgbClr val="FF0000"/>
            </a:solidFill>
            <a:prstDash val="solid"/>
            <a:round/>
            <a:headEnd len="sm" w="sm" type="none"/>
            <a:tailEnd len="sm" w="sm" type="none"/>
          </a:ln>
        </p:spPr>
      </p:cxnSp>
      <p:cxnSp>
        <p:nvCxnSpPr>
          <p:cNvPr id="280" name="Google Shape;280;p13"/>
          <p:cNvCxnSpPr>
            <a:stCxn id="275" idx="4"/>
            <a:endCxn id="277" idx="7"/>
          </p:cNvCxnSpPr>
          <p:nvPr/>
        </p:nvCxnSpPr>
        <p:spPr>
          <a:xfrm flipH="1">
            <a:off x="8190548" y="4803284"/>
            <a:ext cx="197100" cy="796800"/>
          </a:xfrm>
          <a:prstGeom prst="straightConnector1">
            <a:avLst/>
          </a:prstGeom>
          <a:noFill/>
          <a:ln cap="flat" cmpd="sng" w="28575">
            <a:solidFill>
              <a:srgbClr val="FF0000"/>
            </a:solidFill>
            <a:prstDash val="solid"/>
            <a:round/>
            <a:headEnd len="sm" w="sm" type="none"/>
            <a:tailEnd len="sm" w="sm" type="none"/>
          </a:ln>
        </p:spPr>
      </p:cxnSp>
      <p:sp>
        <p:nvSpPr>
          <p:cNvPr id="277" name="Google Shape;277;p13"/>
          <p:cNvSpPr/>
          <p:nvPr/>
        </p:nvSpPr>
        <p:spPr>
          <a:xfrm>
            <a:off x="7930448" y="5563093"/>
            <a:ext cx="304800" cy="251901"/>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d</a:t>
            </a:r>
            <a:endParaRPr/>
          </a:p>
        </p:txBody>
      </p:sp>
      <p:sp>
        <p:nvSpPr>
          <p:cNvPr id="279" name="Google Shape;279;p13"/>
          <p:cNvSpPr/>
          <p:nvPr/>
        </p:nvSpPr>
        <p:spPr>
          <a:xfrm>
            <a:off x="7798016" y="3980968"/>
            <a:ext cx="304800" cy="251901"/>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4"/>
          <p:cNvSpPr txBox="1"/>
          <p:nvPr>
            <p:ph type="title"/>
          </p:nvPr>
        </p:nvSpPr>
        <p:spPr>
          <a:xfrm>
            <a:off x="457200" y="274638"/>
            <a:ext cx="8229600" cy="9445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t>Cây tối đại</a:t>
            </a:r>
            <a:endParaRPr b="1" sz="4000"/>
          </a:p>
        </p:txBody>
      </p:sp>
      <p:sp>
        <p:nvSpPr>
          <p:cNvPr id="286" name="Google Shape;286;p14"/>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Tính chất</a:t>
            </a:r>
            <a:endParaRPr/>
          </a:p>
        </p:txBody>
      </p:sp>
      <p:sp>
        <p:nvSpPr>
          <p:cNvPr id="287" name="Google Shape;287;p14"/>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Mọi đồ thị liên thông đều có chứa ít nhất một cây tối đại </a:t>
            </a:r>
            <a:endParaRPr/>
          </a:p>
          <a:p>
            <a:pPr indent="-190500" lvl="0" marL="342900" rtl="0" algn="l">
              <a:spcBef>
                <a:spcPts val="480"/>
              </a:spcBef>
              <a:spcAft>
                <a:spcPts val="0"/>
              </a:spcAft>
              <a:buClr>
                <a:schemeClr val="dk1"/>
              </a:buClr>
              <a:buSzPts val="2400"/>
              <a:buNone/>
            </a:pPr>
            <a:r>
              <a:t/>
            </a:r>
            <a:endParaRPr/>
          </a:p>
        </p:txBody>
      </p:sp>
      <p:sp>
        <p:nvSpPr>
          <p:cNvPr id="288" name="Google Shape;288;p14"/>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Ví dụ</a:t>
            </a:r>
            <a:endParaRPr/>
          </a:p>
        </p:txBody>
      </p:sp>
      <p:sp>
        <p:nvSpPr>
          <p:cNvPr id="289" name="Google Shape;289;p14"/>
          <p:cNvSpPr txBox="1"/>
          <p:nvPr>
            <p:ph idx="4" type="body"/>
          </p:nvPr>
        </p:nvSpPr>
        <p:spPr>
          <a:xfrm>
            <a:off x="4645025" y="2174875"/>
            <a:ext cx="4041775" cy="3951288"/>
          </a:xfrm>
          <a:prstGeom prst="rect">
            <a:avLst/>
          </a:prstGeom>
          <a:solidFill>
            <a:srgbClr val="E5E5E5"/>
          </a:solidFill>
          <a:ln>
            <a:noFill/>
          </a:ln>
        </p:spPr>
        <p:txBody>
          <a:bodyPr anchorCtr="0" anchor="t" bIns="45700" lIns="91425" spcFirstLastPara="1" rIns="91425" wrap="square" tIns="45700">
            <a:noAutofit/>
          </a:bodyPr>
          <a:lstStyle/>
          <a:p>
            <a:pPr indent="-190500" lvl="0" marL="342900" rtl="0" algn="l">
              <a:spcBef>
                <a:spcPts val="0"/>
              </a:spcBef>
              <a:spcAft>
                <a:spcPts val="0"/>
              </a:spcAft>
              <a:buClr>
                <a:schemeClr val="dk1"/>
              </a:buClr>
              <a:buSzPts val="2400"/>
              <a:buNone/>
            </a:pPr>
            <a:r>
              <a:t/>
            </a:r>
            <a:endParaRPr/>
          </a:p>
        </p:txBody>
      </p:sp>
      <p:sp>
        <p:nvSpPr>
          <p:cNvPr id="290" name="Google Shape;290;p14"/>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291" name="Google Shape;291;p14"/>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2" name="Google Shape;292;p14"/>
          <p:cNvSpPr/>
          <p:nvPr/>
        </p:nvSpPr>
        <p:spPr>
          <a:xfrm>
            <a:off x="5181570" y="4720776"/>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C</a:t>
            </a:r>
            <a:endParaRPr b="0" sz="2400">
              <a:solidFill>
                <a:srgbClr val="0033CC"/>
              </a:solidFill>
              <a:latin typeface="Arial"/>
              <a:ea typeface="Arial"/>
              <a:cs typeface="Arial"/>
              <a:sym typeface="Arial"/>
            </a:endParaRPr>
          </a:p>
        </p:txBody>
      </p:sp>
      <p:sp>
        <p:nvSpPr>
          <p:cNvPr id="293" name="Google Shape;293;p14"/>
          <p:cNvSpPr/>
          <p:nvPr/>
        </p:nvSpPr>
        <p:spPr>
          <a:xfrm>
            <a:off x="4800570" y="3120576"/>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A</a:t>
            </a:r>
            <a:endParaRPr b="0" sz="2400">
              <a:solidFill>
                <a:srgbClr val="0033CC"/>
              </a:solidFill>
              <a:latin typeface="Arial"/>
              <a:ea typeface="Arial"/>
              <a:cs typeface="Arial"/>
              <a:sym typeface="Arial"/>
            </a:endParaRPr>
          </a:p>
        </p:txBody>
      </p:sp>
      <p:sp>
        <p:nvSpPr>
          <p:cNvPr id="294" name="Google Shape;294;p14"/>
          <p:cNvSpPr/>
          <p:nvPr/>
        </p:nvSpPr>
        <p:spPr>
          <a:xfrm>
            <a:off x="6400770" y="3044376"/>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B</a:t>
            </a:r>
            <a:endParaRPr b="0" sz="2400">
              <a:solidFill>
                <a:srgbClr val="0033CC"/>
              </a:solidFill>
              <a:latin typeface="Arial"/>
              <a:ea typeface="Arial"/>
              <a:cs typeface="Arial"/>
              <a:sym typeface="Arial"/>
            </a:endParaRPr>
          </a:p>
        </p:txBody>
      </p:sp>
      <p:cxnSp>
        <p:nvCxnSpPr>
          <p:cNvPr id="295" name="Google Shape;295;p14"/>
          <p:cNvCxnSpPr>
            <a:stCxn id="293" idx="6"/>
            <a:endCxn id="294" idx="2"/>
          </p:cNvCxnSpPr>
          <p:nvPr/>
        </p:nvCxnSpPr>
        <p:spPr>
          <a:xfrm flipH="1" rot="10800000">
            <a:off x="5333970" y="3349176"/>
            <a:ext cx="1066800" cy="76200"/>
          </a:xfrm>
          <a:prstGeom prst="straightConnector1">
            <a:avLst/>
          </a:prstGeom>
          <a:noFill/>
          <a:ln cap="flat" cmpd="sng" w="38100">
            <a:solidFill>
              <a:srgbClr val="002060"/>
            </a:solidFill>
            <a:prstDash val="solid"/>
            <a:round/>
            <a:headEnd len="med" w="med" type="none"/>
            <a:tailEnd len="med" w="med" type="none"/>
          </a:ln>
        </p:spPr>
      </p:cxnSp>
      <p:cxnSp>
        <p:nvCxnSpPr>
          <p:cNvPr id="296" name="Google Shape;296;p14"/>
          <p:cNvCxnSpPr>
            <a:stCxn id="293" idx="4"/>
            <a:endCxn id="292" idx="0"/>
          </p:cNvCxnSpPr>
          <p:nvPr/>
        </p:nvCxnSpPr>
        <p:spPr>
          <a:xfrm>
            <a:off x="5067270" y="3730176"/>
            <a:ext cx="381000" cy="990600"/>
          </a:xfrm>
          <a:prstGeom prst="straightConnector1">
            <a:avLst/>
          </a:prstGeom>
          <a:noFill/>
          <a:ln cap="flat" cmpd="sng" w="38100">
            <a:solidFill>
              <a:srgbClr val="002060"/>
            </a:solidFill>
            <a:prstDash val="solid"/>
            <a:round/>
            <a:headEnd len="med" w="med" type="none"/>
            <a:tailEnd len="med" w="med" type="none"/>
          </a:ln>
        </p:spPr>
      </p:cxnSp>
      <p:sp>
        <p:nvSpPr>
          <p:cNvPr id="297" name="Google Shape;297;p14"/>
          <p:cNvSpPr/>
          <p:nvPr/>
        </p:nvSpPr>
        <p:spPr>
          <a:xfrm>
            <a:off x="8077170" y="2663376"/>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D</a:t>
            </a:r>
            <a:endParaRPr b="0" sz="2400">
              <a:solidFill>
                <a:srgbClr val="0033CC"/>
              </a:solidFill>
              <a:latin typeface="Arial"/>
              <a:ea typeface="Arial"/>
              <a:cs typeface="Arial"/>
              <a:sym typeface="Arial"/>
            </a:endParaRPr>
          </a:p>
        </p:txBody>
      </p:sp>
      <p:sp>
        <p:nvSpPr>
          <p:cNvPr id="298" name="Google Shape;298;p14"/>
          <p:cNvSpPr/>
          <p:nvPr/>
        </p:nvSpPr>
        <p:spPr>
          <a:xfrm>
            <a:off x="7467570" y="4492176"/>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E</a:t>
            </a:r>
            <a:endParaRPr b="0" sz="2400">
              <a:solidFill>
                <a:srgbClr val="0033CC"/>
              </a:solidFill>
              <a:latin typeface="Arial"/>
              <a:ea typeface="Arial"/>
              <a:cs typeface="Arial"/>
              <a:sym typeface="Arial"/>
            </a:endParaRPr>
          </a:p>
        </p:txBody>
      </p:sp>
      <p:cxnSp>
        <p:nvCxnSpPr>
          <p:cNvPr id="299" name="Google Shape;299;p14"/>
          <p:cNvCxnSpPr>
            <a:stCxn id="294" idx="6"/>
            <a:endCxn id="297" idx="2"/>
          </p:cNvCxnSpPr>
          <p:nvPr/>
        </p:nvCxnSpPr>
        <p:spPr>
          <a:xfrm flipH="1" rot="10800000">
            <a:off x="6934170" y="2968176"/>
            <a:ext cx="1143000" cy="381000"/>
          </a:xfrm>
          <a:prstGeom prst="straightConnector1">
            <a:avLst/>
          </a:prstGeom>
          <a:noFill/>
          <a:ln cap="flat" cmpd="sng" w="38100">
            <a:solidFill>
              <a:srgbClr val="002060"/>
            </a:solidFill>
            <a:prstDash val="solid"/>
            <a:round/>
            <a:headEnd len="med" w="med" type="none"/>
            <a:tailEnd len="med" w="med" type="none"/>
          </a:ln>
        </p:spPr>
      </p:cxnSp>
      <p:cxnSp>
        <p:nvCxnSpPr>
          <p:cNvPr id="300" name="Google Shape;300;p14"/>
          <p:cNvCxnSpPr>
            <a:stCxn id="294" idx="5"/>
            <a:endCxn id="298" idx="1"/>
          </p:cNvCxnSpPr>
          <p:nvPr/>
        </p:nvCxnSpPr>
        <p:spPr>
          <a:xfrm>
            <a:off x="6856055" y="3564702"/>
            <a:ext cx="689700" cy="1016700"/>
          </a:xfrm>
          <a:prstGeom prst="straightConnector1">
            <a:avLst/>
          </a:prstGeom>
          <a:noFill/>
          <a:ln cap="flat" cmpd="sng" w="38100">
            <a:solidFill>
              <a:srgbClr val="002060"/>
            </a:solidFill>
            <a:prstDash val="solid"/>
            <a:round/>
            <a:headEnd len="med" w="med" type="none"/>
            <a:tailEnd len="med" w="med" type="none"/>
          </a:ln>
        </p:spPr>
      </p:cxnSp>
      <p:sp>
        <p:nvSpPr>
          <p:cNvPr id="301" name="Google Shape;301;p14"/>
          <p:cNvSpPr/>
          <p:nvPr/>
        </p:nvSpPr>
        <p:spPr>
          <a:xfrm>
            <a:off x="6972270" y="5463725"/>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F</a:t>
            </a:r>
            <a:endParaRPr b="0" sz="2400">
              <a:solidFill>
                <a:srgbClr val="0033CC"/>
              </a:solidFill>
              <a:latin typeface="Arial"/>
              <a:ea typeface="Arial"/>
              <a:cs typeface="Arial"/>
              <a:sym typeface="Arial"/>
            </a:endParaRPr>
          </a:p>
        </p:txBody>
      </p:sp>
      <p:cxnSp>
        <p:nvCxnSpPr>
          <p:cNvPr id="302" name="Google Shape;302;p14"/>
          <p:cNvCxnSpPr>
            <a:stCxn id="301" idx="7"/>
            <a:endCxn id="298" idx="4"/>
          </p:cNvCxnSpPr>
          <p:nvPr/>
        </p:nvCxnSpPr>
        <p:spPr>
          <a:xfrm flipH="1" rot="10800000">
            <a:off x="7427556" y="5101799"/>
            <a:ext cx="306600" cy="451200"/>
          </a:xfrm>
          <a:prstGeom prst="straightConnector1">
            <a:avLst/>
          </a:prstGeom>
          <a:noFill/>
          <a:ln cap="flat" cmpd="sng" w="38100">
            <a:solidFill>
              <a:srgbClr val="002060"/>
            </a:solidFill>
            <a:prstDash val="solid"/>
            <a:round/>
            <a:headEnd len="med" w="med" type="none"/>
            <a:tailEnd len="med" w="med" type="none"/>
          </a:ln>
        </p:spPr>
      </p:cxnSp>
      <p:cxnSp>
        <p:nvCxnSpPr>
          <p:cNvPr id="303" name="Google Shape;303;p14"/>
          <p:cNvCxnSpPr>
            <a:stCxn id="301" idx="2"/>
          </p:cNvCxnSpPr>
          <p:nvPr/>
        </p:nvCxnSpPr>
        <p:spPr>
          <a:xfrm rot="10800000">
            <a:off x="5714970" y="5241425"/>
            <a:ext cx="1257300" cy="527100"/>
          </a:xfrm>
          <a:prstGeom prst="straightConnector1">
            <a:avLst/>
          </a:prstGeom>
          <a:noFill/>
          <a:ln cap="flat" cmpd="sng" w="38100">
            <a:solidFill>
              <a:srgbClr val="002060"/>
            </a:solidFill>
            <a:prstDash val="solid"/>
            <a:round/>
            <a:headEnd len="med" w="med" type="none"/>
            <a:tailEnd len="med" w="med" type="none"/>
          </a:ln>
        </p:spPr>
      </p:cxnSp>
      <p:cxnSp>
        <p:nvCxnSpPr>
          <p:cNvPr id="304" name="Google Shape;304;p14"/>
          <p:cNvCxnSpPr>
            <a:stCxn id="292" idx="6"/>
            <a:endCxn id="298" idx="2"/>
          </p:cNvCxnSpPr>
          <p:nvPr/>
        </p:nvCxnSpPr>
        <p:spPr>
          <a:xfrm flipH="1" rot="10800000">
            <a:off x="5714970" y="4796976"/>
            <a:ext cx="1752600" cy="228600"/>
          </a:xfrm>
          <a:prstGeom prst="straightConnector1">
            <a:avLst/>
          </a:prstGeom>
          <a:noFill/>
          <a:ln cap="flat" cmpd="sng" w="38100">
            <a:solidFill>
              <a:srgbClr val="002060"/>
            </a:solidFill>
            <a:prstDash val="solid"/>
            <a:round/>
            <a:headEnd len="med" w="med" type="none"/>
            <a:tailEnd len="med" w="med" type="none"/>
          </a:ln>
        </p:spPr>
      </p:cxnSp>
      <p:cxnSp>
        <p:nvCxnSpPr>
          <p:cNvPr id="305" name="Google Shape;305;p14"/>
          <p:cNvCxnSpPr>
            <a:stCxn id="298" idx="7"/>
            <a:endCxn id="297" idx="4"/>
          </p:cNvCxnSpPr>
          <p:nvPr/>
        </p:nvCxnSpPr>
        <p:spPr>
          <a:xfrm flipH="1" rot="10800000">
            <a:off x="7922856" y="3272850"/>
            <a:ext cx="420900" cy="1308600"/>
          </a:xfrm>
          <a:prstGeom prst="straightConnector1">
            <a:avLst/>
          </a:prstGeom>
          <a:noFill/>
          <a:ln cap="flat" cmpd="sng" w="38100">
            <a:solidFill>
              <a:srgbClr val="002060"/>
            </a:solidFill>
            <a:prstDash val="solid"/>
            <a:round/>
            <a:headEnd len="med" w="med" type="none"/>
            <a:tailEnd len="med" w="med" type="none"/>
          </a:ln>
        </p:spPr>
      </p:cxnSp>
      <p:cxnSp>
        <p:nvCxnSpPr>
          <p:cNvPr id="306" name="Google Shape;306;p14"/>
          <p:cNvCxnSpPr>
            <a:stCxn id="294" idx="3"/>
            <a:endCxn id="292" idx="7"/>
          </p:cNvCxnSpPr>
          <p:nvPr/>
        </p:nvCxnSpPr>
        <p:spPr>
          <a:xfrm flipH="1">
            <a:off x="5636785" y="3564702"/>
            <a:ext cx="842100" cy="1245300"/>
          </a:xfrm>
          <a:prstGeom prst="straightConnector1">
            <a:avLst/>
          </a:prstGeom>
          <a:noFill/>
          <a:ln cap="flat" cmpd="sng" w="38100">
            <a:solidFill>
              <a:srgbClr val="002060"/>
            </a:solidFill>
            <a:prstDash val="solid"/>
            <a:round/>
            <a:headEnd len="med" w="med" type="none"/>
            <a:tailEnd len="med" w="med" type="none"/>
          </a:ln>
        </p:spPr>
      </p:cxnSp>
      <p:cxnSp>
        <p:nvCxnSpPr>
          <p:cNvPr id="307" name="Google Shape;307;p14"/>
          <p:cNvCxnSpPr>
            <a:stCxn id="297" idx="1"/>
            <a:endCxn id="293" idx="0"/>
          </p:cNvCxnSpPr>
          <p:nvPr/>
        </p:nvCxnSpPr>
        <p:spPr>
          <a:xfrm rot="5400000">
            <a:off x="6427435" y="1392600"/>
            <a:ext cx="367800" cy="3087900"/>
          </a:xfrm>
          <a:prstGeom prst="curvedConnector3">
            <a:avLst>
              <a:gd fmla="val -86617" name="adj1"/>
            </a:avLst>
          </a:prstGeom>
          <a:noFill/>
          <a:ln cap="flat" cmpd="sng" w="38100">
            <a:solidFill>
              <a:srgbClr val="002060"/>
            </a:solidFill>
            <a:prstDash val="solid"/>
            <a:round/>
            <a:headEnd len="med" w="med" type="none"/>
            <a:tailEnd len="med" w="med" type="none"/>
          </a:ln>
        </p:spPr>
      </p:cxnSp>
      <p:cxnSp>
        <p:nvCxnSpPr>
          <p:cNvPr id="308" name="Google Shape;308;p14"/>
          <p:cNvCxnSpPr>
            <a:stCxn id="292" idx="5"/>
            <a:endCxn id="292" idx="2"/>
          </p:cNvCxnSpPr>
          <p:nvPr/>
        </p:nvCxnSpPr>
        <p:spPr>
          <a:xfrm flipH="1" rot="5400000">
            <a:off x="5301455" y="4905702"/>
            <a:ext cx="215400" cy="455400"/>
          </a:xfrm>
          <a:prstGeom prst="curvedConnector4">
            <a:avLst>
              <a:gd fmla="val -281292" name="adj1"/>
              <a:gd fmla="val 219187" name="adj2"/>
            </a:avLst>
          </a:prstGeom>
          <a:noFill/>
          <a:ln cap="flat" cmpd="sng" w="38100">
            <a:solidFill>
              <a:srgbClr val="002060"/>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5"/>
          <p:cNvSpPr txBox="1"/>
          <p:nvPr>
            <p:ph type="title"/>
          </p:nvPr>
        </p:nvSpPr>
        <p:spPr>
          <a:xfrm>
            <a:off x="457200" y="274638"/>
            <a:ext cx="8229600" cy="9445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t>Cây tối đại</a:t>
            </a:r>
            <a:endParaRPr b="1" sz="4000"/>
          </a:p>
        </p:txBody>
      </p:sp>
      <p:sp>
        <p:nvSpPr>
          <p:cNvPr id="314" name="Google Shape;314;p15"/>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Xác định cây tối đại</a:t>
            </a:r>
            <a:endParaRPr/>
          </a:p>
        </p:txBody>
      </p:sp>
      <p:sp>
        <p:nvSpPr>
          <p:cNvPr id="315" name="Google Shape;315;p15"/>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None/>
            </a:pPr>
            <a:r>
              <a:rPr lang="en-US"/>
              <a:t>Thuật toán tựa PRIM</a:t>
            </a:r>
            <a:endParaRPr/>
          </a:p>
          <a:p>
            <a:pPr indent="-342900" lvl="0" marL="342900" rtl="0" algn="l">
              <a:spcBef>
                <a:spcPts val="480"/>
              </a:spcBef>
              <a:spcAft>
                <a:spcPts val="0"/>
              </a:spcAft>
              <a:buClr>
                <a:schemeClr val="dk1"/>
              </a:buClr>
              <a:buSzPts val="2400"/>
              <a:buFont typeface="Noto Sans Symbols"/>
              <a:buNone/>
            </a:pPr>
            <a:r>
              <a:rPr b="1" lang="en-US" u="sng"/>
              <a:t>Input</a:t>
            </a:r>
            <a:r>
              <a:rPr lang="en-US"/>
              <a:t>: </a:t>
            </a:r>
            <a:endParaRPr/>
          </a:p>
          <a:p>
            <a:pPr indent="-342900" lvl="0" marL="342900" rtl="0" algn="l">
              <a:spcBef>
                <a:spcPts val="480"/>
              </a:spcBef>
              <a:spcAft>
                <a:spcPts val="0"/>
              </a:spcAft>
              <a:buClr>
                <a:schemeClr val="dk1"/>
              </a:buClr>
              <a:buSzPts val="2400"/>
              <a:buFont typeface="Noto Sans Symbols"/>
              <a:buNone/>
            </a:pPr>
            <a:r>
              <a:rPr lang="en-US"/>
              <a:t>     Đồ thị liên thông G=(X, E), X gồm N đỉnh</a:t>
            </a:r>
            <a:endParaRPr/>
          </a:p>
          <a:p>
            <a:pPr indent="-342900" lvl="0" marL="342900" rtl="0" algn="l">
              <a:spcBef>
                <a:spcPts val="480"/>
              </a:spcBef>
              <a:spcAft>
                <a:spcPts val="0"/>
              </a:spcAft>
              <a:buClr>
                <a:schemeClr val="dk1"/>
              </a:buClr>
              <a:buSzPts val="2400"/>
              <a:buFont typeface="Noto Sans Symbols"/>
              <a:buNone/>
            </a:pPr>
            <a:r>
              <a:rPr b="1" lang="en-US" u="sng"/>
              <a:t>Output</a:t>
            </a:r>
            <a:r>
              <a:rPr lang="en-US"/>
              <a:t>: </a:t>
            </a:r>
            <a:endParaRPr/>
          </a:p>
          <a:p>
            <a:pPr indent="-342900" lvl="0" marL="342900" rtl="0" algn="l">
              <a:spcBef>
                <a:spcPts val="480"/>
              </a:spcBef>
              <a:spcAft>
                <a:spcPts val="0"/>
              </a:spcAft>
              <a:buClr>
                <a:schemeClr val="dk1"/>
              </a:buClr>
              <a:buSzPts val="2400"/>
              <a:buFont typeface="Noto Sans Symbols"/>
              <a:buNone/>
            </a:pPr>
            <a:r>
              <a:rPr lang="en-US"/>
              <a:t>    Cây tối đại T=(V, U) của G</a:t>
            </a:r>
            <a:endParaRPr/>
          </a:p>
          <a:p>
            <a:pPr indent="-3429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None/>
            </a:pPr>
            <a:r>
              <a:t/>
            </a:r>
            <a:endParaRPr/>
          </a:p>
        </p:txBody>
      </p:sp>
      <p:sp>
        <p:nvSpPr>
          <p:cNvPr id="316" name="Google Shape;316;p15"/>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Thuật toán</a:t>
            </a:r>
            <a:endParaRPr/>
          </a:p>
        </p:txBody>
      </p:sp>
      <p:sp>
        <p:nvSpPr>
          <p:cNvPr id="317" name="Google Shape;317;p15"/>
          <p:cNvSpPr txBox="1"/>
          <p:nvPr>
            <p:ph idx="4" type="body"/>
          </p:nvPr>
        </p:nvSpPr>
        <p:spPr>
          <a:xfrm>
            <a:off x="4645025" y="2174875"/>
            <a:ext cx="4041775" cy="3951288"/>
          </a:xfrm>
          <a:prstGeom prst="rect">
            <a:avLst/>
          </a:prstGeom>
          <a:solidFill>
            <a:srgbClr val="002060"/>
          </a:solidFill>
          <a:ln>
            <a:noFill/>
          </a:ln>
        </p:spPr>
        <p:txBody>
          <a:bodyPr anchorCtr="0" anchor="t" bIns="45700" lIns="91425" spcFirstLastPara="1" rIns="91425" wrap="square" tIns="45700">
            <a:noAutofit/>
          </a:bodyPr>
          <a:lstStyle/>
          <a:p>
            <a:pPr indent="-514350" lvl="0" marL="514350" rtl="0" algn="l">
              <a:spcBef>
                <a:spcPts val="0"/>
              </a:spcBef>
              <a:spcAft>
                <a:spcPts val="0"/>
              </a:spcAft>
              <a:buClr>
                <a:schemeClr val="lt1"/>
              </a:buClr>
              <a:buSzPts val="2200"/>
              <a:buFont typeface="Times New Roman"/>
              <a:buAutoNum type="arabicPeriod"/>
            </a:pPr>
            <a:r>
              <a:rPr lang="en-US" sz="2200">
                <a:solidFill>
                  <a:schemeClr val="lt1"/>
                </a:solidFill>
              </a:rPr>
              <a:t>Chọn v ∈ X và khởi tạo V := { v };  U := ∅;</a:t>
            </a:r>
            <a:endParaRPr sz="2200">
              <a:solidFill>
                <a:schemeClr val="lt1"/>
              </a:solidFill>
            </a:endParaRPr>
          </a:p>
          <a:p>
            <a:pPr indent="-514350" lvl="0" marL="514350" rtl="0" algn="l">
              <a:spcBef>
                <a:spcPts val="440"/>
              </a:spcBef>
              <a:spcAft>
                <a:spcPts val="0"/>
              </a:spcAft>
              <a:buClr>
                <a:schemeClr val="lt1"/>
              </a:buClr>
              <a:buSzPts val="2200"/>
              <a:buFont typeface="Times New Roman"/>
              <a:buAutoNum type="arabicPeriod"/>
            </a:pPr>
            <a:r>
              <a:rPr lang="en-US" sz="2200">
                <a:solidFill>
                  <a:schemeClr val="lt1"/>
                </a:solidFill>
              </a:rPr>
              <a:t>Chọn w∈ X \ V  sao cho ∃e ∈ E, e nối w với một đỉnh trong V: không tạo chu trình</a:t>
            </a:r>
            <a:endParaRPr sz="2200">
              <a:solidFill>
                <a:schemeClr val="lt1"/>
              </a:solidFill>
            </a:endParaRPr>
          </a:p>
          <a:p>
            <a:pPr indent="-514350" lvl="0" marL="514350" rtl="0" algn="l">
              <a:spcBef>
                <a:spcPts val="440"/>
              </a:spcBef>
              <a:spcAft>
                <a:spcPts val="0"/>
              </a:spcAft>
              <a:buClr>
                <a:schemeClr val="lt1"/>
              </a:buClr>
              <a:buSzPts val="2200"/>
              <a:buFont typeface="Times New Roman"/>
              <a:buAutoNum type="arabicPeriod"/>
            </a:pPr>
            <a:r>
              <a:rPr lang="en-US" sz="2200">
                <a:solidFill>
                  <a:schemeClr val="lt1"/>
                </a:solidFill>
              </a:rPr>
              <a:t>V := V ∪ {w}; U := U ∪ {e}</a:t>
            </a:r>
            <a:endParaRPr/>
          </a:p>
          <a:p>
            <a:pPr indent="-514350" lvl="0" marL="514350" rtl="0" algn="l">
              <a:spcBef>
                <a:spcPts val="440"/>
              </a:spcBef>
              <a:spcAft>
                <a:spcPts val="0"/>
              </a:spcAft>
              <a:buClr>
                <a:schemeClr val="lt1"/>
              </a:buClr>
              <a:buSzPts val="2200"/>
              <a:buFont typeface="Times New Roman"/>
              <a:buAutoNum type="arabicPeriod"/>
            </a:pPr>
            <a:r>
              <a:rPr lang="en-US" sz="2200">
                <a:solidFill>
                  <a:schemeClr val="lt1"/>
                </a:solidFill>
              </a:rPr>
              <a:t>Nếu U đủ N-1 cạnh thì dừng, ngược lại lặp từ bước 2.</a:t>
            </a:r>
            <a:endParaRPr sz="2200">
              <a:solidFill>
                <a:schemeClr val="lt1"/>
              </a:solidFill>
            </a:endParaRPr>
          </a:p>
          <a:p>
            <a:pPr indent="-190500" lvl="0" marL="342900" rtl="0" algn="l">
              <a:spcBef>
                <a:spcPts val="480"/>
              </a:spcBef>
              <a:spcAft>
                <a:spcPts val="0"/>
              </a:spcAft>
              <a:buClr>
                <a:schemeClr val="dk1"/>
              </a:buClr>
              <a:buSzPts val="2400"/>
              <a:buNone/>
            </a:pPr>
            <a:r>
              <a:t/>
            </a:r>
            <a:endParaRPr/>
          </a:p>
        </p:txBody>
      </p:sp>
      <p:sp>
        <p:nvSpPr>
          <p:cNvPr id="318" name="Google Shape;318;p15"/>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319" name="Google Shape;319;p15"/>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6"/>
          <p:cNvSpPr txBox="1"/>
          <p:nvPr>
            <p:ph type="title"/>
          </p:nvPr>
        </p:nvSpPr>
        <p:spPr>
          <a:xfrm>
            <a:off x="457200" y="274638"/>
            <a:ext cx="8229600" cy="9445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t>Cây tối đại</a:t>
            </a:r>
            <a:endParaRPr b="1" sz="4000"/>
          </a:p>
        </p:txBody>
      </p:sp>
      <p:sp>
        <p:nvSpPr>
          <p:cNvPr id="325" name="Google Shape;325;p16"/>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Xác định cây tối đại</a:t>
            </a:r>
            <a:endParaRPr/>
          </a:p>
        </p:txBody>
      </p:sp>
      <p:sp>
        <p:nvSpPr>
          <p:cNvPr id="326" name="Google Shape;326;p16"/>
          <p:cNvSpPr txBox="1"/>
          <p:nvPr>
            <p:ph idx="2" type="body"/>
          </p:nvPr>
        </p:nvSpPr>
        <p:spPr>
          <a:xfrm>
            <a:off x="457200" y="2222586"/>
            <a:ext cx="4040188" cy="3951288"/>
          </a:xfrm>
          <a:prstGeom prst="rect">
            <a:avLst/>
          </a:prstGeom>
          <a:solidFill>
            <a:srgbClr val="E5E5E5"/>
          </a:solidFill>
          <a:ln>
            <a:noFill/>
          </a:ln>
        </p:spPr>
        <p:txBody>
          <a:bodyPr anchorCtr="0" anchor="t" bIns="45700" lIns="91425" spcFirstLastPara="1" rIns="91425" wrap="square" tIns="45700">
            <a:noAutofit/>
          </a:bodyPr>
          <a:lstStyle/>
          <a:p>
            <a:pPr indent="-190500" lvl="0" marL="342900" rtl="0" algn="l">
              <a:spcBef>
                <a:spcPts val="0"/>
              </a:spcBef>
              <a:spcAft>
                <a:spcPts val="0"/>
              </a:spcAft>
              <a:buClr>
                <a:schemeClr val="dk1"/>
              </a:buClr>
              <a:buSzPts val="2400"/>
              <a:buNone/>
            </a:pPr>
            <a:r>
              <a:t/>
            </a:r>
            <a:endParaRPr/>
          </a:p>
        </p:txBody>
      </p:sp>
      <p:sp>
        <p:nvSpPr>
          <p:cNvPr id="327" name="Google Shape;327;p16"/>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Xác định cây tối đại</a:t>
            </a:r>
            <a:endParaRPr/>
          </a:p>
        </p:txBody>
      </p:sp>
      <p:sp>
        <p:nvSpPr>
          <p:cNvPr id="328" name="Google Shape;328;p16"/>
          <p:cNvSpPr txBox="1"/>
          <p:nvPr>
            <p:ph idx="4" type="body"/>
          </p:nvPr>
        </p:nvSpPr>
        <p:spPr>
          <a:xfrm>
            <a:off x="4645025" y="2174875"/>
            <a:ext cx="4041775"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33CC"/>
              </a:buClr>
              <a:buSzPts val="2400"/>
              <a:buFont typeface="Noto Sans Symbols"/>
              <a:buChar char="✔"/>
            </a:pPr>
            <a:r>
              <a:rPr lang="en-US">
                <a:solidFill>
                  <a:srgbClr val="0033CC"/>
                </a:solidFill>
              </a:rPr>
              <a:t>V = {F, A, B, E, C, D}</a:t>
            </a:r>
            <a:endParaRPr/>
          </a:p>
          <a:p>
            <a:pPr indent="-342900" lvl="0" marL="342900" rtl="0" algn="l">
              <a:spcBef>
                <a:spcPts val="480"/>
              </a:spcBef>
              <a:spcAft>
                <a:spcPts val="0"/>
              </a:spcAft>
              <a:buClr>
                <a:srgbClr val="0033CC"/>
              </a:buClr>
              <a:buSzPts val="2400"/>
              <a:buFont typeface="Noto Sans Symbols"/>
              <a:buChar char="✔"/>
            </a:pPr>
            <a:r>
              <a:rPr lang="en-US">
                <a:solidFill>
                  <a:srgbClr val="0033CC"/>
                </a:solidFill>
              </a:rPr>
              <a:t>U = {FA, AB, BE, FC, ED}</a:t>
            </a:r>
            <a:endParaRPr>
              <a:solidFill>
                <a:srgbClr val="0033CC"/>
              </a:solidFill>
            </a:endParaRPr>
          </a:p>
          <a:p>
            <a:pPr indent="-190500" lvl="0" marL="342900" rtl="0" algn="l">
              <a:spcBef>
                <a:spcPts val="480"/>
              </a:spcBef>
              <a:spcAft>
                <a:spcPts val="0"/>
              </a:spcAft>
              <a:buClr>
                <a:schemeClr val="dk1"/>
              </a:buClr>
              <a:buSzPts val="2400"/>
              <a:buNone/>
            </a:pPr>
            <a:r>
              <a:t/>
            </a:r>
            <a:endParaRPr>
              <a:solidFill>
                <a:srgbClr val="0033CC"/>
              </a:solidFill>
            </a:endParaRPr>
          </a:p>
          <a:p>
            <a:pPr indent="-190500" lvl="0" marL="342900" rtl="0" algn="l">
              <a:spcBef>
                <a:spcPts val="480"/>
              </a:spcBef>
              <a:spcAft>
                <a:spcPts val="0"/>
              </a:spcAft>
              <a:buClr>
                <a:schemeClr val="dk1"/>
              </a:buClr>
              <a:buSzPts val="2400"/>
              <a:buNone/>
            </a:pPr>
            <a:r>
              <a:t/>
            </a:r>
            <a:endParaRPr/>
          </a:p>
        </p:txBody>
      </p:sp>
      <p:sp>
        <p:nvSpPr>
          <p:cNvPr id="329" name="Google Shape;329;p16"/>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330" name="Google Shape;330;p16"/>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1" name="Google Shape;331;p16"/>
          <p:cNvSpPr/>
          <p:nvPr/>
        </p:nvSpPr>
        <p:spPr>
          <a:xfrm>
            <a:off x="2122746" y="4648182"/>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C</a:t>
            </a:r>
            <a:endParaRPr b="0" sz="2400">
              <a:solidFill>
                <a:srgbClr val="0033CC"/>
              </a:solidFill>
              <a:latin typeface="Arial"/>
              <a:ea typeface="Arial"/>
              <a:cs typeface="Arial"/>
              <a:sym typeface="Arial"/>
            </a:endParaRPr>
          </a:p>
        </p:txBody>
      </p:sp>
      <p:sp>
        <p:nvSpPr>
          <p:cNvPr id="332" name="Google Shape;332;p16"/>
          <p:cNvSpPr/>
          <p:nvPr/>
        </p:nvSpPr>
        <p:spPr>
          <a:xfrm>
            <a:off x="1741746" y="3008609"/>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A</a:t>
            </a:r>
            <a:endParaRPr b="0" sz="2400">
              <a:solidFill>
                <a:srgbClr val="0033CC"/>
              </a:solidFill>
              <a:latin typeface="Arial"/>
              <a:ea typeface="Arial"/>
              <a:cs typeface="Arial"/>
              <a:sym typeface="Arial"/>
            </a:endParaRPr>
          </a:p>
        </p:txBody>
      </p:sp>
      <p:sp>
        <p:nvSpPr>
          <p:cNvPr id="333" name="Google Shape;333;p16"/>
          <p:cNvSpPr/>
          <p:nvPr/>
        </p:nvSpPr>
        <p:spPr>
          <a:xfrm>
            <a:off x="2833956" y="3063035"/>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B</a:t>
            </a:r>
            <a:endParaRPr b="0" sz="2400">
              <a:solidFill>
                <a:srgbClr val="0033CC"/>
              </a:solidFill>
              <a:latin typeface="Arial"/>
              <a:ea typeface="Arial"/>
              <a:cs typeface="Arial"/>
              <a:sym typeface="Arial"/>
            </a:endParaRPr>
          </a:p>
        </p:txBody>
      </p:sp>
      <p:cxnSp>
        <p:nvCxnSpPr>
          <p:cNvPr id="334" name="Google Shape;334;p16"/>
          <p:cNvCxnSpPr>
            <a:stCxn id="332" idx="6"/>
            <a:endCxn id="333" idx="2"/>
          </p:cNvCxnSpPr>
          <p:nvPr/>
        </p:nvCxnSpPr>
        <p:spPr>
          <a:xfrm>
            <a:off x="2275146" y="3313409"/>
            <a:ext cx="558900" cy="54300"/>
          </a:xfrm>
          <a:prstGeom prst="straightConnector1">
            <a:avLst/>
          </a:prstGeom>
          <a:noFill/>
          <a:ln cap="flat" cmpd="sng" w="38100">
            <a:solidFill>
              <a:srgbClr val="002060"/>
            </a:solidFill>
            <a:prstDash val="solid"/>
            <a:round/>
            <a:headEnd len="med" w="med" type="none"/>
            <a:tailEnd len="med" w="med" type="none"/>
          </a:ln>
        </p:spPr>
      </p:cxnSp>
      <p:cxnSp>
        <p:nvCxnSpPr>
          <p:cNvPr id="335" name="Google Shape;335;p16"/>
          <p:cNvCxnSpPr>
            <a:stCxn id="332" idx="4"/>
            <a:endCxn id="331" idx="0"/>
          </p:cNvCxnSpPr>
          <p:nvPr/>
        </p:nvCxnSpPr>
        <p:spPr>
          <a:xfrm>
            <a:off x="2008446" y="3618209"/>
            <a:ext cx="381000" cy="1029900"/>
          </a:xfrm>
          <a:prstGeom prst="straightConnector1">
            <a:avLst/>
          </a:prstGeom>
          <a:noFill/>
          <a:ln cap="flat" cmpd="sng" w="38100">
            <a:solidFill>
              <a:srgbClr val="002060"/>
            </a:solidFill>
            <a:prstDash val="solid"/>
            <a:round/>
            <a:headEnd len="med" w="med" type="none"/>
            <a:tailEnd len="med" w="med" type="none"/>
          </a:ln>
        </p:spPr>
      </p:cxnSp>
      <p:sp>
        <p:nvSpPr>
          <p:cNvPr id="336" name="Google Shape;336;p16"/>
          <p:cNvSpPr/>
          <p:nvPr/>
        </p:nvSpPr>
        <p:spPr>
          <a:xfrm>
            <a:off x="3958824" y="2576268"/>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D</a:t>
            </a:r>
            <a:endParaRPr b="0" sz="2400">
              <a:solidFill>
                <a:srgbClr val="0033CC"/>
              </a:solidFill>
              <a:latin typeface="Arial"/>
              <a:ea typeface="Arial"/>
              <a:cs typeface="Arial"/>
              <a:sym typeface="Arial"/>
            </a:endParaRPr>
          </a:p>
        </p:txBody>
      </p:sp>
      <p:sp>
        <p:nvSpPr>
          <p:cNvPr id="337" name="Google Shape;337;p16"/>
          <p:cNvSpPr/>
          <p:nvPr/>
        </p:nvSpPr>
        <p:spPr>
          <a:xfrm>
            <a:off x="3770130" y="4419582"/>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E</a:t>
            </a:r>
            <a:endParaRPr b="0" sz="2400">
              <a:solidFill>
                <a:srgbClr val="0033CC"/>
              </a:solidFill>
              <a:latin typeface="Arial"/>
              <a:ea typeface="Arial"/>
              <a:cs typeface="Arial"/>
              <a:sym typeface="Arial"/>
            </a:endParaRPr>
          </a:p>
        </p:txBody>
      </p:sp>
      <p:cxnSp>
        <p:nvCxnSpPr>
          <p:cNvPr id="338" name="Google Shape;338;p16"/>
          <p:cNvCxnSpPr>
            <a:stCxn id="333" idx="6"/>
            <a:endCxn id="336" idx="2"/>
          </p:cNvCxnSpPr>
          <p:nvPr/>
        </p:nvCxnSpPr>
        <p:spPr>
          <a:xfrm flipH="1" rot="10800000">
            <a:off x="3367356" y="2880935"/>
            <a:ext cx="591600" cy="486900"/>
          </a:xfrm>
          <a:prstGeom prst="straightConnector1">
            <a:avLst/>
          </a:prstGeom>
          <a:noFill/>
          <a:ln cap="flat" cmpd="sng" w="38100">
            <a:solidFill>
              <a:srgbClr val="002060"/>
            </a:solidFill>
            <a:prstDash val="solid"/>
            <a:round/>
            <a:headEnd len="med" w="med" type="none"/>
            <a:tailEnd len="med" w="med" type="none"/>
          </a:ln>
        </p:spPr>
      </p:cxnSp>
      <p:cxnSp>
        <p:nvCxnSpPr>
          <p:cNvPr id="339" name="Google Shape;339;p16"/>
          <p:cNvCxnSpPr>
            <a:stCxn id="333" idx="5"/>
            <a:endCxn id="337" idx="1"/>
          </p:cNvCxnSpPr>
          <p:nvPr/>
        </p:nvCxnSpPr>
        <p:spPr>
          <a:xfrm>
            <a:off x="3289241" y="3583361"/>
            <a:ext cx="558900" cy="925500"/>
          </a:xfrm>
          <a:prstGeom prst="straightConnector1">
            <a:avLst/>
          </a:prstGeom>
          <a:noFill/>
          <a:ln cap="flat" cmpd="sng" w="38100">
            <a:solidFill>
              <a:srgbClr val="002060"/>
            </a:solidFill>
            <a:prstDash val="solid"/>
            <a:round/>
            <a:headEnd len="med" w="med" type="none"/>
            <a:tailEnd len="med" w="med" type="none"/>
          </a:ln>
        </p:spPr>
      </p:cxnSp>
      <p:sp>
        <p:nvSpPr>
          <p:cNvPr id="340" name="Google Shape;340;p16"/>
          <p:cNvSpPr/>
          <p:nvPr/>
        </p:nvSpPr>
        <p:spPr>
          <a:xfrm>
            <a:off x="446346" y="3694409"/>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F</a:t>
            </a:r>
            <a:endParaRPr b="0" sz="2400">
              <a:solidFill>
                <a:srgbClr val="0033CC"/>
              </a:solidFill>
              <a:latin typeface="Arial"/>
              <a:ea typeface="Arial"/>
              <a:cs typeface="Arial"/>
              <a:sym typeface="Arial"/>
            </a:endParaRPr>
          </a:p>
        </p:txBody>
      </p:sp>
      <p:cxnSp>
        <p:nvCxnSpPr>
          <p:cNvPr id="341" name="Google Shape;341;p16"/>
          <p:cNvCxnSpPr>
            <a:stCxn id="340" idx="7"/>
            <a:endCxn id="332" idx="2"/>
          </p:cNvCxnSpPr>
          <p:nvPr/>
        </p:nvCxnSpPr>
        <p:spPr>
          <a:xfrm flipH="1" rot="10800000">
            <a:off x="901631" y="3313283"/>
            <a:ext cx="840000" cy="470400"/>
          </a:xfrm>
          <a:prstGeom prst="straightConnector1">
            <a:avLst/>
          </a:prstGeom>
          <a:noFill/>
          <a:ln cap="flat" cmpd="sng" w="38100">
            <a:solidFill>
              <a:srgbClr val="002060"/>
            </a:solidFill>
            <a:prstDash val="solid"/>
            <a:round/>
            <a:headEnd len="med" w="med" type="none"/>
            <a:tailEnd len="med" w="med" type="none"/>
          </a:ln>
        </p:spPr>
      </p:cxnSp>
      <p:cxnSp>
        <p:nvCxnSpPr>
          <p:cNvPr id="342" name="Google Shape;342;p16"/>
          <p:cNvCxnSpPr>
            <a:stCxn id="340" idx="5"/>
            <a:endCxn id="331" idx="2"/>
          </p:cNvCxnSpPr>
          <p:nvPr/>
        </p:nvCxnSpPr>
        <p:spPr>
          <a:xfrm>
            <a:off x="901631" y="4214735"/>
            <a:ext cx="1221000" cy="738300"/>
          </a:xfrm>
          <a:prstGeom prst="straightConnector1">
            <a:avLst/>
          </a:prstGeom>
          <a:noFill/>
          <a:ln cap="flat" cmpd="sng" w="38100">
            <a:solidFill>
              <a:srgbClr val="002060"/>
            </a:solidFill>
            <a:prstDash val="solid"/>
            <a:round/>
            <a:headEnd len="med" w="med" type="none"/>
            <a:tailEnd len="med" w="med" type="none"/>
          </a:ln>
        </p:spPr>
      </p:cxnSp>
      <p:cxnSp>
        <p:nvCxnSpPr>
          <p:cNvPr id="343" name="Google Shape;343;p16"/>
          <p:cNvCxnSpPr>
            <a:stCxn id="331" idx="6"/>
          </p:cNvCxnSpPr>
          <p:nvPr/>
        </p:nvCxnSpPr>
        <p:spPr>
          <a:xfrm flipH="1" rot="10800000">
            <a:off x="2656146" y="4838682"/>
            <a:ext cx="1141500" cy="114300"/>
          </a:xfrm>
          <a:prstGeom prst="straightConnector1">
            <a:avLst/>
          </a:prstGeom>
          <a:noFill/>
          <a:ln cap="flat" cmpd="sng" w="38100">
            <a:solidFill>
              <a:srgbClr val="002060"/>
            </a:solidFill>
            <a:prstDash val="solid"/>
            <a:round/>
            <a:headEnd len="med" w="med" type="none"/>
            <a:tailEnd len="med" w="med" type="none"/>
          </a:ln>
        </p:spPr>
      </p:cxnSp>
      <p:cxnSp>
        <p:nvCxnSpPr>
          <p:cNvPr id="344" name="Google Shape;344;p16"/>
          <p:cNvCxnSpPr>
            <a:stCxn id="337" idx="7"/>
            <a:endCxn id="336" idx="4"/>
          </p:cNvCxnSpPr>
          <p:nvPr/>
        </p:nvCxnSpPr>
        <p:spPr>
          <a:xfrm rot="10800000">
            <a:off x="4225415" y="3185856"/>
            <a:ext cx="0" cy="1323000"/>
          </a:xfrm>
          <a:prstGeom prst="straightConnector1">
            <a:avLst/>
          </a:prstGeom>
          <a:noFill/>
          <a:ln cap="flat" cmpd="sng" w="38100">
            <a:solidFill>
              <a:srgbClr val="002060"/>
            </a:solidFill>
            <a:prstDash val="solid"/>
            <a:round/>
            <a:headEnd len="med" w="med" type="none"/>
            <a:tailEnd len="med" w="med" type="none"/>
          </a:ln>
        </p:spPr>
      </p:cxnSp>
      <p:cxnSp>
        <p:nvCxnSpPr>
          <p:cNvPr id="345" name="Google Shape;345;p16"/>
          <p:cNvCxnSpPr>
            <a:stCxn id="333" idx="4"/>
            <a:endCxn id="331" idx="7"/>
          </p:cNvCxnSpPr>
          <p:nvPr/>
        </p:nvCxnSpPr>
        <p:spPr>
          <a:xfrm flipH="1">
            <a:off x="2578056" y="3672635"/>
            <a:ext cx="522600" cy="1064700"/>
          </a:xfrm>
          <a:prstGeom prst="straightConnector1">
            <a:avLst/>
          </a:prstGeom>
          <a:noFill/>
          <a:ln cap="flat" cmpd="sng" w="38100">
            <a:solidFill>
              <a:srgbClr val="002060"/>
            </a:solidFill>
            <a:prstDash val="solid"/>
            <a:round/>
            <a:headEnd len="med" w="med" type="none"/>
            <a:tailEnd len="med" w="med" type="none"/>
          </a:ln>
        </p:spPr>
      </p:cxnSp>
      <p:cxnSp>
        <p:nvCxnSpPr>
          <p:cNvPr id="346" name="Google Shape;346;p16"/>
          <p:cNvCxnSpPr>
            <a:stCxn id="336" idx="1"/>
            <a:endCxn id="332" idx="7"/>
          </p:cNvCxnSpPr>
          <p:nvPr/>
        </p:nvCxnSpPr>
        <p:spPr>
          <a:xfrm rot="5400000">
            <a:off x="2900838" y="1961742"/>
            <a:ext cx="432300" cy="1839900"/>
          </a:xfrm>
          <a:prstGeom prst="curvedConnector3">
            <a:avLst>
              <a:gd fmla="val -73531" name="adj1"/>
            </a:avLst>
          </a:prstGeom>
          <a:noFill/>
          <a:ln cap="flat" cmpd="sng" w="38100">
            <a:solidFill>
              <a:srgbClr val="002060"/>
            </a:solidFill>
            <a:prstDash val="solid"/>
            <a:round/>
            <a:headEnd len="med" w="med" type="none"/>
            <a:tailEnd len="med" w="med" type="none"/>
          </a:ln>
        </p:spPr>
      </p:cxnSp>
      <p:cxnSp>
        <p:nvCxnSpPr>
          <p:cNvPr id="347" name="Google Shape;347;p16"/>
          <p:cNvCxnSpPr>
            <a:stCxn id="331" idx="5"/>
            <a:endCxn id="331" idx="2"/>
          </p:cNvCxnSpPr>
          <p:nvPr/>
        </p:nvCxnSpPr>
        <p:spPr>
          <a:xfrm flipH="1" rot="5400000">
            <a:off x="2242631" y="4833108"/>
            <a:ext cx="215400" cy="455400"/>
          </a:xfrm>
          <a:prstGeom prst="curvedConnector4">
            <a:avLst>
              <a:gd fmla="val -281292" name="adj1"/>
              <a:gd fmla="val 219187" name="adj2"/>
            </a:avLst>
          </a:prstGeom>
          <a:noFill/>
          <a:ln cap="flat" cmpd="sng" w="38100">
            <a:solidFill>
              <a:srgbClr val="002060"/>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7"/>
          <p:cNvSpPr txBox="1"/>
          <p:nvPr>
            <p:ph type="title"/>
          </p:nvPr>
        </p:nvSpPr>
        <p:spPr>
          <a:xfrm>
            <a:off x="457200" y="274638"/>
            <a:ext cx="8229600" cy="9445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t>Cây tối đại ngắn nhất</a:t>
            </a:r>
            <a:endParaRPr b="1" sz="4000"/>
          </a:p>
        </p:txBody>
      </p:sp>
      <p:sp>
        <p:nvSpPr>
          <p:cNvPr id="353" name="Google Shape;353;p17"/>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Định nghĩa</a:t>
            </a:r>
            <a:endParaRPr/>
          </a:p>
        </p:txBody>
      </p:sp>
      <p:sp>
        <p:nvSpPr>
          <p:cNvPr id="354" name="Google Shape;354;p17"/>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400"/>
              <a:buFont typeface="Noto Sans Symbols"/>
              <a:buNone/>
            </a:pPr>
            <a:r>
              <a:rPr lang="en-US">
                <a:solidFill>
                  <a:srgbClr val="002060"/>
                </a:solidFill>
              </a:rPr>
              <a:t>Cho G=(X, E) </a:t>
            </a:r>
            <a:endParaRPr>
              <a:solidFill>
                <a:srgbClr val="002060"/>
              </a:solidFill>
            </a:endParaRPr>
          </a:p>
          <a:p>
            <a:pPr indent="-342900" lvl="0" marL="342900" rtl="0" algn="l">
              <a:spcBef>
                <a:spcPts val="480"/>
              </a:spcBef>
              <a:spcAft>
                <a:spcPts val="0"/>
              </a:spcAft>
              <a:buClr>
                <a:srgbClr val="002060"/>
              </a:buClr>
              <a:buSzPts val="2400"/>
              <a:buFont typeface="Noto Sans Symbols"/>
              <a:buChar char="✔"/>
            </a:pPr>
            <a:r>
              <a:rPr lang="en-US">
                <a:solidFill>
                  <a:srgbClr val="002060"/>
                </a:solidFill>
              </a:rPr>
              <a:t>G - ĐỒ THỊ CÓ TRỌNG nếu mỗi cạnh của G được tương ứng với một số thực, nghĩa là có một ánh xạ như sau:</a:t>
            </a:r>
            <a:endParaRPr>
              <a:solidFill>
                <a:srgbClr val="002060"/>
              </a:solidFill>
            </a:endParaRPr>
          </a:p>
          <a:p>
            <a:pPr indent="-514350" lvl="0" marL="514350" rtl="0" algn="l">
              <a:spcBef>
                <a:spcPts val="480"/>
              </a:spcBef>
              <a:spcAft>
                <a:spcPts val="0"/>
              </a:spcAft>
              <a:buClr>
                <a:srgbClr val="002060"/>
              </a:buClr>
              <a:buSzPts val="2400"/>
              <a:buFont typeface="Noto Sans Symbols"/>
              <a:buNone/>
            </a:pPr>
            <a:r>
              <a:rPr lang="en-US">
                <a:solidFill>
                  <a:srgbClr val="002060"/>
                </a:solidFill>
              </a:rPr>
              <a:t>		L: E ⎯⎯→ |R</a:t>
            </a:r>
            <a:endParaRPr/>
          </a:p>
          <a:p>
            <a:pPr indent="-514350" lvl="0" marL="514350" rtl="0" algn="l">
              <a:spcBef>
                <a:spcPts val="480"/>
              </a:spcBef>
              <a:spcAft>
                <a:spcPts val="0"/>
              </a:spcAft>
              <a:buClr>
                <a:srgbClr val="002060"/>
              </a:buClr>
              <a:buSzPts val="2400"/>
              <a:buFont typeface="Noto Sans Symbols"/>
              <a:buNone/>
            </a:pPr>
            <a:r>
              <a:rPr lang="en-US">
                <a:solidFill>
                  <a:srgbClr val="002060"/>
                </a:solidFill>
              </a:rPr>
              <a:t>		    e |⎯⎯→ L(e)</a:t>
            </a:r>
            <a:endParaRPr/>
          </a:p>
          <a:p>
            <a:pPr indent="-190500" lvl="0" marL="342900" rtl="0" algn="l">
              <a:spcBef>
                <a:spcPts val="480"/>
              </a:spcBef>
              <a:spcAft>
                <a:spcPts val="0"/>
              </a:spcAft>
              <a:buClr>
                <a:schemeClr val="dk1"/>
              </a:buClr>
              <a:buSzPts val="2400"/>
              <a:buNone/>
            </a:pPr>
            <a:r>
              <a:t/>
            </a:r>
            <a:endParaRPr/>
          </a:p>
        </p:txBody>
      </p:sp>
      <p:sp>
        <p:nvSpPr>
          <p:cNvPr id="355" name="Google Shape;355;p17"/>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Định nghĩa</a:t>
            </a:r>
            <a:endParaRPr/>
          </a:p>
        </p:txBody>
      </p:sp>
      <p:sp>
        <p:nvSpPr>
          <p:cNvPr id="356" name="Google Shape;356;p17"/>
          <p:cNvSpPr txBox="1"/>
          <p:nvPr>
            <p:ph idx="4" type="body"/>
          </p:nvPr>
        </p:nvSpPr>
        <p:spPr>
          <a:xfrm>
            <a:off x="4645025" y="2174875"/>
            <a:ext cx="4041775"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200"/>
              <a:buFont typeface="Noto Sans Symbols"/>
              <a:buChar char="✔"/>
            </a:pPr>
            <a:r>
              <a:rPr lang="en-US" sz="2200">
                <a:solidFill>
                  <a:srgbClr val="002060"/>
                </a:solidFill>
              </a:rPr>
              <a:t>TRỌNG LƯỢNG của một cây T của G bằng với tổng trọng lượng các cạnh trong cây:</a:t>
            </a:r>
            <a:endParaRPr/>
          </a:p>
          <a:p>
            <a:pPr indent="-342900" lvl="0" marL="342900" rtl="0" algn="l">
              <a:spcBef>
                <a:spcPts val="480"/>
              </a:spcBef>
              <a:spcAft>
                <a:spcPts val="0"/>
              </a:spcAft>
              <a:buClr>
                <a:schemeClr val="dk1"/>
              </a:buClr>
              <a:buSzPts val="2400"/>
              <a:buFont typeface="Noto Sans Symbols"/>
              <a:buNone/>
            </a:pPr>
            <a:r>
              <a:rPr lang="en-US"/>
              <a:t>		</a:t>
            </a:r>
            <a:r>
              <a:rPr lang="en-US">
                <a:solidFill>
                  <a:srgbClr val="C00000"/>
                </a:solidFill>
              </a:rPr>
              <a:t>L(T) = ∑</a:t>
            </a:r>
            <a:r>
              <a:rPr baseline="-25000" lang="en-US">
                <a:solidFill>
                  <a:srgbClr val="C00000"/>
                </a:solidFill>
              </a:rPr>
              <a:t>(e∈T)</a:t>
            </a:r>
            <a:r>
              <a:rPr lang="en-US">
                <a:solidFill>
                  <a:srgbClr val="C00000"/>
                </a:solidFill>
              </a:rPr>
              <a:t>L(e)</a:t>
            </a:r>
            <a:endParaRPr/>
          </a:p>
          <a:p>
            <a:pPr indent="-203200" lvl="0" marL="342900" rtl="0" algn="l">
              <a:spcBef>
                <a:spcPts val="440"/>
              </a:spcBef>
              <a:spcAft>
                <a:spcPts val="0"/>
              </a:spcAft>
              <a:buClr>
                <a:schemeClr val="dk1"/>
              </a:buClr>
              <a:buSzPts val="2200"/>
              <a:buFont typeface="Noto Sans Symbols"/>
              <a:buNone/>
            </a:pPr>
            <a:r>
              <a:t/>
            </a:r>
            <a:endParaRPr sz="2200">
              <a:solidFill>
                <a:srgbClr val="002060"/>
              </a:solidFill>
            </a:endParaRPr>
          </a:p>
          <a:p>
            <a:pPr indent="-342900" lvl="0" marL="342900" rtl="0" algn="l">
              <a:spcBef>
                <a:spcPts val="440"/>
              </a:spcBef>
              <a:spcAft>
                <a:spcPts val="0"/>
              </a:spcAft>
              <a:buClr>
                <a:srgbClr val="002060"/>
              </a:buClr>
              <a:buSzPts val="2200"/>
              <a:buFont typeface="Noto Sans Symbols"/>
              <a:buChar char="✔"/>
            </a:pPr>
            <a:r>
              <a:rPr lang="en-US" sz="2200">
                <a:solidFill>
                  <a:srgbClr val="002060"/>
                </a:solidFill>
              </a:rPr>
              <a:t>CÂY TỐI ĐẠI NGẮN NHẤT là cây tối đại có trọng lượng nhỏ nhất của G.</a:t>
            </a:r>
            <a:endParaRPr sz="2200">
              <a:solidFill>
                <a:srgbClr val="002060"/>
              </a:solidFill>
            </a:endParaRPr>
          </a:p>
          <a:p>
            <a:pPr indent="-342900" lvl="0" marL="342900" rtl="0" algn="l">
              <a:spcBef>
                <a:spcPts val="480"/>
              </a:spcBef>
              <a:spcAft>
                <a:spcPts val="0"/>
              </a:spcAft>
              <a:buClr>
                <a:srgbClr val="002060"/>
              </a:buClr>
              <a:buSzPts val="2400"/>
              <a:buFont typeface="Noto Sans Symbols"/>
              <a:buChar char="✔"/>
            </a:pPr>
            <a:r>
              <a:rPr lang="en-US">
                <a:solidFill>
                  <a:srgbClr val="002060"/>
                </a:solidFill>
              </a:rPr>
              <a:t>Các tên gọi khác: </a:t>
            </a:r>
            <a:r>
              <a:rPr lang="en-US" sz="2000">
                <a:solidFill>
                  <a:srgbClr val="FF0000"/>
                </a:solidFill>
              </a:rPr>
              <a:t>cây khung bé nhất,  cây bao trùm nhỏ nhất, cây phủ bé nhất</a:t>
            </a:r>
            <a:endParaRPr sz="2000">
              <a:solidFill>
                <a:srgbClr val="FF0000"/>
              </a:solidFill>
            </a:endParaRPr>
          </a:p>
        </p:txBody>
      </p:sp>
      <p:sp>
        <p:nvSpPr>
          <p:cNvPr id="357" name="Google Shape;357;p17"/>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358" name="Google Shape;358;p17"/>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18"/>
          <p:cNvSpPr txBox="1"/>
          <p:nvPr>
            <p:ph type="title"/>
          </p:nvPr>
        </p:nvSpPr>
        <p:spPr>
          <a:xfrm>
            <a:off x="457200" y="274638"/>
            <a:ext cx="8229600" cy="9445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t>Cây tối đại ngắn nhất</a:t>
            </a:r>
            <a:endParaRPr b="1" sz="4000"/>
          </a:p>
        </p:txBody>
      </p:sp>
      <p:sp>
        <p:nvSpPr>
          <p:cNvPr id="364" name="Google Shape;364;p18"/>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Ứng dụng</a:t>
            </a:r>
            <a:endParaRPr/>
          </a:p>
        </p:txBody>
      </p:sp>
      <p:sp>
        <p:nvSpPr>
          <p:cNvPr id="365" name="Google Shape;365;p18"/>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200"/>
              <a:buFont typeface="Noto Sans Symbols"/>
              <a:buChar char="✔"/>
            </a:pPr>
            <a:r>
              <a:rPr b="1" lang="en-US" sz="2200">
                <a:solidFill>
                  <a:srgbClr val="002060"/>
                </a:solidFill>
              </a:rPr>
              <a:t>Bài toán xây dựng hệ thống đường sắt</a:t>
            </a:r>
            <a:endParaRPr b="1" sz="2200">
              <a:solidFill>
                <a:srgbClr val="002060"/>
              </a:solidFill>
            </a:endParaRPr>
          </a:p>
          <a:p>
            <a:pPr indent="-342900" lvl="0" marL="342900" rtl="0" algn="just">
              <a:spcBef>
                <a:spcPts val="440"/>
              </a:spcBef>
              <a:spcAft>
                <a:spcPts val="0"/>
              </a:spcAft>
              <a:buClr>
                <a:srgbClr val="002060"/>
              </a:buClr>
              <a:buSzPts val="2200"/>
              <a:buNone/>
            </a:pPr>
            <a:r>
              <a:rPr b="1" lang="en-US" sz="2200">
                <a:solidFill>
                  <a:srgbClr val="002060"/>
                </a:solidFill>
              </a:rPr>
              <a:t>    </a:t>
            </a:r>
            <a:r>
              <a:rPr lang="en-US" sz="2200">
                <a:solidFill>
                  <a:srgbClr val="002060"/>
                </a:solidFill>
              </a:rPr>
              <a:t>Cần xây dựng hệ thống đường sắt nối n thành phố sao cho khách hàng có thể đi bất cứ một thành phố nào đến bất kỳ một trong số các thành phố còn lại. Mặt khác, đòi hỏi chi phí để xây dựng hệ thống đường sắt là nhỏ nhất.</a:t>
            </a:r>
            <a:endParaRPr/>
          </a:p>
          <a:p>
            <a:pPr indent="-190500" lvl="0" marL="342900" rtl="0" algn="l">
              <a:spcBef>
                <a:spcPts val="480"/>
              </a:spcBef>
              <a:spcAft>
                <a:spcPts val="0"/>
              </a:spcAft>
              <a:buClr>
                <a:schemeClr val="dk1"/>
              </a:buClr>
              <a:buSzPts val="2400"/>
              <a:buNone/>
            </a:pPr>
            <a:r>
              <a:t/>
            </a:r>
            <a:endParaRPr/>
          </a:p>
        </p:txBody>
      </p:sp>
      <p:sp>
        <p:nvSpPr>
          <p:cNvPr id="366" name="Google Shape;366;p18"/>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Ứng dụng</a:t>
            </a:r>
            <a:endParaRPr/>
          </a:p>
        </p:txBody>
      </p:sp>
      <p:sp>
        <p:nvSpPr>
          <p:cNvPr id="367" name="Google Shape;367;p18"/>
          <p:cNvSpPr txBox="1"/>
          <p:nvPr>
            <p:ph idx="4" type="body"/>
          </p:nvPr>
        </p:nvSpPr>
        <p:spPr>
          <a:xfrm>
            <a:off x="4645025" y="2174875"/>
            <a:ext cx="4041775"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2060"/>
              </a:buClr>
              <a:buSzPts val="2200"/>
              <a:buFont typeface="Noto Sans Symbols"/>
              <a:buChar char="✔"/>
            </a:pPr>
            <a:r>
              <a:rPr b="1" lang="en-US" sz="2200">
                <a:solidFill>
                  <a:srgbClr val="002060"/>
                </a:solidFill>
              </a:rPr>
              <a:t>Bài toán nối mạng máy tính</a:t>
            </a:r>
            <a:endParaRPr b="1" sz="2200">
              <a:solidFill>
                <a:srgbClr val="002060"/>
              </a:solidFill>
            </a:endParaRPr>
          </a:p>
          <a:p>
            <a:pPr indent="-342900" lvl="0" marL="342900" rtl="0" algn="just">
              <a:spcBef>
                <a:spcPts val="440"/>
              </a:spcBef>
              <a:spcAft>
                <a:spcPts val="0"/>
              </a:spcAft>
              <a:buClr>
                <a:srgbClr val="002060"/>
              </a:buClr>
              <a:buSzPts val="2200"/>
              <a:buNone/>
            </a:pPr>
            <a:r>
              <a:rPr b="1" lang="en-US" sz="2200">
                <a:solidFill>
                  <a:srgbClr val="002060"/>
                </a:solidFill>
              </a:rPr>
              <a:t>    </a:t>
            </a:r>
            <a:r>
              <a:rPr lang="en-US" sz="2200">
                <a:solidFill>
                  <a:srgbClr val="002060"/>
                </a:solidFill>
              </a:rPr>
              <a:t>Cần nối mạng một hệ thống gồm n máy vi tính. Biết chi phí nối máy i với máy j là c[i,j] (chi phí phụ thuộc vào độ dài cáp). Hãy tìm cách nối mạng sao cho tổng chi phí nối mạng là bé nhất.</a:t>
            </a:r>
            <a:endParaRPr/>
          </a:p>
          <a:p>
            <a:pPr indent="-215900" lvl="0" marL="342900" rtl="0" algn="l">
              <a:spcBef>
                <a:spcPts val="400"/>
              </a:spcBef>
              <a:spcAft>
                <a:spcPts val="0"/>
              </a:spcAft>
              <a:buClr>
                <a:schemeClr val="dk1"/>
              </a:buClr>
              <a:buSzPts val="2000"/>
              <a:buFont typeface="Noto Sans Symbols"/>
              <a:buNone/>
            </a:pPr>
            <a:r>
              <a:t/>
            </a:r>
            <a:endParaRPr sz="2000">
              <a:solidFill>
                <a:srgbClr val="FF0000"/>
              </a:solidFill>
            </a:endParaRPr>
          </a:p>
        </p:txBody>
      </p:sp>
      <p:sp>
        <p:nvSpPr>
          <p:cNvPr id="368" name="Google Shape;368;p18"/>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369" name="Google Shape;369;p18"/>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19"/>
          <p:cNvSpPr txBox="1"/>
          <p:nvPr>
            <p:ph type="title"/>
          </p:nvPr>
        </p:nvSpPr>
        <p:spPr>
          <a:xfrm>
            <a:off x="457200" y="274638"/>
            <a:ext cx="8229600" cy="9445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t>Cây tối đại ngắn nhất</a:t>
            </a:r>
            <a:endParaRPr b="1" sz="4000"/>
          </a:p>
        </p:txBody>
      </p:sp>
      <p:sp>
        <p:nvSpPr>
          <p:cNvPr id="375" name="Google Shape;375;p19"/>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Chú ý</a:t>
            </a:r>
            <a:endParaRPr/>
          </a:p>
        </p:txBody>
      </p:sp>
      <p:sp>
        <p:nvSpPr>
          <p:cNvPr id="376" name="Google Shape;376;p19"/>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Char char="•"/>
            </a:pPr>
            <a:r>
              <a:rPr lang="en-US"/>
              <a:t>Trong các thuật toán tìm cây tối đại ngắn nhất chúng ta có thể bỏ đi</a:t>
            </a:r>
            <a:endParaRPr/>
          </a:p>
          <a:p>
            <a:pPr indent="-285750" lvl="1" marL="742950" rtl="0" algn="l">
              <a:spcBef>
                <a:spcPts val="400"/>
              </a:spcBef>
              <a:spcAft>
                <a:spcPts val="0"/>
              </a:spcAft>
              <a:buClr>
                <a:schemeClr val="dk1"/>
              </a:buClr>
              <a:buSzPts val="2000"/>
              <a:buFont typeface="Noto Sans Symbols"/>
              <a:buChar char="✔"/>
            </a:pPr>
            <a:r>
              <a:rPr lang="en-US"/>
              <a:t>các khuyên; </a:t>
            </a:r>
            <a:endParaRPr/>
          </a:p>
          <a:p>
            <a:pPr indent="-285750" lvl="1" marL="742950" rtl="0" algn="l">
              <a:spcBef>
                <a:spcPts val="400"/>
              </a:spcBef>
              <a:spcAft>
                <a:spcPts val="0"/>
              </a:spcAft>
              <a:buClr>
                <a:schemeClr val="dk1"/>
              </a:buClr>
              <a:buSzPts val="2000"/>
              <a:buFont typeface="Noto Sans Symbols"/>
              <a:buChar char="✔"/>
            </a:pPr>
            <a:r>
              <a:rPr lang="en-US"/>
              <a:t>hướng các cạnh;</a:t>
            </a:r>
            <a:endParaRPr/>
          </a:p>
          <a:p>
            <a:pPr indent="-285750" lvl="1" marL="742950" rtl="0" algn="l">
              <a:spcBef>
                <a:spcPts val="400"/>
              </a:spcBef>
              <a:spcAft>
                <a:spcPts val="0"/>
              </a:spcAft>
              <a:buClr>
                <a:schemeClr val="dk1"/>
              </a:buClr>
              <a:buSzPts val="2000"/>
              <a:buFont typeface="Noto Sans Symbols"/>
              <a:buChar char="✔"/>
            </a:pPr>
            <a:r>
              <a:rPr lang="en-US"/>
              <a:t>đối với các cạnh song song thì có thể bỏ đi và chỉ để lại một cạnh trọng lượng nhỏ nhất trong chúng. </a:t>
            </a:r>
            <a:endParaRPr/>
          </a:p>
        </p:txBody>
      </p:sp>
      <p:sp>
        <p:nvSpPr>
          <p:cNvPr id="377" name="Google Shape;377;p19"/>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Nhắc lại</a:t>
            </a:r>
            <a:endParaRPr/>
          </a:p>
        </p:txBody>
      </p:sp>
      <p:sp>
        <p:nvSpPr>
          <p:cNvPr id="378" name="Google Shape;378;p19"/>
          <p:cNvSpPr txBox="1"/>
          <p:nvPr>
            <p:ph idx="4" type="body"/>
          </p:nvPr>
        </p:nvSpPr>
        <p:spPr>
          <a:xfrm>
            <a:off x="4645025" y="2174875"/>
            <a:ext cx="4041775"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MA TRẬN TRỌNG SỐ:</a:t>
            </a:r>
            <a:endParaRPr/>
          </a:p>
          <a:p>
            <a:pPr indent="0" lvl="0" marL="0" rtl="0" algn="l">
              <a:spcBef>
                <a:spcPts val="480"/>
              </a:spcBef>
              <a:spcAft>
                <a:spcPts val="0"/>
              </a:spcAft>
              <a:buClr>
                <a:schemeClr val="dk1"/>
              </a:buClr>
              <a:buSzPts val="2400"/>
              <a:buNone/>
            </a:pPr>
            <a:r>
              <a:rPr lang="en-US"/>
              <a:t> </a:t>
            </a:r>
            <a:r>
              <a:rPr b="1" lang="en-US"/>
              <a:t> L</a:t>
            </a:r>
            <a:r>
              <a:rPr b="1" baseline="-25000" lang="en-US"/>
              <a:t>NxN</a:t>
            </a:r>
            <a:r>
              <a:rPr b="1" lang="en-US"/>
              <a:t> </a:t>
            </a:r>
            <a:r>
              <a:rPr lang="en-US"/>
              <a:t>:</a:t>
            </a:r>
            <a:endParaRPr/>
          </a:p>
          <a:p>
            <a:pPr indent="-285750" lvl="1" marL="742950" rtl="0" algn="l">
              <a:spcBef>
                <a:spcPts val="400"/>
              </a:spcBef>
              <a:spcAft>
                <a:spcPts val="0"/>
              </a:spcAft>
              <a:buClr>
                <a:schemeClr val="dk1"/>
              </a:buClr>
              <a:buSzPts val="2000"/>
              <a:buChar char="–"/>
            </a:pPr>
            <a:r>
              <a:rPr lang="en-US"/>
              <a:t>L</a:t>
            </a:r>
            <a:r>
              <a:rPr baseline="-25000" lang="en-US"/>
              <a:t>ij</a:t>
            </a:r>
            <a:r>
              <a:rPr lang="en-US"/>
              <a:t> = trọng lượng cạnh nhỏ nhất nối i đến j (nếu có)</a:t>
            </a:r>
            <a:endParaRPr/>
          </a:p>
          <a:p>
            <a:pPr indent="-285750" lvl="1" marL="742950" rtl="0" algn="l">
              <a:spcBef>
                <a:spcPts val="560"/>
              </a:spcBef>
              <a:spcAft>
                <a:spcPts val="0"/>
              </a:spcAft>
              <a:buClr>
                <a:schemeClr val="dk1"/>
              </a:buClr>
              <a:buSzPts val="2000"/>
              <a:buChar char="–"/>
            </a:pPr>
            <a:r>
              <a:rPr lang="en-US"/>
              <a:t>L</a:t>
            </a:r>
            <a:r>
              <a:rPr baseline="-25000" lang="en-US"/>
              <a:t>ij</a:t>
            </a:r>
            <a:r>
              <a:rPr lang="en-US"/>
              <a:t> = </a:t>
            </a:r>
            <a:r>
              <a:rPr lang="en-US" sz="2800"/>
              <a:t>∞</a:t>
            </a:r>
            <a:r>
              <a:rPr lang="en-US"/>
              <a:t> nếu không có cạnh nối i đến j</a:t>
            </a:r>
            <a:endParaRPr/>
          </a:p>
          <a:p>
            <a:pPr indent="-215900" lvl="0" marL="342900" rtl="0" algn="l">
              <a:spcBef>
                <a:spcPts val="400"/>
              </a:spcBef>
              <a:spcAft>
                <a:spcPts val="0"/>
              </a:spcAft>
              <a:buClr>
                <a:schemeClr val="dk1"/>
              </a:buClr>
              <a:buSzPts val="2000"/>
              <a:buFont typeface="Noto Sans Symbols"/>
              <a:buNone/>
            </a:pPr>
            <a:r>
              <a:t/>
            </a:r>
            <a:endParaRPr sz="2000">
              <a:solidFill>
                <a:srgbClr val="FF0000"/>
              </a:solidFill>
            </a:endParaRPr>
          </a:p>
        </p:txBody>
      </p:sp>
      <p:sp>
        <p:nvSpPr>
          <p:cNvPr id="379" name="Google Shape;379;p19"/>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380" name="Google Shape;380;p19"/>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0"/>
          <p:cNvSpPr txBox="1"/>
          <p:nvPr>
            <p:ph type="title"/>
          </p:nvPr>
        </p:nvSpPr>
        <p:spPr>
          <a:xfrm>
            <a:off x="457200" y="274638"/>
            <a:ext cx="8229600" cy="9445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t>Cây tối đại ngắn nhất</a:t>
            </a:r>
            <a:endParaRPr b="1" sz="4000"/>
          </a:p>
        </p:txBody>
      </p:sp>
      <p:sp>
        <p:nvSpPr>
          <p:cNvPr id="386" name="Google Shape;386;p20"/>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Ví dụ</a:t>
            </a:r>
            <a:endParaRPr/>
          </a:p>
        </p:txBody>
      </p:sp>
      <p:sp>
        <p:nvSpPr>
          <p:cNvPr id="387" name="Google Shape;387;p20"/>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190500" lvl="0" marL="342900" rtl="0" algn="l">
              <a:spcBef>
                <a:spcPts val="0"/>
              </a:spcBef>
              <a:spcAft>
                <a:spcPts val="0"/>
              </a:spcAft>
              <a:buClr>
                <a:schemeClr val="dk1"/>
              </a:buClr>
              <a:buSzPts val="2400"/>
              <a:buNone/>
            </a:pPr>
            <a:r>
              <a:t/>
            </a:r>
            <a:endParaRPr/>
          </a:p>
        </p:txBody>
      </p:sp>
      <p:sp>
        <p:nvSpPr>
          <p:cNvPr id="388" name="Google Shape;388;p20"/>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Ma trận trọng số</a:t>
            </a:r>
            <a:endParaRPr/>
          </a:p>
        </p:txBody>
      </p:sp>
      <p:sp>
        <p:nvSpPr>
          <p:cNvPr id="389" name="Google Shape;389;p20"/>
          <p:cNvSpPr txBox="1"/>
          <p:nvPr>
            <p:ph idx="4" type="body"/>
          </p:nvPr>
        </p:nvSpPr>
        <p:spPr>
          <a:xfrm>
            <a:off x="4645025" y="2174875"/>
            <a:ext cx="4041775" cy="3951288"/>
          </a:xfrm>
          <a:prstGeom prst="rect">
            <a:avLst/>
          </a:prstGeom>
          <a:solidFill>
            <a:srgbClr val="E5E5E5"/>
          </a:solidFill>
          <a:ln>
            <a:noFill/>
          </a:ln>
        </p:spPr>
        <p:txBody>
          <a:bodyPr anchorCtr="0" anchor="t" bIns="45700" lIns="91425" spcFirstLastPara="1" rIns="91425" wrap="square" tIns="45700">
            <a:noAutofit/>
          </a:bodyPr>
          <a:lstStyle/>
          <a:p>
            <a:pPr indent="-215900" lvl="0" marL="342900" rtl="0" algn="l">
              <a:spcBef>
                <a:spcPts val="0"/>
              </a:spcBef>
              <a:spcAft>
                <a:spcPts val="0"/>
              </a:spcAft>
              <a:buClr>
                <a:schemeClr val="dk1"/>
              </a:buClr>
              <a:buSzPts val="2000"/>
              <a:buFont typeface="Noto Sans Symbols"/>
              <a:buNone/>
            </a:pPr>
            <a:r>
              <a:t/>
            </a:r>
            <a:endParaRPr sz="2000">
              <a:solidFill>
                <a:srgbClr val="FF0000"/>
              </a:solidFill>
            </a:endParaRPr>
          </a:p>
        </p:txBody>
      </p:sp>
      <p:sp>
        <p:nvSpPr>
          <p:cNvPr id="390" name="Google Shape;390;p20"/>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391" name="Google Shape;391;p20"/>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92" name="Google Shape;392;p20"/>
          <p:cNvSpPr/>
          <p:nvPr/>
        </p:nvSpPr>
        <p:spPr>
          <a:xfrm>
            <a:off x="925284" y="4923960"/>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C</a:t>
            </a:r>
            <a:endParaRPr b="0" sz="2400">
              <a:solidFill>
                <a:srgbClr val="0033CC"/>
              </a:solidFill>
              <a:latin typeface="Arial"/>
              <a:ea typeface="Arial"/>
              <a:cs typeface="Arial"/>
              <a:sym typeface="Arial"/>
            </a:endParaRPr>
          </a:p>
        </p:txBody>
      </p:sp>
      <p:sp>
        <p:nvSpPr>
          <p:cNvPr id="393" name="Google Shape;393;p20"/>
          <p:cNvSpPr/>
          <p:nvPr/>
        </p:nvSpPr>
        <p:spPr>
          <a:xfrm>
            <a:off x="544284" y="3323760"/>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A</a:t>
            </a:r>
            <a:endParaRPr b="0" sz="2400">
              <a:solidFill>
                <a:srgbClr val="0033CC"/>
              </a:solidFill>
              <a:latin typeface="Arial"/>
              <a:ea typeface="Arial"/>
              <a:cs typeface="Arial"/>
              <a:sym typeface="Arial"/>
            </a:endParaRPr>
          </a:p>
        </p:txBody>
      </p:sp>
      <p:sp>
        <p:nvSpPr>
          <p:cNvPr id="394" name="Google Shape;394;p20"/>
          <p:cNvSpPr/>
          <p:nvPr/>
        </p:nvSpPr>
        <p:spPr>
          <a:xfrm>
            <a:off x="2144484" y="3247560"/>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B</a:t>
            </a:r>
            <a:endParaRPr b="0" sz="2400">
              <a:solidFill>
                <a:srgbClr val="0033CC"/>
              </a:solidFill>
              <a:latin typeface="Arial"/>
              <a:ea typeface="Arial"/>
              <a:cs typeface="Arial"/>
              <a:sym typeface="Arial"/>
            </a:endParaRPr>
          </a:p>
        </p:txBody>
      </p:sp>
      <p:cxnSp>
        <p:nvCxnSpPr>
          <p:cNvPr id="395" name="Google Shape;395;p20"/>
          <p:cNvCxnSpPr>
            <a:stCxn id="393" idx="6"/>
            <a:endCxn id="394" idx="2"/>
          </p:cNvCxnSpPr>
          <p:nvPr/>
        </p:nvCxnSpPr>
        <p:spPr>
          <a:xfrm flipH="1" rot="10800000">
            <a:off x="1077684" y="3552360"/>
            <a:ext cx="1066800" cy="76200"/>
          </a:xfrm>
          <a:prstGeom prst="straightConnector1">
            <a:avLst/>
          </a:prstGeom>
          <a:noFill/>
          <a:ln cap="flat" cmpd="sng" w="38100">
            <a:solidFill>
              <a:srgbClr val="002060"/>
            </a:solidFill>
            <a:prstDash val="solid"/>
            <a:round/>
            <a:headEnd len="med" w="med" type="none"/>
            <a:tailEnd len="med" w="med" type="none"/>
          </a:ln>
        </p:spPr>
      </p:cxnSp>
      <p:cxnSp>
        <p:nvCxnSpPr>
          <p:cNvPr id="396" name="Google Shape;396;p20"/>
          <p:cNvCxnSpPr>
            <a:stCxn id="393" idx="4"/>
            <a:endCxn id="392" idx="0"/>
          </p:cNvCxnSpPr>
          <p:nvPr/>
        </p:nvCxnSpPr>
        <p:spPr>
          <a:xfrm>
            <a:off x="810984" y="3933360"/>
            <a:ext cx="381000" cy="990600"/>
          </a:xfrm>
          <a:prstGeom prst="straightConnector1">
            <a:avLst/>
          </a:prstGeom>
          <a:noFill/>
          <a:ln cap="flat" cmpd="sng" w="38100">
            <a:solidFill>
              <a:srgbClr val="002060"/>
            </a:solidFill>
            <a:prstDash val="solid"/>
            <a:round/>
            <a:headEnd len="med" w="med" type="none"/>
            <a:tailEnd len="med" w="med" type="none"/>
          </a:ln>
        </p:spPr>
      </p:cxnSp>
      <p:sp>
        <p:nvSpPr>
          <p:cNvPr id="397" name="Google Shape;397;p20"/>
          <p:cNvSpPr/>
          <p:nvPr/>
        </p:nvSpPr>
        <p:spPr>
          <a:xfrm>
            <a:off x="3820884" y="2866560"/>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D</a:t>
            </a:r>
            <a:endParaRPr b="0" sz="2400">
              <a:solidFill>
                <a:srgbClr val="0033CC"/>
              </a:solidFill>
              <a:latin typeface="Arial"/>
              <a:ea typeface="Arial"/>
              <a:cs typeface="Arial"/>
              <a:sym typeface="Arial"/>
            </a:endParaRPr>
          </a:p>
        </p:txBody>
      </p:sp>
      <p:sp>
        <p:nvSpPr>
          <p:cNvPr id="398" name="Google Shape;398;p20"/>
          <p:cNvSpPr/>
          <p:nvPr/>
        </p:nvSpPr>
        <p:spPr>
          <a:xfrm>
            <a:off x="3287484" y="4771560"/>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E</a:t>
            </a:r>
            <a:endParaRPr b="0" sz="2400">
              <a:solidFill>
                <a:srgbClr val="0033CC"/>
              </a:solidFill>
              <a:latin typeface="Arial"/>
              <a:ea typeface="Arial"/>
              <a:cs typeface="Arial"/>
              <a:sym typeface="Arial"/>
            </a:endParaRPr>
          </a:p>
        </p:txBody>
      </p:sp>
      <p:cxnSp>
        <p:nvCxnSpPr>
          <p:cNvPr id="399" name="Google Shape;399;p20"/>
          <p:cNvCxnSpPr>
            <a:stCxn id="394" idx="6"/>
            <a:endCxn id="397" idx="2"/>
          </p:cNvCxnSpPr>
          <p:nvPr/>
        </p:nvCxnSpPr>
        <p:spPr>
          <a:xfrm flipH="1" rot="10800000">
            <a:off x="2677884" y="3171360"/>
            <a:ext cx="1143000" cy="381000"/>
          </a:xfrm>
          <a:prstGeom prst="straightConnector1">
            <a:avLst/>
          </a:prstGeom>
          <a:noFill/>
          <a:ln cap="flat" cmpd="sng" w="38100">
            <a:solidFill>
              <a:srgbClr val="002060"/>
            </a:solidFill>
            <a:prstDash val="solid"/>
            <a:round/>
            <a:headEnd len="med" w="med" type="none"/>
            <a:tailEnd len="med" w="med" type="none"/>
          </a:ln>
        </p:spPr>
      </p:cxnSp>
      <p:cxnSp>
        <p:nvCxnSpPr>
          <p:cNvPr id="400" name="Google Shape;400;p20"/>
          <p:cNvCxnSpPr>
            <a:stCxn id="394" idx="5"/>
            <a:endCxn id="398" idx="1"/>
          </p:cNvCxnSpPr>
          <p:nvPr/>
        </p:nvCxnSpPr>
        <p:spPr>
          <a:xfrm>
            <a:off x="2599769" y="3767886"/>
            <a:ext cx="765900" cy="1092900"/>
          </a:xfrm>
          <a:prstGeom prst="straightConnector1">
            <a:avLst/>
          </a:prstGeom>
          <a:noFill/>
          <a:ln cap="flat" cmpd="sng" w="38100">
            <a:solidFill>
              <a:srgbClr val="002060"/>
            </a:solidFill>
            <a:prstDash val="solid"/>
            <a:round/>
            <a:headEnd len="med" w="med" type="none"/>
            <a:tailEnd len="med" w="med" type="none"/>
          </a:ln>
        </p:spPr>
      </p:cxnSp>
      <p:cxnSp>
        <p:nvCxnSpPr>
          <p:cNvPr id="401" name="Google Shape;401;p20"/>
          <p:cNvCxnSpPr>
            <a:stCxn id="392" idx="6"/>
            <a:endCxn id="398" idx="2"/>
          </p:cNvCxnSpPr>
          <p:nvPr/>
        </p:nvCxnSpPr>
        <p:spPr>
          <a:xfrm flipH="1" rot="10800000">
            <a:off x="1458684" y="5076360"/>
            <a:ext cx="1828800" cy="152400"/>
          </a:xfrm>
          <a:prstGeom prst="straightConnector1">
            <a:avLst/>
          </a:prstGeom>
          <a:noFill/>
          <a:ln cap="flat" cmpd="sng" w="38100">
            <a:solidFill>
              <a:srgbClr val="002060"/>
            </a:solidFill>
            <a:prstDash val="solid"/>
            <a:round/>
            <a:headEnd len="med" w="med" type="none"/>
            <a:tailEnd len="med" w="med" type="none"/>
          </a:ln>
        </p:spPr>
      </p:cxnSp>
      <p:cxnSp>
        <p:nvCxnSpPr>
          <p:cNvPr id="402" name="Google Shape;402;p20"/>
          <p:cNvCxnSpPr>
            <a:stCxn id="398" idx="7"/>
            <a:endCxn id="397" idx="4"/>
          </p:cNvCxnSpPr>
          <p:nvPr/>
        </p:nvCxnSpPr>
        <p:spPr>
          <a:xfrm flipH="1" rot="10800000">
            <a:off x="3742769" y="3476034"/>
            <a:ext cx="344700" cy="1384800"/>
          </a:xfrm>
          <a:prstGeom prst="straightConnector1">
            <a:avLst/>
          </a:prstGeom>
          <a:noFill/>
          <a:ln cap="flat" cmpd="sng" w="38100">
            <a:solidFill>
              <a:srgbClr val="002060"/>
            </a:solidFill>
            <a:prstDash val="solid"/>
            <a:round/>
            <a:headEnd len="med" w="med" type="none"/>
            <a:tailEnd len="med" w="med" type="none"/>
          </a:ln>
        </p:spPr>
      </p:cxnSp>
      <p:cxnSp>
        <p:nvCxnSpPr>
          <p:cNvPr id="403" name="Google Shape;403;p20"/>
          <p:cNvCxnSpPr>
            <a:stCxn id="394" idx="3"/>
            <a:endCxn id="392" idx="7"/>
          </p:cNvCxnSpPr>
          <p:nvPr/>
        </p:nvCxnSpPr>
        <p:spPr>
          <a:xfrm flipH="1">
            <a:off x="1380499" y="3767886"/>
            <a:ext cx="842100" cy="1245300"/>
          </a:xfrm>
          <a:prstGeom prst="straightConnector1">
            <a:avLst/>
          </a:prstGeom>
          <a:noFill/>
          <a:ln cap="flat" cmpd="sng" w="38100">
            <a:solidFill>
              <a:srgbClr val="002060"/>
            </a:solidFill>
            <a:prstDash val="solid"/>
            <a:round/>
            <a:headEnd len="med" w="med" type="none"/>
            <a:tailEnd len="med" w="med" type="none"/>
          </a:ln>
        </p:spPr>
      </p:cxnSp>
      <p:cxnSp>
        <p:nvCxnSpPr>
          <p:cNvPr id="404" name="Google Shape;404;p20"/>
          <p:cNvCxnSpPr>
            <a:stCxn id="397" idx="1"/>
            <a:endCxn id="393" idx="0"/>
          </p:cNvCxnSpPr>
          <p:nvPr/>
        </p:nvCxnSpPr>
        <p:spPr>
          <a:xfrm rot="5400000">
            <a:off x="2171149" y="1595784"/>
            <a:ext cx="367800" cy="3087900"/>
          </a:xfrm>
          <a:prstGeom prst="curvedConnector3">
            <a:avLst>
              <a:gd fmla="val -86617" name="adj1"/>
            </a:avLst>
          </a:prstGeom>
          <a:noFill/>
          <a:ln cap="flat" cmpd="sng" w="38100">
            <a:solidFill>
              <a:srgbClr val="002060"/>
            </a:solidFill>
            <a:prstDash val="solid"/>
            <a:round/>
            <a:headEnd len="med" w="med" type="none"/>
            <a:tailEnd len="med" w="med" type="none"/>
          </a:ln>
        </p:spPr>
      </p:cxnSp>
      <p:sp>
        <p:nvSpPr>
          <p:cNvPr id="405" name="Google Shape;405;p20"/>
          <p:cNvSpPr txBox="1"/>
          <p:nvPr/>
        </p:nvSpPr>
        <p:spPr>
          <a:xfrm>
            <a:off x="1382484" y="3247560"/>
            <a:ext cx="45720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2060"/>
                </a:solidFill>
                <a:latin typeface="Times New Roman"/>
                <a:ea typeface="Times New Roman"/>
                <a:cs typeface="Times New Roman"/>
                <a:sym typeface="Times New Roman"/>
              </a:rPr>
              <a:t>12</a:t>
            </a:r>
            <a:endParaRPr sz="1800">
              <a:solidFill>
                <a:srgbClr val="002060"/>
              </a:solidFill>
              <a:latin typeface="Times New Roman"/>
              <a:ea typeface="Times New Roman"/>
              <a:cs typeface="Times New Roman"/>
              <a:sym typeface="Times New Roman"/>
            </a:endParaRPr>
          </a:p>
        </p:txBody>
      </p:sp>
      <p:sp>
        <p:nvSpPr>
          <p:cNvPr id="406" name="Google Shape;406;p20"/>
          <p:cNvSpPr txBox="1"/>
          <p:nvPr/>
        </p:nvSpPr>
        <p:spPr>
          <a:xfrm>
            <a:off x="925284" y="4009560"/>
            <a:ext cx="457200" cy="3698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2060"/>
                </a:solidFill>
                <a:latin typeface="Times New Roman"/>
                <a:ea typeface="Times New Roman"/>
                <a:cs typeface="Times New Roman"/>
                <a:sym typeface="Times New Roman"/>
              </a:rPr>
              <a:t>7</a:t>
            </a:r>
            <a:endParaRPr sz="1800">
              <a:solidFill>
                <a:srgbClr val="002060"/>
              </a:solidFill>
              <a:latin typeface="Times New Roman"/>
              <a:ea typeface="Times New Roman"/>
              <a:cs typeface="Times New Roman"/>
              <a:sym typeface="Times New Roman"/>
            </a:endParaRPr>
          </a:p>
        </p:txBody>
      </p:sp>
      <p:sp>
        <p:nvSpPr>
          <p:cNvPr id="407" name="Google Shape;407;p20"/>
          <p:cNvSpPr txBox="1"/>
          <p:nvPr/>
        </p:nvSpPr>
        <p:spPr>
          <a:xfrm>
            <a:off x="1763484" y="4314360"/>
            <a:ext cx="457200" cy="3698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2060"/>
                </a:solidFill>
                <a:latin typeface="Times New Roman"/>
                <a:ea typeface="Times New Roman"/>
                <a:cs typeface="Times New Roman"/>
                <a:sym typeface="Times New Roman"/>
              </a:rPr>
              <a:t>15</a:t>
            </a:r>
            <a:endParaRPr sz="1800">
              <a:solidFill>
                <a:srgbClr val="002060"/>
              </a:solidFill>
              <a:latin typeface="Times New Roman"/>
              <a:ea typeface="Times New Roman"/>
              <a:cs typeface="Times New Roman"/>
              <a:sym typeface="Times New Roman"/>
            </a:endParaRPr>
          </a:p>
        </p:txBody>
      </p:sp>
      <p:sp>
        <p:nvSpPr>
          <p:cNvPr id="408" name="Google Shape;408;p20"/>
          <p:cNvSpPr txBox="1"/>
          <p:nvPr/>
        </p:nvSpPr>
        <p:spPr>
          <a:xfrm>
            <a:off x="2830284" y="3857160"/>
            <a:ext cx="457200" cy="3698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2060"/>
                </a:solidFill>
                <a:latin typeface="Times New Roman"/>
                <a:ea typeface="Times New Roman"/>
                <a:cs typeface="Times New Roman"/>
                <a:sym typeface="Times New Roman"/>
              </a:rPr>
              <a:t>6</a:t>
            </a:r>
            <a:endParaRPr sz="1800">
              <a:solidFill>
                <a:srgbClr val="002060"/>
              </a:solidFill>
              <a:latin typeface="Times New Roman"/>
              <a:ea typeface="Times New Roman"/>
              <a:cs typeface="Times New Roman"/>
              <a:sym typeface="Times New Roman"/>
            </a:endParaRPr>
          </a:p>
        </p:txBody>
      </p:sp>
      <p:sp>
        <p:nvSpPr>
          <p:cNvPr id="409" name="Google Shape;409;p20"/>
          <p:cNvSpPr txBox="1"/>
          <p:nvPr/>
        </p:nvSpPr>
        <p:spPr>
          <a:xfrm>
            <a:off x="2220684" y="2333160"/>
            <a:ext cx="457200" cy="3698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2060"/>
                </a:solidFill>
                <a:latin typeface="Times New Roman"/>
                <a:ea typeface="Times New Roman"/>
                <a:cs typeface="Times New Roman"/>
                <a:sym typeface="Times New Roman"/>
              </a:rPr>
              <a:t>5</a:t>
            </a:r>
            <a:endParaRPr sz="1800">
              <a:solidFill>
                <a:srgbClr val="002060"/>
              </a:solidFill>
              <a:latin typeface="Times New Roman"/>
              <a:ea typeface="Times New Roman"/>
              <a:cs typeface="Times New Roman"/>
              <a:sym typeface="Times New Roman"/>
            </a:endParaRPr>
          </a:p>
        </p:txBody>
      </p:sp>
      <p:sp>
        <p:nvSpPr>
          <p:cNvPr id="410" name="Google Shape;410;p20"/>
          <p:cNvSpPr txBox="1"/>
          <p:nvPr/>
        </p:nvSpPr>
        <p:spPr>
          <a:xfrm>
            <a:off x="3820884" y="4009560"/>
            <a:ext cx="457200" cy="3698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2060"/>
                </a:solidFill>
                <a:latin typeface="Times New Roman"/>
                <a:ea typeface="Times New Roman"/>
                <a:cs typeface="Times New Roman"/>
                <a:sym typeface="Times New Roman"/>
              </a:rPr>
              <a:t>5</a:t>
            </a:r>
            <a:endParaRPr sz="1800">
              <a:solidFill>
                <a:srgbClr val="002060"/>
              </a:solidFill>
              <a:latin typeface="Times New Roman"/>
              <a:ea typeface="Times New Roman"/>
              <a:cs typeface="Times New Roman"/>
              <a:sym typeface="Times New Roman"/>
            </a:endParaRPr>
          </a:p>
        </p:txBody>
      </p:sp>
      <p:sp>
        <p:nvSpPr>
          <p:cNvPr id="411" name="Google Shape;411;p20"/>
          <p:cNvSpPr txBox="1"/>
          <p:nvPr/>
        </p:nvSpPr>
        <p:spPr>
          <a:xfrm>
            <a:off x="1992084" y="5076360"/>
            <a:ext cx="457200" cy="3698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2060"/>
                </a:solidFill>
                <a:latin typeface="Times New Roman"/>
                <a:ea typeface="Times New Roman"/>
                <a:cs typeface="Times New Roman"/>
                <a:sym typeface="Times New Roman"/>
              </a:rPr>
              <a:t>10</a:t>
            </a:r>
            <a:endParaRPr sz="1800">
              <a:solidFill>
                <a:srgbClr val="002060"/>
              </a:solidFill>
              <a:latin typeface="Times New Roman"/>
              <a:ea typeface="Times New Roman"/>
              <a:cs typeface="Times New Roman"/>
              <a:sym typeface="Times New Roman"/>
            </a:endParaRPr>
          </a:p>
        </p:txBody>
      </p:sp>
      <p:sp>
        <p:nvSpPr>
          <p:cNvPr id="412" name="Google Shape;412;p20"/>
          <p:cNvSpPr txBox="1"/>
          <p:nvPr/>
        </p:nvSpPr>
        <p:spPr>
          <a:xfrm>
            <a:off x="2906484" y="3018960"/>
            <a:ext cx="45720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2060"/>
                </a:solidFill>
                <a:latin typeface="Times New Roman"/>
                <a:ea typeface="Times New Roman"/>
                <a:cs typeface="Times New Roman"/>
                <a:sym typeface="Times New Roman"/>
              </a:rPr>
              <a:t>16</a:t>
            </a:r>
            <a:endParaRPr sz="1800">
              <a:solidFill>
                <a:srgbClr val="002060"/>
              </a:solidFill>
              <a:latin typeface="Times New Roman"/>
              <a:ea typeface="Times New Roman"/>
              <a:cs typeface="Times New Roman"/>
              <a:sym typeface="Times New Roman"/>
            </a:endParaRPr>
          </a:p>
        </p:txBody>
      </p:sp>
      <p:pic>
        <p:nvPicPr>
          <p:cNvPr id="413" name="Google Shape;413;p20"/>
          <p:cNvPicPr preferRelativeResize="0"/>
          <p:nvPr/>
        </p:nvPicPr>
        <p:blipFill rotWithShape="1">
          <a:blip r:embed="rId3">
            <a:alphaModFix/>
          </a:blip>
          <a:srcRect b="0" l="0" r="0" t="0"/>
          <a:stretch/>
        </p:blipFill>
        <p:spPr>
          <a:xfrm>
            <a:off x="4876799" y="2518104"/>
            <a:ext cx="3733801" cy="312069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1"/>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t>Xác định cây tối đại ngắn nhất</a:t>
            </a:r>
            <a:endParaRPr b="1" sz="4000"/>
          </a:p>
        </p:txBody>
      </p:sp>
      <p:sp>
        <p:nvSpPr>
          <p:cNvPr id="419" name="Google Shape;419;p21"/>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Tiếp </a:t>
            </a:r>
            <a:r>
              <a:rPr lang="en-US"/>
              <a:t>cận</a:t>
            </a:r>
            <a:r>
              <a:rPr lang="en-US"/>
              <a:t> truyền thống</a:t>
            </a:r>
            <a:endParaRPr/>
          </a:p>
        </p:txBody>
      </p:sp>
      <p:sp>
        <p:nvSpPr>
          <p:cNvPr id="420" name="Google Shape;420;p21"/>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Liệt kê tất cả các cây khung của G</a:t>
            </a:r>
            <a:endParaRPr/>
          </a:p>
          <a:p>
            <a:pPr indent="-342900" lvl="0" marL="342900" rtl="0" algn="l">
              <a:spcBef>
                <a:spcPts val="480"/>
              </a:spcBef>
              <a:spcAft>
                <a:spcPts val="0"/>
              </a:spcAft>
              <a:buClr>
                <a:schemeClr val="dk1"/>
              </a:buClr>
              <a:buSzPts val="2400"/>
              <a:buFont typeface="Noto Sans Symbols"/>
              <a:buChar char="✔"/>
            </a:pPr>
            <a:r>
              <a:rPr lang="en-US"/>
              <a:t>TÍNH TRỌNG LƯỢNG của mỗi cây tối đại của G</a:t>
            </a:r>
            <a:endParaRPr/>
          </a:p>
          <a:p>
            <a:pPr indent="-342900" lvl="0" marL="342900" rtl="0" algn="l">
              <a:spcBef>
                <a:spcPts val="480"/>
              </a:spcBef>
              <a:spcAft>
                <a:spcPts val="0"/>
              </a:spcAft>
              <a:buClr>
                <a:schemeClr val="dk1"/>
              </a:buClr>
              <a:buSzPts val="2400"/>
              <a:buFont typeface="Noto Sans Symbols"/>
              <a:buChar char="✔"/>
            </a:pPr>
            <a:r>
              <a:rPr lang="en-US"/>
              <a:t>Chọn cây tối đại có trọng lượng bé nhất</a:t>
            </a:r>
            <a:endParaRPr/>
          </a:p>
          <a:p>
            <a:pPr indent="0" lvl="0" marL="0" rtl="0" algn="l">
              <a:spcBef>
                <a:spcPts val="48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p:txBody>
      </p:sp>
      <p:sp>
        <p:nvSpPr>
          <p:cNvPr id="421" name="Google Shape;421;p21"/>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Tiếp </a:t>
            </a:r>
            <a:r>
              <a:rPr lang="en-US"/>
              <a:t>cận</a:t>
            </a:r>
            <a:r>
              <a:rPr lang="en-US"/>
              <a:t> truyền thống</a:t>
            </a:r>
            <a:endParaRPr/>
          </a:p>
        </p:txBody>
      </p:sp>
      <p:sp>
        <p:nvSpPr>
          <p:cNvPr id="422" name="Google Shape;422;p21"/>
          <p:cNvSpPr txBox="1"/>
          <p:nvPr>
            <p:ph idx="4" type="body"/>
          </p:nvPr>
        </p:nvSpPr>
        <p:spPr>
          <a:xfrm>
            <a:off x="4645025" y="2174875"/>
            <a:ext cx="4041775"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000"/>
              <a:buFont typeface="Noto Sans Symbols"/>
              <a:buChar char="✔"/>
            </a:pPr>
            <a:r>
              <a:rPr b="1" lang="en-US" sz="2000"/>
              <a:t>Số cây khung của đồ thị đầy đủ K</a:t>
            </a:r>
            <a:r>
              <a:rPr b="1" baseline="-25000" lang="en-US" sz="2000">
                <a:solidFill>
                  <a:srgbClr val="002060"/>
                </a:solidFill>
              </a:rPr>
              <a:t>n</a:t>
            </a:r>
            <a:r>
              <a:rPr b="1" lang="en-US" sz="2000">
                <a:solidFill>
                  <a:srgbClr val="002060"/>
                </a:solidFill>
              </a:rPr>
              <a:t> là n</a:t>
            </a:r>
            <a:r>
              <a:rPr b="1" baseline="30000" lang="en-US" sz="2000">
                <a:solidFill>
                  <a:srgbClr val="002060"/>
                </a:solidFill>
              </a:rPr>
              <a:t>n-2</a:t>
            </a:r>
            <a:endParaRPr b="1" sz="2000"/>
          </a:p>
          <a:p>
            <a:pPr indent="-215900" lvl="0" marL="342900" rtl="0" algn="l">
              <a:spcBef>
                <a:spcPts val="400"/>
              </a:spcBef>
              <a:spcAft>
                <a:spcPts val="0"/>
              </a:spcAft>
              <a:buClr>
                <a:schemeClr val="dk1"/>
              </a:buClr>
              <a:buSzPts val="2000"/>
              <a:buFont typeface="Noto Sans Symbols"/>
              <a:buNone/>
            </a:pPr>
            <a:r>
              <a:t/>
            </a:r>
            <a:endParaRPr sz="2000">
              <a:solidFill>
                <a:srgbClr val="FF0000"/>
              </a:solidFill>
            </a:endParaRPr>
          </a:p>
        </p:txBody>
      </p:sp>
      <p:sp>
        <p:nvSpPr>
          <p:cNvPr id="423" name="Google Shape;423;p21"/>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424" name="Google Shape;424;p21"/>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25" name="Google Shape;425;p21"/>
          <p:cNvSpPr/>
          <p:nvPr/>
        </p:nvSpPr>
        <p:spPr>
          <a:xfrm>
            <a:off x="4713515" y="3200400"/>
            <a:ext cx="3806371" cy="1944914"/>
          </a:xfrm>
          <a:prstGeom prst="smileyFace">
            <a:avLst>
              <a:gd fmla="val 4653" name="adj"/>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rgbClr val="FF0000"/>
                </a:solidFill>
                <a:latin typeface="Times New Roman"/>
                <a:ea typeface="Times New Roman"/>
                <a:cs typeface="Times New Roman"/>
                <a:sym typeface="Times New Roman"/>
              </a:rPr>
              <a:t>thời gian cỡ </a:t>
            </a:r>
            <a:r>
              <a:rPr b="1" lang="en-US" sz="2800">
                <a:solidFill>
                  <a:srgbClr val="FF0000"/>
                </a:solidFill>
                <a:latin typeface="Times New Roman"/>
                <a:ea typeface="Times New Roman"/>
                <a:cs typeface="Times New Roman"/>
                <a:sym typeface="Times New Roman"/>
              </a:rPr>
              <a:t>n</a:t>
            </a:r>
            <a:r>
              <a:rPr b="1" baseline="30000" lang="en-US" sz="2800">
                <a:solidFill>
                  <a:srgbClr val="FF0000"/>
                </a:solidFill>
                <a:latin typeface="Times New Roman"/>
                <a:ea typeface="Times New Roman"/>
                <a:cs typeface="Times New Roman"/>
                <a:sym typeface="Times New Roman"/>
              </a:rPr>
              <a:t>n-2 </a:t>
            </a:r>
            <a:endParaRPr sz="2800">
              <a:solidFill>
                <a:srgbClr val="FF0000"/>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22"/>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t>Cây tối đại ngắn nhất</a:t>
            </a:r>
            <a:endParaRPr b="1" sz="4000"/>
          </a:p>
        </p:txBody>
      </p:sp>
      <p:sp>
        <p:nvSpPr>
          <p:cNvPr id="431" name="Google Shape;431;p22"/>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KRUSKAL</a:t>
            </a:r>
            <a:endParaRPr/>
          </a:p>
        </p:txBody>
      </p:sp>
      <p:sp>
        <p:nvSpPr>
          <p:cNvPr id="432" name="Google Shape;432;p22"/>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None/>
            </a:pPr>
            <a:r>
              <a:rPr b="1" lang="en-US" u="sng"/>
              <a:t>Input</a:t>
            </a:r>
            <a:r>
              <a:rPr lang="en-US"/>
              <a:t>:  G=(X, E) liên thông, X gồm N đỉnh</a:t>
            </a:r>
            <a:endParaRPr/>
          </a:p>
          <a:p>
            <a:pPr indent="-342900" lvl="0" marL="342900" rtl="0" algn="l">
              <a:spcBef>
                <a:spcPts val="480"/>
              </a:spcBef>
              <a:spcAft>
                <a:spcPts val="0"/>
              </a:spcAft>
              <a:buClr>
                <a:schemeClr val="dk1"/>
              </a:buClr>
              <a:buSzPts val="2400"/>
              <a:buFont typeface="Noto Sans Symbols"/>
              <a:buNone/>
            </a:pPr>
            <a:r>
              <a:rPr b="1" lang="en-US" u="sng"/>
              <a:t>Output</a:t>
            </a:r>
            <a:r>
              <a:rPr lang="en-US"/>
              <a:t>: cây tối đại ngắn nhất T=(V, U) của G</a:t>
            </a:r>
            <a:endParaRPr/>
          </a:p>
          <a:p>
            <a:pPr indent="-190500" lvl="0" marL="342900" rtl="0" algn="l">
              <a:spcBef>
                <a:spcPts val="480"/>
              </a:spcBef>
              <a:spcAft>
                <a:spcPts val="0"/>
              </a:spcAft>
              <a:buClr>
                <a:schemeClr val="dk1"/>
              </a:buClr>
              <a:buSzPts val="2400"/>
              <a:buNone/>
            </a:pPr>
            <a:r>
              <a:t/>
            </a:r>
            <a:endParaRPr/>
          </a:p>
        </p:txBody>
      </p:sp>
      <p:sp>
        <p:nvSpPr>
          <p:cNvPr id="433" name="Google Shape;433;p22"/>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KRUSKAL</a:t>
            </a:r>
            <a:endParaRPr/>
          </a:p>
        </p:txBody>
      </p:sp>
      <p:sp>
        <p:nvSpPr>
          <p:cNvPr id="434" name="Google Shape;434;p22"/>
          <p:cNvSpPr txBox="1"/>
          <p:nvPr>
            <p:ph idx="4" type="body"/>
          </p:nvPr>
        </p:nvSpPr>
        <p:spPr>
          <a:xfrm>
            <a:off x="4645025" y="2174875"/>
            <a:ext cx="4041775" cy="3951288"/>
          </a:xfrm>
          <a:prstGeom prst="rect">
            <a:avLst/>
          </a:prstGeom>
          <a:solidFill>
            <a:srgbClr val="002060"/>
          </a:solidFill>
          <a:ln>
            <a:noFill/>
          </a:ln>
        </p:spPr>
        <p:txBody>
          <a:bodyPr anchorCtr="0" anchor="t" bIns="45700" lIns="91425" spcFirstLastPara="1" rIns="91425" wrap="square" tIns="45700">
            <a:noAutofit/>
          </a:bodyPr>
          <a:lstStyle/>
          <a:p>
            <a:pPr indent="-514350" lvl="0" marL="514350" rtl="0" algn="l">
              <a:spcBef>
                <a:spcPts val="0"/>
              </a:spcBef>
              <a:spcAft>
                <a:spcPts val="0"/>
              </a:spcAft>
              <a:buClr>
                <a:schemeClr val="lt1"/>
              </a:buClr>
              <a:buSzPts val="2200"/>
              <a:buFont typeface="Times New Roman"/>
              <a:buAutoNum type="arabicPeriod"/>
            </a:pPr>
            <a:r>
              <a:rPr lang="en-US" sz="2200">
                <a:solidFill>
                  <a:schemeClr val="lt1"/>
                </a:solidFill>
              </a:rPr>
              <a:t>Sắp xếp các cạnh trong G tăng dần theo trọng lượng; khởi tạo T := ∅.</a:t>
            </a:r>
            <a:endParaRPr/>
          </a:p>
          <a:p>
            <a:pPr indent="-514350" lvl="0" marL="514350" rtl="0" algn="l">
              <a:spcBef>
                <a:spcPts val="440"/>
              </a:spcBef>
              <a:spcAft>
                <a:spcPts val="0"/>
              </a:spcAft>
              <a:buClr>
                <a:schemeClr val="lt1"/>
              </a:buClr>
              <a:buSzPts val="2200"/>
              <a:buFont typeface="Times New Roman"/>
              <a:buAutoNum type="arabicPeriod"/>
            </a:pPr>
            <a:r>
              <a:rPr lang="en-US" sz="2200">
                <a:solidFill>
                  <a:schemeClr val="lt1"/>
                </a:solidFill>
              </a:rPr>
              <a:t>Lần lượt lấy từng cạnh e thuộc danh sách đã sắp xếp. Nếu T+{e} không chứa chu trình thì kết nạp e vào T:  </a:t>
            </a:r>
            <a:endParaRPr sz="2200">
              <a:solidFill>
                <a:schemeClr val="lt1"/>
              </a:solidFill>
            </a:endParaRPr>
          </a:p>
          <a:p>
            <a:pPr indent="0" lvl="0" marL="0" rtl="0" algn="l">
              <a:spcBef>
                <a:spcPts val="440"/>
              </a:spcBef>
              <a:spcAft>
                <a:spcPts val="0"/>
              </a:spcAft>
              <a:buClr>
                <a:schemeClr val="lt1"/>
              </a:buClr>
              <a:buSzPts val="2200"/>
              <a:buNone/>
            </a:pPr>
            <a:r>
              <a:rPr lang="en-US" sz="2200">
                <a:solidFill>
                  <a:schemeClr val="lt1"/>
                </a:solidFill>
              </a:rPr>
              <a:t>                    T := T+{e}.</a:t>
            </a:r>
            <a:endParaRPr/>
          </a:p>
          <a:p>
            <a:pPr indent="-514350" lvl="0" marL="514350" rtl="0" algn="l">
              <a:spcBef>
                <a:spcPts val="440"/>
              </a:spcBef>
              <a:spcAft>
                <a:spcPts val="0"/>
              </a:spcAft>
              <a:buClr>
                <a:schemeClr val="lt1"/>
              </a:buClr>
              <a:buSzPts val="2200"/>
              <a:buFont typeface="Times New Roman"/>
              <a:buAutoNum type="arabicPeriod" startAt="3"/>
            </a:pPr>
            <a:r>
              <a:rPr lang="en-US" sz="2200">
                <a:solidFill>
                  <a:schemeClr val="lt1"/>
                </a:solidFill>
              </a:rPr>
              <a:t>Nếu T đủ N-1 cạnh thì dừng; ngược lại, lặp bước 2.</a:t>
            </a:r>
            <a:endParaRPr sz="2200">
              <a:solidFill>
                <a:schemeClr val="lt1"/>
              </a:solidFill>
            </a:endParaRPr>
          </a:p>
          <a:p>
            <a:pPr indent="-215900" lvl="0" marL="342900" rtl="0" algn="l">
              <a:spcBef>
                <a:spcPts val="400"/>
              </a:spcBef>
              <a:spcAft>
                <a:spcPts val="0"/>
              </a:spcAft>
              <a:buClr>
                <a:schemeClr val="dk1"/>
              </a:buClr>
              <a:buSzPts val="2000"/>
              <a:buFont typeface="Noto Sans Symbols"/>
              <a:buNone/>
            </a:pPr>
            <a:r>
              <a:t/>
            </a:r>
            <a:endParaRPr sz="2000">
              <a:solidFill>
                <a:srgbClr val="FF0000"/>
              </a:solidFill>
            </a:endParaRPr>
          </a:p>
        </p:txBody>
      </p:sp>
      <p:sp>
        <p:nvSpPr>
          <p:cNvPr id="435" name="Google Shape;435;p22"/>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436" name="Google Shape;436;p22"/>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3"/>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t>Cây tối đại ngắn nhất</a:t>
            </a:r>
            <a:endParaRPr b="1" sz="4000"/>
          </a:p>
        </p:txBody>
      </p:sp>
      <p:sp>
        <p:nvSpPr>
          <p:cNvPr id="442" name="Google Shape;442;p23"/>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KRUSKAL</a:t>
            </a:r>
            <a:endParaRPr/>
          </a:p>
        </p:txBody>
      </p:sp>
      <p:sp>
        <p:nvSpPr>
          <p:cNvPr id="443" name="Google Shape;443;p23"/>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None/>
            </a:pPr>
            <a:r>
              <a:rPr b="1" lang="en-US" u="sng"/>
              <a:t>Input</a:t>
            </a:r>
            <a:r>
              <a:rPr lang="en-US"/>
              <a:t>: G=(X, E) liên thông, X gồm N đỉnh</a:t>
            </a:r>
            <a:endParaRPr/>
          </a:p>
          <a:p>
            <a:pPr indent="-342900" lvl="0" marL="342900" rtl="0" algn="l">
              <a:spcBef>
                <a:spcPts val="480"/>
              </a:spcBef>
              <a:spcAft>
                <a:spcPts val="0"/>
              </a:spcAft>
              <a:buClr>
                <a:schemeClr val="dk1"/>
              </a:buClr>
              <a:buSzPts val="2400"/>
              <a:buFont typeface="Noto Sans Symbols"/>
              <a:buNone/>
            </a:pPr>
            <a:r>
              <a:rPr b="1" lang="en-US" u="sng"/>
              <a:t>Output</a:t>
            </a:r>
            <a:r>
              <a:rPr lang="en-US"/>
              <a:t>: cây tối đại ngắn nhất T=(V, U) của G</a:t>
            </a:r>
            <a:endParaRPr/>
          </a:p>
          <a:p>
            <a:pPr indent="-190500" lvl="0" marL="342900" rtl="0" algn="l">
              <a:spcBef>
                <a:spcPts val="480"/>
              </a:spcBef>
              <a:spcAft>
                <a:spcPts val="0"/>
              </a:spcAft>
              <a:buClr>
                <a:schemeClr val="dk1"/>
              </a:buClr>
              <a:buSzPts val="2400"/>
              <a:buNone/>
            </a:pPr>
            <a:r>
              <a:t/>
            </a:r>
            <a:endParaRPr/>
          </a:p>
        </p:txBody>
      </p:sp>
      <p:sp>
        <p:nvSpPr>
          <p:cNvPr id="444" name="Google Shape;444;p23"/>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Mã giả</a:t>
            </a:r>
            <a:endParaRPr/>
          </a:p>
        </p:txBody>
      </p:sp>
      <p:sp>
        <p:nvSpPr>
          <p:cNvPr id="445" name="Google Shape;445;p23"/>
          <p:cNvSpPr txBox="1"/>
          <p:nvPr>
            <p:ph idx="4" type="body"/>
          </p:nvPr>
        </p:nvSpPr>
        <p:spPr>
          <a:xfrm>
            <a:off x="4645025" y="2174875"/>
            <a:ext cx="4041775" cy="3951288"/>
          </a:xfrm>
          <a:prstGeom prst="rect">
            <a:avLst/>
          </a:prstGeom>
          <a:solidFill>
            <a:srgbClr val="002060"/>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lt2"/>
              </a:buClr>
              <a:buSzPts val="2000"/>
              <a:buNone/>
            </a:pPr>
            <a:r>
              <a:rPr lang="en-US" sz="2000">
                <a:solidFill>
                  <a:schemeClr val="lt2"/>
                </a:solidFill>
              </a:rPr>
              <a:t> KRUSKAL(...){</a:t>
            </a:r>
            <a:endParaRPr/>
          </a:p>
          <a:p>
            <a:pPr indent="-342900" lvl="0" marL="342900" rtl="0" algn="l">
              <a:spcBef>
                <a:spcPts val="400"/>
              </a:spcBef>
              <a:spcAft>
                <a:spcPts val="0"/>
              </a:spcAft>
              <a:buClr>
                <a:schemeClr val="lt2"/>
              </a:buClr>
              <a:buSzPts val="2000"/>
              <a:buNone/>
            </a:pPr>
            <a:r>
              <a:rPr lang="en-US" sz="2000">
                <a:solidFill>
                  <a:schemeClr val="lt2"/>
                </a:solidFill>
              </a:rPr>
              <a:t>       T = ʘ;</a:t>
            </a:r>
            <a:endParaRPr/>
          </a:p>
          <a:p>
            <a:pPr indent="-342900" lvl="0" marL="342900" rtl="0" algn="l">
              <a:spcBef>
                <a:spcPts val="400"/>
              </a:spcBef>
              <a:spcAft>
                <a:spcPts val="0"/>
              </a:spcAft>
              <a:buClr>
                <a:schemeClr val="lt2"/>
              </a:buClr>
              <a:buSzPts val="2000"/>
              <a:buNone/>
            </a:pPr>
            <a:r>
              <a:rPr lang="en-US" sz="2000">
                <a:solidFill>
                  <a:schemeClr val="lt2"/>
                </a:solidFill>
              </a:rPr>
              <a:t>        while(|T| &lt; n-1 &amp;&amp; E!= ʘ) {</a:t>
            </a:r>
            <a:endParaRPr/>
          </a:p>
          <a:p>
            <a:pPr indent="-342900" lvl="0" marL="342900" rtl="0" algn="l">
              <a:spcBef>
                <a:spcPts val="400"/>
              </a:spcBef>
              <a:spcAft>
                <a:spcPts val="0"/>
              </a:spcAft>
              <a:buClr>
                <a:schemeClr val="lt2"/>
              </a:buClr>
              <a:buSzPts val="2000"/>
              <a:buNone/>
            </a:pPr>
            <a:r>
              <a:rPr lang="en-US" sz="2000">
                <a:solidFill>
                  <a:schemeClr val="lt2"/>
                </a:solidFill>
              </a:rPr>
              <a:t>                   E = E \{e}</a:t>
            </a:r>
            <a:endParaRPr/>
          </a:p>
          <a:p>
            <a:pPr indent="-342900" lvl="0" marL="342900" rtl="0" algn="l">
              <a:spcBef>
                <a:spcPts val="400"/>
              </a:spcBef>
              <a:spcAft>
                <a:spcPts val="0"/>
              </a:spcAft>
              <a:buClr>
                <a:schemeClr val="lt2"/>
              </a:buClr>
              <a:buSzPts val="2000"/>
              <a:buNone/>
            </a:pPr>
            <a:r>
              <a:rPr lang="en-US" sz="2000">
                <a:solidFill>
                  <a:schemeClr val="lt2"/>
                </a:solidFill>
              </a:rPr>
              <a:t>                   </a:t>
            </a:r>
            <a:r>
              <a:rPr lang="en-US" sz="1600">
                <a:solidFill>
                  <a:schemeClr val="lt2"/>
                </a:solidFill>
              </a:rPr>
              <a:t>if(T hợp {e} không chu trình)</a:t>
            </a:r>
            <a:endParaRPr sz="2000">
              <a:solidFill>
                <a:schemeClr val="lt2"/>
              </a:solidFill>
            </a:endParaRPr>
          </a:p>
          <a:p>
            <a:pPr indent="-342900" lvl="0" marL="342900" rtl="0" algn="l">
              <a:spcBef>
                <a:spcPts val="400"/>
              </a:spcBef>
              <a:spcAft>
                <a:spcPts val="0"/>
              </a:spcAft>
              <a:buClr>
                <a:schemeClr val="lt2"/>
              </a:buClr>
              <a:buSzPts val="2000"/>
              <a:buNone/>
            </a:pPr>
            <a:r>
              <a:rPr lang="en-US" sz="2000">
                <a:solidFill>
                  <a:schemeClr val="lt2"/>
                </a:solidFill>
              </a:rPr>
              <a:t>                      T = T hợp {e};</a:t>
            </a:r>
            <a:endParaRPr/>
          </a:p>
          <a:p>
            <a:pPr indent="-342900" lvl="0" marL="342900" rtl="0" algn="l">
              <a:spcBef>
                <a:spcPts val="400"/>
              </a:spcBef>
              <a:spcAft>
                <a:spcPts val="0"/>
              </a:spcAft>
              <a:buClr>
                <a:schemeClr val="lt2"/>
              </a:buClr>
              <a:buSzPts val="2000"/>
              <a:buNone/>
            </a:pPr>
            <a:r>
              <a:rPr lang="en-US" sz="2000">
                <a:solidFill>
                  <a:schemeClr val="lt2"/>
                </a:solidFill>
              </a:rPr>
              <a:t>         }</a:t>
            </a:r>
            <a:endParaRPr/>
          </a:p>
          <a:p>
            <a:pPr indent="-342900" lvl="0" marL="342900" rtl="0" algn="l">
              <a:spcBef>
                <a:spcPts val="400"/>
              </a:spcBef>
              <a:spcAft>
                <a:spcPts val="0"/>
              </a:spcAft>
              <a:buClr>
                <a:schemeClr val="lt2"/>
              </a:buClr>
              <a:buSzPts val="2000"/>
              <a:buNone/>
            </a:pPr>
            <a:r>
              <a:rPr lang="en-US" sz="2000">
                <a:solidFill>
                  <a:schemeClr val="lt2"/>
                </a:solidFill>
              </a:rPr>
              <a:t>         if((|T| &lt; n-1 ) &lt;Đồ thị không liên thông&gt;</a:t>
            </a:r>
            <a:endParaRPr/>
          </a:p>
          <a:p>
            <a:pPr indent="-342900" lvl="0" marL="342900" rtl="0" algn="l">
              <a:spcBef>
                <a:spcPts val="400"/>
              </a:spcBef>
              <a:spcAft>
                <a:spcPts val="0"/>
              </a:spcAft>
              <a:buClr>
                <a:schemeClr val="lt2"/>
              </a:buClr>
              <a:buSzPts val="2000"/>
              <a:buNone/>
            </a:pPr>
            <a:r>
              <a:rPr lang="en-US" sz="2000">
                <a:solidFill>
                  <a:schemeClr val="lt2"/>
                </a:solidFill>
              </a:rPr>
              <a:t>}</a:t>
            </a:r>
            <a:endParaRPr/>
          </a:p>
          <a:p>
            <a:pPr indent="-215900" lvl="0" marL="342900" rtl="0" algn="l">
              <a:spcBef>
                <a:spcPts val="400"/>
              </a:spcBef>
              <a:spcAft>
                <a:spcPts val="0"/>
              </a:spcAft>
              <a:buClr>
                <a:schemeClr val="dk1"/>
              </a:buClr>
              <a:buSzPts val="2000"/>
              <a:buFont typeface="Noto Sans Symbols"/>
              <a:buNone/>
            </a:pPr>
            <a:r>
              <a:t/>
            </a:r>
            <a:endParaRPr sz="2000">
              <a:solidFill>
                <a:srgbClr val="FF0000"/>
              </a:solidFill>
            </a:endParaRPr>
          </a:p>
        </p:txBody>
      </p:sp>
      <p:sp>
        <p:nvSpPr>
          <p:cNvPr id="446" name="Google Shape;446;p23"/>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447" name="Google Shape;447;p23"/>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24"/>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t>Cây tối đại ngắn nhất</a:t>
            </a:r>
            <a:endParaRPr b="1" sz="3600"/>
          </a:p>
        </p:txBody>
      </p:sp>
      <p:sp>
        <p:nvSpPr>
          <p:cNvPr id="453" name="Google Shape;453;p24"/>
          <p:cNvSpPr txBox="1"/>
          <p:nvPr>
            <p:ph idx="1" type="body"/>
          </p:nvPr>
        </p:nvSpPr>
        <p:spPr>
          <a:xfrm>
            <a:off x="457200" y="1600200"/>
            <a:ext cx="4038600" cy="4525963"/>
          </a:xfrm>
          <a:prstGeom prst="rect">
            <a:avLst/>
          </a:prstGeom>
          <a:solidFill>
            <a:srgbClr val="EAEAEA"/>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454" name="Google Shape;454;p24"/>
          <p:cNvSpPr txBox="1"/>
          <p:nvPr>
            <p:ph idx="2" type="body"/>
          </p:nvPr>
        </p:nvSpPr>
        <p:spPr>
          <a:xfrm>
            <a:off x="4648200" y="1600200"/>
            <a:ext cx="4038600" cy="4525963"/>
          </a:xfrm>
          <a:prstGeom prst="rect">
            <a:avLst/>
          </a:prstGeom>
          <a:solidFill>
            <a:srgbClr val="EAEAEA"/>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455" name="Google Shape;455;p24"/>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cxnSp>
        <p:nvCxnSpPr>
          <p:cNvPr id="456" name="Google Shape;456;p24"/>
          <p:cNvCxnSpPr/>
          <p:nvPr/>
        </p:nvCxnSpPr>
        <p:spPr>
          <a:xfrm flipH="1" rot="10800000">
            <a:off x="847725" y="2601660"/>
            <a:ext cx="685800" cy="685800"/>
          </a:xfrm>
          <a:prstGeom prst="straightConnector1">
            <a:avLst/>
          </a:prstGeom>
          <a:noFill/>
          <a:ln cap="flat" cmpd="sng" w="28575">
            <a:solidFill>
              <a:srgbClr val="C00000"/>
            </a:solidFill>
            <a:prstDash val="solid"/>
            <a:round/>
            <a:headEnd len="med" w="med" type="oval"/>
            <a:tailEnd len="med" w="med" type="oval"/>
          </a:ln>
        </p:spPr>
      </p:cxnSp>
      <p:cxnSp>
        <p:nvCxnSpPr>
          <p:cNvPr id="457" name="Google Shape;457;p24"/>
          <p:cNvCxnSpPr/>
          <p:nvPr/>
        </p:nvCxnSpPr>
        <p:spPr>
          <a:xfrm rot="10800000">
            <a:off x="847725" y="3287460"/>
            <a:ext cx="685800" cy="685800"/>
          </a:xfrm>
          <a:prstGeom prst="straightConnector1">
            <a:avLst/>
          </a:prstGeom>
          <a:noFill/>
          <a:ln cap="flat" cmpd="sng" w="28575">
            <a:solidFill>
              <a:srgbClr val="C00000"/>
            </a:solidFill>
            <a:prstDash val="solid"/>
            <a:round/>
            <a:headEnd len="med" w="med" type="oval"/>
            <a:tailEnd len="med" w="med" type="oval"/>
          </a:ln>
        </p:spPr>
      </p:cxnSp>
      <p:cxnSp>
        <p:nvCxnSpPr>
          <p:cNvPr id="458" name="Google Shape;458;p24"/>
          <p:cNvCxnSpPr/>
          <p:nvPr/>
        </p:nvCxnSpPr>
        <p:spPr>
          <a:xfrm rot="10800000">
            <a:off x="1533525" y="2601660"/>
            <a:ext cx="0" cy="1371600"/>
          </a:xfrm>
          <a:prstGeom prst="straightConnector1">
            <a:avLst/>
          </a:prstGeom>
          <a:noFill/>
          <a:ln cap="flat" cmpd="sng" w="28575">
            <a:solidFill>
              <a:srgbClr val="C00000"/>
            </a:solidFill>
            <a:prstDash val="solid"/>
            <a:round/>
            <a:headEnd len="med" w="med" type="oval"/>
            <a:tailEnd len="med" w="med" type="oval"/>
          </a:ln>
        </p:spPr>
      </p:cxnSp>
      <p:cxnSp>
        <p:nvCxnSpPr>
          <p:cNvPr id="459" name="Google Shape;459;p24"/>
          <p:cNvCxnSpPr/>
          <p:nvPr/>
        </p:nvCxnSpPr>
        <p:spPr>
          <a:xfrm rot="10800000">
            <a:off x="2790825" y="2601660"/>
            <a:ext cx="685800" cy="685800"/>
          </a:xfrm>
          <a:prstGeom prst="straightConnector1">
            <a:avLst/>
          </a:prstGeom>
          <a:noFill/>
          <a:ln cap="flat" cmpd="sng" w="28575">
            <a:solidFill>
              <a:srgbClr val="C00000"/>
            </a:solidFill>
            <a:prstDash val="solid"/>
            <a:round/>
            <a:headEnd len="med" w="med" type="oval"/>
            <a:tailEnd len="med" w="med" type="oval"/>
          </a:ln>
        </p:spPr>
      </p:cxnSp>
      <p:cxnSp>
        <p:nvCxnSpPr>
          <p:cNvPr id="460" name="Google Shape;460;p24"/>
          <p:cNvCxnSpPr/>
          <p:nvPr/>
        </p:nvCxnSpPr>
        <p:spPr>
          <a:xfrm flipH="1" rot="10800000">
            <a:off x="2790825" y="3287460"/>
            <a:ext cx="685800" cy="685800"/>
          </a:xfrm>
          <a:prstGeom prst="straightConnector1">
            <a:avLst/>
          </a:prstGeom>
          <a:noFill/>
          <a:ln cap="flat" cmpd="sng" w="28575">
            <a:solidFill>
              <a:srgbClr val="C00000"/>
            </a:solidFill>
            <a:prstDash val="solid"/>
            <a:round/>
            <a:headEnd len="med" w="med" type="oval"/>
            <a:tailEnd len="med" w="med" type="oval"/>
          </a:ln>
        </p:spPr>
      </p:cxnSp>
      <p:cxnSp>
        <p:nvCxnSpPr>
          <p:cNvPr id="461" name="Google Shape;461;p24"/>
          <p:cNvCxnSpPr/>
          <p:nvPr/>
        </p:nvCxnSpPr>
        <p:spPr>
          <a:xfrm rot="10800000">
            <a:off x="2790825" y="2601660"/>
            <a:ext cx="0" cy="1371600"/>
          </a:xfrm>
          <a:prstGeom prst="straightConnector1">
            <a:avLst/>
          </a:prstGeom>
          <a:noFill/>
          <a:ln cap="flat" cmpd="sng" w="28575">
            <a:solidFill>
              <a:srgbClr val="C00000"/>
            </a:solidFill>
            <a:prstDash val="solid"/>
            <a:round/>
            <a:headEnd len="med" w="med" type="oval"/>
            <a:tailEnd len="med" w="med" type="oval"/>
          </a:ln>
        </p:spPr>
      </p:cxnSp>
      <p:cxnSp>
        <p:nvCxnSpPr>
          <p:cNvPr id="462" name="Google Shape;462;p24"/>
          <p:cNvCxnSpPr/>
          <p:nvPr/>
        </p:nvCxnSpPr>
        <p:spPr>
          <a:xfrm rot="10800000">
            <a:off x="1533525" y="2601660"/>
            <a:ext cx="1257300" cy="0"/>
          </a:xfrm>
          <a:prstGeom prst="straightConnector1">
            <a:avLst/>
          </a:prstGeom>
          <a:noFill/>
          <a:ln cap="flat" cmpd="sng" w="28575">
            <a:solidFill>
              <a:srgbClr val="C00000"/>
            </a:solidFill>
            <a:prstDash val="solid"/>
            <a:round/>
            <a:headEnd len="med" w="med" type="oval"/>
            <a:tailEnd len="med" w="med" type="oval"/>
          </a:ln>
        </p:spPr>
      </p:cxnSp>
      <p:cxnSp>
        <p:nvCxnSpPr>
          <p:cNvPr id="463" name="Google Shape;463;p24"/>
          <p:cNvCxnSpPr/>
          <p:nvPr/>
        </p:nvCxnSpPr>
        <p:spPr>
          <a:xfrm rot="10800000">
            <a:off x="1533525" y="3973260"/>
            <a:ext cx="1257300" cy="0"/>
          </a:xfrm>
          <a:prstGeom prst="straightConnector1">
            <a:avLst/>
          </a:prstGeom>
          <a:noFill/>
          <a:ln cap="flat" cmpd="sng" w="28575">
            <a:solidFill>
              <a:srgbClr val="C00000"/>
            </a:solidFill>
            <a:prstDash val="solid"/>
            <a:round/>
            <a:headEnd len="med" w="med" type="oval"/>
            <a:tailEnd len="med" w="med" type="oval"/>
          </a:ln>
        </p:spPr>
      </p:cxnSp>
      <p:cxnSp>
        <p:nvCxnSpPr>
          <p:cNvPr id="464" name="Google Shape;464;p24"/>
          <p:cNvCxnSpPr/>
          <p:nvPr/>
        </p:nvCxnSpPr>
        <p:spPr>
          <a:xfrm flipH="1">
            <a:off x="1533525" y="2601660"/>
            <a:ext cx="1257300" cy="1371600"/>
          </a:xfrm>
          <a:prstGeom prst="straightConnector1">
            <a:avLst/>
          </a:prstGeom>
          <a:noFill/>
          <a:ln cap="flat" cmpd="sng" w="28575">
            <a:solidFill>
              <a:srgbClr val="C00000"/>
            </a:solidFill>
            <a:prstDash val="solid"/>
            <a:round/>
            <a:headEnd len="med" w="med" type="oval"/>
            <a:tailEnd len="med" w="med" type="oval"/>
          </a:ln>
        </p:spPr>
      </p:cxnSp>
      <p:sp>
        <p:nvSpPr>
          <p:cNvPr id="465" name="Google Shape;465;p24"/>
          <p:cNvSpPr txBox="1"/>
          <p:nvPr/>
        </p:nvSpPr>
        <p:spPr>
          <a:xfrm>
            <a:off x="1990725" y="2534985"/>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20</a:t>
            </a:r>
            <a:endParaRPr b="1" sz="1800">
              <a:solidFill>
                <a:srgbClr val="FF0000"/>
              </a:solidFill>
              <a:latin typeface="Times New Roman"/>
              <a:ea typeface="Times New Roman"/>
              <a:cs typeface="Times New Roman"/>
              <a:sym typeface="Times New Roman"/>
            </a:endParaRPr>
          </a:p>
        </p:txBody>
      </p:sp>
      <p:sp>
        <p:nvSpPr>
          <p:cNvPr id="466" name="Google Shape;466;p24"/>
          <p:cNvSpPr txBox="1"/>
          <p:nvPr/>
        </p:nvSpPr>
        <p:spPr>
          <a:xfrm>
            <a:off x="2057400" y="389706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4</a:t>
            </a:r>
            <a:endParaRPr b="1" sz="1800">
              <a:solidFill>
                <a:srgbClr val="FF0000"/>
              </a:solidFill>
              <a:latin typeface="Times New Roman"/>
              <a:ea typeface="Times New Roman"/>
              <a:cs typeface="Times New Roman"/>
              <a:sym typeface="Times New Roman"/>
            </a:endParaRPr>
          </a:p>
        </p:txBody>
      </p:sp>
      <p:sp>
        <p:nvSpPr>
          <p:cNvPr id="467" name="Google Shape;467;p24"/>
          <p:cNvSpPr txBox="1"/>
          <p:nvPr/>
        </p:nvSpPr>
        <p:spPr>
          <a:xfrm>
            <a:off x="2743200" y="309696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9</a:t>
            </a:r>
            <a:endParaRPr b="1" sz="1800">
              <a:solidFill>
                <a:srgbClr val="FF0000"/>
              </a:solidFill>
              <a:latin typeface="Times New Roman"/>
              <a:ea typeface="Times New Roman"/>
              <a:cs typeface="Times New Roman"/>
              <a:sym typeface="Times New Roman"/>
            </a:endParaRPr>
          </a:p>
        </p:txBody>
      </p:sp>
      <p:sp>
        <p:nvSpPr>
          <p:cNvPr id="468" name="Google Shape;468;p24"/>
          <p:cNvSpPr txBox="1"/>
          <p:nvPr/>
        </p:nvSpPr>
        <p:spPr>
          <a:xfrm>
            <a:off x="3076575" y="273501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8</a:t>
            </a:r>
            <a:endParaRPr b="1" sz="1800">
              <a:solidFill>
                <a:srgbClr val="FF0000"/>
              </a:solidFill>
              <a:latin typeface="Times New Roman"/>
              <a:ea typeface="Times New Roman"/>
              <a:cs typeface="Times New Roman"/>
              <a:sym typeface="Times New Roman"/>
            </a:endParaRPr>
          </a:p>
        </p:txBody>
      </p:sp>
      <p:sp>
        <p:nvSpPr>
          <p:cNvPr id="469" name="Google Shape;469;p24"/>
          <p:cNvSpPr txBox="1"/>
          <p:nvPr/>
        </p:nvSpPr>
        <p:spPr>
          <a:xfrm>
            <a:off x="3057525" y="353511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14</a:t>
            </a:r>
            <a:endParaRPr b="1" sz="1800">
              <a:solidFill>
                <a:srgbClr val="FF0000"/>
              </a:solidFill>
              <a:latin typeface="Times New Roman"/>
              <a:ea typeface="Times New Roman"/>
              <a:cs typeface="Times New Roman"/>
              <a:sym typeface="Times New Roman"/>
            </a:endParaRPr>
          </a:p>
        </p:txBody>
      </p:sp>
      <p:sp>
        <p:nvSpPr>
          <p:cNvPr id="470" name="Google Shape;470;p24"/>
          <p:cNvSpPr txBox="1"/>
          <p:nvPr/>
        </p:nvSpPr>
        <p:spPr>
          <a:xfrm>
            <a:off x="1752600" y="305886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16</a:t>
            </a:r>
            <a:endParaRPr b="1" sz="1800">
              <a:solidFill>
                <a:srgbClr val="FF0000"/>
              </a:solidFill>
              <a:latin typeface="Times New Roman"/>
              <a:ea typeface="Times New Roman"/>
              <a:cs typeface="Times New Roman"/>
              <a:sym typeface="Times New Roman"/>
            </a:endParaRPr>
          </a:p>
        </p:txBody>
      </p:sp>
      <p:sp>
        <p:nvSpPr>
          <p:cNvPr id="471" name="Google Shape;471;p24"/>
          <p:cNvSpPr txBox="1"/>
          <p:nvPr/>
        </p:nvSpPr>
        <p:spPr>
          <a:xfrm>
            <a:off x="1143000" y="305886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18</a:t>
            </a:r>
            <a:endParaRPr b="1" sz="1800">
              <a:solidFill>
                <a:srgbClr val="FF0000"/>
              </a:solidFill>
              <a:latin typeface="Times New Roman"/>
              <a:ea typeface="Times New Roman"/>
              <a:cs typeface="Times New Roman"/>
              <a:sym typeface="Times New Roman"/>
            </a:endParaRPr>
          </a:p>
        </p:txBody>
      </p:sp>
      <p:sp>
        <p:nvSpPr>
          <p:cNvPr id="472" name="Google Shape;472;p24"/>
          <p:cNvSpPr txBox="1"/>
          <p:nvPr/>
        </p:nvSpPr>
        <p:spPr>
          <a:xfrm>
            <a:off x="838200" y="260166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33</a:t>
            </a:r>
            <a:endParaRPr b="1" sz="1800">
              <a:solidFill>
                <a:srgbClr val="FF0000"/>
              </a:solidFill>
              <a:latin typeface="Times New Roman"/>
              <a:ea typeface="Times New Roman"/>
              <a:cs typeface="Times New Roman"/>
              <a:sym typeface="Times New Roman"/>
            </a:endParaRPr>
          </a:p>
        </p:txBody>
      </p:sp>
      <p:sp>
        <p:nvSpPr>
          <p:cNvPr id="473" name="Google Shape;473;p24"/>
          <p:cNvSpPr txBox="1"/>
          <p:nvPr/>
        </p:nvSpPr>
        <p:spPr>
          <a:xfrm>
            <a:off x="838200" y="359226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17</a:t>
            </a:r>
            <a:endParaRPr b="1" sz="1800">
              <a:solidFill>
                <a:srgbClr val="FF0000"/>
              </a:solidFill>
              <a:latin typeface="Times New Roman"/>
              <a:ea typeface="Times New Roman"/>
              <a:cs typeface="Times New Roman"/>
              <a:sym typeface="Times New Roman"/>
            </a:endParaRPr>
          </a:p>
        </p:txBody>
      </p:sp>
      <p:sp>
        <p:nvSpPr>
          <p:cNvPr id="474" name="Google Shape;474;p24"/>
          <p:cNvSpPr/>
          <p:nvPr/>
        </p:nvSpPr>
        <p:spPr>
          <a:xfrm>
            <a:off x="685800" y="313506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1</a:t>
            </a:r>
            <a:endParaRPr/>
          </a:p>
        </p:txBody>
      </p:sp>
      <p:sp>
        <p:nvSpPr>
          <p:cNvPr id="475" name="Google Shape;475;p24"/>
          <p:cNvSpPr/>
          <p:nvPr/>
        </p:nvSpPr>
        <p:spPr>
          <a:xfrm>
            <a:off x="1371600" y="244926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2</a:t>
            </a:r>
            <a:endParaRPr/>
          </a:p>
        </p:txBody>
      </p:sp>
      <p:sp>
        <p:nvSpPr>
          <p:cNvPr id="476" name="Google Shape;476;p24"/>
          <p:cNvSpPr/>
          <p:nvPr/>
        </p:nvSpPr>
        <p:spPr>
          <a:xfrm>
            <a:off x="1447800" y="389706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3</a:t>
            </a:r>
            <a:endParaRPr/>
          </a:p>
        </p:txBody>
      </p:sp>
      <p:sp>
        <p:nvSpPr>
          <p:cNvPr id="477" name="Google Shape;477;p24"/>
          <p:cNvSpPr/>
          <p:nvPr/>
        </p:nvSpPr>
        <p:spPr>
          <a:xfrm>
            <a:off x="2667000" y="244926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4</a:t>
            </a:r>
            <a:endParaRPr/>
          </a:p>
        </p:txBody>
      </p:sp>
      <p:sp>
        <p:nvSpPr>
          <p:cNvPr id="478" name="Google Shape;478;p24"/>
          <p:cNvSpPr/>
          <p:nvPr/>
        </p:nvSpPr>
        <p:spPr>
          <a:xfrm>
            <a:off x="2667000" y="3820860"/>
            <a:ext cx="304800" cy="304800"/>
          </a:xfrm>
          <a:prstGeom prst="ellipse">
            <a:avLst/>
          </a:prstGeom>
          <a:solidFill>
            <a:srgbClr val="FF0000"/>
          </a:solidFill>
          <a:ln cap="flat" cmpd="sng" w="28575">
            <a:solidFill>
              <a:srgbClr val="C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5</a:t>
            </a:r>
            <a:endParaRPr/>
          </a:p>
        </p:txBody>
      </p:sp>
      <p:sp>
        <p:nvSpPr>
          <p:cNvPr id="479" name="Google Shape;479;p24"/>
          <p:cNvSpPr/>
          <p:nvPr/>
        </p:nvSpPr>
        <p:spPr>
          <a:xfrm>
            <a:off x="3352800" y="313506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6</a:t>
            </a:r>
            <a:endParaRPr/>
          </a:p>
        </p:txBody>
      </p:sp>
      <p:graphicFrame>
        <p:nvGraphicFramePr>
          <p:cNvPr id="480" name="Google Shape;480;p24"/>
          <p:cNvGraphicFramePr/>
          <p:nvPr/>
        </p:nvGraphicFramePr>
        <p:xfrm>
          <a:off x="4913022" y="2074836"/>
          <a:ext cx="3000000" cy="3000000"/>
        </p:xfrm>
        <a:graphic>
          <a:graphicData uri="http://schemas.openxmlformats.org/drawingml/2006/table">
            <a:tbl>
              <a:tblPr bandRow="1" firstRow="1">
                <a:noFill/>
                <a:tableStyleId>{F7C9CF6C-B248-4C78-ACE5-C0BCF73AE455}</a:tableStyleId>
              </a:tblPr>
              <a:tblGrid>
                <a:gridCol w="1093025"/>
                <a:gridCol w="1257300"/>
              </a:tblGrid>
              <a:tr h="334100">
                <a:tc>
                  <a:txBody>
                    <a:bodyPr/>
                    <a:lstStyle/>
                    <a:p>
                      <a:pPr indent="0" lvl="0" marL="0" marR="0" rtl="0" algn="ctr">
                        <a:spcBef>
                          <a:spcPts val="0"/>
                        </a:spcBef>
                        <a:spcAft>
                          <a:spcPts val="0"/>
                        </a:spcAft>
                        <a:buNone/>
                      </a:pPr>
                      <a:r>
                        <a:rPr lang="en-US" sz="1800" u="none" cap="none" strike="noStrike">
                          <a:solidFill>
                            <a:srgbClr val="002060"/>
                          </a:solidFill>
                        </a:rPr>
                        <a:t>Trọng số</a:t>
                      </a:r>
                      <a:endParaRPr sz="1800" u="none" cap="none" strike="noStrike">
                        <a:solidFill>
                          <a:srgbClr val="00206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u="none" cap="none" strike="noStrike">
                          <a:solidFill>
                            <a:srgbClr val="002060"/>
                          </a:solidFill>
                        </a:rPr>
                        <a:t>Cạnh</a:t>
                      </a:r>
                      <a:endParaRPr sz="1800" u="none" cap="none" strike="noStrike">
                        <a:solidFill>
                          <a:srgbClr val="00206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20175">
                <a:tc>
                  <a:txBody>
                    <a:bodyPr/>
                    <a:lstStyle/>
                    <a:p>
                      <a:pPr indent="0" lvl="0" marL="0" marR="0" rtl="0" algn="ctr">
                        <a:spcBef>
                          <a:spcPts val="0"/>
                        </a:spcBef>
                        <a:spcAft>
                          <a:spcPts val="0"/>
                        </a:spcAft>
                        <a:buNone/>
                      </a:pPr>
                      <a:r>
                        <a:rPr b="1" lang="en-US" sz="1600" u="none" cap="none" strike="noStrike">
                          <a:solidFill>
                            <a:srgbClr val="002060"/>
                          </a:solidFill>
                        </a:rPr>
                        <a:t>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600" u="none" cap="none" strike="noStrike">
                          <a:solidFill>
                            <a:srgbClr val="002060"/>
                          </a:solidFill>
                        </a:rPr>
                        <a:t>(3,5)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20175">
                <a:tc>
                  <a:txBody>
                    <a:bodyPr/>
                    <a:lstStyle/>
                    <a:p>
                      <a:pPr indent="0" lvl="0" marL="0" marR="0" rtl="0" algn="ctr">
                        <a:spcBef>
                          <a:spcPts val="0"/>
                        </a:spcBef>
                        <a:spcAft>
                          <a:spcPts val="0"/>
                        </a:spcAft>
                        <a:buNone/>
                      </a:pPr>
                      <a:r>
                        <a:rPr b="1" lang="en-US" sz="1600" u="none" cap="none" strike="noStrike">
                          <a:solidFill>
                            <a:srgbClr val="002060"/>
                          </a:solidFill>
                        </a:rPr>
                        <a:t>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600" u="none" cap="none" strike="noStrike">
                          <a:solidFill>
                            <a:srgbClr val="002060"/>
                          </a:solidFill>
                        </a:rPr>
                        <a:t>(4,6)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20175">
                <a:tc>
                  <a:txBody>
                    <a:bodyPr/>
                    <a:lstStyle/>
                    <a:p>
                      <a:pPr indent="0" lvl="0" marL="0" marR="0" rtl="0" algn="ctr">
                        <a:spcBef>
                          <a:spcPts val="0"/>
                        </a:spcBef>
                        <a:spcAft>
                          <a:spcPts val="0"/>
                        </a:spcAft>
                        <a:buNone/>
                      </a:pPr>
                      <a:r>
                        <a:rPr b="1" lang="en-US" sz="1600" u="none" cap="none" strike="noStrike">
                          <a:solidFill>
                            <a:srgbClr val="002060"/>
                          </a:solidFill>
                        </a:rPr>
                        <a:t>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600" u="none" cap="none" strike="noStrike">
                          <a:solidFill>
                            <a:srgbClr val="002060"/>
                          </a:solidFill>
                        </a:rPr>
                        <a:t>(4,5)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20175">
                <a:tc>
                  <a:txBody>
                    <a:bodyPr/>
                    <a:lstStyle/>
                    <a:p>
                      <a:pPr indent="0" lvl="0" marL="0" marR="0" rtl="0" algn="ctr">
                        <a:spcBef>
                          <a:spcPts val="0"/>
                        </a:spcBef>
                        <a:spcAft>
                          <a:spcPts val="0"/>
                        </a:spcAft>
                        <a:buNone/>
                      </a:pPr>
                      <a:r>
                        <a:rPr b="1" lang="en-US" sz="1600" u="none" cap="none" strike="noStrike">
                          <a:solidFill>
                            <a:srgbClr val="002060"/>
                          </a:solidFill>
                        </a:rPr>
                        <a:t>14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600" u="none" cap="none" strike="noStrike">
                          <a:solidFill>
                            <a:srgbClr val="002060"/>
                          </a:solidFill>
                        </a:rPr>
                        <a:t>(5,6)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20175">
                <a:tc>
                  <a:txBody>
                    <a:bodyPr/>
                    <a:lstStyle/>
                    <a:p>
                      <a:pPr indent="0" lvl="0" marL="0" marR="0" rtl="0" algn="ctr">
                        <a:spcBef>
                          <a:spcPts val="0"/>
                        </a:spcBef>
                        <a:spcAft>
                          <a:spcPts val="0"/>
                        </a:spcAft>
                        <a:buNone/>
                      </a:pPr>
                      <a:r>
                        <a:rPr b="1" lang="en-US" sz="1600" u="none" cap="none" strike="noStrike">
                          <a:solidFill>
                            <a:srgbClr val="002060"/>
                          </a:solidFill>
                        </a:rPr>
                        <a:t>16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600" u="none" cap="none" strike="noStrike">
                          <a:solidFill>
                            <a:srgbClr val="002060"/>
                          </a:solidFill>
                        </a:rPr>
                        <a:t>(3,4)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20175">
                <a:tc>
                  <a:txBody>
                    <a:bodyPr/>
                    <a:lstStyle/>
                    <a:p>
                      <a:pPr indent="0" lvl="0" marL="0" marR="0" rtl="0" algn="ctr">
                        <a:spcBef>
                          <a:spcPts val="0"/>
                        </a:spcBef>
                        <a:spcAft>
                          <a:spcPts val="0"/>
                        </a:spcAft>
                        <a:buNone/>
                      </a:pPr>
                      <a:r>
                        <a:rPr b="1" lang="en-US" sz="1600" u="none" cap="none" strike="noStrike">
                          <a:solidFill>
                            <a:srgbClr val="002060"/>
                          </a:solidFill>
                        </a:rPr>
                        <a:t>17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600" u="none" cap="none" strike="noStrike">
                          <a:solidFill>
                            <a:srgbClr val="002060"/>
                          </a:solidFill>
                        </a:rPr>
                        <a:t>(1,3)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20175">
                <a:tc>
                  <a:txBody>
                    <a:bodyPr/>
                    <a:lstStyle/>
                    <a:p>
                      <a:pPr indent="0" lvl="0" marL="0" marR="0" rtl="0" algn="ctr">
                        <a:spcBef>
                          <a:spcPts val="0"/>
                        </a:spcBef>
                        <a:spcAft>
                          <a:spcPts val="0"/>
                        </a:spcAft>
                        <a:buNone/>
                      </a:pPr>
                      <a:r>
                        <a:rPr b="1" lang="en-US" sz="1600" u="none" cap="none" strike="noStrike">
                          <a:solidFill>
                            <a:srgbClr val="002060"/>
                          </a:solidFill>
                        </a:rPr>
                        <a:t>18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600" u="none" cap="none" strike="noStrike">
                          <a:solidFill>
                            <a:srgbClr val="002060"/>
                          </a:solidFill>
                        </a:rPr>
                        <a:t>(2,3)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20175">
                <a:tc>
                  <a:txBody>
                    <a:bodyPr/>
                    <a:lstStyle/>
                    <a:p>
                      <a:pPr indent="0" lvl="0" marL="0" marR="0" rtl="0" algn="ctr">
                        <a:spcBef>
                          <a:spcPts val="0"/>
                        </a:spcBef>
                        <a:spcAft>
                          <a:spcPts val="0"/>
                        </a:spcAft>
                        <a:buNone/>
                      </a:pPr>
                      <a:r>
                        <a:rPr b="1" lang="en-US" sz="1600" u="none" cap="none" strike="noStrike">
                          <a:solidFill>
                            <a:srgbClr val="002060"/>
                          </a:solidFill>
                        </a:rPr>
                        <a:t>20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600" u="none" cap="none" strike="noStrike">
                          <a:solidFill>
                            <a:srgbClr val="002060"/>
                          </a:solidFill>
                        </a:rPr>
                        <a:t>(2,4)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20175">
                <a:tc>
                  <a:txBody>
                    <a:bodyPr/>
                    <a:lstStyle/>
                    <a:p>
                      <a:pPr indent="0" lvl="0" marL="0" marR="0" rtl="0" algn="ctr">
                        <a:spcBef>
                          <a:spcPts val="0"/>
                        </a:spcBef>
                        <a:spcAft>
                          <a:spcPts val="0"/>
                        </a:spcAft>
                        <a:buNone/>
                      </a:pPr>
                      <a:r>
                        <a:rPr b="1" lang="en-US" sz="1600" u="none" cap="none" strike="noStrike">
                          <a:solidFill>
                            <a:srgbClr val="002060"/>
                          </a:solidFill>
                        </a:rPr>
                        <a:t>33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600" u="none" cap="none" strike="noStrike">
                          <a:solidFill>
                            <a:srgbClr val="002060"/>
                          </a:solidFill>
                        </a:rPr>
                        <a:t>(1,2)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481" name="Google Shape;481;p24"/>
          <p:cNvSpPr txBox="1"/>
          <p:nvPr/>
        </p:nvSpPr>
        <p:spPr>
          <a:xfrm>
            <a:off x="7580028" y="2293276"/>
            <a:ext cx="762000" cy="3381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00CC"/>
                </a:solidFill>
                <a:latin typeface="Times New Roman"/>
                <a:ea typeface="Times New Roman"/>
                <a:cs typeface="Times New Roman"/>
                <a:sym typeface="Times New Roman"/>
              </a:rPr>
              <a:t>Chọn</a:t>
            </a:r>
            <a:endParaRPr/>
          </a:p>
        </p:txBody>
      </p:sp>
      <p:cxnSp>
        <p:nvCxnSpPr>
          <p:cNvPr id="482" name="Google Shape;482;p24"/>
          <p:cNvCxnSpPr/>
          <p:nvPr/>
        </p:nvCxnSpPr>
        <p:spPr>
          <a:xfrm rot="10800000">
            <a:off x="7199022" y="2471076"/>
            <a:ext cx="457199" cy="0"/>
          </a:xfrm>
          <a:prstGeom prst="straightConnector1">
            <a:avLst/>
          </a:prstGeom>
          <a:noFill/>
          <a:ln cap="flat" cmpd="sng" w="38100">
            <a:solidFill>
              <a:srgbClr val="0000CC"/>
            </a:solidFill>
            <a:prstDash val="solid"/>
            <a:round/>
            <a:headEnd len="med" w="med" type="none"/>
            <a:tailEnd len="med" w="med" type="stealth"/>
          </a:ln>
        </p:spPr>
      </p:cxnSp>
      <p:sp>
        <p:nvSpPr>
          <p:cNvPr id="483" name="Google Shape;483;p24"/>
          <p:cNvSpPr txBox="1"/>
          <p:nvPr/>
        </p:nvSpPr>
        <p:spPr>
          <a:xfrm>
            <a:off x="7580028" y="2623476"/>
            <a:ext cx="762000" cy="3381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00CC"/>
                </a:solidFill>
                <a:latin typeface="Times New Roman"/>
                <a:ea typeface="Times New Roman"/>
                <a:cs typeface="Times New Roman"/>
                <a:sym typeface="Times New Roman"/>
              </a:rPr>
              <a:t>Chọn</a:t>
            </a:r>
            <a:endParaRPr/>
          </a:p>
        </p:txBody>
      </p:sp>
      <p:cxnSp>
        <p:nvCxnSpPr>
          <p:cNvPr id="484" name="Google Shape;484;p24"/>
          <p:cNvCxnSpPr/>
          <p:nvPr/>
        </p:nvCxnSpPr>
        <p:spPr>
          <a:xfrm rot="10800000">
            <a:off x="7199022" y="2801276"/>
            <a:ext cx="419100" cy="0"/>
          </a:xfrm>
          <a:prstGeom prst="straightConnector1">
            <a:avLst/>
          </a:prstGeom>
          <a:noFill/>
          <a:ln cap="flat" cmpd="sng" w="38100">
            <a:solidFill>
              <a:srgbClr val="0000CC"/>
            </a:solidFill>
            <a:prstDash val="solid"/>
            <a:round/>
            <a:headEnd len="med" w="med" type="none"/>
            <a:tailEnd len="med" w="med" type="stealth"/>
          </a:ln>
        </p:spPr>
      </p:cxnSp>
      <p:sp>
        <p:nvSpPr>
          <p:cNvPr id="485" name="Google Shape;485;p24"/>
          <p:cNvSpPr txBox="1"/>
          <p:nvPr/>
        </p:nvSpPr>
        <p:spPr>
          <a:xfrm>
            <a:off x="7580028" y="2987014"/>
            <a:ext cx="762000" cy="3397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00CC"/>
                </a:solidFill>
                <a:latin typeface="Times New Roman"/>
                <a:ea typeface="Times New Roman"/>
                <a:cs typeface="Times New Roman"/>
                <a:sym typeface="Times New Roman"/>
              </a:rPr>
              <a:t>Chọn</a:t>
            </a:r>
            <a:endParaRPr/>
          </a:p>
        </p:txBody>
      </p:sp>
      <p:cxnSp>
        <p:nvCxnSpPr>
          <p:cNvPr id="486" name="Google Shape;486;p24"/>
          <p:cNvCxnSpPr/>
          <p:nvPr/>
        </p:nvCxnSpPr>
        <p:spPr>
          <a:xfrm flipH="1">
            <a:off x="7199022" y="3156876"/>
            <a:ext cx="342900" cy="7938"/>
          </a:xfrm>
          <a:prstGeom prst="straightConnector1">
            <a:avLst/>
          </a:prstGeom>
          <a:noFill/>
          <a:ln cap="flat" cmpd="sng" w="38100">
            <a:solidFill>
              <a:srgbClr val="0000CC"/>
            </a:solidFill>
            <a:prstDash val="solid"/>
            <a:round/>
            <a:headEnd len="med" w="med" type="none"/>
            <a:tailEnd len="med" w="med" type="stealth"/>
          </a:ln>
        </p:spPr>
      </p:cxnSp>
      <p:sp>
        <p:nvSpPr>
          <p:cNvPr id="487" name="Google Shape;487;p24"/>
          <p:cNvSpPr txBox="1"/>
          <p:nvPr/>
        </p:nvSpPr>
        <p:spPr>
          <a:xfrm>
            <a:off x="7580028" y="4053814"/>
            <a:ext cx="762000" cy="3397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00CC"/>
                </a:solidFill>
                <a:latin typeface="Times New Roman"/>
                <a:ea typeface="Times New Roman"/>
                <a:cs typeface="Times New Roman"/>
                <a:sym typeface="Times New Roman"/>
              </a:rPr>
              <a:t>Chọn</a:t>
            </a:r>
            <a:endParaRPr b="1" sz="1600">
              <a:solidFill>
                <a:srgbClr val="0000CC"/>
              </a:solidFill>
              <a:latin typeface="Times New Roman"/>
              <a:ea typeface="Times New Roman"/>
              <a:cs typeface="Times New Roman"/>
              <a:sym typeface="Times New Roman"/>
            </a:endParaRPr>
          </a:p>
        </p:txBody>
      </p:sp>
      <p:cxnSp>
        <p:nvCxnSpPr>
          <p:cNvPr id="488" name="Google Shape;488;p24"/>
          <p:cNvCxnSpPr/>
          <p:nvPr/>
        </p:nvCxnSpPr>
        <p:spPr>
          <a:xfrm rot="10800000">
            <a:off x="7199022" y="4231614"/>
            <a:ext cx="457199" cy="8346"/>
          </a:xfrm>
          <a:prstGeom prst="straightConnector1">
            <a:avLst/>
          </a:prstGeom>
          <a:noFill/>
          <a:ln cap="flat" cmpd="sng" w="38100">
            <a:solidFill>
              <a:srgbClr val="0000CC"/>
            </a:solidFill>
            <a:prstDash val="solid"/>
            <a:round/>
            <a:headEnd len="med" w="med" type="none"/>
            <a:tailEnd len="med" w="med" type="stealth"/>
          </a:ln>
        </p:spPr>
      </p:cxnSp>
      <p:sp>
        <p:nvSpPr>
          <p:cNvPr id="489" name="Google Shape;489;p24"/>
          <p:cNvSpPr txBox="1"/>
          <p:nvPr/>
        </p:nvSpPr>
        <p:spPr>
          <a:xfrm>
            <a:off x="7656221" y="4434814"/>
            <a:ext cx="118297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00CC"/>
                </a:solidFill>
                <a:latin typeface="Times New Roman"/>
                <a:ea typeface="Times New Roman"/>
                <a:cs typeface="Times New Roman"/>
                <a:sym typeface="Times New Roman"/>
              </a:rPr>
              <a:t>Chọn. </a:t>
            </a:r>
            <a:endParaRPr/>
          </a:p>
          <a:p>
            <a:pPr indent="0" lvl="0" marL="0" marR="0" rtl="0" algn="l">
              <a:spcBef>
                <a:spcPts val="0"/>
              </a:spcBef>
              <a:spcAft>
                <a:spcPts val="0"/>
              </a:spcAft>
              <a:buNone/>
            </a:pPr>
            <a:r>
              <a:rPr b="1" lang="en-US" sz="1600">
                <a:solidFill>
                  <a:srgbClr val="0000CC"/>
                </a:solidFill>
                <a:latin typeface="Times New Roman"/>
                <a:ea typeface="Times New Roman"/>
                <a:cs typeface="Times New Roman"/>
                <a:sym typeface="Times New Roman"/>
              </a:rPr>
              <a:t>Dừng vì đã đủ cạnh.</a:t>
            </a:r>
            <a:endParaRPr/>
          </a:p>
        </p:txBody>
      </p:sp>
      <p:cxnSp>
        <p:nvCxnSpPr>
          <p:cNvPr id="490" name="Google Shape;490;p24"/>
          <p:cNvCxnSpPr/>
          <p:nvPr/>
        </p:nvCxnSpPr>
        <p:spPr>
          <a:xfrm rot="10800000">
            <a:off x="7199023" y="4612627"/>
            <a:ext cx="457198" cy="0"/>
          </a:xfrm>
          <a:prstGeom prst="straightConnector1">
            <a:avLst/>
          </a:prstGeom>
          <a:noFill/>
          <a:ln cap="flat" cmpd="sng" w="38100">
            <a:solidFill>
              <a:srgbClr val="0000CC"/>
            </a:solidFill>
            <a:prstDash val="solid"/>
            <a:round/>
            <a:headEnd len="med" w="med" type="none"/>
            <a:tailEnd len="med" w="med" type="stealth"/>
          </a:ln>
        </p:spPr>
      </p:cxnSp>
      <p:sp>
        <p:nvSpPr>
          <p:cNvPr id="491" name="Google Shape;491;p24"/>
          <p:cNvSpPr txBox="1"/>
          <p:nvPr/>
        </p:nvSpPr>
        <p:spPr>
          <a:xfrm>
            <a:off x="7580028" y="3385476"/>
            <a:ext cx="3657600" cy="3381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FF0000"/>
                </a:solidFill>
                <a:latin typeface="Times New Roman"/>
                <a:ea typeface="Times New Roman"/>
                <a:cs typeface="Times New Roman"/>
                <a:sym typeface="Times New Roman"/>
              </a:rPr>
              <a:t>Không</a:t>
            </a:r>
            <a:endParaRPr b="1" sz="1600">
              <a:solidFill>
                <a:srgbClr val="FF0000"/>
              </a:solidFill>
              <a:latin typeface="Times New Roman"/>
              <a:ea typeface="Times New Roman"/>
              <a:cs typeface="Times New Roman"/>
              <a:sym typeface="Times New Roman"/>
            </a:endParaRPr>
          </a:p>
        </p:txBody>
      </p:sp>
      <p:cxnSp>
        <p:nvCxnSpPr>
          <p:cNvPr id="492" name="Google Shape;492;p24"/>
          <p:cNvCxnSpPr/>
          <p:nvPr/>
        </p:nvCxnSpPr>
        <p:spPr>
          <a:xfrm flipH="1">
            <a:off x="7275222" y="3535110"/>
            <a:ext cx="380999" cy="23404"/>
          </a:xfrm>
          <a:prstGeom prst="straightConnector1">
            <a:avLst/>
          </a:prstGeom>
          <a:noFill/>
          <a:ln cap="flat" cmpd="sng" w="38100">
            <a:solidFill>
              <a:srgbClr val="FF0000"/>
            </a:solidFill>
            <a:prstDash val="solid"/>
            <a:round/>
            <a:headEnd len="med" w="med" type="none"/>
            <a:tailEnd len="med" w="med" type="stealth"/>
          </a:ln>
        </p:spPr>
      </p:cxnSp>
      <p:sp>
        <p:nvSpPr>
          <p:cNvPr id="493" name="Google Shape;493;p24"/>
          <p:cNvSpPr txBox="1"/>
          <p:nvPr/>
        </p:nvSpPr>
        <p:spPr>
          <a:xfrm>
            <a:off x="7580028" y="3766476"/>
            <a:ext cx="3886200" cy="3381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FF0000"/>
                </a:solidFill>
                <a:latin typeface="Times New Roman"/>
                <a:ea typeface="Times New Roman"/>
                <a:cs typeface="Times New Roman"/>
                <a:sym typeface="Times New Roman"/>
              </a:rPr>
              <a:t>Không</a:t>
            </a:r>
            <a:endParaRPr b="1" sz="1600">
              <a:solidFill>
                <a:srgbClr val="FF0000"/>
              </a:solidFill>
              <a:latin typeface="Times New Roman"/>
              <a:ea typeface="Times New Roman"/>
              <a:cs typeface="Times New Roman"/>
              <a:sym typeface="Times New Roman"/>
            </a:endParaRPr>
          </a:p>
        </p:txBody>
      </p:sp>
      <p:cxnSp>
        <p:nvCxnSpPr>
          <p:cNvPr id="494" name="Google Shape;494;p24"/>
          <p:cNvCxnSpPr/>
          <p:nvPr/>
        </p:nvCxnSpPr>
        <p:spPr>
          <a:xfrm flipH="1">
            <a:off x="7275222" y="3897060"/>
            <a:ext cx="380999" cy="21816"/>
          </a:xfrm>
          <a:prstGeom prst="straightConnector1">
            <a:avLst/>
          </a:prstGeom>
          <a:noFill/>
          <a:ln cap="flat" cmpd="sng" w="38100">
            <a:solidFill>
              <a:srgbClr val="FF0000"/>
            </a:solidFill>
            <a:prstDash val="solid"/>
            <a:round/>
            <a:headEnd len="med" w="med"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500"/>
                                        <p:tgtEl>
                                          <p:spTgt spid="482"/>
                                        </p:tgtEl>
                                      </p:cBhvr>
                                    </p:animEffect>
                                  </p:childTnLst>
                                </p:cTn>
                              </p:par>
                              <p:par>
                                <p:cTn fill="hold" nodeType="with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500"/>
                                        <p:tgtEl>
                                          <p:spTgt spid="4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4"/>
                                        </p:tgtEl>
                                        <p:attrNameLst>
                                          <p:attrName>style.visibility</p:attrName>
                                        </p:attrNameLst>
                                      </p:cBhvr>
                                      <p:to>
                                        <p:strVal val="visible"/>
                                      </p:to>
                                    </p:set>
                                    <p:animEffect filter="fade" transition="in">
                                      <p:cBhvr>
                                        <p:cTn dur="500"/>
                                        <p:tgtEl>
                                          <p:spTgt spid="484"/>
                                        </p:tgtEl>
                                      </p:cBhvr>
                                    </p:animEffect>
                                  </p:childTnLst>
                                </p:cTn>
                              </p:par>
                              <p:par>
                                <p:cTn fill="hold" nodeType="withEffect" presetClass="entr" presetID="10" presetSubtype="0">
                                  <p:stCondLst>
                                    <p:cond delay="0"/>
                                  </p:stCondLst>
                                  <p:childTnLst>
                                    <p:set>
                                      <p:cBhvr>
                                        <p:cTn dur="1" fill="hold">
                                          <p:stCondLst>
                                            <p:cond delay="0"/>
                                          </p:stCondLst>
                                        </p:cTn>
                                        <p:tgtEl>
                                          <p:spTgt spid="483"/>
                                        </p:tgtEl>
                                        <p:attrNameLst>
                                          <p:attrName>style.visibility</p:attrName>
                                        </p:attrNameLst>
                                      </p:cBhvr>
                                      <p:to>
                                        <p:strVal val="visible"/>
                                      </p:to>
                                    </p:set>
                                    <p:animEffect filter="fade" transition="in">
                                      <p:cBhvr>
                                        <p:cTn dur="500"/>
                                        <p:tgtEl>
                                          <p:spTgt spid="4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500"/>
                                        <p:tgtEl>
                                          <p:spTgt spid="486"/>
                                        </p:tgtEl>
                                      </p:cBhvr>
                                    </p:animEffect>
                                  </p:childTnLst>
                                </p:cTn>
                              </p:par>
                              <p:par>
                                <p:cTn fill="hold" nodeType="with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500"/>
                                        <p:tgtEl>
                                          <p:spTgt spid="492"/>
                                        </p:tgtEl>
                                      </p:cBhvr>
                                    </p:animEffect>
                                  </p:childTnLst>
                                </p:cTn>
                              </p:par>
                              <p:par>
                                <p:cTn fill="hold" nodeType="withEffect" presetClass="entr" presetID="10" presetSubtype="0">
                                  <p:stCondLst>
                                    <p:cond delay="0"/>
                                  </p:stCondLst>
                                  <p:childTnLst>
                                    <p:set>
                                      <p:cBhvr>
                                        <p:cTn dur="1" fill="hold">
                                          <p:stCondLst>
                                            <p:cond delay="0"/>
                                          </p:stCondLst>
                                        </p:cTn>
                                        <p:tgtEl>
                                          <p:spTgt spid="491"/>
                                        </p:tgtEl>
                                        <p:attrNameLst>
                                          <p:attrName>style.visibility</p:attrName>
                                        </p:attrNameLst>
                                      </p:cBhvr>
                                      <p:to>
                                        <p:strVal val="visible"/>
                                      </p:to>
                                    </p:set>
                                    <p:animEffect filter="fade" transition="in">
                                      <p:cBhvr>
                                        <p:cTn dur="500"/>
                                        <p:tgtEl>
                                          <p:spTgt spid="4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500"/>
                                        <p:tgtEl>
                                          <p:spTgt spid="494"/>
                                        </p:tgtEl>
                                      </p:cBhvr>
                                    </p:animEffect>
                                  </p:childTnLst>
                                </p:cTn>
                              </p:par>
                              <p:par>
                                <p:cTn fill="hold" nodeType="with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500"/>
                                        <p:tgtEl>
                                          <p:spTgt spid="4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500"/>
                                        <p:tgtEl>
                                          <p:spTgt spid="488"/>
                                        </p:tgtEl>
                                      </p:cBhvr>
                                    </p:animEffect>
                                  </p:childTnLst>
                                </p:cTn>
                              </p:par>
                              <p:par>
                                <p:cTn fill="hold" nodeType="withEffect" presetClass="entr" presetID="10" presetSubtype="0">
                                  <p:stCondLst>
                                    <p:cond delay="0"/>
                                  </p:stCondLst>
                                  <p:childTnLst>
                                    <p:set>
                                      <p:cBhvr>
                                        <p:cTn dur="1" fill="hold">
                                          <p:stCondLst>
                                            <p:cond delay="0"/>
                                          </p:stCondLst>
                                        </p:cTn>
                                        <p:tgtEl>
                                          <p:spTgt spid="487"/>
                                        </p:tgtEl>
                                        <p:attrNameLst>
                                          <p:attrName>style.visibility</p:attrName>
                                        </p:attrNameLst>
                                      </p:cBhvr>
                                      <p:to>
                                        <p:strVal val="visible"/>
                                      </p:to>
                                    </p:set>
                                    <p:animEffect filter="fade" transition="in">
                                      <p:cBhvr>
                                        <p:cTn dur="500"/>
                                        <p:tgtEl>
                                          <p:spTgt spid="4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
                                        </p:tgtEl>
                                        <p:attrNameLst>
                                          <p:attrName>style.visibility</p:attrName>
                                        </p:attrNameLst>
                                      </p:cBhvr>
                                      <p:to>
                                        <p:strVal val="visible"/>
                                      </p:to>
                                    </p:set>
                                    <p:animEffect filter="fade" transition="in">
                                      <p:cBhvr>
                                        <p:cTn dur="500"/>
                                        <p:tgtEl>
                                          <p:spTgt spid="490"/>
                                        </p:tgtEl>
                                      </p:cBhvr>
                                    </p:animEffect>
                                  </p:childTnLst>
                                </p:cTn>
                              </p:par>
                              <p:par>
                                <p:cTn fill="hold" nodeType="withEffect" presetClass="entr" presetID="10" presetSubtype="0">
                                  <p:stCondLst>
                                    <p:cond delay="0"/>
                                  </p:stCondLst>
                                  <p:childTnLst>
                                    <p:set>
                                      <p:cBhvr>
                                        <p:cTn dur="1" fill="hold">
                                          <p:stCondLst>
                                            <p:cond delay="0"/>
                                          </p:stCondLst>
                                        </p:cTn>
                                        <p:tgtEl>
                                          <p:spTgt spid="489"/>
                                        </p:tgtEl>
                                        <p:attrNameLst>
                                          <p:attrName>style.visibility</p:attrName>
                                        </p:attrNameLst>
                                      </p:cBhvr>
                                      <p:to>
                                        <p:strVal val="visible"/>
                                      </p:to>
                                    </p:set>
                                    <p:animEffect filter="fade" transition="in">
                                      <p:cBhvr>
                                        <p:cTn dur="500"/>
                                        <p:tgtEl>
                                          <p:spTgt spid="4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t>Cây tối đại ngắn nhất</a:t>
            </a:r>
            <a:endParaRPr b="1" sz="3200"/>
          </a:p>
        </p:txBody>
      </p:sp>
      <p:sp>
        <p:nvSpPr>
          <p:cNvPr id="500" name="Google Shape;500;p25"/>
          <p:cNvSpPr txBox="1"/>
          <p:nvPr>
            <p:ph idx="1" type="body"/>
          </p:nvPr>
        </p:nvSpPr>
        <p:spPr>
          <a:xfrm>
            <a:off x="457200" y="1600200"/>
            <a:ext cx="4038600" cy="4525963"/>
          </a:xfrm>
          <a:prstGeom prst="rect">
            <a:avLst/>
          </a:prstGeom>
          <a:solidFill>
            <a:srgbClr val="EAEAEA"/>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501" name="Google Shape;501;p25"/>
          <p:cNvSpPr txBox="1"/>
          <p:nvPr>
            <p:ph idx="2" type="body"/>
          </p:nvPr>
        </p:nvSpPr>
        <p:spPr>
          <a:xfrm>
            <a:off x="4648200" y="1600200"/>
            <a:ext cx="4038600" cy="4525963"/>
          </a:xfrm>
          <a:prstGeom prst="rect">
            <a:avLst/>
          </a:prstGeom>
          <a:solidFill>
            <a:srgbClr val="EAEAEA"/>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502" name="Google Shape;502;p25"/>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cxnSp>
        <p:nvCxnSpPr>
          <p:cNvPr id="503" name="Google Shape;503;p25"/>
          <p:cNvCxnSpPr/>
          <p:nvPr/>
        </p:nvCxnSpPr>
        <p:spPr>
          <a:xfrm rot="10800000">
            <a:off x="5419725" y="3581370"/>
            <a:ext cx="685800" cy="685800"/>
          </a:xfrm>
          <a:prstGeom prst="straightConnector1">
            <a:avLst/>
          </a:prstGeom>
          <a:noFill/>
          <a:ln cap="flat" cmpd="sng" w="28575">
            <a:solidFill>
              <a:srgbClr val="C00000"/>
            </a:solidFill>
            <a:prstDash val="solid"/>
            <a:round/>
            <a:headEnd len="med" w="med" type="oval"/>
            <a:tailEnd len="med" w="med" type="oval"/>
          </a:ln>
        </p:spPr>
      </p:cxnSp>
      <p:cxnSp>
        <p:nvCxnSpPr>
          <p:cNvPr id="504" name="Google Shape;504;p25"/>
          <p:cNvCxnSpPr/>
          <p:nvPr/>
        </p:nvCxnSpPr>
        <p:spPr>
          <a:xfrm rot="10800000">
            <a:off x="6105525" y="2895570"/>
            <a:ext cx="0" cy="1371600"/>
          </a:xfrm>
          <a:prstGeom prst="straightConnector1">
            <a:avLst/>
          </a:prstGeom>
          <a:noFill/>
          <a:ln cap="flat" cmpd="sng" w="28575">
            <a:solidFill>
              <a:srgbClr val="C00000"/>
            </a:solidFill>
            <a:prstDash val="solid"/>
            <a:round/>
            <a:headEnd len="med" w="med" type="oval"/>
            <a:tailEnd len="med" w="med" type="oval"/>
          </a:ln>
        </p:spPr>
      </p:cxnSp>
      <p:cxnSp>
        <p:nvCxnSpPr>
          <p:cNvPr id="505" name="Google Shape;505;p25"/>
          <p:cNvCxnSpPr/>
          <p:nvPr/>
        </p:nvCxnSpPr>
        <p:spPr>
          <a:xfrm rot="10800000">
            <a:off x="7362825" y="2895570"/>
            <a:ext cx="685800" cy="685800"/>
          </a:xfrm>
          <a:prstGeom prst="straightConnector1">
            <a:avLst/>
          </a:prstGeom>
          <a:noFill/>
          <a:ln cap="flat" cmpd="sng" w="28575">
            <a:solidFill>
              <a:srgbClr val="C00000"/>
            </a:solidFill>
            <a:prstDash val="solid"/>
            <a:round/>
            <a:headEnd len="med" w="med" type="oval"/>
            <a:tailEnd len="med" w="med" type="oval"/>
          </a:ln>
        </p:spPr>
      </p:cxnSp>
      <p:cxnSp>
        <p:nvCxnSpPr>
          <p:cNvPr id="506" name="Google Shape;506;p25"/>
          <p:cNvCxnSpPr/>
          <p:nvPr/>
        </p:nvCxnSpPr>
        <p:spPr>
          <a:xfrm rot="10800000">
            <a:off x="7362825" y="2895570"/>
            <a:ext cx="0" cy="1371600"/>
          </a:xfrm>
          <a:prstGeom prst="straightConnector1">
            <a:avLst/>
          </a:prstGeom>
          <a:noFill/>
          <a:ln cap="flat" cmpd="sng" w="28575">
            <a:solidFill>
              <a:srgbClr val="C00000"/>
            </a:solidFill>
            <a:prstDash val="solid"/>
            <a:round/>
            <a:headEnd len="med" w="med" type="oval"/>
            <a:tailEnd len="med" w="med" type="oval"/>
          </a:ln>
        </p:spPr>
      </p:cxnSp>
      <p:cxnSp>
        <p:nvCxnSpPr>
          <p:cNvPr id="507" name="Google Shape;507;p25"/>
          <p:cNvCxnSpPr/>
          <p:nvPr/>
        </p:nvCxnSpPr>
        <p:spPr>
          <a:xfrm rot="10800000">
            <a:off x="6105525" y="4267170"/>
            <a:ext cx="1257300" cy="0"/>
          </a:xfrm>
          <a:prstGeom prst="straightConnector1">
            <a:avLst/>
          </a:prstGeom>
          <a:noFill/>
          <a:ln cap="flat" cmpd="sng" w="28575">
            <a:solidFill>
              <a:srgbClr val="C00000"/>
            </a:solidFill>
            <a:prstDash val="solid"/>
            <a:round/>
            <a:headEnd len="med" w="med" type="oval"/>
            <a:tailEnd len="med" w="med" type="oval"/>
          </a:ln>
        </p:spPr>
      </p:cxnSp>
      <p:sp>
        <p:nvSpPr>
          <p:cNvPr id="508" name="Google Shape;508;p25"/>
          <p:cNvSpPr txBox="1"/>
          <p:nvPr/>
        </p:nvSpPr>
        <p:spPr>
          <a:xfrm>
            <a:off x="7315200" y="339087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9</a:t>
            </a:r>
            <a:endParaRPr b="1" sz="1800">
              <a:solidFill>
                <a:srgbClr val="FF0000"/>
              </a:solidFill>
              <a:latin typeface="Times New Roman"/>
              <a:ea typeface="Times New Roman"/>
              <a:cs typeface="Times New Roman"/>
              <a:sym typeface="Times New Roman"/>
            </a:endParaRPr>
          </a:p>
        </p:txBody>
      </p:sp>
      <p:sp>
        <p:nvSpPr>
          <p:cNvPr id="509" name="Google Shape;509;p25"/>
          <p:cNvSpPr txBox="1"/>
          <p:nvPr/>
        </p:nvSpPr>
        <p:spPr>
          <a:xfrm>
            <a:off x="7648575" y="302892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8</a:t>
            </a:r>
            <a:endParaRPr b="1" sz="1800">
              <a:solidFill>
                <a:srgbClr val="FF0000"/>
              </a:solidFill>
              <a:latin typeface="Times New Roman"/>
              <a:ea typeface="Times New Roman"/>
              <a:cs typeface="Times New Roman"/>
              <a:sym typeface="Times New Roman"/>
            </a:endParaRPr>
          </a:p>
        </p:txBody>
      </p:sp>
      <p:sp>
        <p:nvSpPr>
          <p:cNvPr id="510" name="Google Shape;510;p25"/>
          <p:cNvSpPr txBox="1"/>
          <p:nvPr/>
        </p:nvSpPr>
        <p:spPr>
          <a:xfrm>
            <a:off x="5715000" y="335277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18</a:t>
            </a:r>
            <a:endParaRPr b="1" sz="1800">
              <a:solidFill>
                <a:srgbClr val="FF0000"/>
              </a:solidFill>
              <a:latin typeface="Times New Roman"/>
              <a:ea typeface="Times New Roman"/>
              <a:cs typeface="Times New Roman"/>
              <a:sym typeface="Times New Roman"/>
            </a:endParaRPr>
          </a:p>
        </p:txBody>
      </p:sp>
      <p:sp>
        <p:nvSpPr>
          <p:cNvPr id="511" name="Google Shape;511;p25"/>
          <p:cNvSpPr txBox="1"/>
          <p:nvPr/>
        </p:nvSpPr>
        <p:spPr>
          <a:xfrm>
            <a:off x="5410200" y="388617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17</a:t>
            </a:r>
            <a:endParaRPr b="1" sz="1800">
              <a:solidFill>
                <a:srgbClr val="FF0000"/>
              </a:solidFill>
              <a:latin typeface="Times New Roman"/>
              <a:ea typeface="Times New Roman"/>
              <a:cs typeface="Times New Roman"/>
              <a:sym typeface="Times New Roman"/>
            </a:endParaRPr>
          </a:p>
        </p:txBody>
      </p:sp>
      <p:sp>
        <p:nvSpPr>
          <p:cNvPr id="512" name="Google Shape;512;p25"/>
          <p:cNvSpPr/>
          <p:nvPr/>
        </p:nvSpPr>
        <p:spPr>
          <a:xfrm>
            <a:off x="5257800" y="342897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1</a:t>
            </a:r>
            <a:endParaRPr/>
          </a:p>
        </p:txBody>
      </p:sp>
      <p:sp>
        <p:nvSpPr>
          <p:cNvPr id="513" name="Google Shape;513;p25"/>
          <p:cNvSpPr/>
          <p:nvPr/>
        </p:nvSpPr>
        <p:spPr>
          <a:xfrm>
            <a:off x="5943600" y="274317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2</a:t>
            </a:r>
            <a:endParaRPr/>
          </a:p>
        </p:txBody>
      </p:sp>
      <p:sp>
        <p:nvSpPr>
          <p:cNvPr id="514" name="Google Shape;514;p25"/>
          <p:cNvSpPr/>
          <p:nvPr/>
        </p:nvSpPr>
        <p:spPr>
          <a:xfrm>
            <a:off x="7239000" y="274317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4</a:t>
            </a:r>
            <a:endParaRPr/>
          </a:p>
        </p:txBody>
      </p:sp>
      <p:sp>
        <p:nvSpPr>
          <p:cNvPr id="515" name="Google Shape;515;p25"/>
          <p:cNvSpPr/>
          <p:nvPr/>
        </p:nvSpPr>
        <p:spPr>
          <a:xfrm>
            <a:off x="7239000" y="4114770"/>
            <a:ext cx="304800" cy="304800"/>
          </a:xfrm>
          <a:prstGeom prst="ellipse">
            <a:avLst/>
          </a:prstGeom>
          <a:solidFill>
            <a:srgbClr val="FF0000"/>
          </a:solidFill>
          <a:ln cap="flat" cmpd="sng" w="28575">
            <a:solidFill>
              <a:srgbClr val="C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5</a:t>
            </a:r>
            <a:endParaRPr/>
          </a:p>
        </p:txBody>
      </p:sp>
      <p:sp>
        <p:nvSpPr>
          <p:cNvPr id="516" name="Google Shape;516;p25"/>
          <p:cNvSpPr/>
          <p:nvPr/>
        </p:nvSpPr>
        <p:spPr>
          <a:xfrm>
            <a:off x="7924800" y="342897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6</a:t>
            </a:r>
            <a:endParaRPr/>
          </a:p>
        </p:txBody>
      </p:sp>
      <p:sp>
        <p:nvSpPr>
          <p:cNvPr id="517" name="Google Shape;517;p25"/>
          <p:cNvSpPr/>
          <p:nvPr/>
        </p:nvSpPr>
        <p:spPr>
          <a:xfrm>
            <a:off x="5943600" y="4114770"/>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3</a:t>
            </a:r>
            <a:endParaRPr/>
          </a:p>
        </p:txBody>
      </p:sp>
      <p:cxnSp>
        <p:nvCxnSpPr>
          <p:cNvPr id="518" name="Google Shape;518;p25"/>
          <p:cNvCxnSpPr/>
          <p:nvPr/>
        </p:nvCxnSpPr>
        <p:spPr>
          <a:xfrm flipH="1" rot="10800000">
            <a:off x="847725" y="3066108"/>
            <a:ext cx="685800" cy="685800"/>
          </a:xfrm>
          <a:prstGeom prst="straightConnector1">
            <a:avLst/>
          </a:prstGeom>
          <a:noFill/>
          <a:ln cap="flat" cmpd="sng" w="28575">
            <a:solidFill>
              <a:srgbClr val="C00000"/>
            </a:solidFill>
            <a:prstDash val="solid"/>
            <a:round/>
            <a:headEnd len="med" w="med" type="oval"/>
            <a:tailEnd len="med" w="med" type="oval"/>
          </a:ln>
        </p:spPr>
      </p:cxnSp>
      <p:cxnSp>
        <p:nvCxnSpPr>
          <p:cNvPr id="519" name="Google Shape;519;p25"/>
          <p:cNvCxnSpPr/>
          <p:nvPr/>
        </p:nvCxnSpPr>
        <p:spPr>
          <a:xfrm rot="10800000">
            <a:off x="847725" y="3751908"/>
            <a:ext cx="685800" cy="685800"/>
          </a:xfrm>
          <a:prstGeom prst="straightConnector1">
            <a:avLst/>
          </a:prstGeom>
          <a:noFill/>
          <a:ln cap="flat" cmpd="sng" w="28575">
            <a:solidFill>
              <a:srgbClr val="C00000"/>
            </a:solidFill>
            <a:prstDash val="solid"/>
            <a:round/>
            <a:headEnd len="med" w="med" type="oval"/>
            <a:tailEnd len="med" w="med" type="oval"/>
          </a:ln>
        </p:spPr>
      </p:cxnSp>
      <p:cxnSp>
        <p:nvCxnSpPr>
          <p:cNvPr id="520" name="Google Shape;520;p25"/>
          <p:cNvCxnSpPr/>
          <p:nvPr/>
        </p:nvCxnSpPr>
        <p:spPr>
          <a:xfrm rot="10800000">
            <a:off x="1533525" y="3066108"/>
            <a:ext cx="0" cy="1371600"/>
          </a:xfrm>
          <a:prstGeom prst="straightConnector1">
            <a:avLst/>
          </a:prstGeom>
          <a:noFill/>
          <a:ln cap="flat" cmpd="sng" w="28575">
            <a:solidFill>
              <a:srgbClr val="C00000"/>
            </a:solidFill>
            <a:prstDash val="solid"/>
            <a:round/>
            <a:headEnd len="med" w="med" type="oval"/>
            <a:tailEnd len="med" w="med" type="oval"/>
          </a:ln>
        </p:spPr>
      </p:cxnSp>
      <p:cxnSp>
        <p:nvCxnSpPr>
          <p:cNvPr id="521" name="Google Shape;521;p25"/>
          <p:cNvCxnSpPr/>
          <p:nvPr/>
        </p:nvCxnSpPr>
        <p:spPr>
          <a:xfrm rot="10800000">
            <a:off x="2790825" y="3066108"/>
            <a:ext cx="685800" cy="685800"/>
          </a:xfrm>
          <a:prstGeom prst="straightConnector1">
            <a:avLst/>
          </a:prstGeom>
          <a:noFill/>
          <a:ln cap="flat" cmpd="sng" w="28575">
            <a:solidFill>
              <a:srgbClr val="C00000"/>
            </a:solidFill>
            <a:prstDash val="solid"/>
            <a:round/>
            <a:headEnd len="med" w="med" type="oval"/>
            <a:tailEnd len="med" w="med" type="oval"/>
          </a:ln>
        </p:spPr>
      </p:cxnSp>
      <p:cxnSp>
        <p:nvCxnSpPr>
          <p:cNvPr id="522" name="Google Shape;522;p25"/>
          <p:cNvCxnSpPr/>
          <p:nvPr/>
        </p:nvCxnSpPr>
        <p:spPr>
          <a:xfrm flipH="1" rot="10800000">
            <a:off x="2790825" y="3751908"/>
            <a:ext cx="685800" cy="685800"/>
          </a:xfrm>
          <a:prstGeom prst="straightConnector1">
            <a:avLst/>
          </a:prstGeom>
          <a:noFill/>
          <a:ln cap="flat" cmpd="sng" w="28575">
            <a:solidFill>
              <a:srgbClr val="C00000"/>
            </a:solidFill>
            <a:prstDash val="solid"/>
            <a:round/>
            <a:headEnd len="med" w="med" type="oval"/>
            <a:tailEnd len="med" w="med" type="oval"/>
          </a:ln>
        </p:spPr>
      </p:cxnSp>
      <p:cxnSp>
        <p:nvCxnSpPr>
          <p:cNvPr id="523" name="Google Shape;523;p25"/>
          <p:cNvCxnSpPr/>
          <p:nvPr/>
        </p:nvCxnSpPr>
        <p:spPr>
          <a:xfrm rot="10800000">
            <a:off x="2790825" y="3066108"/>
            <a:ext cx="0" cy="1371600"/>
          </a:xfrm>
          <a:prstGeom prst="straightConnector1">
            <a:avLst/>
          </a:prstGeom>
          <a:noFill/>
          <a:ln cap="flat" cmpd="sng" w="28575">
            <a:solidFill>
              <a:srgbClr val="C00000"/>
            </a:solidFill>
            <a:prstDash val="solid"/>
            <a:round/>
            <a:headEnd len="med" w="med" type="oval"/>
            <a:tailEnd len="med" w="med" type="oval"/>
          </a:ln>
        </p:spPr>
      </p:cxnSp>
      <p:cxnSp>
        <p:nvCxnSpPr>
          <p:cNvPr id="524" name="Google Shape;524;p25"/>
          <p:cNvCxnSpPr/>
          <p:nvPr/>
        </p:nvCxnSpPr>
        <p:spPr>
          <a:xfrm rot="10800000">
            <a:off x="1533525" y="3066108"/>
            <a:ext cx="1257300" cy="0"/>
          </a:xfrm>
          <a:prstGeom prst="straightConnector1">
            <a:avLst/>
          </a:prstGeom>
          <a:noFill/>
          <a:ln cap="flat" cmpd="sng" w="28575">
            <a:solidFill>
              <a:srgbClr val="C00000"/>
            </a:solidFill>
            <a:prstDash val="solid"/>
            <a:round/>
            <a:headEnd len="med" w="med" type="oval"/>
            <a:tailEnd len="med" w="med" type="oval"/>
          </a:ln>
        </p:spPr>
      </p:cxnSp>
      <p:cxnSp>
        <p:nvCxnSpPr>
          <p:cNvPr id="525" name="Google Shape;525;p25"/>
          <p:cNvCxnSpPr/>
          <p:nvPr/>
        </p:nvCxnSpPr>
        <p:spPr>
          <a:xfrm rot="10800000">
            <a:off x="1533525" y="4437708"/>
            <a:ext cx="1257300" cy="0"/>
          </a:xfrm>
          <a:prstGeom prst="straightConnector1">
            <a:avLst/>
          </a:prstGeom>
          <a:noFill/>
          <a:ln cap="flat" cmpd="sng" w="28575">
            <a:solidFill>
              <a:srgbClr val="C00000"/>
            </a:solidFill>
            <a:prstDash val="solid"/>
            <a:round/>
            <a:headEnd len="med" w="med" type="oval"/>
            <a:tailEnd len="med" w="med" type="oval"/>
          </a:ln>
        </p:spPr>
      </p:cxnSp>
      <p:cxnSp>
        <p:nvCxnSpPr>
          <p:cNvPr id="526" name="Google Shape;526;p25"/>
          <p:cNvCxnSpPr/>
          <p:nvPr/>
        </p:nvCxnSpPr>
        <p:spPr>
          <a:xfrm flipH="1">
            <a:off x="1533525" y="3066108"/>
            <a:ext cx="1257300" cy="1371600"/>
          </a:xfrm>
          <a:prstGeom prst="straightConnector1">
            <a:avLst/>
          </a:prstGeom>
          <a:noFill/>
          <a:ln cap="flat" cmpd="sng" w="28575">
            <a:solidFill>
              <a:srgbClr val="C00000"/>
            </a:solidFill>
            <a:prstDash val="solid"/>
            <a:round/>
            <a:headEnd len="med" w="med" type="oval"/>
            <a:tailEnd len="med" w="med" type="oval"/>
          </a:ln>
        </p:spPr>
      </p:cxnSp>
      <p:sp>
        <p:nvSpPr>
          <p:cNvPr id="527" name="Google Shape;527;p25"/>
          <p:cNvSpPr txBox="1"/>
          <p:nvPr/>
        </p:nvSpPr>
        <p:spPr>
          <a:xfrm>
            <a:off x="1990725" y="2999433"/>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20</a:t>
            </a:r>
            <a:endParaRPr b="1" sz="1800">
              <a:solidFill>
                <a:srgbClr val="FF0000"/>
              </a:solidFill>
              <a:latin typeface="Times New Roman"/>
              <a:ea typeface="Times New Roman"/>
              <a:cs typeface="Times New Roman"/>
              <a:sym typeface="Times New Roman"/>
            </a:endParaRPr>
          </a:p>
        </p:txBody>
      </p:sp>
      <p:sp>
        <p:nvSpPr>
          <p:cNvPr id="528" name="Google Shape;528;p25"/>
          <p:cNvSpPr txBox="1"/>
          <p:nvPr/>
        </p:nvSpPr>
        <p:spPr>
          <a:xfrm>
            <a:off x="2057400" y="4361508"/>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4</a:t>
            </a:r>
            <a:endParaRPr b="1" sz="1800">
              <a:solidFill>
                <a:srgbClr val="FF0000"/>
              </a:solidFill>
              <a:latin typeface="Times New Roman"/>
              <a:ea typeface="Times New Roman"/>
              <a:cs typeface="Times New Roman"/>
              <a:sym typeface="Times New Roman"/>
            </a:endParaRPr>
          </a:p>
        </p:txBody>
      </p:sp>
      <p:sp>
        <p:nvSpPr>
          <p:cNvPr id="529" name="Google Shape;529;p25"/>
          <p:cNvSpPr txBox="1"/>
          <p:nvPr/>
        </p:nvSpPr>
        <p:spPr>
          <a:xfrm>
            <a:off x="2743200" y="3561408"/>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9</a:t>
            </a:r>
            <a:endParaRPr b="1" sz="1800">
              <a:solidFill>
                <a:srgbClr val="FF0000"/>
              </a:solidFill>
              <a:latin typeface="Times New Roman"/>
              <a:ea typeface="Times New Roman"/>
              <a:cs typeface="Times New Roman"/>
              <a:sym typeface="Times New Roman"/>
            </a:endParaRPr>
          </a:p>
        </p:txBody>
      </p:sp>
      <p:sp>
        <p:nvSpPr>
          <p:cNvPr id="530" name="Google Shape;530;p25"/>
          <p:cNvSpPr txBox="1"/>
          <p:nvPr/>
        </p:nvSpPr>
        <p:spPr>
          <a:xfrm>
            <a:off x="3076575" y="3199458"/>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8</a:t>
            </a:r>
            <a:endParaRPr b="1" sz="1800">
              <a:solidFill>
                <a:srgbClr val="FF0000"/>
              </a:solidFill>
              <a:latin typeface="Times New Roman"/>
              <a:ea typeface="Times New Roman"/>
              <a:cs typeface="Times New Roman"/>
              <a:sym typeface="Times New Roman"/>
            </a:endParaRPr>
          </a:p>
        </p:txBody>
      </p:sp>
      <p:sp>
        <p:nvSpPr>
          <p:cNvPr id="531" name="Google Shape;531;p25"/>
          <p:cNvSpPr txBox="1"/>
          <p:nvPr/>
        </p:nvSpPr>
        <p:spPr>
          <a:xfrm>
            <a:off x="3057525" y="3999558"/>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14</a:t>
            </a:r>
            <a:endParaRPr b="1" sz="1800">
              <a:solidFill>
                <a:srgbClr val="FF0000"/>
              </a:solidFill>
              <a:latin typeface="Times New Roman"/>
              <a:ea typeface="Times New Roman"/>
              <a:cs typeface="Times New Roman"/>
              <a:sym typeface="Times New Roman"/>
            </a:endParaRPr>
          </a:p>
        </p:txBody>
      </p:sp>
      <p:sp>
        <p:nvSpPr>
          <p:cNvPr id="532" name="Google Shape;532;p25"/>
          <p:cNvSpPr txBox="1"/>
          <p:nvPr/>
        </p:nvSpPr>
        <p:spPr>
          <a:xfrm>
            <a:off x="1752600" y="3523308"/>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16</a:t>
            </a:r>
            <a:endParaRPr b="1" sz="1800">
              <a:solidFill>
                <a:srgbClr val="FF0000"/>
              </a:solidFill>
              <a:latin typeface="Times New Roman"/>
              <a:ea typeface="Times New Roman"/>
              <a:cs typeface="Times New Roman"/>
              <a:sym typeface="Times New Roman"/>
            </a:endParaRPr>
          </a:p>
        </p:txBody>
      </p:sp>
      <p:sp>
        <p:nvSpPr>
          <p:cNvPr id="533" name="Google Shape;533;p25"/>
          <p:cNvSpPr txBox="1"/>
          <p:nvPr/>
        </p:nvSpPr>
        <p:spPr>
          <a:xfrm>
            <a:off x="1143000" y="3523308"/>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18</a:t>
            </a:r>
            <a:endParaRPr b="1" sz="1800">
              <a:solidFill>
                <a:srgbClr val="FF0000"/>
              </a:solidFill>
              <a:latin typeface="Times New Roman"/>
              <a:ea typeface="Times New Roman"/>
              <a:cs typeface="Times New Roman"/>
              <a:sym typeface="Times New Roman"/>
            </a:endParaRPr>
          </a:p>
        </p:txBody>
      </p:sp>
      <p:sp>
        <p:nvSpPr>
          <p:cNvPr id="534" name="Google Shape;534;p25"/>
          <p:cNvSpPr txBox="1"/>
          <p:nvPr/>
        </p:nvSpPr>
        <p:spPr>
          <a:xfrm>
            <a:off x="838200" y="3066108"/>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33</a:t>
            </a:r>
            <a:endParaRPr b="1" sz="1800">
              <a:solidFill>
                <a:srgbClr val="FF0000"/>
              </a:solidFill>
              <a:latin typeface="Times New Roman"/>
              <a:ea typeface="Times New Roman"/>
              <a:cs typeface="Times New Roman"/>
              <a:sym typeface="Times New Roman"/>
            </a:endParaRPr>
          </a:p>
        </p:txBody>
      </p:sp>
      <p:sp>
        <p:nvSpPr>
          <p:cNvPr id="535" name="Google Shape;535;p25"/>
          <p:cNvSpPr txBox="1"/>
          <p:nvPr/>
        </p:nvSpPr>
        <p:spPr>
          <a:xfrm>
            <a:off x="838200" y="4056708"/>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FF0000"/>
                </a:solidFill>
                <a:latin typeface="Calibri"/>
                <a:ea typeface="Calibri"/>
                <a:cs typeface="Calibri"/>
                <a:sym typeface="Calibri"/>
              </a:rPr>
              <a:t>17</a:t>
            </a:r>
            <a:endParaRPr b="1" sz="1800">
              <a:solidFill>
                <a:srgbClr val="FF0000"/>
              </a:solidFill>
              <a:latin typeface="Times New Roman"/>
              <a:ea typeface="Times New Roman"/>
              <a:cs typeface="Times New Roman"/>
              <a:sym typeface="Times New Roman"/>
            </a:endParaRPr>
          </a:p>
        </p:txBody>
      </p:sp>
      <p:sp>
        <p:nvSpPr>
          <p:cNvPr id="536" name="Google Shape;536;p25"/>
          <p:cNvSpPr/>
          <p:nvPr/>
        </p:nvSpPr>
        <p:spPr>
          <a:xfrm>
            <a:off x="685800" y="3599508"/>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1</a:t>
            </a:r>
            <a:endParaRPr/>
          </a:p>
        </p:txBody>
      </p:sp>
      <p:sp>
        <p:nvSpPr>
          <p:cNvPr id="537" name="Google Shape;537;p25"/>
          <p:cNvSpPr/>
          <p:nvPr/>
        </p:nvSpPr>
        <p:spPr>
          <a:xfrm>
            <a:off x="1371600" y="2913708"/>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2</a:t>
            </a:r>
            <a:endParaRPr/>
          </a:p>
        </p:txBody>
      </p:sp>
      <p:sp>
        <p:nvSpPr>
          <p:cNvPr id="538" name="Google Shape;538;p25"/>
          <p:cNvSpPr/>
          <p:nvPr/>
        </p:nvSpPr>
        <p:spPr>
          <a:xfrm>
            <a:off x="1447800" y="4361508"/>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3</a:t>
            </a:r>
            <a:endParaRPr/>
          </a:p>
        </p:txBody>
      </p:sp>
      <p:sp>
        <p:nvSpPr>
          <p:cNvPr id="539" name="Google Shape;539;p25"/>
          <p:cNvSpPr/>
          <p:nvPr/>
        </p:nvSpPr>
        <p:spPr>
          <a:xfrm>
            <a:off x="2667000" y="2913708"/>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4</a:t>
            </a:r>
            <a:endParaRPr/>
          </a:p>
        </p:txBody>
      </p:sp>
      <p:sp>
        <p:nvSpPr>
          <p:cNvPr id="540" name="Google Shape;540;p25"/>
          <p:cNvSpPr/>
          <p:nvPr/>
        </p:nvSpPr>
        <p:spPr>
          <a:xfrm>
            <a:off x="2667000" y="4285308"/>
            <a:ext cx="304800" cy="304800"/>
          </a:xfrm>
          <a:prstGeom prst="ellipse">
            <a:avLst/>
          </a:prstGeom>
          <a:solidFill>
            <a:srgbClr val="FF0000"/>
          </a:solidFill>
          <a:ln cap="flat" cmpd="sng" w="28575">
            <a:solidFill>
              <a:srgbClr val="C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5</a:t>
            </a:r>
            <a:endParaRPr/>
          </a:p>
        </p:txBody>
      </p:sp>
      <p:sp>
        <p:nvSpPr>
          <p:cNvPr id="541" name="Google Shape;541;p25"/>
          <p:cNvSpPr/>
          <p:nvPr/>
        </p:nvSpPr>
        <p:spPr>
          <a:xfrm>
            <a:off x="3352800" y="3599508"/>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6</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26"/>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t>Cây tối đại ngắn nhất</a:t>
            </a:r>
            <a:endParaRPr b="1" sz="3600"/>
          </a:p>
        </p:txBody>
      </p:sp>
      <p:sp>
        <p:nvSpPr>
          <p:cNvPr id="547" name="Google Shape;547;p26"/>
          <p:cNvSpPr txBox="1"/>
          <p:nvPr>
            <p:ph idx="1" type="body"/>
          </p:nvPr>
        </p:nvSpPr>
        <p:spPr>
          <a:xfrm>
            <a:off x="457200" y="1600200"/>
            <a:ext cx="4343400" cy="4525963"/>
          </a:xfrm>
          <a:prstGeom prst="rect">
            <a:avLst/>
          </a:prstGeom>
          <a:solidFill>
            <a:srgbClr val="EAEAEA"/>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solidFill>
                <a:srgbClr val="0033CC"/>
              </a:solidFill>
            </a:endParaRPr>
          </a:p>
          <a:p>
            <a:pPr indent="-165100" lvl="0" marL="342900" rtl="0" algn="l">
              <a:spcBef>
                <a:spcPts val="560"/>
              </a:spcBef>
              <a:spcAft>
                <a:spcPts val="0"/>
              </a:spcAft>
              <a:buClr>
                <a:schemeClr val="dk1"/>
              </a:buClr>
              <a:buSzPts val="2800"/>
              <a:buNone/>
            </a:pPr>
            <a:r>
              <a:t/>
            </a:r>
            <a:endParaRPr/>
          </a:p>
        </p:txBody>
      </p:sp>
      <p:sp>
        <p:nvSpPr>
          <p:cNvPr id="548" name="Google Shape;548;p26"/>
          <p:cNvSpPr txBox="1"/>
          <p:nvPr>
            <p:ph idx="2" type="body"/>
          </p:nvPr>
        </p:nvSpPr>
        <p:spPr>
          <a:xfrm>
            <a:off x="4953000" y="1600200"/>
            <a:ext cx="3733800" cy="4525963"/>
          </a:xfrm>
          <a:prstGeom prst="rect">
            <a:avLst/>
          </a:prstGeom>
          <a:solidFill>
            <a:srgbClr val="EAEAEA"/>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33CC"/>
              </a:buClr>
              <a:buSzPts val="2400"/>
              <a:buFont typeface="Noto Sans Symbols"/>
              <a:buChar char="✔"/>
            </a:pPr>
            <a:r>
              <a:rPr lang="en-US" sz="2400">
                <a:solidFill>
                  <a:srgbClr val="0033CC"/>
                </a:solidFill>
              </a:rPr>
              <a:t>E = {AD, DE, EB, AC, CC, FC, AF, CE, AB, BC, DB}</a:t>
            </a:r>
            <a:endParaRPr/>
          </a:p>
          <a:p>
            <a:pPr indent="-342900" lvl="0" marL="342900" rtl="0" algn="l">
              <a:spcBef>
                <a:spcPts val="480"/>
              </a:spcBef>
              <a:spcAft>
                <a:spcPts val="0"/>
              </a:spcAft>
              <a:buClr>
                <a:srgbClr val="0033CC"/>
              </a:buClr>
              <a:buSzPts val="2400"/>
              <a:buFont typeface="Noto Sans Symbols"/>
              <a:buChar char="✔"/>
            </a:pPr>
            <a:r>
              <a:rPr lang="en-US" sz="2400">
                <a:solidFill>
                  <a:srgbClr val="0033CC"/>
                </a:solidFill>
              </a:rPr>
              <a:t>Trọng lượng: 32 </a:t>
            </a:r>
            <a:endParaRPr sz="2400">
              <a:solidFill>
                <a:srgbClr val="0033CC"/>
              </a:solidFill>
            </a:endParaRPr>
          </a:p>
          <a:p>
            <a:pPr indent="-165100" lvl="0" marL="342900" rtl="0" algn="l">
              <a:spcBef>
                <a:spcPts val="560"/>
              </a:spcBef>
              <a:spcAft>
                <a:spcPts val="0"/>
              </a:spcAft>
              <a:buClr>
                <a:schemeClr val="dk1"/>
              </a:buClr>
              <a:buSzPts val="2800"/>
              <a:buNone/>
            </a:pPr>
            <a:r>
              <a:t/>
            </a:r>
            <a:endParaRPr/>
          </a:p>
        </p:txBody>
      </p:sp>
      <p:sp>
        <p:nvSpPr>
          <p:cNvPr id="549" name="Google Shape;549;p26"/>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550" name="Google Shape;550;p26"/>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51" name="Google Shape;551;p26"/>
          <p:cNvSpPr/>
          <p:nvPr/>
        </p:nvSpPr>
        <p:spPr>
          <a:xfrm>
            <a:off x="2209800" y="4810125"/>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C</a:t>
            </a:r>
            <a:endParaRPr b="0" sz="2400">
              <a:solidFill>
                <a:srgbClr val="0033CC"/>
              </a:solidFill>
              <a:latin typeface="Arial"/>
              <a:ea typeface="Arial"/>
              <a:cs typeface="Arial"/>
              <a:sym typeface="Arial"/>
            </a:endParaRPr>
          </a:p>
        </p:txBody>
      </p:sp>
      <p:sp>
        <p:nvSpPr>
          <p:cNvPr id="552" name="Google Shape;552;p26"/>
          <p:cNvSpPr/>
          <p:nvPr/>
        </p:nvSpPr>
        <p:spPr>
          <a:xfrm>
            <a:off x="1828800" y="3209925"/>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A</a:t>
            </a:r>
            <a:endParaRPr b="0" sz="2400">
              <a:solidFill>
                <a:srgbClr val="0033CC"/>
              </a:solidFill>
              <a:latin typeface="Arial"/>
              <a:ea typeface="Arial"/>
              <a:cs typeface="Arial"/>
              <a:sym typeface="Arial"/>
            </a:endParaRPr>
          </a:p>
        </p:txBody>
      </p:sp>
      <p:sp>
        <p:nvSpPr>
          <p:cNvPr id="553" name="Google Shape;553;p26"/>
          <p:cNvSpPr/>
          <p:nvPr/>
        </p:nvSpPr>
        <p:spPr>
          <a:xfrm>
            <a:off x="2891982" y="2901501"/>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B</a:t>
            </a:r>
            <a:endParaRPr b="0" sz="2400">
              <a:solidFill>
                <a:srgbClr val="0033CC"/>
              </a:solidFill>
              <a:latin typeface="Arial"/>
              <a:ea typeface="Arial"/>
              <a:cs typeface="Arial"/>
              <a:sym typeface="Arial"/>
            </a:endParaRPr>
          </a:p>
        </p:txBody>
      </p:sp>
      <p:cxnSp>
        <p:nvCxnSpPr>
          <p:cNvPr id="554" name="Google Shape;554;p26"/>
          <p:cNvCxnSpPr>
            <a:stCxn id="552" idx="6"/>
            <a:endCxn id="553" idx="2"/>
          </p:cNvCxnSpPr>
          <p:nvPr/>
        </p:nvCxnSpPr>
        <p:spPr>
          <a:xfrm flipH="1" rot="10800000">
            <a:off x="2362200" y="3206325"/>
            <a:ext cx="529800" cy="308400"/>
          </a:xfrm>
          <a:prstGeom prst="straightConnector1">
            <a:avLst/>
          </a:prstGeom>
          <a:noFill/>
          <a:ln cap="flat" cmpd="sng" w="38100">
            <a:solidFill>
              <a:srgbClr val="002060"/>
            </a:solidFill>
            <a:prstDash val="solid"/>
            <a:round/>
            <a:headEnd len="med" w="med" type="none"/>
            <a:tailEnd len="med" w="med" type="none"/>
          </a:ln>
        </p:spPr>
      </p:cxnSp>
      <p:cxnSp>
        <p:nvCxnSpPr>
          <p:cNvPr id="555" name="Google Shape;555;p26"/>
          <p:cNvCxnSpPr>
            <a:stCxn id="552" idx="4"/>
            <a:endCxn id="551" idx="0"/>
          </p:cNvCxnSpPr>
          <p:nvPr/>
        </p:nvCxnSpPr>
        <p:spPr>
          <a:xfrm>
            <a:off x="2095500" y="3819525"/>
            <a:ext cx="381000" cy="990600"/>
          </a:xfrm>
          <a:prstGeom prst="straightConnector1">
            <a:avLst/>
          </a:prstGeom>
          <a:noFill/>
          <a:ln cap="flat" cmpd="sng" w="38100">
            <a:solidFill>
              <a:srgbClr val="002060"/>
            </a:solidFill>
            <a:prstDash val="solid"/>
            <a:round/>
            <a:headEnd len="med" w="med" type="none"/>
            <a:tailEnd len="med" w="med" type="none"/>
          </a:ln>
        </p:spPr>
      </p:cxnSp>
      <p:sp>
        <p:nvSpPr>
          <p:cNvPr id="556" name="Google Shape;556;p26"/>
          <p:cNvSpPr/>
          <p:nvPr/>
        </p:nvSpPr>
        <p:spPr>
          <a:xfrm>
            <a:off x="4118448" y="2433417"/>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D</a:t>
            </a:r>
            <a:endParaRPr b="0" sz="2400">
              <a:solidFill>
                <a:srgbClr val="0033CC"/>
              </a:solidFill>
              <a:latin typeface="Arial"/>
              <a:ea typeface="Arial"/>
              <a:cs typeface="Arial"/>
              <a:sym typeface="Arial"/>
            </a:endParaRPr>
          </a:p>
        </p:txBody>
      </p:sp>
      <p:sp>
        <p:nvSpPr>
          <p:cNvPr id="557" name="Google Shape;557;p26"/>
          <p:cNvSpPr/>
          <p:nvPr/>
        </p:nvSpPr>
        <p:spPr>
          <a:xfrm>
            <a:off x="3585048" y="4338417"/>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E</a:t>
            </a:r>
            <a:endParaRPr b="0" sz="2400">
              <a:solidFill>
                <a:srgbClr val="0033CC"/>
              </a:solidFill>
              <a:latin typeface="Arial"/>
              <a:ea typeface="Arial"/>
              <a:cs typeface="Arial"/>
              <a:sym typeface="Arial"/>
            </a:endParaRPr>
          </a:p>
        </p:txBody>
      </p:sp>
      <p:cxnSp>
        <p:nvCxnSpPr>
          <p:cNvPr id="558" name="Google Shape;558;p26"/>
          <p:cNvCxnSpPr>
            <a:stCxn id="553" idx="6"/>
            <a:endCxn id="556" idx="2"/>
          </p:cNvCxnSpPr>
          <p:nvPr/>
        </p:nvCxnSpPr>
        <p:spPr>
          <a:xfrm flipH="1" rot="10800000">
            <a:off x="3425382" y="2738301"/>
            <a:ext cx="693000" cy="468000"/>
          </a:xfrm>
          <a:prstGeom prst="straightConnector1">
            <a:avLst/>
          </a:prstGeom>
          <a:noFill/>
          <a:ln cap="flat" cmpd="sng" w="38100">
            <a:solidFill>
              <a:srgbClr val="002060"/>
            </a:solidFill>
            <a:prstDash val="solid"/>
            <a:round/>
            <a:headEnd len="med" w="med" type="none"/>
            <a:tailEnd len="med" w="med" type="none"/>
          </a:ln>
        </p:spPr>
      </p:cxnSp>
      <p:cxnSp>
        <p:nvCxnSpPr>
          <p:cNvPr id="559" name="Google Shape;559;p26"/>
          <p:cNvCxnSpPr>
            <a:endCxn id="557" idx="1"/>
          </p:cNvCxnSpPr>
          <p:nvPr/>
        </p:nvCxnSpPr>
        <p:spPr>
          <a:xfrm>
            <a:off x="3164263" y="3511191"/>
            <a:ext cx="498900" cy="916500"/>
          </a:xfrm>
          <a:prstGeom prst="straightConnector1">
            <a:avLst/>
          </a:prstGeom>
          <a:noFill/>
          <a:ln cap="flat" cmpd="sng" w="38100">
            <a:solidFill>
              <a:srgbClr val="002060"/>
            </a:solidFill>
            <a:prstDash val="solid"/>
            <a:round/>
            <a:headEnd len="med" w="med" type="none"/>
            <a:tailEnd len="med" w="med" type="none"/>
          </a:ln>
        </p:spPr>
      </p:cxnSp>
      <p:sp>
        <p:nvSpPr>
          <p:cNvPr id="560" name="Google Shape;560;p26"/>
          <p:cNvSpPr/>
          <p:nvPr/>
        </p:nvSpPr>
        <p:spPr>
          <a:xfrm>
            <a:off x="457200" y="3895725"/>
            <a:ext cx="533400" cy="609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ctr">
              <a:spcBef>
                <a:spcPts val="0"/>
              </a:spcBef>
              <a:spcAft>
                <a:spcPts val="0"/>
              </a:spcAft>
              <a:buNone/>
            </a:pPr>
            <a:r>
              <a:rPr b="0" lang="en-US" sz="2400">
                <a:solidFill>
                  <a:srgbClr val="0033CC"/>
                </a:solidFill>
                <a:latin typeface="Arial"/>
                <a:ea typeface="Arial"/>
                <a:cs typeface="Arial"/>
                <a:sym typeface="Arial"/>
              </a:rPr>
              <a:t>F</a:t>
            </a:r>
            <a:endParaRPr b="0" sz="2400">
              <a:solidFill>
                <a:srgbClr val="0033CC"/>
              </a:solidFill>
              <a:latin typeface="Arial"/>
              <a:ea typeface="Arial"/>
              <a:cs typeface="Arial"/>
              <a:sym typeface="Arial"/>
            </a:endParaRPr>
          </a:p>
        </p:txBody>
      </p:sp>
      <p:cxnSp>
        <p:nvCxnSpPr>
          <p:cNvPr id="561" name="Google Shape;561;p26"/>
          <p:cNvCxnSpPr>
            <a:stCxn id="560" idx="7"/>
            <a:endCxn id="552" idx="2"/>
          </p:cNvCxnSpPr>
          <p:nvPr/>
        </p:nvCxnSpPr>
        <p:spPr>
          <a:xfrm flipH="1" rot="10800000">
            <a:off x="912485" y="3514599"/>
            <a:ext cx="916200" cy="470400"/>
          </a:xfrm>
          <a:prstGeom prst="straightConnector1">
            <a:avLst/>
          </a:prstGeom>
          <a:noFill/>
          <a:ln cap="flat" cmpd="sng" w="38100">
            <a:solidFill>
              <a:srgbClr val="002060"/>
            </a:solidFill>
            <a:prstDash val="solid"/>
            <a:round/>
            <a:headEnd len="med" w="med" type="none"/>
            <a:tailEnd len="med" w="med" type="none"/>
          </a:ln>
        </p:spPr>
      </p:cxnSp>
      <p:cxnSp>
        <p:nvCxnSpPr>
          <p:cNvPr id="562" name="Google Shape;562;p26"/>
          <p:cNvCxnSpPr>
            <a:stCxn id="560" idx="5"/>
            <a:endCxn id="551" idx="2"/>
          </p:cNvCxnSpPr>
          <p:nvPr/>
        </p:nvCxnSpPr>
        <p:spPr>
          <a:xfrm>
            <a:off x="912485" y="4416051"/>
            <a:ext cx="1297200" cy="699000"/>
          </a:xfrm>
          <a:prstGeom prst="straightConnector1">
            <a:avLst/>
          </a:prstGeom>
          <a:noFill/>
          <a:ln cap="flat" cmpd="sng" w="38100">
            <a:solidFill>
              <a:srgbClr val="002060"/>
            </a:solidFill>
            <a:prstDash val="solid"/>
            <a:round/>
            <a:headEnd len="med" w="med" type="none"/>
            <a:tailEnd len="med" w="med" type="none"/>
          </a:ln>
        </p:spPr>
      </p:cxnSp>
      <p:cxnSp>
        <p:nvCxnSpPr>
          <p:cNvPr id="563" name="Google Shape;563;p26"/>
          <p:cNvCxnSpPr>
            <a:stCxn id="551" idx="6"/>
            <a:endCxn id="557" idx="2"/>
          </p:cNvCxnSpPr>
          <p:nvPr/>
        </p:nvCxnSpPr>
        <p:spPr>
          <a:xfrm flipH="1" rot="10800000">
            <a:off x="2743200" y="4643325"/>
            <a:ext cx="841800" cy="471600"/>
          </a:xfrm>
          <a:prstGeom prst="straightConnector1">
            <a:avLst/>
          </a:prstGeom>
          <a:noFill/>
          <a:ln cap="flat" cmpd="sng" w="38100">
            <a:solidFill>
              <a:srgbClr val="002060"/>
            </a:solidFill>
            <a:prstDash val="solid"/>
            <a:round/>
            <a:headEnd len="med" w="med" type="none"/>
            <a:tailEnd len="med" w="med" type="none"/>
          </a:ln>
        </p:spPr>
      </p:cxnSp>
      <p:cxnSp>
        <p:nvCxnSpPr>
          <p:cNvPr id="564" name="Google Shape;564;p26"/>
          <p:cNvCxnSpPr>
            <a:stCxn id="557" idx="7"/>
            <a:endCxn id="556" idx="4"/>
          </p:cNvCxnSpPr>
          <p:nvPr/>
        </p:nvCxnSpPr>
        <p:spPr>
          <a:xfrm flipH="1" rot="10800000">
            <a:off x="4040333" y="3042891"/>
            <a:ext cx="344700" cy="1384800"/>
          </a:xfrm>
          <a:prstGeom prst="straightConnector1">
            <a:avLst/>
          </a:prstGeom>
          <a:noFill/>
          <a:ln cap="flat" cmpd="sng" w="38100">
            <a:solidFill>
              <a:srgbClr val="002060"/>
            </a:solidFill>
            <a:prstDash val="solid"/>
            <a:round/>
            <a:headEnd len="med" w="med" type="none"/>
            <a:tailEnd len="med" w="med" type="none"/>
          </a:ln>
        </p:spPr>
      </p:cxnSp>
      <p:cxnSp>
        <p:nvCxnSpPr>
          <p:cNvPr id="565" name="Google Shape;565;p26"/>
          <p:cNvCxnSpPr>
            <a:stCxn id="553" idx="3"/>
            <a:endCxn id="551" idx="7"/>
          </p:cNvCxnSpPr>
          <p:nvPr/>
        </p:nvCxnSpPr>
        <p:spPr>
          <a:xfrm flipH="1">
            <a:off x="2664997" y="3421827"/>
            <a:ext cx="305100" cy="1477500"/>
          </a:xfrm>
          <a:prstGeom prst="straightConnector1">
            <a:avLst/>
          </a:prstGeom>
          <a:noFill/>
          <a:ln cap="flat" cmpd="sng" w="38100">
            <a:solidFill>
              <a:srgbClr val="002060"/>
            </a:solidFill>
            <a:prstDash val="solid"/>
            <a:round/>
            <a:headEnd len="med" w="med" type="none"/>
            <a:tailEnd len="med" w="med" type="none"/>
          </a:ln>
        </p:spPr>
      </p:cxnSp>
      <p:cxnSp>
        <p:nvCxnSpPr>
          <p:cNvPr id="566" name="Google Shape;566;p26"/>
          <p:cNvCxnSpPr>
            <a:stCxn id="556" idx="1"/>
            <a:endCxn id="552" idx="0"/>
          </p:cNvCxnSpPr>
          <p:nvPr/>
        </p:nvCxnSpPr>
        <p:spPr>
          <a:xfrm rot="5400000">
            <a:off x="2802313" y="1815741"/>
            <a:ext cx="687300" cy="2101200"/>
          </a:xfrm>
          <a:prstGeom prst="curvedConnector3">
            <a:avLst>
              <a:gd fmla="val -46250" name="adj1"/>
            </a:avLst>
          </a:prstGeom>
          <a:noFill/>
          <a:ln cap="flat" cmpd="sng" w="38100">
            <a:solidFill>
              <a:srgbClr val="002060"/>
            </a:solidFill>
            <a:prstDash val="solid"/>
            <a:round/>
            <a:headEnd len="med" w="med" type="none"/>
            <a:tailEnd len="med" w="med" type="none"/>
          </a:ln>
        </p:spPr>
      </p:cxnSp>
      <p:cxnSp>
        <p:nvCxnSpPr>
          <p:cNvPr id="567" name="Google Shape;567;p26"/>
          <p:cNvCxnSpPr>
            <a:stCxn id="551" idx="5"/>
            <a:endCxn id="551" idx="2"/>
          </p:cNvCxnSpPr>
          <p:nvPr/>
        </p:nvCxnSpPr>
        <p:spPr>
          <a:xfrm flipH="1" rot="5400000">
            <a:off x="2329685" y="4995051"/>
            <a:ext cx="215400" cy="455400"/>
          </a:xfrm>
          <a:prstGeom prst="curvedConnector4">
            <a:avLst>
              <a:gd fmla="val -281292" name="adj1"/>
              <a:gd fmla="val 219187" name="adj2"/>
            </a:avLst>
          </a:prstGeom>
          <a:noFill/>
          <a:ln cap="flat" cmpd="sng" w="38100">
            <a:solidFill>
              <a:srgbClr val="002060"/>
            </a:solidFill>
            <a:prstDash val="solid"/>
            <a:round/>
            <a:headEnd len="med" w="med" type="none"/>
            <a:tailEnd len="med" w="med" type="none"/>
          </a:ln>
        </p:spPr>
      </p:cxnSp>
      <p:sp>
        <p:nvSpPr>
          <p:cNvPr id="568" name="Google Shape;568;p26"/>
          <p:cNvSpPr txBox="1"/>
          <p:nvPr/>
        </p:nvSpPr>
        <p:spPr>
          <a:xfrm>
            <a:off x="1066800" y="3438525"/>
            <a:ext cx="45720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2060"/>
                </a:solidFill>
                <a:latin typeface="Times New Roman"/>
                <a:ea typeface="Times New Roman"/>
                <a:cs typeface="Times New Roman"/>
                <a:sym typeface="Times New Roman"/>
              </a:rPr>
              <a:t>10</a:t>
            </a:r>
            <a:endParaRPr sz="1800">
              <a:solidFill>
                <a:srgbClr val="002060"/>
              </a:solidFill>
              <a:latin typeface="Times New Roman"/>
              <a:ea typeface="Times New Roman"/>
              <a:cs typeface="Times New Roman"/>
              <a:sym typeface="Times New Roman"/>
            </a:endParaRPr>
          </a:p>
        </p:txBody>
      </p:sp>
      <p:sp>
        <p:nvSpPr>
          <p:cNvPr id="569" name="Google Shape;569;p26"/>
          <p:cNvSpPr txBox="1"/>
          <p:nvPr/>
        </p:nvSpPr>
        <p:spPr>
          <a:xfrm>
            <a:off x="2362200" y="3024981"/>
            <a:ext cx="45720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2060"/>
                </a:solidFill>
                <a:latin typeface="Times New Roman"/>
                <a:ea typeface="Times New Roman"/>
                <a:cs typeface="Times New Roman"/>
                <a:sym typeface="Times New Roman"/>
              </a:rPr>
              <a:t>12</a:t>
            </a:r>
            <a:endParaRPr sz="1800">
              <a:solidFill>
                <a:srgbClr val="002060"/>
              </a:solidFill>
              <a:latin typeface="Times New Roman"/>
              <a:ea typeface="Times New Roman"/>
              <a:cs typeface="Times New Roman"/>
              <a:sym typeface="Times New Roman"/>
            </a:endParaRPr>
          </a:p>
        </p:txBody>
      </p:sp>
      <p:sp>
        <p:nvSpPr>
          <p:cNvPr id="570" name="Google Shape;570;p26"/>
          <p:cNvSpPr txBox="1"/>
          <p:nvPr/>
        </p:nvSpPr>
        <p:spPr>
          <a:xfrm>
            <a:off x="1447800" y="4429125"/>
            <a:ext cx="457200" cy="3698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2060"/>
                </a:solidFill>
                <a:latin typeface="Times New Roman"/>
                <a:ea typeface="Times New Roman"/>
                <a:cs typeface="Times New Roman"/>
                <a:sym typeface="Times New Roman"/>
              </a:rPr>
              <a:t>9</a:t>
            </a:r>
            <a:endParaRPr sz="1800">
              <a:solidFill>
                <a:srgbClr val="002060"/>
              </a:solidFill>
              <a:latin typeface="Times New Roman"/>
              <a:ea typeface="Times New Roman"/>
              <a:cs typeface="Times New Roman"/>
              <a:sym typeface="Times New Roman"/>
            </a:endParaRPr>
          </a:p>
        </p:txBody>
      </p:sp>
      <p:sp>
        <p:nvSpPr>
          <p:cNvPr id="571" name="Google Shape;571;p26"/>
          <p:cNvSpPr txBox="1"/>
          <p:nvPr/>
        </p:nvSpPr>
        <p:spPr>
          <a:xfrm>
            <a:off x="2209800" y="3895725"/>
            <a:ext cx="457200" cy="3698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2060"/>
                </a:solidFill>
                <a:latin typeface="Times New Roman"/>
                <a:ea typeface="Times New Roman"/>
                <a:cs typeface="Times New Roman"/>
                <a:sym typeface="Times New Roman"/>
              </a:rPr>
              <a:t>7</a:t>
            </a:r>
            <a:endParaRPr sz="1800">
              <a:solidFill>
                <a:srgbClr val="002060"/>
              </a:solidFill>
              <a:latin typeface="Times New Roman"/>
              <a:ea typeface="Times New Roman"/>
              <a:cs typeface="Times New Roman"/>
              <a:sym typeface="Times New Roman"/>
            </a:endParaRPr>
          </a:p>
        </p:txBody>
      </p:sp>
      <p:sp>
        <p:nvSpPr>
          <p:cNvPr id="572" name="Google Shape;572;p26"/>
          <p:cNvSpPr txBox="1"/>
          <p:nvPr/>
        </p:nvSpPr>
        <p:spPr>
          <a:xfrm>
            <a:off x="2701482" y="4086570"/>
            <a:ext cx="457200" cy="3698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2060"/>
                </a:solidFill>
                <a:latin typeface="Times New Roman"/>
                <a:ea typeface="Times New Roman"/>
                <a:cs typeface="Times New Roman"/>
                <a:sym typeface="Times New Roman"/>
              </a:rPr>
              <a:t>15</a:t>
            </a:r>
            <a:endParaRPr sz="1800">
              <a:solidFill>
                <a:srgbClr val="002060"/>
              </a:solidFill>
              <a:latin typeface="Times New Roman"/>
              <a:ea typeface="Times New Roman"/>
              <a:cs typeface="Times New Roman"/>
              <a:sym typeface="Times New Roman"/>
            </a:endParaRPr>
          </a:p>
        </p:txBody>
      </p:sp>
      <p:sp>
        <p:nvSpPr>
          <p:cNvPr id="573" name="Google Shape;573;p26"/>
          <p:cNvSpPr txBox="1"/>
          <p:nvPr/>
        </p:nvSpPr>
        <p:spPr>
          <a:xfrm>
            <a:off x="3302000" y="3709420"/>
            <a:ext cx="457200" cy="3698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2060"/>
                </a:solidFill>
                <a:latin typeface="Times New Roman"/>
                <a:ea typeface="Times New Roman"/>
                <a:cs typeface="Times New Roman"/>
                <a:sym typeface="Times New Roman"/>
              </a:rPr>
              <a:t>6</a:t>
            </a:r>
            <a:endParaRPr sz="1800">
              <a:solidFill>
                <a:srgbClr val="002060"/>
              </a:solidFill>
              <a:latin typeface="Times New Roman"/>
              <a:ea typeface="Times New Roman"/>
              <a:cs typeface="Times New Roman"/>
              <a:sym typeface="Times New Roman"/>
            </a:endParaRPr>
          </a:p>
        </p:txBody>
      </p:sp>
      <p:sp>
        <p:nvSpPr>
          <p:cNvPr id="574" name="Google Shape;574;p26"/>
          <p:cNvSpPr txBox="1"/>
          <p:nvPr/>
        </p:nvSpPr>
        <p:spPr>
          <a:xfrm>
            <a:off x="2746867" y="2219325"/>
            <a:ext cx="457200" cy="3698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2060"/>
                </a:solidFill>
                <a:latin typeface="Times New Roman"/>
                <a:ea typeface="Times New Roman"/>
                <a:cs typeface="Times New Roman"/>
                <a:sym typeface="Times New Roman"/>
              </a:rPr>
              <a:t>5</a:t>
            </a:r>
            <a:endParaRPr sz="1800">
              <a:solidFill>
                <a:srgbClr val="002060"/>
              </a:solidFill>
              <a:latin typeface="Times New Roman"/>
              <a:ea typeface="Times New Roman"/>
              <a:cs typeface="Times New Roman"/>
              <a:sym typeface="Times New Roman"/>
            </a:endParaRPr>
          </a:p>
        </p:txBody>
      </p:sp>
      <p:sp>
        <p:nvSpPr>
          <p:cNvPr id="575" name="Google Shape;575;p26"/>
          <p:cNvSpPr txBox="1"/>
          <p:nvPr/>
        </p:nvSpPr>
        <p:spPr>
          <a:xfrm>
            <a:off x="4118448" y="3576417"/>
            <a:ext cx="457200" cy="3698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2060"/>
                </a:solidFill>
                <a:latin typeface="Times New Roman"/>
                <a:ea typeface="Times New Roman"/>
                <a:cs typeface="Times New Roman"/>
                <a:sym typeface="Times New Roman"/>
              </a:rPr>
              <a:t>5</a:t>
            </a:r>
            <a:endParaRPr sz="1800">
              <a:solidFill>
                <a:srgbClr val="002060"/>
              </a:solidFill>
              <a:latin typeface="Times New Roman"/>
              <a:ea typeface="Times New Roman"/>
              <a:cs typeface="Times New Roman"/>
              <a:sym typeface="Times New Roman"/>
            </a:endParaRPr>
          </a:p>
        </p:txBody>
      </p:sp>
      <p:sp>
        <p:nvSpPr>
          <p:cNvPr id="576" name="Google Shape;576;p26"/>
          <p:cNvSpPr txBox="1"/>
          <p:nvPr/>
        </p:nvSpPr>
        <p:spPr>
          <a:xfrm>
            <a:off x="3276600" y="4962525"/>
            <a:ext cx="457200" cy="3698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2060"/>
                </a:solidFill>
                <a:latin typeface="Times New Roman"/>
                <a:ea typeface="Times New Roman"/>
                <a:cs typeface="Times New Roman"/>
                <a:sym typeface="Times New Roman"/>
              </a:rPr>
              <a:t>10</a:t>
            </a:r>
            <a:endParaRPr sz="1800">
              <a:solidFill>
                <a:srgbClr val="002060"/>
              </a:solidFill>
              <a:latin typeface="Times New Roman"/>
              <a:ea typeface="Times New Roman"/>
              <a:cs typeface="Times New Roman"/>
              <a:sym typeface="Times New Roman"/>
            </a:endParaRPr>
          </a:p>
        </p:txBody>
      </p:sp>
      <p:sp>
        <p:nvSpPr>
          <p:cNvPr id="577" name="Google Shape;577;p26"/>
          <p:cNvSpPr txBox="1"/>
          <p:nvPr/>
        </p:nvSpPr>
        <p:spPr>
          <a:xfrm>
            <a:off x="1752600" y="5495925"/>
            <a:ext cx="457200" cy="3698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002060"/>
                </a:solidFill>
                <a:latin typeface="Times New Roman"/>
                <a:ea typeface="Times New Roman"/>
                <a:cs typeface="Times New Roman"/>
                <a:sym typeface="Times New Roman"/>
              </a:rPr>
              <a:t>8</a:t>
            </a:r>
            <a:endParaRPr sz="1800">
              <a:solidFill>
                <a:srgbClr val="002060"/>
              </a:solidFill>
              <a:latin typeface="Times New Roman"/>
              <a:ea typeface="Times New Roman"/>
              <a:cs typeface="Times New Roman"/>
              <a:sym typeface="Times New Roman"/>
            </a:endParaRPr>
          </a:p>
        </p:txBody>
      </p:sp>
      <p:sp>
        <p:nvSpPr>
          <p:cNvPr id="578" name="Google Shape;578;p26"/>
          <p:cNvSpPr txBox="1"/>
          <p:nvPr/>
        </p:nvSpPr>
        <p:spPr>
          <a:xfrm>
            <a:off x="3450810" y="2602371"/>
            <a:ext cx="45720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2060"/>
                </a:solidFill>
                <a:latin typeface="Times New Roman"/>
                <a:ea typeface="Times New Roman"/>
                <a:cs typeface="Times New Roman"/>
                <a:sym typeface="Times New Roman"/>
              </a:rPr>
              <a:t>16</a:t>
            </a:r>
            <a:endParaRPr sz="1800">
              <a:solidFill>
                <a:srgbClr val="00206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8">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27"/>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t>Cây tối đại ngắn nhất</a:t>
            </a:r>
            <a:endParaRPr b="1" sz="4000"/>
          </a:p>
        </p:txBody>
      </p:sp>
      <p:sp>
        <p:nvSpPr>
          <p:cNvPr id="584" name="Google Shape;584;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585" name="Google Shape;585;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p>
            <a:pPr indent="-190500" lvl="0" marL="342900" rtl="0" algn="l">
              <a:spcBef>
                <a:spcPts val="0"/>
              </a:spcBef>
              <a:spcAft>
                <a:spcPts val="0"/>
              </a:spcAft>
              <a:buClr>
                <a:schemeClr val="dk1"/>
              </a:buClr>
              <a:buSzPts val="2400"/>
              <a:buNone/>
            </a:pPr>
            <a:r>
              <a:t/>
            </a:r>
            <a:endParaRPr/>
          </a:p>
        </p:txBody>
      </p:sp>
      <p:sp>
        <p:nvSpPr>
          <p:cNvPr id="586" name="Google Shape;586;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587" name="Google Shape;587;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33CC"/>
              </a:buClr>
              <a:buSzPts val="2400"/>
              <a:buFont typeface="Noto Sans Symbols"/>
              <a:buChar char="✔"/>
            </a:pPr>
            <a:r>
              <a:rPr lang="en-US">
                <a:solidFill>
                  <a:srgbClr val="0033CC"/>
                </a:solidFill>
              </a:rPr>
              <a:t>E = ?</a:t>
            </a:r>
            <a:endParaRPr/>
          </a:p>
          <a:p>
            <a:pPr indent="-342900" lvl="0" marL="342900" rtl="0" algn="l">
              <a:spcBef>
                <a:spcPts val="480"/>
              </a:spcBef>
              <a:spcAft>
                <a:spcPts val="0"/>
              </a:spcAft>
              <a:buClr>
                <a:srgbClr val="0033CC"/>
              </a:buClr>
              <a:buSzPts val="2400"/>
              <a:buFont typeface="Noto Sans Symbols"/>
              <a:buChar char="✔"/>
            </a:pPr>
            <a:r>
              <a:rPr lang="en-US">
                <a:solidFill>
                  <a:srgbClr val="0033CC"/>
                </a:solidFill>
              </a:rPr>
              <a:t>Trọng lượng = ?</a:t>
            </a:r>
            <a:endParaRPr>
              <a:solidFill>
                <a:srgbClr val="0033CC"/>
              </a:solidFill>
            </a:endParaRPr>
          </a:p>
          <a:p>
            <a:pPr indent="-190500" lvl="0" marL="342900" rtl="0" algn="l">
              <a:spcBef>
                <a:spcPts val="480"/>
              </a:spcBef>
              <a:spcAft>
                <a:spcPts val="0"/>
              </a:spcAft>
              <a:buClr>
                <a:schemeClr val="dk1"/>
              </a:buClr>
              <a:buSzPts val="2400"/>
              <a:buFont typeface="Noto Sans Symbols"/>
              <a:buNone/>
            </a:pPr>
            <a:r>
              <a:t/>
            </a:r>
            <a:endParaRPr/>
          </a:p>
        </p:txBody>
      </p:sp>
      <p:sp>
        <p:nvSpPr>
          <p:cNvPr id="588" name="Google Shape;588;p27"/>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589" name="Google Shape;589;p27"/>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cxnSp>
        <p:nvCxnSpPr>
          <p:cNvPr id="590" name="Google Shape;590;p27"/>
          <p:cNvCxnSpPr/>
          <p:nvPr/>
        </p:nvCxnSpPr>
        <p:spPr>
          <a:xfrm rot="10800000">
            <a:off x="1141206" y="3350079"/>
            <a:ext cx="2438400" cy="76200"/>
          </a:xfrm>
          <a:prstGeom prst="straightConnector1">
            <a:avLst/>
          </a:prstGeom>
          <a:noFill/>
          <a:ln cap="flat" cmpd="sng" w="28575">
            <a:solidFill>
              <a:srgbClr val="C00000"/>
            </a:solidFill>
            <a:prstDash val="solid"/>
            <a:round/>
            <a:headEnd len="med" w="med" type="oval"/>
            <a:tailEnd len="med" w="med" type="oval"/>
          </a:ln>
        </p:spPr>
      </p:cxnSp>
      <p:sp>
        <p:nvSpPr>
          <p:cNvPr id="591" name="Google Shape;591;p27"/>
          <p:cNvSpPr txBox="1"/>
          <p:nvPr/>
        </p:nvSpPr>
        <p:spPr>
          <a:xfrm>
            <a:off x="3655806" y="3883479"/>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16</a:t>
            </a:r>
            <a:endParaRPr b="1" sz="1800">
              <a:solidFill>
                <a:srgbClr val="002060"/>
              </a:solidFill>
              <a:latin typeface="Times New Roman"/>
              <a:ea typeface="Times New Roman"/>
              <a:cs typeface="Times New Roman"/>
              <a:sym typeface="Times New Roman"/>
            </a:endParaRPr>
          </a:p>
        </p:txBody>
      </p:sp>
      <p:cxnSp>
        <p:nvCxnSpPr>
          <p:cNvPr id="592" name="Google Shape;592;p27"/>
          <p:cNvCxnSpPr/>
          <p:nvPr/>
        </p:nvCxnSpPr>
        <p:spPr>
          <a:xfrm rot="10800000">
            <a:off x="1065006" y="3350079"/>
            <a:ext cx="1295400" cy="685800"/>
          </a:xfrm>
          <a:prstGeom prst="straightConnector1">
            <a:avLst/>
          </a:prstGeom>
          <a:noFill/>
          <a:ln cap="flat" cmpd="sng" w="28575">
            <a:solidFill>
              <a:srgbClr val="C00000"/>
            </a:solidFill>
            <a:prstDash val="solid"/>
            <a:round/>
            <a:headEnd len="med" w="med" type="oval"/>
            <a:tailEnd len="med" w="med" type="oval"/>
          </a:ln>
        </p:spPr>
      </p:cxnSp>
      <p:cxnSp>
        <p:nvCxnSpPr>
          <p:cNvPr id="593" name="Google Shape;593;p27"/>
          <p:cNvCxnSpPr/>
          <p:nvPr/>
        </p:nvCxnSpPr>
        <p:spPr>
          <a:xfrm flipH="1">
            <a:off x="2436606" y="3502479"/>
            <a:ext cx="1143000" cy="533400"/>
          </a:xfrm>
          <a:prstGeom prst="straightConnector1">
            <a:avLst/>
          </a:prstGeom>
          <a:noFill/>
          <a:ln cap="flat" cmpd="sng" w="28575">
            <a:solidFill>
              <a:srgbClr val="C00000"/>
            </a:solidFill>
            <a:prstDash val="solid"/>
            <a:round/>
            <a:headEnd len="med" w="med" type="oval"/>
            <a:tailEnd len="med" w="med" type="oval"/>
          </a:ln>
        </p:spPr>
      </p:cxnSp>
      <p:cxnSp>
        <p:nvCxnSpPr>
          <p:cNvPr id="594" name="Google Shape;594;p27"/>
          <p:cNvCxnSpPr/>
          <p:nvPr/>
        </p:nvCxnSpPr>
        <p:spPr>
          <a:xfrm flipH="1">
            <a:off x="1141206" y="2511879"/>
            <a:ext cx="1371600" cy="762000"/>
          </a:xfrm>
          <a:prstGeom prst="straightConnector1">
            <a:avLst/>
          </a:prstGeom>
          <a:noFill/>
          <a:ln cap="flat" cmpd="sng" w="28575">
            <a:solidFill>
              <a:srgbClr val="C00000"/>
            </a:solidFill>
            <a:prstDash val="solid"/>
            <a:round/>
            <a:headEnd len="med" w="med" type="oval"/>
            <a:tailEnd len="med" w="med" type="oval"/>
          </a:ln>
        </p:spPr>
      </p:cxnSp>
      <p:cxnSp>
        <p:nvCxnSpPr>
          <p:cNvPr id="595" name="Google Shape;595;p27"/>
          <p:cNvCxnSpPr/>
          <p:nvPr/>
        </p:nvCxnSpPr>
        <p:spPr>
          <a:xfrm rot="10800000">
            <a:off x="2512806" y="2511879"/>
            <a:ext cx="1066800" cy="914400"/>
          </a:xfrm>
          <a:prstGeom prst="straightConnector1">
            <a:avLst/>
          </a:prstGeom>
          <a:noFill/>
          <a:ln cap="flat" cmpd="sng" w="28575">
            <a:solidFill>
              <a:srgbClr val="C00000"/>
            </a:solidFill>
            <a:prstDash val="solid"/>
            <a:round/>
            <a:headEnd len="med" w="med" type="oval"/>
            <a:tailEnd len="med" w="med" type="oval"/>
          </a:ln>
        </p:spPr>
      </p:cxnSp>
      <p:cxnSp>
        <p:nvCxnSpPr>
          <p:cNvPr id="596" name="Google Shape;596;p27"/>
          <p:cNvCxnSpPr/>
          <p:nvPr/>
        </p:nvCxnSpPr>
        <p:spPr>
          <a:xfrm>
            <a:off x="3579606" y="3426279"/>
            <a:ext cx="76200" cy="1143000"/>
          </a:xfrm>
          <a:prstGeom prst="straightConnector1">
            <a:avLst/>
          </a:prstGeom>
          <a:noFill/>
          <a:ln cap="flat" cmpd="sng" w="28575">
            <a:solidFill>
              <a:srgbClr val="C00000"/>
            </a:solidFill>
            <a:prstDash val="solid"/>
            <a:round/>
            <a:headEnd len="med" w="med" type="oval"/>
            <a:tailEnd len="med" w="med" type="oval"/>
          </a:ln>
        </p:spPr>
      </p:cxnSp>
      <p:cxnSp>
        <p:nvCxnSpPr>
          <p:cNvPr id="597" name="Google Shape;597;p27"/>
          <p:cNvCxnSpPr/>
          <p:nvPr/>
        </p:nvCxnSpPr>
        <p:spPr>
          <a:xfrm rot="10800000">
            <a:off x="2436606" y="4035879"/>
            <a:ext cx="1219200" cy="533400"/>
          </a:xfrm>
          <a:prstGeom prst="straightConnector1">
            <a:avLst/>
          </a:prstGeom>
          <a:noFill/>
          <a:ln cap="flat" cmpd="sng" w="28575">
            <a:solidFill>
              <a:srgbClr val="C00000"/>
            </a:solidFill>
            <a:prstDash val="solid"/>
            <a:round/>
            <a:headEnd len="med" w="med" type="oval"/>
            <a:tailEnd len="med" w="med" type="oval"/>
          </a:ln>
        </p:spPr>
      </p:cxnSp>
      <p:cxnSp>
        <p:nvCxnSpPr>
          <p:cNvPr id="598" name="Google Shape;598;p27"/>
          <p:cNvCxnSpPr/>
          <p:nvPr/>
        </p:nvCxnSpPr>
        <p:spPr>
          <a:xfrm flipH="1" rot="10800000">
            <a:off x="2360406" y="4035879"/>
            <a:ext cx="76200" cy="1066800"/>
          </a:xfrm>
          <a:prstGeom prst="straightConnector1">
            <a:avLst/>
          </a:prstGeom>
          <a:noFill/>
          <a:ln cap="flat" cmpd="sng" w="28575">
            <a:solidFill>
              <a:srgbClr val="C00000"/>
            </a:solidFill>
            <a:prstDash val="solid"/>
            <a:round/>
            <a:headEnd len="med" w="med" type="oval"/>
            <a:tailEnd len="med" w="med" type="oval"/>
          </a:ln>
        </p:spPr>
      </p:cxnSp>
      <p:cxnSp>
        <p:nvCxnSpPr>
          <p:cNvPr id="599" name="Google Shape;599;p27"/>
          <p:cNvCxnSpPr/>
          <p:nvPr/>
        </p:nvCxnSpPr>
        <p:spPr>
          <a:xfrm flipH="1">
            <a:off x="2360406" y="4569279"/>
            <a:ext cx="1295400" cy="533400"/>
          </a:xfrm>
          <a:prstGeom prst="straightConnector1">
            <a:avLst/>
          </a:prstGeom>
          <a:noFill/>
          <a:ln cap="flat" cmpd="sng" w="28575">
            <a:solidFill>
              <a:srgbClr val="C00000"/>
            </a:solidFill>
            <a:prstDash val="solid"/>
            <a:round/>
            <a:headEnd len="med" w="med" type="oval"/>
            <a:tailEnd len="med" w="med" type="oval"/>
          </a:ln>
        </p:spPr>
      </p:cxnSp>
      <p:cxnSp>
        <p:nvCxnSpPr>
          <p:cNvPr id="600" name="Google Shape;600;p27"/>
          <p:cNvCxnSpPr/>
          <p:nvPr/>
        </p:nvCxnSpPr>
        <p:spPr>
          <a:xfrm flipH="1" rot="10800000">
            <a:off x="912606" y="3350079"/>
            <a:ext cx="152400" cy="1143000"/>
          </a:xfrm>
          <a:prstGeom prst="straightConnector1">
            <a:avLst/>
          </a:prstGeom>
          <a:noFill/>
          <a:ln cap="flat" cmpd="sng" w="28575">
            <a:solidFill>
              <a:srgbClr val="C00000"/>
            </a:solidFill>
            <a:prstDash val="solid"/>
            <a:round/>
            <a:headEnd len="med" w="med" type="oval"/>
            <a:tailEnd len="med" w="med" type="oval"/>
          </a:ln>
        </p:spPr>
      </p:cxnSp>
      <p:cxnSp>
        <p:nvCxnSpPr>
          <p:cNvPr id="601" name="Google Shape;601;p27"/>
          <p:cNvCxnSpPr/>
          <p:nvPr/>
        </p:nvCxnSpPr>
        <p:spPr>
          <a:xfrm flipH="1">
            <a:off x="912606" y="4035879"/>
            <a:ext cx="1524000" cy="457200"/>
          </a:xfrm>
          <a:prstGeom prst="straightConnector1">
            <a:avLst/>
          </a:prstGeom>
          <a:noFill/>
          <a:ln cap="flat" cmpd="sng" w="28575">
            <a:solidFill>
              <a:srgbClr val="C00000"/>
            </a:solidFill>
            <a:prstDash val="solid"/>
            <a:round/>
            <a:headEnd len="med" w="med" type="oval"/>
            <a:tailEnd len="med" w="med" type="oval"/>
          </a:ln>
        </p:spPr>
      </p:cxnSp>
      <p:cxnSp>
        <p:nvCxnSpPr>
          <p:cNvPr id="602" name="Google Shape;602;p27"/>
          <p:cNvCxnSpPr/>
          <p:nvPr/>
        </p:nvCxnSpPr>
        <p:spPr>
          <a:xfrm rot="10800000">
            <a:off x="912606" y="4569279"/>
            <a:ext cx="1447800" cy="533400"/>
          </a:xfrm>
          <a:prstGeom prst="straightConnector1">
            <a:avLst/>
          </a:prstGeom>
          <a:noFill/>
          <a:ln cap="flat" cmpd="sng" w="28575">
            <a:solidFill>
              <a:srgbClr val="C00000"/>
            </a:solidFill>
            <a:prstDash val="solid"/>
            <a:round/>
            <a:headEnd len="med" w="med" type="oval"/>
            <a:tailEnd len="med" w="med" type="oval"/>
          </a:ln>
        </p:spPr>
      </p:cxnSp>
      <p:sp>
        <p:nvSpPr>
          <p:cNvPr id="603" name="Google Shape;603;p27"/>
          <p:cNvSpPr txBox="1"/>
          <p:nvPr/>
        </p:nvSpPr>
        <p:spPr>
          <a:xfrm>
            <a:off x="3046206" y="4874079"/>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26</a:t>
            </a:r>
            <a:endParaRPr b="1" sz="1800">
              <a:solidFill>
                <a:srgbClr val="002060"/>
              </a:solidFill>
              <a:latin typeface="Times New Roman"/>
              <a:ea typeface="Times New Roman"/>
              <a:cs typeface="Times New Roman"/>
              <a:sym typeface="Times New Roman"/>
            </a:endParaRPr>
          </a:p>
        </p:txBody>
      </p:sp>
      <p:sp>
        <p:nvSpPr>
          <p:cNvPr id="604" name="Google Shape;604;p27"/>
          <p:cNvSpPr txBox="1"/>
          <p:nvPr/>
        </p:nvSpPr>
        <p:spPr>
          <a:xfrm>
            <a:off x="2970006" y="2588079"/>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5</a:t>
            </a:r>
            <a:endParaRPr b="1" sz="1800">
              <a:solidFill>
                <a:srgbClr val="002060"/>
              </a:solidFill>
              <a:latin typeface="Times New Roman"/>
              <a:ea typeface="Times New Roman"/>
              <a:cs typeface="Times New Roman"/>
              <a:sym typeface="Times New Roman"/>
            </a:endParaRPr>
          </a:p>
        </p:txBody>
      </p:sp>
      <p:sp>
        <p:nvSpPr>
          <p:cNvPr id="605" name="Google Shape;605;p27"/>
          <p:cNvSpPr txBox="1"/>
          <p:nvPr/>
        </p:nvSpPr>
        <p:spPr>
          <a:xfrm>
            <a:off x="2208006" y="3045279"/>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10</a:t>
            </a:r>
            <a:endParaRPr b="1" sz="1800">
              <a:solidFill>
                <a:srgbClr val="002060"/>
              </a:solidFill>
              <a:latin typeface="Times New Roman"/>
              <a:ea typeface="Times New Roman"/>
              <a:cs typeface="Times New Roman"/>
              <a:sym typeface="Times New Roman"/>
            </a:endParaRPr>
          </a:p>
        </p:txBody>
      </p:sp>
      <p:sp>
        <p:nvSpPr>
          <p:cNvPr id="606" name="Google Shape;606;p27"/>
          <p:cNvSpPr txBox="1"/>
          <p:nvPr/>
        </p:nvSpPr>
        <p:spPr>
          <a:xfrm>
            <a:off x="2512806" y="3502479"/>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3</a:t>
            </a:r>
            <a:endParaRPr b="1" sz="1800">
              <a:solidFill>
                <a:srgbClr val="002060"/>
              </a:solidFill>
              <a:latin typeface="Times New Roman"/>
              <a:ea typeface="Times New Roman"/>
              <a:cs typeface="Times New Roman"/>
              <a:sym typeface="Times New Roman"/>
            </a:endParaRPr>
          </a:p>
        </p:txBody>
      </p:sp>
      <p:sp>
        <p:nvSpPr>
          <p:cNvPr id="607" name="Google Shape;607;p27"/>
          <p:cNvSpPr txBox="1"/>
          <p:nvPr/>
        </p:nvSpPr>
        <p:spPr>
          <a:xfrm>
            <a:off x="1827006" y="3502479"/>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2</a:t>
            </a:r>
            <a:endParaRPr b="1" sz="1800">
              <a:solidFill>
                <a:srgbClr val="002060"/>
              </a:solidFill>
              <a:latin typeface="Times New Roman"/>
              <a:ea typeface="Times New Roman"/>
              <a:cs typeface="Times New Roman"/>
              <a:sym typeface="Times New Roman"/>
            </a:endParaRPr>
          </a:p>
        </p:txBody>
      </p:sp>
      <p:sp>
        <p:nvSpPr>
          <p:cNvPr id="608" name="Google Shape;608;p27"/>
          <p:cNvSpPr txBox="1"/>
          <p:nvPr/>
        </p:nvSpPr>
        <p:spPr>
          <a:xfrm>
            <a:off x="1217406" y="3959679"/>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12</a:t>
            </a:r>
            <a:endParaRPr b="1" sz="1800">
              <a:solidFill>
                <a:srgbClr val="002060"/>
              </a:solidFill>
              <a:latin typeface="Times New Roman"/>
              <a:ea typeface="Times New Roman"/>
              <a:cs typeface="Times New Roman"/>
              <a:sym typeface="Times New Roman"/>
            </a:endParaRPr>
          </a:p>
        </p:txBody>
      </p:sp>
      <p:sp>
        <p:nvSpPr>
          <p:cNvPr id="609" name="Google Shape;609;p27"/>
          <p:cNvSpPr txBox="1"/>
          <p:nvPr/>
        </p:nvSpPr>
        <p:spPr>
          <a:xfrm>
            <a:off x="1979406" y="4340679"/>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14</a:t>
            </a:r>
            <a:endParaRPr b="1" sz="1800">
              <a:solidFill>
                <a:srgbClr val="002060"/>
              </a:solidFill>
              <a:latin typeface="Times New Roman"/>
              <a:ea typeface="Times New Roman"/>
              <a:cs typeface="Times New Roman"/>
              <a:sym typeface="Times New Roman"/>
            </a:endParaRPr>
          </a:p>
        </p:txBody>
      </p:sp>
      <p:sp>
        <p:nvSpPr>
          <p:cNvPr id="610" name="Google Shape;610;p27"/>
          <p:cNvSpPr txBox="1"/>
          <p:nvPr/>
        </p:nvSpPr>
        <p:spPr>
          <a:xfrm>
            <a:off x="2893806" y="3959679"/>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30</a:t>
            </a:r>
            <a:endParaRPr b="1" sz="1800">
              <a:solidFill>
                <a:srgbClr val="002060"/>
              </a:solidFill>
              <a:latin typeface="Times New Roman"/>
              <a:ea typeface="Times New Roman"/>
              <a:cs typeface="Times New Roman"/>
              <a:sym typeface="Times New Roman"/>
            </a:endParaRPr>
          </a:p>
        </p:txBody>
      </p:sp>
      <p:sp>
        <p:nvSpPr>
          <p:cNvPr id="611" name="Google Shape;611;p27"/>
          <p:cNvSpPr txBox="1"/>
          <p:nvPr/>
        </p:nvSpPr>
        <p:spPr>
          <a:xfrm>
            <a:off x="1293606" y="4797879"/>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4</a:t>
            </a:r>
            <a:endParaRPr b="1" sz="1800">
              <a:solidFill>
                <a:srgbClr val="002060"/>
              </a:solidFill>
              <a:latin typeface="Times New Roman"/>
              <a:ea typeface="Times New Roman"/>
              <a:cs typeface="Times New Roman"/>
              <a:sym typeface="Times New Roman"/>
            </a:endParaRPr>
          </a:p>
        </p:txBody>
      </p:sp>
      <p:sp>
        <p:nvSpPr>
          <p:cNvPr id="612" name="Google Shape;612;p27"/>
          <p:cNvSpPr txBox="1"/>
          <p:nvPr/>
        </p:nvSpPr>
        <p:spPr>
          <a:xfrm>
            <a:off x="607806" y="3731079"/>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18</a:t>
            </a:r>
            <a:endParaRPr b="1" sz="1800">
              <a:solidFill>
                <a:srgbClr val="002060"/>
              </a:solidFill>
              <a:latin typeface="Times New Roman"/>
              <a:ea typeface="Times New Roman"/>
              <a:cs typeface="Times New Roman"/>
              <a:sym typeface="Times New Roman"/>
            </a:endParaRPr>
          </a:p>
        </p:txBody>
      </p:sp>
      <p:sp>
        <p:nvSpPr>
          <p:cNvPr id="613" name="Google Shape;613;p27"/>
          <p:cNvSpPr txBox="1"/>
          <p:nvPr/>
        </p:nvSpPr>
        <p:spPr>
          <a:xfrm>
            <a:off x="1522206" y="2588079"/>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8</a:t>
            </a:r>
            <a:endParaRPr b="1" sz="1800">
              <a:solidFill>
                <a:srgbClr val="002060"/>
              </a:solidFill>
              <a:latin typeface="Times New Roman"/>
              <a:ea typeface="Times New Roman"/>
              <a:cs typeface="Times New Roman"/>
              <a:sym typeface="Times New Roman"/>
            </a:endParaRPr>
          </a:p>
        </p:txBody>
      </p:sp>
      <p:sp>
        <p:nvSpPr>
          <p:cNvPr id="614" name="Google Shape;614;p27"/>
          <p:cNvSpPr/>
          <p:nvPr/>
        </p:nvSpPr>
        <p:spPr>
          <a:xfrm>
            <a:off x="912606" y="3121479"/>
            <a:ext cx="304800" cy="304800"/>
          </a:xfrm>
          <a:prstGeom prst="ellipse">
            <a:avLst/>
          </a:prstGeom>
          <a:solidFill>
            <a:schemeClr val="lt1"/>
          </a:solidFill>
          <a:ln cap="flat" cmpd="sng" w="9525">
            <a:solidFill>
              <a:srgbClr val="0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t/>
            </a:r>
            <a:endParaRPr b="1" sz="2000">
              <a:solidFill>
                <a:srgbClr val="FEEF30"/>
              </a:solidFill>
              <a:latin typeface="Times New Roman"/>
              <a:ea typeface="Times New Roman"/>
              <a:cs typeface="Times New Roman"/>
              <a:sym typeface="Times New Roman"/>
            </a:endParaRPr>
          </a:p>
        </p:txBody>
      </p:sp>
      <p:sp>
        <p:nvSpPr>
          <p:cNvPr id="615" name="Google Shape;615;p27"/>
          <p:cNvSpPr/>
          <p:nvPr/>
        </p:nvSpPr>
        <p:spPr>
          <a:xfrm>
            <a:off x="2360406" y="2359479"/>
            <a:ext cx="304800" cy="304800"/>
          </a:xfrm>
          <a:prstGeom prst="ellipse">
            <a:avLst/>
          </a:prstGeom>
          <a:solidFill>
            <a:schemeClr val="lt1"/>
          </a:solidFill>
          <a:ln cap="flat" cmpd="sng" w="9525">
            <a:solidFill>
              <a:srgbClr val="0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t/>
            </a:r>
            <a:endParaRPr b="1" sz="2000">
              <a:solidFill>
                <a:srgbClr val="FEEF30"/>
              </a:solidFill>
              <a:latin typeface="Times New Roman"/>
              <a:ea typeface="Times New Roman"/>
              <a:cs typeface="Times New Roman"/>
              <a:sym typeface="Times New Roman"/>
            </a:endParaRPr>
          </a:p>
        </p:txBody>
      </p:sp>
      <p:sp>
        <p:nvSpPr>
          <p:cNvPr id="616" name="Google Shape;616;p27"/>
          <p:cNvSpPr/>
          <p:nvPr/>
        </p:nvSpPr>
        <p:spPr>
          <a:xfrm>
            <a:off x="3427206" y="3273879"/>
            <a:ext cx="304800" cy="304800"/>
          </a:xfrm>
          <a:prstGeom prst="ellipse">
            <a:avLst/>
          </a:prstGeom>
          <a:solidFill>
            <a:schemeClr val="lt1"/>
          </a:solidFill>
          <a:ln cap="flat" cmpd="sng" w="9525">
            <a:solidFill>
              <a:srgbClr val="0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t/>
            </a:r>
            <a:endParaRPr b="1" sz="2000">
              <a:solidFill>
                <a:srgbClr val="FEEF30"/>
              </a:solidFill>
              <a:latin typeface="Times New Roman"/>
              <a:ea typeface="Times New Roman"/>
              <a:cs typeface="Times New Roman"/>
              <a:sym typeface="Times New Roman"/>
            </a:endParaRPr>
          </a:p>
        </p:txBody>
      </p:sp>
      <p:sp>
        <p:nvSpPr>
          <p:cNvPr id="617" name="Google Shape;617;p27"/>
          <p:cNvSpPr/>
          <p:nvPr/>
        </p:nvSpPr>
        <p:spPr>
          <a:xfrm>
            <a:off x="3503406" y="4340679"/>
            <a:ext cx="304800" cy="304800"/>
          </a:xfrm>
          <a:prstGeom prst="ellipse">
            <a:avLst/>
          </a:prstGeom>
          <a:solidFill>
            <a:schemeClr val="lt1"/>
          </a:solidFill>
          <a:ln cap="flat" cmpd="sng" w="9525">
            <a:solidFill>
              <a:srgbClr val="0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t/>
            </a:r>
            <a:endParaRPr b="1" sz="2000">
              <a:solidFill>
                <a:srgbClr val="FEEF30"/>
              </a:solidFill>
              <a:latin typeface="Times New Roman"/>
              <a:ea typeface="Times New Roman"/>
              <a:cs typeface="Times New Roman"/>
              <a:sym typeface="Times New Roman"/>
            </a:endParaRPr>
          </a:p>
        </p:txBody>
      </p:sp>
      <p:sp>
        <p:nvSpPr>
          <p:cNvPr id="618" name="Google Shape;618;p27"/>
          <p:cNvSpPr/>
          <p:nvPr/>
        </p:nvSpPr>
        <p:spPr>
          <a:xfrm>
            <a:off x="2284206" y="3807279"/>
            <a:ext cx="304800" cy="304800"/>
          </a:xfrm>
          <a:prstGeom prst="ellipse">
            <a:avLst/>
          </a:prstGeom>
          <a:solidFill>
            <a:schemeClr val="lt1"/>
          </a:solidFill>
          <a:ln cap="flat" cmpd="sng" w="9525">
            <a:solidFill>
              <a:srgbClr val="0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t/>
            </a:r>
            <a:endParaRPr b="1" sz="2000">
              <a:solidFill>
                <a:srgbClr val="FEEF30"/>
              </a:solidFill>
              <a:latin typeface="Times New Roman"/>
              <a:ea typeface="Times New Roman"/>
              <a:cs typeface="Times New Roman"/>
              <a:sym typeface="Times New Roman"/>
            </a:endParaRPr>
          </a:p>
        </p:txBody>
      </p:sp>
      <p:sp>
        <p:nvSpPr>
          <p:cNvPr id="619" name="Google Shape;619;p27"/>
          <p:cNvSpPr/>
          <p:nvPr/>
        </p:nvSpPr>
        <p:spPr>
          <a:xfrm>
            <a:off x="2208006" y="4874079"/>
            <a:ext cx="304800" cy="304800"/>
          </a:xfrm>
          <a:prstGeom prst="ellipse">
            <a:avLst/>
          </a:prstGeom>
          <a:solidFill>
            <a:schemeClr val="lt1"/>
          </a:solidFill>
          <a:ln cap="flat" cmpd="sng" w="9525">
            <a:solidFill>
              <a:srgbClr val="0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t/>
            </a:r>
            <a:endParaRPr b="1" sz="2000">
              <a:solidFill>
                <a:srgbClr val="FEEF30"/>
              </a:solidFill>
              <a:latin typeface="Times New Roman"/>
              <a:ea typeface="Times New Roman"/>
              <a:cs typeface="Times New Roman"/>
              <a:sym typeface="Times New Roman"/>
            </a:endParaRPr>
          </a:p>
        </p:txBody>
      </p:sp>
      <p:sp>
        <p:nvSpPr>
          <p:cNvPr id="620" name="Google Shape;620;p27"/>
          <p:cNvSpPr/>
          <p:nvPr/>
        </p:nvSpPr>
        <p:spPr>
          <a:xfrm>
            <a:off x="760206" y="4340679"/>
            <a:ext cx="304800" cy="304800"/>
          </a:xfrm>
          <a:prstGeom prst="ellipse">
            <a:avLst/>
          </a:prstGeom>
          <a:solidFill>
            <a:schemeClr val="lt1"/>
          </a:solidFill>
          <a:ln cap="flat" cmpd="sng" w="9525">
            <a:solidFill>
              <a:srgbClr val="0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t/>
            </a:r>
            <a:endParaRPr b="1" sz="2000">
              <a:solidFill>
                <a:srgbClr val="FEEF30"/>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28"/>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t>Cây tối đại ngắn nhất</a:t>
            </a:r>
            <a:endParaRPr b="1" sz="4000"/>
          </a:p>
        </p:txBody>
      </p:sp>
      <p:sp>
        <p:nvSpPr>
          <p:cNvPr id="626" name="Google Shape;626;p28"/>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Nhược điểm  thuật toán</a:t>
            </a:r>
            <a:endParaRPr/>
          </a:p>
        </p:txBody>
      </p:sp>
      <p:sp>
        <p:nvSpPr>
          <p:cNvPr id="627" name="Google Shape;627;p28"/>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Thuật toán Kruskal làm việc kém hiệu quả đối với những đồ thị dày.</a:t>
            </a:r>
            <a:endParaRPr/>
          </a:p>
          <a:p>
            <a:pPr indent="-342900" lvl="0" marL="342900" rtl="0" algn="l">
              <a:spcBef>
                <a:spcPts val="480"/>
              </a:spcBef>
              <a:spcAft>
                <a:spcPts val="0"/>
              </a:spcAft>
              <a:buClr>
                <a:schemeClr val="dk1"/>
              </a:buClr>
              <a:buSzPts val="2400"/>
              <a:buFont typeface="Noto Sans Symbols"/>
              <a:buChar char="✔"/>
            </a:pPr>
            <a:r>
              <a:rPr lang="en-US"/>
              <a:t> Đồ thị có số cạnh </a:t>
            </a:r>
            <a:r>
              <a:rPr lang="en-US">
                <a:solidFill>
                  <a:srgbClr val="FF0000"/>
                </a:solidFill>
              </a:rPr>
              <a:t>m ≈ n(n−1)/2. </a:t>
            </a:r>
            <a:endParaRPr/>
          </a:p>
          <a:p>
            <a:pPr indent="0" lvl="0" marL="0" rtl="0" algn="l">
              <a:spcBef>
                <a:spcPts val="48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p:txBody>
      </p:sp>
      <p:sp>
        <p:nvSpPr>
          <p:cNvPr id="628" name="Google Shape;628;p28"/>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Hướng tiếp </a:t>
            </a:r>
            <a:r>
              <a:rPr lang="en-US"/>
              <a:t>cận</a:t>
            </a:r>
            <a:endParaRPr/>
          </a:p>
        </p:txBody>
      </p:sp>
      <p:sp>
        <p:nvSpPr>
          <p:cNvPr id="629" name="Google Shape;629;p28"/>
          <p:cNvSpPr txBox="1"/>
          <p:nvPr>
            <p:ph idx="4" type="body"/>
          </p:nvPr>
        </p:nvSpPr>
        <p:spPr>
          <a:xfrm>
            <a:off x="4645025" y="2174875"/>
            <a:ext cx="4041775"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FF0000"/>
              </a:buClr>
              <a:buSzPts val="2000"/>
              <a:buFont typeface="Noto Sans Symbols"/>
              <a:buChar char="✔"/>
            </a:pPr>
            <a:r>
              <a:rPr lang="en-US" sz="2000">
                <a:solidFill>
                  <a:srgbClr val="FF0000"/>
                </a:solidFill>
              </a:rPr>
              <a:t>Sử dụng thuật toán Prim</a:t>
            </a:r>
            <a:endParaRPr sz="2000">
              <a:solidFill>
                <a:srgbClr val="FF0000"/>
              </a:solidFill>
            </a:endParaRPr>
          </a:p>
        </p:txBody>
      </p:sp>
      <p:sp>
        <p:nvSpPr>
          <p:cNvPr id="630" name="Google Shape;630;p28"/>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631" name="Google Shape;631;p28"/>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29"/>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t>Cây tối đại ngắn nhất</a:t>
            </a:r>
            <a:endParaRPr b="1" sz="4000"/>
          </a:p>
        </p:txBody>
      </p:sp>
      <p:sp>
        <p:nvSpPr>
          <p:cNvPr id="637" name="Google Shape;637;p29"/>
          <p:cNvSpPr txBox="1"/>
          <p:nvPr>
            <p:ph idx="1" type="body"/>
          </p:nvPr>
        </p:nvSpPr>
        <p:spPr>
          <a:xfrm>
            <a:off x="457200" y="1535113"/>
            <a:ext cx="4040188"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Prim</a:t>
            </a:r>
            <a:endParaRPr/>
          </a:p>
        </p:txBody>
      </p:sp>
      <p:sp>
        <p:nvSpPr>
          <p:cNvPr id="638" name="Google Shape;638;p29"/>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None/>
            </a:pPr>
            <a:r>
              <a:rPr b="1" lang="en-US" u="sng"/>
              <a:t>Input</a:t>
            </a:r>
            <a:r>
              <a:rPr lang="en-US"/>
              <a:t>: </a:t>
            </a:r>
            <a:endParaRPr/>
          </a:p>
          <a:p>
            <a:pPr indent="-342900" lvl="0" marL="342900" rtl="0" algn="l">
              <a:spcBef>
                <a:spcPts val="480"/>
              </a:spcBef>
              <a:spcAft>
                <a:spcPts val="0"/>
              </a:spcAft>
              <a:buClr>
                <a:schemeClr val="dk1"/>
              </a:buClr>
              <a:buSzPts val="2400"/>
              <a:buFont typeface="Noto Sans Symbols"/>
              <a:buNone/>
            </a:pPr>
            <a:r>
              <a:rPr lang="en-US"/>
              <a:t>    G=(X, E) – liên thông,  X gồm N đỉnh</a:t>
            </a:r>
            <a:endParaRPr/>
          </a:p>
          <a:p>
            <a:pPr indent="-342900" lvl="0" marL="342900" rtl="0" algn="l">
              <a:spcBef>
                <a:spcPts val="480"/>
              </a:spcBef>
              <a:spcAft>
                <a:spcPts val="0"/>
              </a:spcAft>
              <a:buClr>
                <a:schemeClr val="dk1"/>
              </a:buClr>
              <a:buSzPts val="2400"/>
              <a:buFont typeface="Noto Sans Symbols"/>
              <a:buNone/>
            </a:pPr>
            <a:r>
              <a:rPr b="1" lang="en-US" u="sng"/>
              <a:t>Output</a:t>
            </a:r>
            <a:r>
              <a:rPr lang="en-US"/>
              <a:t>: </a:t>
            </a:r>
            <a:endParaRPr/>
          </a:p>
          <a:p>
            <a:pPr indent="-342900" lvl="0" marL="342900" rtl="0" algn="l">
              <a:spcBef>
                <a:spcPts val="480"/>
              </a:spcBef>
              <a:spcAft>
                <a:spcPts val="0"/>
              </a:spcAft>
              <a:buClr>
                <a:schemeClr val="dk1"/>
              </a:buClr>
              <a:buSzPts val="2400"/>
              <a:buFont typeface="Noto Sans Symbols"/>
              <a:buNone/>
            </a:pPr>
            <a:r>
              <a:rPr lang="en-US"/>
              <a:t>    Cây tối đại ngắn nhất</a:t>
            </a:r>
            <a:endParaRPr/>
          </a:p>
          <a:p>
            <a:pPr indent="-342900" lvl="0" marL="342900" rtl="0" algn="l">
              <a:spcBef>
                <a:spcPts val="480"/>
              </a:spcBef>
              <a:spcAft>
                <a:spcPts val="0"/>
              </a:spcAft>
              <a:buClr>
                <a:schemeClr val="dk1"/>
              </a:buClr>
              <a:buSzPts val="2400"/>
              <a:buFont typeface="Noto Sans Symbols"/>
              <a:buNone/>
            </a:pPr>
            <a:r>
              <a:rPr lang="en-US"/>
              <a:t>          T=(V, U) của G</a:t>
            </a:r>
            <a:endParaRPr/>
          </a:p>
          <a:p>
            <a:pPr indent="-190500" lvl="0" marL="342900" rtl="0" algn="l">
              <a:spcBef>
                <a:spcPts val="480"/>
              </a:spcBef>
              <a:spcAft>
                <a:spcPts val="0"/>
              </a:spcAft>
              <a:buClr>
                <a:schemeClr val="dk1"/>
              </a:buClr>
              <a:buSzPts val="2400"/>
              <a:buNone/>
            </a:pPr>
            <a:r>
              <a:t/>
            </a:r>
            <a:endParaRPr/>
          </a:p>
        </p:txBody>
      </p:sp>
      <p:sp>
        <p:nvSpPr>
          <p:cNvPr id="639" name="Google Shape;639;p29"/>
          <p:cNvSpPr txBox="1"/>
          <p:nvPr>
            <p:ph idx="3" type="body"/>
          </p:nvPr>
        </p:nvSpPr>
        <p:spPr>
          <a:xfrm>
            <a:off x="4645025" y="1535113"/>
            <a:ext cx="4041775" cy="639762"/>
          </a:xfrm>
          <a:prstGeom prst="rect">
            <a:avLst/>
          </a:prstGeom>
          <a:solidFill>
            <a:srgbClr val="00B0F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Prim</a:t>
            </a:r>
            <a:endParaRPr/>
          </a:p>
        </p:txBody>
      </p:sp>
      <p:sp>
        <p:nvSpPr>
          <p:cNvPr id="640" name="Google Shape;640;p29"/>
          <p:cNvSpPr txBox="1"/>
          <p:nvPr>
            <p:ph idx="4" type="body"/>
          </p:nvPr>
        </p:nvSpPr>
        <p:spPr>
          <a:xfrm>
            <a:off x="4645025" y="2174875"/>
            <a:ext cx="4041775" cy="3951288"/>
          </a:xfrm>
          <a:prstGeom prst="rect">
            <a:avLst/>
          </a:prstGeom>
          <a:solidFill>
            <a:srgbClr val="002060"/>
          </a:solidFill>
          <a:ln>
            <a:noFill/>
          </a:ln>
        </p:spPr>
        <p:txBody>
          <a:bodyPr anchorCtr="0" anchor="t" bIns="45700" lIns="91425" spcFirstLastPara="1" rIns="91425" wrap="square" tIns="45700">
            <a:noAutofit/>
          </a:bodyPr>
          <a:lstStyle/>
          <a:p>
            <a:pPr indent="-514350" lvl="0" marL="514350" rtl="0" algn="l">
              <a:spcBef>
                <a:spcPts val="0"/>
              </a:spcBef>
              <a:spcAft>
                <a:spcPts val="0"/>
              </a:spcAft>
              <a:buClr>
                <a:schemeClr val="lt1"/>
              </a:buClr>
              <a:buSzPts val="2200"/>
              <a:buFont typeface="Times New Roman"/>
              <a:buAutoNum type="arabicPeriod"/>
            </a:pPr>
            <a:r>
              <a:rPr lang="en-US" sz="2200">
                <a:solidFill>
                  <a:schemeClr val="lt1"/>
                </a:solidFill>
              </a:rPr>
              <a:t>Chọn tùy ý v ∈ X và khởi tạo V := { v };  U := ∅;</a:t>
            </a:r>
            <a:endParaRPr sz="2200">
              <a:solidFill>
                <a:schemeClr val="lt1"/>
              </a:solidFill>
            </a:endParaRPr>
          </a:p>
          <a:p>
            <a:pPr indent="-514350" lvl="0" marL="514350" rtl="0" algn="l">
              <a:spcBef>
                <a:spcPts val="440"/>
              </a:spcBef>
              <a:spcAft>
                <a:spcPts val="0"/>
              </a:spcAft>
              <a:buClr>
                <a:schemeClr val="lt1"/>
              </a:buClr>
              <a:buSzPts val="2200"/>
              <a:buFont typeface="Times New Roman"/>
              <a:buAutoNum type="arabicPeriod"/>
            </a:pPr>
            <a:r>
              <a:rPr lang="en-US" sz="2200">
                <a:solidFill>
                  <a:schemeClr val="lt1"/>
                </a:solidFill>
              </a:rPr>
              <a:t>Chọn cạnh e có trọng lượng nhỏ nhất trong các cạnh (w, v) mà   w ∈ X\V và </a:t>
            </a:r>
            <a:r>
              <a:rPr lang="en-US" sz="2200">
                <a:solidFill>
                  <a:srgbClr val="FF0000"/>
                </a:solidFill>
              </a:rPr>
              <a:t>v ∈ V: sao cho không tạo chu trình</a:t>
            </a:r>
            <a:endParaRPr sz="2200">
              <a:solidFill>
                <a:srgbClr val="FF0000"/>
              </a:solidFill>
            </a:endParaRPr>
          </a:p>
          <a:p>
            <a:pPr indent="-514350" lvl="0" marL="514350" rtl="0" algn="l">
              <a:spcBef>
                <a:spcPts val="440"/>
              </a:spcBef>
              <a:spcAft>
                <a:spcPts val="0"/>
              </a:spcAft>
              <a:buClr>
                <a:schemeClr val="lt1"/>
              </a:buClr>
              <a:buSzPts val="2200"/>
              <a:buFont typeface="Times New Roman"/>
              <a:buAutoNum type="arabicPeriod"/>
            </a:pPr>
            <a:r>
              <a:rPr lang="en-US" sz="2200">
                <a:solidFill>
                  <a:schemeClr val="lt1"/>
                </a:solidFill>
              </a:rPr>
              <a:t>V := V ∪ {w}; U := U ∪ {e}</a:t>
            </a:r>
            <a:endParaRPr/>
          </a:p>
          <a:p>
            <a:pPr indent="-514350" lvl="0" marL="514350" rtl="0" algn="l">
              <a:spcBef>
                <a:spcPts val="440"/>
              </a:spcBef>
              <a:spcAft>
                <a:spcPts val="0"/>
              </a:spcAft>
              <a:buClr>
                <a:schemeClr val="lt1"/>
              </a:buClr>
              <a:buSzPts val="2200"/>
              <a:buFont typeface="Times New Roman"/>
              <a:buAutoNum type="arabicPeriod"/>
            </a:pPr>
            <a:r>
              <a:rPr lang="en-US" sz="2200">
                <a:solidFill>
                  <a:schemeClr val="lt1"/>
                </a:solidFill>
              </a:rPr>
              <a:t>Nếu U đủ N-1 cạnh thì dừng, ngược lại lặp từ bước 2.</a:t>
            </a:r>
            <a:endParaRPr sz="2200">
              <a:solidFill>
                <a:schemeClr val="lt1"/>
              </a:solidFill>
            </a:endParaRPr>
          </a:p>
          <a:p>
            <a:pPr indent="-215900" lvl="0" marL="342900" rtl="0" algn="l">
              <a:spcBef>
                <a:spcPts val="400"/>
              </a:spcBef>
              <a:spcAft>
                <a:spcPts val="0"/>
              </a:spcAft>
              <a:buClr>
                <a:schemeClr val="dk1"/>
              </a:buClr>
              <a:buSzPts val="2000"/>
              <a:buFont typeface="Noto Sans Symbols"/>
              <a:buNone/>
            </a:pPr>
            <a:r>
              <a:t/>
            </a:r>
            <a:endParaRPr sz="2000">
              <a:solidFill>
                <a:srgbClr val="FF0000"/>
              </a:solidFill>
            </a:endParaRPr>
          </a:p>
        </p:txBody>
      </p:sp>
      <p:sp>
        <p:nvSpPr>
          <p:cNvPr id="641" name="Google Shape;641;p29"/>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642" name="Google Shape;642;p29"/>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30"/>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t>Cây tối đại ngắn nhất</a:t>
            </a:r>
            <a:endParaRPr b="1" sz="3600"/>
          </a:p>
        </p:txBody>
      </p:sp>
      <p:sp>
        <p:nvSpPr>
          <p:cNvPr id="648" name="Google Shape;648;p3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649" name="Google Shape;649;p30"/>
          <p:cNvSpPr txBox="1"/>
          <p:nvPr>
            <p:ph idx="2" type="body"/>
          </p:nvPr>
        </p:nvSpPr>
        <p:spPr>
          <a:xfrm>
            <a:off x="4648200" y="1600200"/>
            <a:ext cx="4038600" cy="4525963"/>
          </a:xfrm>
          <a:prstGeom prst="rect">
            <a:avLst/>
          </a:prstGeom>
          <a:solidFill>
            <a:srgbClr val="EAEAEA"/>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650" name="Google Shape;650;p30"/>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651" name="Google Shape;651;p30"/>
          <p:cNvSpPr txBox="1"/>
          <p:nvPr/>
        </p:nvSpPr>
        <p:spPr>
          <a:xfrm>
            <a:off x="1052304" y="4245426"/>
            <a:ext cx="121285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15</a:t>
            </a:r>
            <a:endParaRPr/>
          </a:p>
        </p:txBody>
      </p:sp>
      <p:sp>
        <p:nvSpPr>
          <p:cNvPr id="652" name="Google Shape;652;p30"/>
          <p:cNvSpPr txBox="1"/>
          <p:nvPr/>
        </p:nvSpPr>
        <p:spPr>
          <a:xfrm>
            <a:off x="899904" y="4855026"/>
            <a:ext cx="121285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5</a:t>
            </a:r>
            <a:endParaRPr/>
          </a:p>
        </p:txBody>
      </p:sp>
      <p:sp>
        <p:nvSpPr>
          <p:cNvPr id="653" name="Google Shape;653;p30"/>
          <p:cNvSpPr txBox="1"/>
          <p:nvPr/>
        </p:nvSpPr>
        <p:spPr>
          <a:xfrm>
            <a:off x="1760329" y="4575626"/>
            <a:ext cx="121285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10</a:t>
            </a:r>
            <a:endParaRPr/>
          </a:p>
        </p:txBody>
      </p:sp>
      <p:sp>
        <p:nvSpPr>
          <p:cNvPr id="654" name="Google Shape;654;p30"/>
          <p:cNvSpPr txBox="1"/>
          <p:nvPr/>
        </p:nvSpPr>
        <p:spPr>
          <a:xfrm>
            <a:off x="2804904" y="3940626"/>
            <a:ext cx="121285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3</a:t>
            </a:r>
            <a:endParaRPr/>
          </a:p>
        </p:txBody>
      </p:sp>
      <p:sp>
        <p:nvSpPr>
          <p:cNvPr id="655" name="Google Shape;655;p30"/>
          <p:cNvSpPr txBox="1"/>
          <p:nvPr/>
        </p:nvSpPr>
        <p:spPr>
          <a:xfrm>
            <a:off x="2347704" y="5007426"/>
            <a:ext cx="121285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8</a:t>
            </a:r>
            <a:endParaRPr/>
          </a:p>
        </p:txBody>
      </p:sp>
      <p:sp>
        <p:nvSpPr>
          <p:cNvPr id="656" name="Google Shape;656;p30"/>
          <p:cNvSpPr txBox="1"/>
          <p:nvPr/>
        </p:nvSpPr>
        <p:spPr>
          <a:xfrm>
            <a:off x="1592054" y="2614515"/>
            <a:ext cx="1212850" cy="369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20</a:t>
            </a:r>
            <a:endParaRPr/>
          </a:p>
        </p:txBody>
      </p:sp>
      <p:sp>
        <p:nvSpPr>
          <p:cNvPr id="657" name="Google Shape;657;p30"/>
          <p:cNvSpPr txBox="1"/>
          <p:nvPr/>
        </p:nvSpPr>
        <p:spPr>
          <a:xfrm>
            <a:off x="2505547" y="3128015"/>
            <a:ext cx="121285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15</a:t>
            </a:r>
            <a:endParaRPr/>
          </a:p>
        </p:txBody>
      </p:sp>
      <p:sp>
        <p:nvSpPr>
          <p:cNvPr id="658" name="Google Shape;658;p30"/>
          <p:cNvSpPr txBox="1"/>
          <p:nvPr/>
        </p:nvSpPr>
        <p:spPr>
          <a:xfrm>
            <a:off x="3208222" y="2404133"/>
            <a:ext cx="121285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10</a:t>
            </a:r>
            <a:endParaRPr/>
          </a:p>
        </p:txBody>
      </p:sp>
      <p:sp>
        <p:nvSpPr>
          <p:cNvPr id="659" name="Google Shape;659;p30"/>
          <p:cNvSpPr txBox="1"/>
          <p:nvPr/>
        </p:nvSpPr>
        <p:spPr>
          <a:xfrm>
            <a:off x="3575068" y="3603282"/>
            <a:ext cx="121285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9</a:t>
            </a:r>
            <a:endParaRPr/>
          </a:p>
        </p:txBody>
      </p:sp>
      <p:cxnSp>
        <p:nvCxnSpPr>
          <p:cNvPr id="660" name="Google Shape;660;p30"/>
          <p:cNvCxnSpPr/>
          <p:nvPr/>
        </p:nvCxnSpPr>
        <p:spPr>
          <a:xfrm flipH="1" rot="-5400000">
            <a:off x="2352466" y="3553277"/>
            <a:ext cx="981075" cy="1231900"/>
          </a:xfrm>
          <a:prstGeom prst="straightConnector1">
            <a:avLst/>
          </a:prstGeom>
          <a:noFill/>
          <a:ln cap="flat" cmpd="sng" w="38100">
            <a:solidFill>
              <a:srgbClr val="0000CC"/>
            </a:solidFill>
            <a:prstDash val="solid"/>
            <a:round/>
            <a:headEnd len="med" w="med" type="none"/>
            <a:tailEnd len="med" w="med" type="none"/>
          </a:ln>
        </p:spPr>
      </p:cxnSp>
      <p:cxnSp>
        <p:nvCxnSpPr>
          <p:cNvPr id="661" name="Google Shape;661;p30"/>
          <p:cNvCxnSpPr/>
          <p:nvPr/>
        </p:nvCxnSpPr>
        <p:spPr>
          <a:xfrm flipH="1" rot="-5400000">
            <a:off x="453816" y="4843914"/>
            <a:ext cx="1089025" cy="806450"/>
          </a:xfrm>
          <a:prstGeom prst="straightConnector1">
            <a:avLst/>
          </a:prstGeom>
          <a:noFill/>
          <a:ln cap="flat" cmpd="sng" w="38100">
            <a:solidFill>
              <a:srgbClr val="0000CC"/>
            </a:solidFill>
            <a:prstDash val="solid"/>
            <a:round/>
            <a:headEnd len="med" w="med" type="none"/>
            <a:tailEnd len="med" w="med" type="none"/>
          </a:ln>
        </p:spPr>
      </p:cxnSp>
      <p:cxnSp>
        <p:nvCxnSpPr>
          <p:cNvPr id="662" name="Google Shape;662;p30"/>
          <p:cNvCxnSpPr>
            <a:stCxn id="663" idx="6"/>
            <a:endCxn id="664" idx="1"/>
          </p:cNvCxnSpPr>
          <p:nvPr/>
        </p:nvCxnSpPr>
        <p:spPr>
          <a:xfrm>
            <a:off x="2423904" y="2115492"/>
            <a:ext cx="1486200" cy="1057200"/>
          </a:xfrm>
          <a:prstGeom prst="straightConnector1">
            <a:avLst/>
          </a:prstGeom>
          <a:noFill/>
          <a:ln cap="flat" cmpd="sng" w="38100">
            <a:solidFill>
              <a:srgbClr val="0000CC"/>
            </a:solidFill>
            <a:prstDash val="solid"/>
            <a:round/>
            <a:headEnd len="med" w="med" type="none"/>
            <a:tailEnd len="med" w="med" type="none"/>
          </a:ln>
        </p:spPr>
      </p:cxnSp>
      <p:cxnSp>
        <p:nvCxnSpPr>
          <p:cNvPr id="665" name="Google Shape;665;p30"/>
          <p:cNvCxnSpPr>
            <a:endCxn id="666" idx="0"/>
          </p:cNvCxnSpPr>
          <p:nvPr/>
        </p:nvCxnSpPr>
        <p:spPr>
          <a:xfrm>
            <a:off x="2119104" y="2115426"/>
            <a:ext cx="0" cy="1368000"/>
          </a:xfrm>
          <a:prstGeom prst="straightConnector1">
            <a:avLst/>
          </a:prstGeom>
          <a:noFill/>
          <a:ln cap="flat" cmpd="sng" w="38100">
            <a:solidFill>
              <a:srgbClr val="0000CC"/>
            </a:solidFill>
            <a:prstDash val="solid"/>
            <a:round/>
            <a:headEnd len="med" w="med" type="none"/>
            <a:tailEnd len="med" w="med" type="none"/>
          </a:ln>
        </p:spPr>
      </p:cxnSp>
      <p:cxnSp>
        <p:nvCxnSpPr>
          <p:cNvPr id="667" name="Google Shape;667;p30"/>
          <p:cNvCxnSpPr>
            <a:stCxn id="664" idx="3"/>
          </p:cNvCxnSpPr>
          <p:nvPr/>
        </p:nvCxnSpPr>
        <p:spPr>
          <a:xfrm flipH="1">
            <a:off x="3719191" y="3388178"/>
            <a:ext cx="190800" cy="1352400"/>
          </a:xfrm>
          <a:prstGeom prst="straightConnector1">
            <a:avLst/>
          </a:prstGeom>
          <a:noFill/>
          <a:ln cap="flat" cmpd="sng" w="38100">
            <a:solidFill>
              <a:srgbClr val="0000CC"/>
            </a:solidFill>
            <a:prstDash val="solid"/>
            <a:round/>
            <a:headEnd len="med" w="med" type="none"/>
            <a:tailEnd len="med" w="med" type="none"/>
          </a:ln>
        </p:spPr>
      </p:cxnSp>
      <p:cxnSp>
        <p:nvCxnSpPr>
          <p:cNvPr id="668" name="Google Shape;668;p30"/>
          <p:cNvCxnSpPr>
            <a:stCxn id="663" idx="5"/>
          </p:cNvCxnSpPr>
          <p:nvPr/>
        </p:nvCxnSpPr>
        <p:spPr>
          <a:xfrm>
            <a:off x="2379267" y="2223255"/>
            <a:ext cx="1295700" cy="2436600"/>
          </a:xfrm>
          <a:prstGeom prst="straightConnector1">
            <a:avLst/>
          </a:prstGeom>
          <a:noFill/>
          <a:ln cap="flat" cmpd="sng" w="38100">
            <a:solidFill>
              <a:srgbClr val="0000CC"/>
            </a:solidFill>
            <a:prstDash val="solid"/>
            <a:round/>
            <a:headEnd len="med" w="med" type="none"/>
            <a:tailEnd len="med" w="med" type="none"/>
          </a:ln>
        </p:spPr>
      </p:cxnSp>
      <p:cxnSp>
        <p:nvCxnSpPr>
          <p:cNvPr id="669" name="Google Shape;669;p30"/>
          <p:cNvCxnSpPr/>
          <p:nvPr/>
        </p:nvCxnSpPr>
        <p:spPr>
          <a:xfrm rot="5400000">
            <a:off x="910223" y="3471520"/>
            <a:ext cx="893762" cy="1308100"/>
          </a:xfrm>
          <a:prstGeom prst="straightConnector1">
            <a:avLst/>
          </a:prstGeom>
          <a:noFill/>
          <a:ln cap="flat" cmpd="sng" w="38100">
            <a:solidFill>
              <a:srgbClr val="0000CC"/>
            </a:solidFill>
            <a:prstDash val="solid"/>
            <a:round/>
            <a:headEnd len="med" w="med" type="none"/>
            <a:tailEnd len="med" w="med" type="none"/>
          </a:ln>
        </p:spPr>
      </p:cxnSp>
      <p:cxnSp>
        <p:nvCxnSpPr>
          <p:cNvPr id="670" name="Google Shape;670;p30"/>
          <p:cNvCxnSpPr/>
          <p:nvPr/>
        </p:nvCxnSpPr>
        <p:spPr>
          <a:xfrm rot="5400000">
            <a:off x="785604" y="4435926"/>
            <a:ext cx="2057400" cy="609600"/>
          </a:xfrm>
          <a:prstGeom prst="straightConnector1">
            <a:avLst/>
          </a:prstGeom>
          <a:noFill/>
          <a:ln cap="flat" cmpd="sng" w="38100">
            <a:solidFill>
              <a:srgbClr val="0000CC"/>
            </a:solidFill>
            <a:prstDash val="solid"/>
            <a:round/>
            <a:headEnd len="med" w="med" type="none"/>
            <a:tailEnd len="med" w="med" type="none"/>
          </a:ln>
        </p:spPr>
      </p:cxnSp>
      <p:cxnSp>
        <p:nvCxnSpPr>
          <p:cNvPr id="671" name="Google Shape;671;p30"/>
          <p:cNvCxnSpPr/>
          <p:nvPr/>
        </p:nvCxnSpPr>
        <p:spPr>
          <a:xfrm rot="-5400000">
            <a:off x="2053223" y="4385920"/>
            <a:ext cx="969962" cy="1841500"/>
          </a:xfrm>
          <a:prstGeom prst="straightConnector1">
            <a:avLst/>
          </a:prstGeom>
          <a:noFill/>
          <a:ln cap="flat" cmpd="sng" w="38100">
            <a:solidFill>
              <a:srgbClr val="0000CC"/>
            </a:solidFill>
            <a:prstDash val="solid"/>
            <a:round/>
            <a:headEnd len="med" w="med" type="none"/>
            <a:tailEnd len="med" w="med" type="none"/>
          </a:ln>
        </p:spPr>
      </p:cxnSp>
      <p:sp>
        <p:nvSpPr>
          <p:cNvPr id="672" name="Google Shape;672;p30"/>
          <p:cNvSpPr/>
          <p:nvPr/>
        </p:nvSpPr>
        <p:spPr>
          <a:xfrm>
            <a:off x="442704" y="4397826"/>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b</a:t>
            </a:r>
            <a:endParaRPr/>
          </a:p>
        </p:txBody>
      </p:sp>
      <p:sp>
        <p:nvSpPr>
          <p:cNvPr id="666" name="Google Shape;666;p30"/>
          <p:cNvSpPr/>
          <p:nvPr/>
        </p:nvSpPr>
        <p:spPr>
          <a:xfrm>
            <a:off x="1966704" y="3483426"/>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a</a:t>
            </a:r>
            <a:endParaRPr/>
          </a:p>
        </p:txBody>
      </p:sp>
      <p:sp>
        <p:nvSpPr>
          <p:cNvPr id="663" name="Google Shape;663;p30"/>
          <p:cNvSpPr/>
          <p:nvPr/>
        </p:nvSpPr>
        <p:spPr>
          <a:xfrm>
            <a:off x="2119104" y="1963092"/>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f</a:t>
            </a:r>
            <a:endParaRPr/>
          </a:p>
        </p:txBody>
      </p:sp>
      <p:sp>
        <p:nvSpPr>
          <p:cNvPr id="664" name="Google Shape;664;p30"/>
          <p:cNvSpPr/>
          <p:nvPr/>
        </p:nvSpPr>
        <p:spPr>
          <a:xfrm>
            <a:off x="3865354" y="3128015"/>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e</a:t>
            </a:r>
            <a:endParaRPr/>
          </a:p>
        </p:txBody>
      </p:sp>
      <p:sp>
        <p:nvSpPr>
          <p:cNvPr id="673" name="Google Shape;673;p30"/>
          <p:cNvSpPr/>
          <p:nvPr/>
        </p:nvSpPr>
        <p:spPr>
          <a:xfrm>
            <a:off x="3414504" y="4626426"/>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d</a:t>
            </a:r>
            <a:endParaRPr/>
          </a:p>
        </p:txBody>
      </p:sp>
      <p:sp>
        <p:nvSpPr>
          <p:cNvPr id="674" name="Google Shape;674;p30"/>
          <p:cNvSpPr/>
          <p:nvPr/>
        </p:nvSpPr>
        <p:spPr>
          <a:xfrm>
            <a:off x="1357104" y="5693226"/>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c</a:t>
            </a:r>
            <a:endParaRPr/>
          </a:p>
        </p:txBody>
      </p:sp>
      <p:sp>
        <p:nvSpPr>
          <p:cNvPr id="675" name="Google Shape;675;p30"/>
          <p:cNvSpPr txBox="1"/>
          <p:nvPr/>
        </p:nvSpPr>
        <p:spPr>
          <a:xfrm>
            <a:off x="5515362" y="4397826"/>
            <a:ext cx="121285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15</a:t>
            </a:r>
            <a:endParaRPr/>
          </a:p>
        </p:txBody>
      </p:sp>
      <p:sp>
        <p:nvSpPr>
          <p:cNvPr id="676" name="Google Shape;676;p30"/>
          <p:cNvSpPr txBox="1"/>
          <p:nvPr/>
        </p:nvSpPr>
        <p:spPr>
          <a:xfrm>
            <a:off x="5362962" y="5007426"/>
            <a:ext cx="121285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5</a:t>
            </a:r>
            <a:endParaRPr/>
          </a:p>
        </p:txBody>
      </p:sp>
      <p:sp>
        <p:nvSpPr>
          <p:cNvPr id="677" name="Google Shape;677;p30"/>
          <p:cNvSpPr txBox="1"/>
          <p:nvPr/>
        </p:nvSpPr>
        <p:spPr>
          <a:xfrm>
            <a:off x="6223387" y="4728026"/>
            <a:ext cx="121285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10</a:t>
            </a:r>
            <a:endParaRPr/>
          </a:p>
        </p:txBody>
      </p:sp>
      <p:sp>
        <p:nvSpPr>
          <p:cNvPr id="678" name="Google Shape;678;p30"/>
          <p:cNvSpPr txBox="1"/>
          <p:nvPr/>
        </p:nvSpPr>
        <p:spPr>
          <a:xfrm>
            <a:off x="7267962" y="4093026"/>
            <a:ext cx="121285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3</a:t>
            </a:r>
            <a:endParaRPr/>
          </a:p>
        </p:txBody>
      </p:sp>
      <p:sp>
        <p:nvSpPr>
          <p:cNvPr id="679" name="Google Shape;679;p30"/>
          <p:cNvSpPr txBox="1"/>
          <p:nvPr/>
        </p:nvSpPr>
        <p:spPr>
          <a:xfrm>
            <a:off x="6810762" y="5159826"/>
            <a:ext cx="121285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8</a:t>
            </a:r>
            <a:endParaRPr/>
          </a:p>
        </p:txBody>
      </p:sp>
      <p:sp>
        <p:nvSpPr>
          <p:cNvPr id="680" name="Google Shape;680;p30"/>
          <p:cNvSpPr txBox="1"/>
          <p:nvPr/>
        </p:nvSpPr>
        <p:spPr>
          <a:xfrm>
            <a:off x="6055112" y="2766915"/>
            <a:ext cx="1212850" cy="369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20</a:t>
            </a:r>
            <a:endParaRPr/>
          </a:p>
        </p:txBody>
      </p:sp>
      <p:sp>
        <p:nvSpPr>
          <p:cNvPr id="681" name="Google Shape;681;p30"/>
          <p:cNvSpPr txBox="1"/>
          <p:nvPr/>
        </p:nvSpPr>
        <p:spPr>
          <a:xfrm>
            <a:off x="6968605" y="3280415"/>
            <a:ext cx="121285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15</a:t>
            </a:r>
            <a:endParaRPr/>
          </a:p>
        </p:txBody>
      </p:sp>
      <p:sp>
        <p:nvSpPr>
          <p:cNvPr id="682" name="Google Shape;682;p30"/>
          <p:cNvSpPr txBox="1"/>
          <p:nvPr/>
        </p:nvSpPr>
        <p:spPr>
          <a:xfrm>
            <a:off x="7671280" y="2556533"/>
            <a:ext cx="121285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10</a:t>
            </a:r>
            <a:endParaRPr/>
          </a:p>
        </p:txBody>
      </p:sp>
      <p:sp>
        <p:nvSpPr>
          <p:cNvPr id="683" name="Google Shape;683;p30"/>
          <p:cNvSpPr txBox="1"/>
          <p:nvPr/>
        </p:nvSpPr>
        <p:spPr>
          <a:xfrm>
            <a:off x="8038126" y="3755682"/>
            <a:ext cx="1212850" cy="369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9</a:t>
            </a:r>
            <a:endParaRPr/>
          </a:p>
        </p:txBody>
      </p:sp>
      <p:cxnSp>
        <p:nvCxnSpPr>
          <p:cNvPr id="684" name="Google Shape;684;p30"/>
          <p:cNvCxnSpPr/>
          <p:nvPr/>
        </p:nvCxnSpPr>
        <p:spPr>
          <a:xfrm flipH="1" rot="-5400000">
            <a:off x="6815524" y="3705677"/>
            <a:ext cx="981075" cy="1231900"/>
          </a:xfrm>
          <a:prstGeom prst="straightConnector1">
            <a:avLst/>
          </a:prstGeom>
          <a:noFill/>
          <a:ln cap="flat" cmpd="sng" w="38100">
            <a:solidFill>
              <a:srgbClr val="FF0000"/>
            </a:solidFill>
            <a:prstDash val="solid"/>
            <a:round/>
            <a:headEnd len="med" w="med" type="none"/>
            <a:tailEnd len="med" w="med" type="none"/>
          </a:ln>
        </p:spPr>
      </p:cxnSp>
      <p:cxnSp>
        <p:nvCxnSpPr>
          <p:cNvPr id="685" name="Google Shape;685;p30"/>
          <p:cNvCxnSpPr/>
          <p:nvPr/>
        </p:nvCxnSpPr>
        <p:spPr>
          <a:xfrm flipH="1" rot="-5400000">
            <a:off x="4916874" y="4996314"/>
            <a:ext cx="1089025" cy="806450"/>
          </a:xfrm>
          <a:prstGeom prst="straightConnector1">
            <a:avLst/>
          </a:prstGeom>
          <a:noFill/>
          <a:ln cap="flat" cmpd="sng" w="38100">
            <a:solidFill>
              <a:srgbClr val="FF0000"/>
            </a:solidFill>
            <a:prstDash val="solid"/>
            <a:round/>
            <a:headEnd len="med" w="med" type="none"/>
            <a:tailEnd len="med" w="med" type="none"/>
          </a:ln>
        </p:spPr>
      </p:cxnSp>
      <p:cxnSp>
        <p:nvCxnSpPr>
          <p:cNvPr id="686" name="Google Shape;686;p30"/>
          <p:cNvCxnSpPr>
            <a:stCxn id="687" idx="6"/>
            <a:endCxn id="688" idx="1"/>
          </p:cNvCxnSpPr>
          <p:nvPr/>
        </p:nvCxnSpPr>
        <p:spPr>
          <a:xfrm>
            <a:off x="6886962" y="2267892"/>
            <a:ext cx="1486200" cy="1057200"/>
          </a:xfrm>
          <a:prstGeom prst="straightConnector1">
            <a:avLst/>
          </a:prstGeom>
          <a:noFill/>
          <a:ln cap="flat" cmpd="sng" w="38100">
            <a:solidFill>
              <a:srgbClr val="FF0000"/>
            </a:solidFill>
            <a:prstDash val="solid"/>
            <a:round/>
            <a:headEnd len="med" w="med" type="none"/>
            <a:tailEnd len="med" w="med" type="none"/>
          </a:ln>
        </p:spPr>
      </p:cxnSp>
      <p:cxnSp>
        <p:nvCxnSpPr>
          <p:cNvPr id="689" name="Google Shape;689;p30"/>
          <p:cNvCxnSpPr>
            <a:endCxn id="690" idx="0"/>
          </p:cNvCxnSpPr>
          <p:nvPr/>
        </p:nvCxnSpPr>
        <p:spPr>
          <a:xfrm>
            <a:off x="6582162" y="2267826"/>
            <a:ext cx="0" cy="1368000"/>
          </a:xfrm>
          <a:prstGeom prst="straightConnector1">
            <a:avLst/>
          </a:prstGeom>
          <a:noFill/>
          <a:ln cap="flat" cmpd="sng" w="38100">
            <a:solidFill>
              <a:srgbClr val="0000CC"/>
            </a:solidFill>
            <a:prstDash val="solid"/>
            <a:round/>
            <a:headEnd len="med" w="med" type="none"/>
            <a:tailEnd len="med" w="med" type="none"/>
          </a:ln>
        </p:spPr>
      </p:cxnSp>
      <p:cxnSp>
        <p:nvCxnSpPr>
          <p:cNvPr id="691" name="Google Shape;691;p30"/>
          <p:cNvCxnSpPr>
            <a:stCxn id="688" idx="3"/>
          </p:cNvCxnSpPr>
          <p:nvPr/>
        </p:nvCxnSpPr>
        <p:spPr>
          <a:xfrm flipH="1">
            <a:off x="8182249" y="3540578"/>
            <a:ext cx="190800" cy="1352400"/>
          </a:xfrm>
          <a:prstGeom prst="straightConnector1">
            <a:avLst/>
          </a:prstGeom>
          <a:noFill/>
          <a:ln cap="flat" cmpd="sng" w="38100">
            <a:solidFill>
              <a:srgbClr val="FF0000"/>
            </a:solidFill>
            <a:prstDash val="solid"/>
            <a:round/>
            <a:headEnd len="med" w="med" type="none"/>
            <a:tailEnd len="med" w="med" type="none"/>
          </a:ln>
        </p:spPr>
      </p:cxnSp>
      <p:cxnSp>
        <p:nvCxnSpPr>
          <p:cNvPr id="692" name="Google Shape;692;p30"/>
          <p:cNvCxnSpPr>
            <a:stCxn id="687" idx="5"/>
          </p:cNvCxnSpPr>
          <p:nvPr/>
        </p:nvCxnSpPr>
        <p:spPr>
          <a:xfrm>
            <a:off x="6842325" y="2375655"/>
            <a:ext cx="1295700" cy="2436600"/>
          </a:xfrm>
          <a:prstGeom prst="straightConnector1">
            <a:avLst/>
          </a:prstGeom>
          <a:noFill/>
          <a:ln cap="flat" cmpd="sng" w="38100">
            <a:solidFill>
              <a:srgbClr val="0000CC"/>
            </a:solidFill>
            <a:prstDash val="solid"/>
            <a:round/>
            <a:headEnd len="med" w="med" type="none"/>
            <a:tailEnd len="med" w="med" type="none"/>
          </a:ln>
        </p:spPr>
      </p:cxnSp>
      <p:cxnSp>
        <p:nvCxnSpPr>
          <p:cNvPr id="693" name="Google Shape;693;p30"/>
          <p:cNvCxnSpPr/>
          <p:nvPr/>
        </p:nvCxnSpPr>
        <p:spPr>
          <a:xfrm rot="5400000">
            <a:off x="5373281" y="3623920"/>
            <a:ext cx="893762" cy="1308100"/>
          </a:xfrm>
          <a:prstGeom prst="straightConnector1">
            <a:avLst/>
          </a:prstGeom>
          <a:noFill/>
          <a:ln cap="flat" cmpd="sng" w="38100">
            <a:solidFill>
              <a:srgbClr val="0000CC"/>
            </a:solidFill>
            <a:prstDash val="solid"/>
            <a:round/>
            <a:headEnd len="med" w="med" type="none"/>
            <a:tailEnd len="med" w="med" type="none"/>
          </a:ln>
        </p:spPr>
      </p:cxnSp>
      <p:cxnSp>
        <p:nvCxnSpPr>
          <p:cNvPr id="694" name="Google Shape;694;p30"/>
          <p:cNvCxnSpPr/>
          <p:nvPr/>
        </p:nvCxnSpPr>
        <p:spPr>
          <a:xfrm rot="5400000">
            <a:off x="5248662" y="4588326"/>
            <a:ext cx="2057400" cy="609600"/>
          </a:xfrm>
          <a:prstGeom prst="straightConnector1">
            <a:avLst/>
          </a:prstGeom>
          <a:noFill/>
          <a:ln cap="flat" cmpd="sng" w="38100">
            <a:solidFill>
              <a:srgbClr val="0000CC"/>
            </a:solidFill>
            <a:prstDash val="solid"/>
            <a:round/>
            <a:headEnd len="med" w="med" type="none"/>
            <a:tailEnd len="med" w="med" type="none"/>
          </a:ln>
        </p:spPr>
      </p:cxnSp>
      <p:cxnSp>
        <p:nvCxnSpPr>
          <p:cNvPr id="695" name="Google Shape;695;p30"/>
          <p:cNvCxnSpPr/>
          <p:nvPr/>
        </p:nvCxnSpPr>
        <p:spPr>
          <a:xfrm rot="-5400000">
            <a:off x="6516281" y="4538320"/>
            <a:ext cx="969962" cy="1841500"/>
          </a:xfrm>
          <a:prstGeom prst="straightConnector1">
            <a:avLst/>
          </a:prstGeom>
          <a:noFill/>
          <a:ln cap="flat" cmpd="sng" w="38100">
            <a:solidFill>
              <a:srgbClr val="FF0000"/>
            </a:solidFill>
            <a:prstDash val="solid"/>
            <a:round/>
            <a:headEnd len="med" w="med" type="none"/>
            <a:tailEnd len="med" w="med" type="none"/>
          </a:ln>
        </p:spPr>
      </p:cxnSp>
      <p:sp>
        <p:nvSpPr>
          <p:cNvPr id="696" name="Google Shape;696;p30"/>
          <p:cNvSpPr/>
          <p:nvPr/>
        </p:nvSpPr>
        <p:spPr>
          <a:xfrm>
            <a:off x="4905762" y="4550226"/>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b</a:t>
            </a:r>
            <a:endParaRPr/>
          </a:p>
        </p:txBody>
      </p:sp>
      <p:sp>
        <p:nvSpPr>
          <p:cNvPr id="690" name="Google Shape;690;p30"/>
          <p:cNvSpPr/>
          <p:nvPr/>
        </p:nvSpPr>
        <p:spPr>
          <a:xfrm>
            <a:off x="6429762" y="3635826"/>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a</a:t>
            </a:r>
            <a:endParaRPr/>
          </a:p>
        </p:txBody>
      </p:sp>
      <p:sp>
        <p:nvSpPr>
          <p:cNvPr id="687" name="Google Shape;687;p30"/>
          <p:cNvSpPr/>
          <p:nvPr/>
        </p:nvSpPr>
        <p:spPr>
          <a:xfrm>
            <a:off x="6582162" y="2115492"/>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f</a:t>
            </a:r>
            <a:endParaRPr/>
          </a:p>
        </p:txBody>
      </p:sp>
      <p:sp>
        <p:nvSpPr>
          <p:cNvPr id="688" name="Google Shape;688;p30"/>
          <p:cNvSpPr/>
          <p:nvPr/>
        </p:nvSpPr>
        <p:spPr>
          <a:xfrm>
            <a:off x="8328412" y="3280415"/>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e</a:t>
            </a:r>
            <a:endParaRPr/>
          </a:p>
        </p:txBody>
      </p:sp>
      <p:sp>
        <p:nvSpPr>
          <p:cNvPr id="697" name="Google Shape;697;p30"/>
          <p:cNvSpPr/>
          <p:nvPr/>
        </p:nvSpPr>
        <p:spPr>
          <a:xfrm>
            <a:off x="7877562" y="4778826"/>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d</a:t>
            </a:r>
            <a:endParaRPr/>
          </a:p>
        </p:txBody>
      </p:sp>
      <p:sp>
        <p:nvSpPr>
          <p:cNvPr id="698" name="Google Shape;698;p30"/>
          <p:cNvSpPr/>
          <p:nvPr/>
        </p:nvSpPr>
        <p:spPr>
          <a:xfrm>
            <a:off x="5820162" y="5845626"/>
            <a:ext cx="304800" cy="304800"/>
          </a:xfrm>
          <a:prstGeom prst="ellipse">
            <a:avLst/>
          </a:prstGeom>
          <a:solidFill>
            <a:srgbClr val="FF0000"/>
          </a:solidFill>
          <a:ln cap="flat" cmpd="sng" w="9525">
            <a:solidFill>
              <a:schemeClr val="dk1"/>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rPr b="1" lang="en-US" sz="2000">
                <a:solidFill>
                  <a:srgbClr val="FEEF30"/>
                </a:solidFill>
                <a:latin typeface="Times New Roman"/>
                <a:ea typeface="Times New Roman"/>
                <a:cs typeface="Times New Roman"/>
                <a:sym typeface="Times New Roman"/>
              </a:rPr>
              <a:t>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31"/>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t>Cây tối đại ngắn nhất</a:t>
            </a:r>
            <a:endParaRPr b="1" sz="3600"/>
          </a:p>
        </p:txBody>
      </p:sp>
      <p:sp>
        <p:nvSpPr>
          <p:cNvPr id="704" name="Google Shape;704;p31"/>
          <p:cNvSpPr txBox="1"/>
          <p:nvPr>
            <p:ph idx="1" type="body"/>
          </p:nvPr>
        </p:nvSpPr>
        <p:spPr>
          <a:xfrm>
            <a:off x="457200" y="1600200"/>
            <a:ext cx="4038600" cy="4525963"/>
          </a:xfrm>
          <a:prstGeom prst="rect">
            <a:avLst/>
          </a:prstGeom>
          <a:solidFill>
            <a:srgbClr val="EAEAEA"/>
          </a:solid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705" name="Google Shape;705;p31"/>
          <p:cNvSpPr txBox="1"/>
          <p:nvPr>
            <p:ph idx="2" type="body"/>
          </p:nvPr>
        </p:nvSpPr>
        <p:spPr>
          <a:xfrm>
            <a:off x="4648200" y="1600200"/>
            <a:ext cx="4038600" cy="4525963"/>
          </a:xfrm>
          <a:prstGeom prst="rect">
            <a:avLst/>
          </a:prstGeom>
          <a:solidFill>
            <a:srgbClr val="EAEAEA"/>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33CC"/>
              </a:buClr>
              <a:buSzPts val="2800"/>
              <a:buFont typeface="Noto Sans Symbols"/>
              <a:buChar char="✔"/>
            </a:pPr>
            <a:r>
              <a:rPr lang="en-US">
                <a:solidFill>
                  <a:srgbClr val="0033CC"/>
                </a:solidFill>
              </a:rPr>
              <a:t>E = ?</a:t>
            </a:r>
            <a:endParaRPr/>
          </a:p>
          <a:p>
            <a:pPr indent="-342900" lvl="0" marL="342900" rtl="0" algn="l">
              <a:spcBef>
                <a:spcPts val="560"/>
              </a:spcBef>
              <a:spcAft>
                <a:spcPts val="0"/>
              </a:spcAft>
              <a:buClr>
                <a:srgbClr val="0033CC"/>
              </a:buClr>
              <a:buSzPts val="2800"/>
              <a:buFont typeface="Noto Sans Symbols"/>
              <a:buChar char="✔"/>
            </a:pPr>
            <a:r>
              <a:rPr lang="en-US">
                <a:solidFill>
                  <a:srgbClr val="0033CC"/>
                </a:solidFill>
              </a:rPr>
              <a:t>Trọng lượng = ?</a:t>
            </a:r>
            <a:endParaRPr>
              <a:solidFill>
                <a:srgbClr val="0033CC"/>
              </a:solidFill>
            </a:endParaRPr>
          </a:p>
          <a:p>
            <a:pPr indent="-165100" lvl="0" marL="342900" rtl="0" algn="l">
              <a:spcBef>
                <a:spcPts val="560"/>
              </a:spcBef>
              <a:spcAft>
                <a:spcPts val="0"/>
              </a:spcAft>
              <a:buClr>
                <a:schemeClr val="dk1"/>
              </a:buClr>
              <a:buSzPts val="2800"/>
              <a:buNone/>
            </a:pPr>
            <a:r>
              <a:t/>
            </a:r>
            <a:endParaRPr/>
          </a:p>
        </p:txBody>
      </p:sp>
      <p:sp>
        <p:nvSpPr>
          <p:cNvPr id="706" name="Google Shape;706;p31"/>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707" name="Google Shape;707;p31"/>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cxnSp>
        <p:nvCxnSpPr>
          <p:cNvPr id="708" name="Google Shape;708;p31"/>
          <p:cNvCxnSpPr/>
          <p:nvPr/>
        </p:nvCxnSpPr>
        <p:spPr>
          <a:xfrm rot="10800000">
            <a:off x="1357104" y="3334650"/>
            <a:ext cx="2438400" cy="76200"/>
          </a:xfrm>
          <a:prstGeom prst="straightConnector1">
            <a:avLst/>
          </a:prstGeom>
          <a:noFill/>
          <a:ln cap="flat" cmpd="sng" w="28575">
            <a:solidFill>
              <a:srgbClr val="C00000"/>
            </a:solidFill>
            <a:prstDash val="solid"/>
            <a:round/>
            <a:headEnd len="med" w="med" type="oval"/>
            <a:tailEnd len="med" w="med" type="oval"/>
          </a:ln>
        </p:spPr>
      </p:cxnSp>
      <p:sp>
        <p:nvSpPr>
          <p:cNvPr id="709" name="Google Shape;709;p31"/>
          <p:cNvSpPr txBox="1"/>
          <p:nvPr/>
        </p:nvSpPr>
        <p:spPr>
          <a:xfrm>
            <a:off x="3871704" y="386805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16</a:t>
            </a:r>
            <a:endParaRPr b="1" sz="1800">
              <a:solidFill>
                <a:srgbClr val="002060"/>
              </a:solidFill>
              <a:latin typeface="Times New Roman"/>
              <a:ea typeface="Times New Roman"/>
              <a:cs typeface="Times New Roman"/>
              <a:sym typeface="Times New Roman"/>
            </a:endParaRPr>
          </a:p>
        </p:txBody>
      </p:sp>
      <p:cxnSp>
        <p:nvCxnSpPr>
          <p:cNvPr id="710" name="Google Shape;710;p31"/>
          <p:cNvCxnSpPr/>
          <p:nvPr/>
        </p:nvCxnSpPr>
        <p:spPr>
          <a:xfrm rot="10800000">
            <a:off x="1280904" y="3334650"/>
            <a:ext cx="1295400" cy="685800"/>
          </a:xfrm>
          <a:prstGeom prst="straightConnector1">
            <a:avLst/>
          </a:prstGeom>
          <a:noFill/>
          <a:ln cap="flat" cmpd="sng" w="28575">
            <a:solidFill>
              <a:srgbClr val="C00000"/>
            </a:solidFill>
            <a:prstDash val="solid"/>
            <a:round/>
            <a:headEnd len="med" w="med" type="oval"/>
            <a:tailEnd len="med" w="med" type="oval"/>
          </a:ln>
        </p:spPr>
      </p:cxnSp>
      <p:cxnSp>
        <p:nvCxnSpPr>
          <p:cNvPr id="711" name="Google Shape;711;p31"/>
          <p:cNvCxnSpPr/>
          <p:nvPr/>
        </p:nvCxnSpPr>
        <p:spPr>
          <a:xfrm flipH="1">
            <a:off x="2652504" y="3487050"/>
            <a:ext cx="1143000" cy="533400"/>
          </a:xfrm>
          <a:prstGeom prst="straightConnector1">
            <a:avLst/>
          </a:prstGeom>
          <a:noFill/>
          <a:ln cap="flat" cmpd="sng" w="28575">
            <a:solidFill>
              <a:srgbClr val="C00000"/>
            </a:solidFill>
            <a:prstDash val="solid"/>
            <a:round/>
            <a:headEnd len="med" w="med" type="oval"/>
            <a:tailEnd len="med" w="med" type="oval"/>
          </a:ln>
        </p:spPr>
      </p:cxnSp>
      <p:cxnSp>
        <p:nvCxnSpPr>
          <p:cNvPr id="712" name="Google Shape;712;p31"/>
          <p:cNvCxnSpPr/>
          <p:nvPr/>
        </p:nvCxnSpPr>
        <p:spPr>
          <a:xfrm flipH="1">
            <a:off x="1357104" y="2496450"/>
            <a:ext cx="1371600" cy="762000"/>
          </a:xfrm>
          <a:prstGeom prst="straightConnector1">
            <a:avLst/>
          </a:prstGeom>
          <a:noFill/>
          <a:ln cap="flat" cmpd="sng" w="28575">
            <a:solidFill>
              <a:srgbClr val="C00000"/>
            </a:solidFill>
            <a:prstDash val="solid"/>
            <a:round/>
            <a:headEnd len="med" w="med" type="oval"/>
            <a:tailEnd len="med" w="med" type="oval"/>
          </a:ln>
        </p:spPr>
      </p:cxnSp>
      <p:cxnSp>
        <p:nvCxnSpPr>
          <p:cNvPr id="713" name="Google Shape;713;p31"/>
          <p:cNvCxnSpPr/>
          <p:nvPr/>
        </p:nvCxnSpPr>
        <p:spPr>
          <a:xfrm rot="10800000">
            <a:off x="2728704" y="2496450"/>
            <a:ext cx="1066800" cy="914400"/>
          </a:xfrm>
          <a:prstGeom prst="straightConnector1">
            <a:avLst/>
          </a:prstGeom>
          <a:noFill/>
          <a:ln cap="flat" cmpd="sng" w="28575">
            <a:solidFill>
              <a:srgbClr val="C00000"/>
            </a:solidFill>
            <a:prstDash val="solid"/>
            <a:round/>
            <a:headEnd len="med" w="med" type="oval"/>
            <a:tailEnd len="med" w="med" type="oval"/>
          </a:ln>
        </p:spPr>
      </p:cxnSp>
      <p:cxnSp>
        <p:nvCxnSpPr>
          <p:cNvPr id="714" name="Google Shape;714;p31"/>
          <p:cNvCxnSpPr/>
          <p:nvPr/>
        </p:nvCxnSpPr>
        <p:spPr>
          <a:xfrm>
            <a:off x="3795504" y="3410850"/>
            <a:ext cx="76200" cy="1143000"/>
          </a:xfrm>
          <a:prstGeom prst="straightConnector1">
            <a:avLst/>
          </a:prstGeom>
          <a:noFill/>
          <a:ln cap="flat" cmpd="sng" w="28575">
            <a:solidFill>
              <a:srgbClr val="C00000"/>
            </a:solidFill>
            <a:prstDash val="solid"/>
            <a:round/>
            <a:headEnd len="med" w="med" type="oval"/>
            <a:tailEnd len="med" w="med" type="oval"/>
          </a:ln>
        </p:spPr>
      </p:cxnSp>
      <p:cxnSp>
        <p:nvCxnSpPr>
          <p:cNvPr id="715" name="Google Shape;715;p31"/>
          <p:cNvCxnSpPr/>
          <p:nvPr/>
        </p:nvCxnSpPr>
        <p:spPr>
          <a:xfrm rot="10800000">
            <a:off x="2652504" y="4020450"/>
            <a:ext cx="1219200" cy="533400"/>
          </a:xfrm>
          <a:prstGeom prst="straightConnector1">
            <a:avLst/>
          </a:prstGeom>
          <a:noFill/>
          <a:ln cap="flat" cmpd="sng" w="28575">
            <a:solidFill>
              <a:srgbClr val="C00000"/>
            </a:solidFill>
            <a:prstDash val="solid"/>
            <a:round/>
            <a:headEnd len="med" w="med" type="oval"/>
            <a:tailEnd len="med" w="med" type="oval"/>
          </a:ln>
        </p:spPr>
      </p:cxnSp>
      <p:cxnSp>
        <p:nvCxnSpPr>
          <p:cNvPr id="716" name="Google Shape;716;p31"/>
          <p:cNvCxnSpPr/>
          <p:nvPr/>
        </p:nvCxnSpPr>
        <p:spPr>
          <a:xfrm flipH="1" rot="10800000">
            <a:off x="2576304" y="4020450"/>
            <a:ext cx="76200" cy="1066800"/>
          </a:xfrm>
          <a:prstGeom prst="straightConnector1">
            <a:avLst/>
          </a:prstGeom>
          <a:noFill/>
          <a:ln cap="flat" cmpd="sng" w="28575">
            <a:solidFill>
              <a:srgbClr val="C00000"/>
            </a:solidFill>
            <a:prstDash val="solid"/>
            <a:round/>
            <a:headEnd len="med" w="med" type="oval"/>
            <a:tailEnd len="med" w="med" type="oval"/>
          </a:ln>
        </p:spPr>
      </p:cxnSp>
      <p:cxnSp>
        <p:nvCxnSpPr>
          <p:cNvPr id="717" name="Google Shape;717;p31"/>
          <p:cNvCxnSpPr/>
          <p:nvPr/>
        </p:nvCxnSpPr>
        <p:spPr>
          <a:xfrm flipH="1">
            <a:off x="2576304" y="4553850"/>
            <a:ext cx="1295400" cy="533400"/>
          </a:xfrm>
          <a:prstGeom prst="straightConnector1">
            <a:avLst/>
          </a:prstGeom>
          <a:noFill/>
          <a:ln cap="flat" cmpd="sng" w="28575">
            <a:solidFill>
              <a:srgbClr val="C00000"/>
            </a:solidFill>
            <a:prstDash val="solid"/>
            <a:round/>
            <a:headEnd len="med" w="med" type="oval"/>
            <a:tailEnd len="med" w="med" type="oval"/>
          </a:ln>
        </p:spPr>
      </p:cxnSp>
      <p:cxnSp>
        <p:nvCxnSpPr>
          <p:cNvPr id="718" name="Google Shape;718;p31"/>
          <p:cNvCxnSpPr/>
          <p:nvPr/>
        </p:nvCxnSpPr>
        <p:spPr>
          <a:xfrm flipH="1" rot="10800000">
            <a:off x="1128504" y="3334650"/>
            <a:ext cx="152400" cy="1143000"/>
          </a:xfrm>
          <a:prstGeom prst="straightConnector1">
            <a:avLst/>
          </a:prstGeom>
          <a:noFill/>
          <a:ln cap="flat" cmpd="sng" w="28575">
            <a:solidFill>
              <a:srgbClr val="C00000"/>
            </a:solidFill>
            <a:prstDash val="solid"/>
            <a:round/>
            <a:headEnd len="med" w="med" type="oval"/>
            <a:tailEnd len="med" w="med" type="oval"/>
          </a:ln>
        </p:spPr>
      </p:cxnSp>
      <p:cxnSp>
        <p:nvCxnSpPr>
          <p:cNvPr id="719" name="Google Shape;719;p31"/>
          <p:cNvCxnSpPr/>
          <p:nvPr/>
        </p:nvCxnSpPr>
        <p:spPr>
          <a:xfrm flipH="1">
            <a:off x="1128504" y="4020450"/>
            <a:ext cx="1524000" cy="457200"/>
          </a:xfrm>
          <a:prstGeom prst="straightConnector1">
            <a:avLst/>
          </a:prstGeom>
          <a:noFill/>
          <a:ln cap="flat" cmpd="sng" w="28575">
            <a:solidFill>
              <a:srgbClr val="C00000"/>
            </a:solidFill>
            <a:prstDash val="solid"/>
            <a:round/>
            <a:headEnd len="med" w="med" type="oval"/>
            <a:tailEnd len="med" w="med" type="oval"/>
          </a:ln>
        </p:spPr>
      </p:cxnSp>
      <p:cxnSp>
        <p:nvCxnSpPr>
          <p:cNvPr id="720" name="Google Shape;720;p31"/>
          <p:cNvCxnSpPr/>
          <p:nvPr/>
        </p:nvCxnSpPr>
        <p:spPr>
          <a:xfrm rot="10800000">
            <a:off x="1128504" y="4553850"/>
            <a:ext cx="1447800" cy="533400"/>
          </a:xfrm>
          <a:prstGeom prst="straightConnector1">
            <a:avLst/>
          </a:prstGeom>
          <a:noFill/>
          <a:ln cap="flat" cmpd="sng" w="28575">
            <a:solidFill>
              <a:srgbClr val="C00000"/>
            </a:solidFill>
            <a:prstDash val="solid"/>
            <a:round/>
            <a:headEnd len="med" w="med" type="oval"/>
            <a:tailEnd len="med" w="med" type="oval"/>
          </a:ln>
        </p:spPr>
      </p:cxnSp>
      <p:sp>
        <p:nvSpPr>
          <p:cNvPr id="721" name="Google Shape;721;p31"/>
          <p:cNvSpPr txBox="1"/>
          <p:nvPr/>
        </p:nvSpPr>
        <p:spPr>
          <a:xfrm>
            <a:off x="3262104" y="485865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26</a:t>
            </a:r>
            <a:endParaRPr b="1" sz="1800">
              <a:solidFill>
                <a:srgbClr val="002060"/>
              </a:solidFill>
              <a:latin typeface="Times New Roman"/>
              <a:ea typeface="Times New Roman"/>
              <a:cs typeface="Times New Roman"/>
              <a:sym typeface="Times New Roman"/>
            </a:endParaRPr>
          </a:p>
        </p:txBody>
      </p:sp>
      <p:sp>
        <p:nvSpPr>
          <p:cNvPr id="722" name="Google Shape;722;p31"/>
          <p:cNvSpPr txBox="1"/>
          <p:nvPr/>
        </p:nvSpPr>
        <p:spPr>
          <a:xfrm>
            <a:off x="3185904" y="257265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5</a:t>
            </a:r>
            <a:endParaRPr b="1" sz="1800">
              <a:solidFill>
                <a:srgbClr val="002060"/>
              </a:solidFill>
              <a:latin typeface="Times New Roman"/>
              <a:ea typeface="Times New Roman"/>
              <a:cs typeface="Times New Roman"/>
              <a:sym typeface="Times New Roman"/>
            </a:endParaRPr>
          </a:p>
        </p:txBody>
      </p:sp>
      <p:sp>
        <p:nvSpPr>
          <p:cNvPr id="723" name="Google Shape;723;p31"/>
          <p:cNvSpPr txBox="1"/>
          <p:nvPr/>
        </p:nvSpPr>
        <p:spPr>
          <a:xfrm>
            <a:off x="2423904" y="302985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10</a:t>
            </a:r>
            <a:endParaRPr b="1" sz="1800">
              <a:solidFill>
                <a:srgbClr val="002060"/>
              </a:solidFill>
              <a:latin typeface="Times New Roman"/>
              <a:ea typeface="Times New Roman"/>
              <a:cs typeface="Times New Roman"/>
              <a:sym typeface="Times New Roman"/>
            </a:endParaRPr>
          </a:p>
        </p:txBody>
      </p:sp>
      <p:sp>
        <p:nvSpPr>
          <p:cNvPr id="724" name="Google Shape;724;p31"/>
          <p:cNvSpPr txBox="1"/>
          <p:nvPr/>
        </p:nvSpPr>
        <p:spPr>
          <a:xfrm>
            <a:off x="2728704" y="348705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3</a:t>
            </a:r>
            <a:endParaRPr b="1" sz="1800">
              <a:solidFill>
                <a:srgbClr val="002060"/>
              </a:solidFill>
              <a:latin typeface="Times New Roman"/>
              <a:ea typeface="Times New Roman"/>
              <a:cs typeface="Times New Roman"/>
              <a:sym typeface="Times New Roman"/>
            </a:endParaRPr>
          </a:p>
        </p:txBody>
      </p:sp>
      <p:sp>
        <p:nvSpPr>
          <p:cNvPr id="725" name="Google Shape;725;p31"/>
          <p:cNvSpPr txBox="1"/>
          <p:nvPr/>
        </p:nvSpPr>
        <p:spPr>
          <a:xfrm>
            <a:off x="2042904" y="348705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2</a:t>
            </a:r>
            <a:endParaRPr b="1" sz="1800">
              <a:solidFill>
                <a:srgbClr val="002060"/>
              </a:solidFill>
              <a:latin typeface="Times New Roman"/>
              <a:ea typeface="Times New Roman"/>
              <a:cs typeface="Times New Roman"/>
              <a:sym typeface="Times New Roman"/>
            </a:endParaRPr>
          </a:p>
        </p:txBody>
      </p:sp>
      <p:sp>
        <p:nvSpPr>
          <p:cNvPr id="726" name="Google Shape;726;p31"/>
          <p:cNvSpPr txBox="1"/>
          <p:nvPr/>
        </p:nvSpPr>
        <p:spPr>
          <a:xfrm>
            <a:off x="1433304" y="394425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12</a:t>
            </a:r>
            <a:endParaRPr b="1" sz="1800">
              <a:solidFill>
                <a:srgbClr val="002060"/>
              </a:solidFill>
              <a:latin typeface="Times New Roman"/>
              <a:ea typeface="Times New Roman"/>
              <a:cs typeface="Times New Roman"/>
              <a:sym typeface="Times New Roman"/>
            </a:endParaRPr>
          </a:p>
        </p:txBody>
      </p:sp>
      <p:sp>
        <p:nvSpPr>
          <p:cNvPr id="727" name="Google Shape;727;p31"/>
          <p:cNvSpPr txBox="1"/>
          <p:nvPr/>
        </p:nvSpPr>
        <p:spPr>
          <a:xfrm>
            <a:off x="2195304" y="432525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14</a:t>
            </a:r>
            <a:endParaRPr b="1" sz="1800">
              <a:solidFill>
                <a:srgbClr val="002060"/>
              </a:solidFill>
              <a:latin typeface="Times New Roman"/>
              <a:ea typeface="Times New Roman"/>
              <a:cs typeface="Times New Roman"/>
              <a:sym typeface="Times New Roman"/>
            </a:endParaRPr>
          </a:p>
        </p:txBody>
      </p:sp>
      <p:sp>
        <p:nvSpPr>
          <p:cNvPr id="728" name="Google Shape;728;p31"/>
          <p:cNvSpPr txBox="1"/>
          <p:nvPr/>
        </p:nvSpPr>
        <p:spPr>
          <a:xfrm>
            <a:off x="3109704" y="394425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30</a:t>
            </a:r>
            <a:endParaRPr b="1" sz="1800">
              <a:solidFill>
                <a:srgbClr val="002060"/>
              </a:solidFill>
              <a:latin typeface="Times New Roman"/>
              <a:ea typeface="Times New Roman"/>
              <a:cs typeface="Times New Roman"/>
              <a:sym typeface="Times New Roman"/>
            </a:endParaRPr>
          </a:p>
        </p:txBody>
      </p:sp>
      <p:sp>
        <p:nvSpPr>
          <p:cNvPr id="729" name="Google Shape;729;p31"/>
          <p:cNvSpPr txBox="1"/>
          <p:nvPr/>
        </p:nvSpPr>
        <p:spPr>
          <a:xfrm>
            <a:off x="1509504" y="478245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4</a:t>
            </a:r>
            <a:endParaRPr b="1" sz="1800">
              <a:solidFill>
                <a:srgbClr val="002060"/>
              </a:solidFill>
              <a:latin typeface="Times New Roman"/>
              <a:ea typeface="Times New Roman"/>
              <a:cs typeface="Times New Roman"/>
              <a:sym typeface="Times New Roman"/>
            </a:endParaRPr>
          </a:p>
        </p:txBody>
      </p:sp>
      <p:sp>
        <p:nvSpPr>
          <p:cNvPr id="730" name="Google Shape;730;p31"/>
          <p:cNvSpPr txBox="1"/>
          <p:nvPr/>
        </p:nvSpPr>
        <p:spPr>
          <a:xfrm>
            <a:off x="823704" y="371565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18</a:t>
            </a:r>
            <a:endParaRPr b="1" sz="1800">
              <a:solidFill>
                <a:srgbClr val="002060"/>
              </a:solidFill>
              <a:latin typeface="Times New Roman"/>
              <a:ea typeface="Times New Roman"/>
              <a:cs typeface="Times New Roman"/>
              <a:sym typeface="Times New Roman"/>
            </a:endParaRPr>
          </a:p>
        </p:txBody>
      </p:sp>
      <p:sp>
        <p:nvSpPr>
          <p:cNvPr id="731" name="Google Shape;731;p31"/>
          <p:cNvSpPr txBox="1"/>
          <p:nvPr/>
        </p:nvSpPr>
        <p:spPr>
          <a:xfrm>
            <a:off x="1738104" y="2572650"/>
            <a:ext cx="4572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8</a:t>
            </a:r>
            <a:endParaRPr b="1" sz="1800">
              <a:solidFill>
                <a:srgbClr val="002060"/>
              </a:solidFill>
              <a:latin typeface="Times New Roman"/>
              <a:ea typeface="Times New Roman"/>
              <a:cs typeface="Times New Roman"/>
              <a:sym typeface="Times New Roman"/>
            </a:endParaRPr>
          </a:p>
        </p:txBody>
      </p:sp>
      <p:sp>
        <p:nvSpPr>
          <p:cNvPr id="732" name="Google Shape;732;p31"/>
          <p:cNvSpPr/>
          <p:nvPr/>
        </p:nvSpPr>
        <p:spPr>
          <a:xfrm>
            <a:off x="1128504" y="3106050"/>
            <a:ext cx="304800" cy="304800"/>
          </a:xfrm>
          <a:prstGeom prst="ellipse">
            <a:avLst/>
          </a:prstGeom>
          <a:solidFill>
            <a:schemeClr val="lt1"/>
          </a:solidFill>
          <a:ln cap="flat" cmpd="sng" w="9525">
            <a:solidFill>
              <a:srgbClr val="0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t/>
            </a:r>
            <a:endParaRPr b="1" sz="2000">
              <a:solidFill>
                <a:srgbClr val="FEEF30"/>
              </a:solidFill>
              <a:latin typeface="Times New Roman"/>
              <a:ea typeface="Times New Roman"/>
              <a:cs typeface="Times New Roman"/>
              <a:sym typeface="Times New Roman"/>
            </a:endParaRPr>
          </a:p>
        </p:txBody>
      </p:sp>
      <p:sp>
        <p:nvSpPr>
          <p:cNvPr id="733" name="Google Shape;733;p31"/>
          <p:cNvSpPr/>
          <p:nvPr/>
        </p:nvSpPr>
        <p:spPr>
          <a:xfrm>
            <a:off x="2576304" y="2344050"/>
            <a:ext cx="304800" cy="304800"/>
          </a:xfrm>
          <a:prstGeom prst="ellipse">
            <a:avLst/>
          </a:prstGeom>
          <a:solidFill>
            <a:schemeClr val="lt1"/>
          </a:solidFill>
          <a:ln cap="flat" cmpd="sng" w="9525">
            <a:solidFill>
              <a:srgbClr val="0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t/>
            </a:r>
            <a:endParaRPr b="1" sz="2000">
              <a:solidFill>
                <a:srgbClr val="FEEF30"/>
              </a:solidFill>
              <a:latin typeface="Times New Roman"/>
              <a:ea typeface="Times New Roman"/>
              <a:cs typeface="Times New Roman"/>
              <a:sym typeface="Times New Roman"/>
            </a:endParaRPr>
          </a:p>
        </p:txBody>
      </p:sp>
      <p:sp>
        <p:nvSpPr>
          <p:cNvPr id="734" name="Google Shape;734;p31"/>
          <p:cNvSpPr/>
          <p:nvPr/>
        </p:nvSpPr>
        <p:spPr>
          <a:xfrm>
            <a:off x="3643104" y="3258450"/>
            <a:ext cx="304800" cy="304800"/>
          </a:xfrm>
          <a:prstGeom prst="ellipse">
            <a:avLst/>
          </a:prstGeom>
          <a:solidFill>
            <a:schemeClr val="lt1"/>
          </a:solidFill>
          <a:ln cap="flat" cmpd="sng" w="9525">
            <a:solidFill>
              <a:srgbClr val="0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t/>
            </a:r>
            <a:endParaRPr b="1" sz="2000">
              <a:solidFill>
                <a:srgbClr val="FEEF30"/>
              </a:solidFill>
              <a:latin typeface="Times New Roman"/>
              <a:ea typeface="Times New Roman"/>
              <a:cs typeface="Times New Roman"/>
              <a:sym typeface="Times New Roman"/>
            </a:endParaRPr>
          </a:p>
        </p:txBody>
      </p:sp>
      <p:sp>
        <p:nvSpPr>
          <p:cNvPr id="735" name="Google Shape;735;p31"/>
          <p:cNvSpPr/>
          <p:nvPr/>
        </p:nvSpPr>
        <p:spPr>
          <a:xfrm>
            <a:off x="3719304" y="4325250"/>
            <a:ext cx="304800" cy="304800"/>
          </a:xfrm>
          <a:prstGeom prst="ellipse">
            <a:avLst/>
          </a:prstGeom>
          <a:solidFill>
            <a:schemeClr val="lt1"/>
          </a:solidFill>
          <a:ln cap="flat" cmpd="sng" w="9525">
            <a:solidFill>
              <a:srgbClr val="0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t/>
            </a:r>
            <a:endParaRPr b="1" sz="2000">
              <a:solidFill>
                <a:srgbClr val="FEEF30"/>
              </a:solidFill>
              <a:latin typeface="Times New Roman"/>
              <a:ea typeface="Times New Roman"/>
              <a:cs typeface="Times New Roman"/>
              <a:sym typeface="Times New Roman"/>
            </a:endParaRPr>
          </a:p>
        </p:txBody>
      </p:sp>
      <p:sp>
        <p:nvSpPr>
          <p:cNvPr id="736" name="Google Shape;736;p31"/>
          <p:cNvSpPr/>
          <p:nvPr/>
        </p:nvSpPr>
        <p:spPr>
          <a:xfrm>
            <a:off x="2500104" y="3791850"/>
            <a:ext cx="304800" cy="304800"/>
          </a:xfrm>
          <a:prstGeom prst="ellipse">
            <a:avLst/>
          </a:prstGeom>
          <a:solidFill>
            <a:schemeClr val="lt1"/>
          </a:solidFill>
          <a:ln cap="flat" cmpd="sng" w="9525">
            <a:solidFill>
              <a:srgbClr val="0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t/>
            </a:r>
            <a:endParaRPr b="1" sz="2000">
              <a:solidFill>
                <a:srgbClr val="FEEF30"/>
              </a:solidFill>
              <a:latin typeface="Times New Roman"/>
              <a:ea typeface="Times New Roman"/>
              <a:cs typeface="Times New Roman"/>
              <a:sym typeface="Times New Roman"/>
            </a:endParaRPr>
          </a:p>
        </p:txBody>
      </p:sp>
      <p:sp>
        <p:nvSpPr>
          <p:cNvPr id="737" name="Google Shape;737;p31"/>
          <p:cNvSpPr/>
          <p:nvPr/>
        </p:nvSpPr>
        <p:spPr>
          <a:xfrm>
            <a:off x="2423904" y="4858650"/>
            <a:ext cx="304800" cy="304800"/>
          </a:xfrm>
          <a:prstGeom prst="ellipse">
            <a:avLst/>
          </a:prstGeom>
          <a:solidFill>
            <a:srgbClr val="FF0000"/>
          </a:solidFill>
          <a:ln cap="flat" cmpd="sng" w="9525">
            <a:solidFill>
              <a:srgbClr val="0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t/>
            </a:r>
            <a:endParaRPr b="1" sz="2000">
              <a:solidFill>
                <a:srgbClr val="FEEF30"/>
              </a:solidFill>
              <a:latin typeface="Times New Roman"/>
              <a:ea typeface="Times New Roman"/>
              <a:cs typeface="Times New Roman"/>
              <a:sym typeface="Times New Roman"/>
            </a:endParaRPr>
          </a:p>
        </p:txBody>
      </p:sp>
      <p:sp>
        <p:nvSpPr>
          <p:cNvPr id="738" name="Google Shape;738;p31"/>
          <p:cNvSpPr/>
          <p:nvPr/>
        </p:nvSpPr>
        <p:spPr>
          <a:xfrm>
            <a:off x="976104" y="4325250"/>
            <a:ext cx="304800" cy="304800"/>
          </a:xfrm>
          <a:prstGeom prst="ellipse">
            <a:avLst/>
          </a:prstGeom>
          <a:solidFill>
            <a:schemeClr val="lt1"/>
          </a:solidFill>
          <a:ln cap="flat" cmpd="sng" w="9525">
            <a:solidFill>
              <a:srgbClr val="000000"/>
            </a:solidFill>
            <a:prstDash val="solid"/>
            <a:round/>
            <a:headEnd len="sm" w="sm" type="none"/>
            <a:tailEnd len="sm" w="sm" type="none"/>
          </a:ln>
        </p:spPr>
        <p:txBody>
          <a:bodyPr anchorCtr="1" anchor="ctr" bIns="0" lIns="0" spcFirstLastPara="1" rIns="0" wrap="square" tIns="0">
            <a:noAutofit/>
          </a:bodyPr>
          <a:lstStyle/>
          <a:p>
            <a:pPr indent="0" lvl="0" marL="0" marR="0" rtl="0" algn="l">
              <a:spcBef>
                <a:spcPts val="0"/>
              </a:spcBef>
              <a:spcAft>
                <a:spcPts val="0"/>
              </a:spcAft>
              <a:buNone/>
            </a:pPr>
            <a:r>
              <a:t/>
            </a:r>
            <a:endParaRPr b="1" sz="2000">
              <a:solidFill>
                <a:srgbClr val="FEEF30"/>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32"/>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t>Bài tập</a:t>
            </a:r>
            <a:endParaRPr b="1" sz="4000"/>
          </a:p>
        </p:txBody>
      </p:sp>
      <p:sp>
        <p:nvSpPr>
          <p:cNvPr id="744" name="Google Shape;744;p32"/>
          <p:cNvSpPr txBox="1"/>
          <p:nvPr>
            <p:ph idx="1" type="body"/>
          </p:nvPr>
        </p:nvSpPr>
        <p:spPr>
          <a:xfrm>
            <a:off x="457200" y="1600200"/>
            <a:ext cx="8229600" cy="4525963"/>
          </a:xfrm>
          <a:prstGeom prst="rect">
            <a:avLst/>
          </a:prstGeom>
          <a:solidFill>
            <a:srgbClr val="EAEAEA"/>
          </a:solidFill>
          <a:ln>
            <a:noFill/>
          </a:ln>
        </p:spPr>
        <p:txBody>
          <a:bodyPr anchorCtr="0" anchor="t" bIns="45700" lIns="91425" spcFirstLastPara="1" rIns="91425" wrap="square" tIns="45700">
            <a:noAutofit/>
          </a:bodyPr>
          <a:lstStyle/>
          <a:p>
            <a:pPr indent="-514350" lvl="0" marL="514350" rtl="0" algn="l">
              <a:spcBef>
                <a:spcPts val="0"/>
              </a:spcBef>
              <a:spcAft>
                <a:spcPts val="0"/>
              </a:spcAft>
              <a:buClr>
                <a:schemeClr val="dk1"/>
              </a:buClr>
              <a:buSzPts val="3200"/>
              <a:buFont typeface="Arial"/>
              <a:buAutoNum type="arabicPeriod"/>
            </a:pPr>
            <a:r>
              <a:rPr lang="en-US"/>
              <a:t>Chứng minh các định lý tương đương</a:t>
            </a:r>
            <a:endParaRPr/>
          </a:p>
          <a:p>
            <a:pPr indent="-514350" lvl="0" marL="514350" rtl="0" algn="l">
              <a:spcBef>
                <a:spcPts val="640"/>
              </a:spcBef>
              <a:spcAft>
                <a:spcPts val="0"/>
              </a:spcAft>
              <a:buClr>
                <a:schemeClr val="dk1"/>
              </a:buClr>
              <a:buSzPts val="3200"/>
              <a:buFont typeface="Arial"/>
              <a:buAutoNum type="arabicPeriod"/>
            </a:pPr>
            <a:r>
              <a:rPr lang="en-US"/>
              <a:t>Xác định số lượng cây tối đại của đồ thị dạng CÂY, CHU TRÌNH SƠ CẤP, ĐỦ, …</a:t>
            </a:r>
            <a:endParaRPr/>
          </a:p>
          <a:p>
            <a:pPr indent="-514350" lvl="0" marL="514350" rtl="0" algn="l">
              <a:spcBef>
                <a:spcPts val="640"/>
              </a:spcBef>
              <a:spcAft>
                <a:spcPts val="0"/>
              </a:spcAft>
              <a:buClr>
                <a:schemeClr val="dk1"/>
              </a:buClr>
              <a:buSzPts val="3200"/>
              <a:buFont typeface="Arial"/>
              <a:buAutoNum type="arabicPeriod"/>
            </a:pPr>
            <a:r>
              <a:rPr lang="en-US"/>
              <a:t>Chứng minh tính đúng đắn của các giải thuật PRIM, KRUSKAL</a:t>
            </a:r>
            <a:endParaRPr/>
          </a:p>
          <a:p>
            <a:pPr indent="-514350" lvl="0" marL="514350" rtl="0" algn="l">
              <a:spcBef>
                <a:spcPts val="640"/>
              </a:spcBef>
              <a:spcAft>
                <a:spcPts val="0"/>
              </a:spcAft>
              <a:buClr>
                <a:schemeClr val="dk1"/>
              </a:buClr>
              <a:buSzPts val="3200"/>
              <a:buFont typeface="Arial"/>
              <a:buAutoNum type="arabicPeriod"/>
            </a:pPr>
            <a:r>
              <a:rPr lang="en-US"/>
              <a:t>Lập trình đối với Prim và Kruskal</a:t>
            </a:r>
            <a:endParaRPr/>
          </a:p>
          <a:p>
            <a:pPr indent="-139700" lvl="0" marL="342900" rtl="0" algn="l">
              <a:spcBef>
                <a:spcPts val="640"/>
              </a:spcBef>
              <a:spcAft>
                <a:spcPts val="0"/>
              </a:spcAft>
              <a:buClr>
                <a:schemeClr val="dk1"/>
              </a:buClr>
              <a:buSzPts val="3200"/>
              <a:buNone/>
            </a:pPr>
            <a:r>
              <a:t/>
            </a:r>
            <a:endParaRPr/>
          </a:p>
        </p:txBody>
      </p:sp>
      <p:sp>
        <p:nvSpPr>
          <p:cNvPr id="745" name="Google Shape;745;p32"/>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746" name="Google Shape;746;p32"/>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33"/>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t>Bài tập - Kruskal</a:t>
            </a:r>
            <a:endParaRPr b="1" sz="3600"/>
          </a:p>
        </p:txBody>
      </p:sp>
      <p:sp>
        <p:nvSpPr>
          <p:cNvPr id="752" name="Google Shape;752;p3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753" name="Google Shape;753;p3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pic>
        <p:nvPicPr>
          <p:cNvPr id="754" name="Google Shape;754;p33"/>
          <p:cNvPicPr preferRelativeResize="0"/>
          <p:nvPr/>
        </p:nvPicPr>
        <p:blipFill rotWithShape="1">
          <a:blip r:embed="rId3">
            <a:alphaModFix/>
          </a:blip>
          <a:srcRect b="0" l="0" r="0" t="0"/>
          <a:stretch/>
        </p:blipFill>
        <p:spPr>
          <a:xfrm>
            <a:off x="533400" y="1524000"/>
            <a:ext cx="3886201" cy="4648200"/>
          </a:xfrm>
          <a:prstGeom prst="rect">
            <a:avLst/>
          </a:prstGeom>
          <a:noFill/>
          <a:ln>
            <a:noFill/>
          </a:ln>
        </p:spPr>
      </p:pic>
      <p:pic>
        <p:nvPicPr>
          <p:cNvPr id="755" name="Google Shape;755;p33"/>
          <p:cNvPicPr preferRelativeResize="0"/>
          <p:nvPr/>
        </p:nvPicPr>
        <p:blipFill rotWithShape="1">
          <a:blip r:embed="rId4">
            <a:alphaModFix/>
          </a:blip>
          <a:srcRect b="0" l="0" r="0" t="0"/>
          <a:stretch/>
        </p:blipFill>
        <p:spPr>
          <a:xfrm>
            <a:off x="4572000" y="1524000"/>
            <a:ext cx="4114800" cy="45720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34"/>
          <p:cNvSpPr txBox="1"/>
          <p:nvPr>
            <p:ph type="title"/>
          </p:nvPr>
        </p:nvSpPr>
        <p:spPr>
          <a:xfrm>
            <a:off x="457200" y="274638"/>
            <a:ext cx="8229600" cy="9445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t>Bài tập - Prim</a:t>
            </a:r>
            <a:endParaRPr/>
          </a:p>
        </p:txBody>
      </p:sp>
      <p:sp>
        <p:nvSpPr>
          <p:cNvPr id="761" name="Google Shape;761;p3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sp>
        <p:nvSpPr>
          <p:cNvPr id="762" name="Google Shape;762;p3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chemeClr val="dk1"/>
              </a:buClr>
              <a:buSzPts val="2800"/>
              <a:buNone/>
            </a:pPr>
            <a:r>
              <a:t/>
            </a:r>
            <a:endParaRPr/>
          </a:p>
        </p:txBody>
      </p:sp>
      <p:pic>
        <p:nvPicPr>
          <p:cNvPr id="763" name="Google Shape;763;p34"/>
          <p:cNvPicPr preferRelativeResize="0"/>
          <p:nvPr/>
        </p:nvPicPr>
        <p:blipFill rotWithShape="1">
          <a:blip r:embed="rId3">
            <a:alphaModFix/>
          </a:blip>
          <a:srcRect b="0" l="0" r="0" t="0"/>
          <a:stretch/>
        </p:blipFill>
        <p:spPr>
          <a:xfrm>
            <a:off x="533400" y="1658257"/>
            <a:ext cx="3886200" cy="4419600"/>
          </a:xfrm>
          <a:prstGeom prst="rect">
            <a:avLst/>
          </a:prstGeom>
          <a:noFill/>
          <a:ln>
            <a:noFill/>
          </a:ln>
        </p:spPr>
      </p:pic>
      <p:pic>
        <p:nvPicPr>
          <p:cNvPr id="764" name="Google Shape;764;p34"/>
          <p:cNvPicPr preferRelativeResize="0"/>
          <p:nvPr/>
        </p:nvPicPr>
        <p:blipFill rotWithShape="1">
          <a:blip r:embed="rId4">
            <a:alphaModFix/>
          </a:blip>
          <a:srcRect b="0" l="0" r="0" t="0"/>
          <a:stretch/>
        </p:blipFill>
        <p:spPr>
          <a:xfrm>
            <a:off x="4648200" y="1658256"/>
            <a:ext cx="3962400" cy="443774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35"/>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Tóm lại</a:t>
            </a:r>
            <a:endParaRPr/>
          </a:p>
        </p:txBody>
      </p:sp>
      <p:sp>
        <p:nvSpPr>
          <p:cNvPr id="770" name="Google Shape;770;p35"/>
          <p:cNvSpPr txBox="1"/>
          <p:nvPr>
            <p:ph idx="1" type="body"/>
          </p:nvPr>
        </p:nvSpPr>
        <p:spPr>
          <a:xfrm>
            <a:off x="1143000" y="1600200"/>
            <a:ext cx="6934200" cy="4114800"/>
          </a:xfrm>
          <a:prstGeom prst="rect">
            <a:avLst/>
          </a:prstGeom>
          <a:solidFill>
            <a:srgbClr val="EFEFEF"/>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2"/>
              </a:buClr>
              <a:buSzPts val="3200"/>
              <a:buFont typeface="Noto Sans Symbols"/>
              <a:buChar char="✔"/>
            </a:pPr>
            <a:r>
              <a:rPr lang="en-US">
                <a:solidFill>
                  <a:schemeClr val="dk2"/>
                </a:solidFill>
              </a:rPr>
              <a:t>Các khái niệm và tính chất về cây và cây tối đại</a:t>
            </a:r>
            <a:endParaRPr>
              <a:solidFill>
                <a:schemeClr val="dk2"/>
              </a:solidFill>
            </a:endParaRPr>
          </a:p>
          <a:p>
            <a:pPr indent="-342900" lvl="0" marL="342900" rtl="0" algn="l">
              <a:spcBef>
                <a:spcPts val="640"/>
              </a:spcBef>
              <a:spcAft>
                <a:spcPts val="0"/>
              </a:spcAft>
              <a:buClr>
                <a:schemeClr val="dk2"/>
              </a:buClr>
              <a:buSzPts val="3200"/>
              <a:buFont typeface="Noto Sans Symbols"/>
              <a:buChar char="✔"/>
            </a:pPr>
            <a:r>
              <a:rPr lang="en-US">
                <a:solidFill>
                  <a:schemeClr val="dk2"/>
                </a:solidFill>
              </a:rPr>
              <a:t>Thuật toán Kruskal </a:t>
            </a:r>
            <a:endParaRPr/>
          </a:p>
          <a:p>
            <a:pPr indent="-342900" lvl="0" marL="342900" rtl="0" algn="l">
              <a:spcBef>
                <a:spcPts val="640"/>
              </a:spcBef>
              <a:spcAft>
                <a:spcPts val="0"/>
              </a:spcAft>
              <a:buClr>
                <a:schemeClr val="dk2"/>
              </a:buClr>
              <a:buSzPts val="3200"/>
              <a:buFont typeface="Noto Sans Symbols"/>
              <a:buChar char="✔"/>
            </a:pPr>
            <a:r>
              <a:rPr lang="en-US">
                <a:solidFill>
                  <a:schemeClr val="dk2"/>
                </a:solidFill>
              </a:rPr>
              <a:t>Thuật toán Prim </a:t>
            </a:r>
            <a:endParaRPr/>
          </a:p>
          <a:p>
            <a:pPr indent="-342900" lvl="0" marL="342900" rtl="0" algn="l">
              <a:spcBef>
                <a:spcPts val="640"/>
              </a:spcBef>
              <a:spcAft>
                <a:spcPts val="0"/>
              </a:spcAft>
              <a:buClr>
                <a:schemeClr val="dk2"/>
              </a:buClr>
              <a:buSzPts val="3200"/>
              <a:buFont typeface="Noto Sans Symbols"/>
              <a:buChar char="✔"/>
            </a:pPr>
            <a:r>
              <a:rPr lang="en-US">
                <a:solidFill>
                  <a:schemeClr val="dk2"/>
                </a:solidFill>
              </a:rPr>
              <a:t>Khái niệm và tính </a:t>
            </a:r>
            <a:r>
              <a:rPr lang="en-US">
                <a:solidFill>
                  <a:schemeClr val="dk2"/>
                </a:solidFill>
              </a:rPr>
              <a:t>chất</a:t>
            </a:r>
            <a:r>
              <a:rPr lang="en-US">
                <a:solidFill>
                  <a:schemeClr val="dk2"/>
                </a:solidFill>
              </a:rPr>
              <a:t> về cây có gốc</a:t>
            </a:r>
            <a:endParaRPr>
              <a:solidFill>
                <a:schemeClr val="dk2"/>
              </a:solidFill>
            </a:endParaRPr>
          </a:p>
        </p:txBody>
      </p:sp>
      <p:sp>
        <p:nvSpPr>
          <p:cNvPr id="771" name="Google Shape;771;p35"/>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sp>
        <p:nvSpPr>
          <p:cNvPr id="772" name="Google Shape;772;p35"/>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36"/>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pic>
        <p:nvPicPr>
          <p:cNvPr id="778" name="Google Shape;778;p36"/>
          <p:cNvPicPr preferRelativeResize="0"/>
          <p:nvPr>
            <p:ph idx="4294967295" type="body"/>
          </p:nvPr>
        </p:nvPicPr>
        <p:blipFill rotWithShape="1">
          <a:blip r:embed="rId3">
            <a:alphaModFix/>
          </a:blip>
          <a:srcRect b="0" l="0" r="0" t="0"/>
          <a:stretch/>
        </p:blipFill>
        <p:spPr>
          <a:xfrm>
            <a:off x="990600" y="1219200"/>
            <a:ext cx="6858000" cy="3581400"/>
          </a:xfrm>
          <a:prstGeom prst="rect">
            <a:avLst/>
          </a:prstGeom>
          <a:noFill/>
          <a:ln cap="flat" cmpd="sng" w="9525">
            <a:solidFill>
              <a:srgbClr val="FF0000"/>
            </a:solidFill>
            <a:prstDash val="solid"/>
            <a:round/>
            <a:headEnd len="sm" w="sm" type="none"/>
            <a:tailEnd len="sm" w="sm" type="none"/>
          </a:ln>
        </p:spPr>
      </p:pic>
      <p:sp>
        <p:nvSpPr>
          <p:cNvPr id="779" name="Google Shape;779;p36"/>
          <p:cNvSpPr txBox="1"/>
          <p:nvPr/>
        </p:nvSpPr>
        <p:spPr>
          <a:xfrm>
            <a:off x="2057400" y="4191000"/>
            <a:ext cx="4876800" cy="5238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rgbClr val="FF0000"/>
                </a:solidFill>
                <a:latin typeface="Times New Roman"/>
                <a:ea typeface="Times New Roman"/>
                <a:cs typeface="Times New Roman"/>
                <a:sym typeface="Times New Roman"/>
              </a:rPr>
              <a:t>THAT’S ALL; THANK YOU</a:t>
            </a:r>
            <a:endParaRPr/>
          </a:p>
        </p:txBody>
      </p:sp>
      <p:sp>
        <p:nvSpPr>
          <p:cNvPr id="780" name="Google Shape;780;p36"/>
          <p:cNvSpPr/>
          <p:nvPr/>
        </p:nvSpPr>
        <p:spPr>
          <a:xfrm>
            <a:off x="1371600" y="5181600"/>
            <a:ext cx="6172200"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What NEXT?</a:t>
            </a:r>
            <a:endParaRPr/>
          </a:p>
          <a:p>
            <a:pPr indent="0" lvl="0" marL="0" marR="0" rtl="0" algn="ctr">
              <a:spcBef>
                <a:spcPts val="1400"/>
              </a:spcBef>
              <a:spcAft>
                <a:spcPts val="0"/>
              </a:spcAft>
              <a:buNone/>
            </a:pPr>
            <a:r>
              <a:rPr b="1" lang="en-US" sz="2800">
                <a:solidFill>
                  <a:schemeClr val="dk1"/>
                </a:solidFill>
                <a:latin typeface="Times New Roman"/>
                <a:ea typeface="Times New Roman"/>
                <a:cs typeface="Times New Roman"/>
                <a:sym typeface="Times New Roman"/>
              </a:rPr>
              <a:t>     </a:t>
            </a:r>
            <a:r>
              <a:rPr b="1" lang="en-US" sz="2400">
                <a:solidFill>
                  <a:schemeClr val="dk1"/>
                </a:solidFill>
                <a:latin typeface="Times New Roman"/>
                <a:ea typeface="Times New Roman"/>
                <a:cs typeface="Times New Roman"/>
                <a:sym typeface="Times New Roman"/>
              </a:rPr>
              <a:t>BÀI TOÁN TỐI ƯU TRÊN ĐỒ THỊ</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Theme1">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2012-10-08T14:56:31Z</dcterms:created>
  <dc:creator>mc</dc:creator>
</cp:coreProperties>
</file>